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  <Relationship Id="rId26"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ko-K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ko-K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ko-K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ko-K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ko-KR"/>
          </a:p>
        </p:txBody>
      </p:sp>
    </p:spTree>
  </p:cSld>
  <p:clrMap bg1="lt1" tx1="dk1" bg2="lt2" tx2="dk2" accent1="accent1" accent2="accent2" accent3="accent3" accent4="accent4" accent5="accent5" accent6="accent6" hlink="hlink" folHlink="folHlink"/>
  <p:hf/>
  <p:notesStyle>
    <a:lvl1pPr marL="0" algn="l">
      <a:defRPr sz="1200" lang="ko-K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feature-workflow 를 소개하겠습니다. 이 도구가 하는 일을 한 문장으로 줄이면 표지에 적힌 그대로입니다. AI 세션이 "끝났다"고 말해도 그 말을 믿지 않고, 검증 명령과 git 기록으로 직접 확인한다는 것입니다. feature-workflow 는 큰 작업을 끝까지 끌고 가는 워크플로우 규약과, 그 규약을 사람 없이 밤새 돌리는 무인 하네스 fw 로 이루어져 있습니다. 오른쪽 회로 그림처럼 시작과 끝은 사람이 맡고, 가운데의 인터뷰, 실행, 검증은 기계가 맡습니다. 이 페이지에서 기억할 한 문장은 "시작과 끝은 사람, 가운데는 기계"입니다.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왜 이런 도구가 필요했는지부터 보겠습니다. 마이그레이션이나 큰 리팩토링은 세션 하나로 끝나지 않습니다. 여러 날에 걸치면 다음 세션은 처음부터 다시 파악해야 하고, "검증 안 하고 다음 단계로 넘어가지 말라" 같은 규칙은 문장으로 적어둬도 AI 가 어기면 막을 방법이 없습니다. 채팅에서 내린 결정은 문서 밖으로 새고, 다음 세션이 폐기된 결정을 되살리는 사고도 납니다. 그래서 두 층이 있습니다. 위쪽은 사람이 세션을 운전하는 유인 커맨드들이고, 아래쪽은 같은 규약을 코드로 옮긴 무인 하네스입니다. 두 층은 오른쫀 공유 축에 있는 PLAN, NOTES, STATE.json 세 문서를 함께 쓰기 때문에 유인으로 시작해서 무인으로 돌리고 다시 유인으로 이어받는 왕복이 자유롭습니다. 기억할 한 문장은 "두 층이 같은 세 문서를 공유한다"입니다.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이 시스템을 관통하는 아이디어는 셋입니다. 첫째, 시작과 끝은 사람이 합니다. 목표를 쓰는 것, 인터뷰 질문에 답하는 것, 계획을 승인하는 것, PR 을 머지하는 것, 마지막에 됐다고 판정하는 것은 사람만 하고, 하네스는 결정을 만들지 않고 운반만 합니다. 둘째, 세션의 "끝났다"를 믿지 않습니다. 검증 명령을 하네스가 직접 실행해 exit code 로 판정하고, 커밋이 실제로 새로 생겼는지, 작업 브랜치 안에 있는지, 검증 스크립트를 몰래 바꾸지 않았는지까지 확인합니다. 셋째, 같은 세 역할이 두 번 등장합니다. 기획, 개발, 평가라는 세 관점의 AI 가 시작할 때는 인터뷰로 계획을 만들고, 끝날 때는 검증관으로 돌아와 반증을 찾습니다. 아래 매핑처럼 인터뷰에서 나온 산출물이 그대로 그 역할의 검증 체크리스트가 됩니다. 기억할 한 문장은 "인터뷰 산출물이 곧 검증 체크리스트"입니다.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전체 그림을 한 장으로 보겠습니다. 왼쪽 주황색 구역이 사람의 시작입니다. 목표를 한두 문장 쓰고 인터뷰 질문에 답하고, 계획이 준비되면 승인하고 단계 표를 확정합니다. 가운데 파란 구역이 하네스가 혼자 도는 무인 구간입니다. 세 역할 인터뷰가 계획을 만들고, 단계를 하나씩 실행하면서 검증과 커밋 확인을 하고, 마지막에 적대적 검증과 합의를 합니다. 오른쪽 주황색 구역이 사람의 끝입니다. 실행 중에 AI 가 질문을 던지면 사람이 답하고, PR 이 만들어지면 사람이 리뷰하고 머지하며, 마지막에 검증 보고서와 fw report 를 보고 최종 판정을 합니다. 그 판정에서 나온 다음 목표 제안이 점선으로 다시 처음으로 돌아가 새 사이클이 됩니다. 비용은 세션마다 STATE 에 기록되고 상한을 걸 수 있으며, 금액 자체는 모델과 리포에 따라 크게 달라서 한 번 돌려 직접 재는 것이 정확합니다. 기억할 한 문장은 "사람의 목표로 시작해 사람의 판정으로 끝난다"입니다.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이 흐름을 떠받치는 파일들입니다. 가운데 폴더에 다섯 개가 있는데, 항상 있는 것은 위의 셋입니다. PLAN.md 는 변하지 않는 마스터 플랜이고 결정 표와 용어 표를 담습니다. NOTES.md 는 사람이 읽는 메모로 리스크와 배경을 적습니다. STATE.json 은 단계 상태, 다음 할 일, 비용, 판정을 담는 기계용 파일이고, 이것이 기계 사실의 유일한 진실입니다. 하네스를 쓰면 인터뷰 기록과 검증 보고서가 더 생깁니다. 화살표를 보면 누가 쓸 수 있는지가 정해져 있습니다. 사람은 항상 쓸 수 있고, 하네스는 무인 모드에서 STATE 의 단일 작성자이며, 무인 AI 세션은 PLAN 과 STATE 를 읽기만 할 수 있습니다. 아래 규칙처럼 PLAN 의 단계 표와 STATE 의 단계 목록은 항상 같아야 하고, 무인 주행 중에 AI 가 PLAN 을 바꾸고 싶으면 제안만 남길 수 있습니다. 기억할 한 문장은 "문서는 3종, 진실은 STATE.json 한 곳"입니다.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워크플로우를 시작하는 방법은 두 가지입니다. 왼쪽 A 는 Claude Code 안에서 start 커맨드로 사람이 브레인스톰하는 길입니다. 기존 문서를 먼저 읽고, 어느 브랜치에서 할지 합의하고, 목표와 애매한 점과 검증 명령을 물어서 세 문서를 만듭니다. 이때 브랜치 이름과 docs 폴더 이름을 같게 맞추는 것은 사용자가 아니라 이 커맨드가 지키는 규칙입니다. 오른쪽 B 는 fw interview 로 세 역할 AI 가 끝까지 캐묻게 하는 길입니다. 질문에 답하고 재실행하는 것을 반복하고, 이의 라운드는 자동으로 돌고, 사람이 승인하면 PLAN 초안이 만들어집니다. 다만 B 는 단계 표를 사람이 채운 뒤 fw init 으로 STATE 를 만드는 후속 작업이 있습니다. 아래로 합류하는 그림처럼 어느 길이든 결과물은 같은 세 문서입니다. 기억할 한 문장은 "목표가 선명하면 A, 계획이 없으면 B"입니다.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인터뷰가 어떻게 끝나는지가 이 도구의 핵심 장치 중 하나입니다. AI 에게 "충분히 물었으면 끝내라"고 하면 두세 개 묻고 끝냅니다. 그래서 종료 조건을 숫자로 못박았습니다. 답 안 한 질문이 0개, 세 역할의 초안이 3개, 서로 건 이의가 0개일 때만 ready 가 되고, 그때 사람이 승인합니다. 그림의 파란 상자 안을 보면 기획, 개발, 평가 순서로 각 역할이 질문을 올리고 사람이 답을 내리는 왕복이 있고, 초안이 셋 모이면 아래 이의 라운드가 돌아서 지적받은 초안은 다시 씁니다. 개발 역할은 코드를 어디부터 읽어야 하는지를 첫 질문으로 묻고, 기획 역할은 용어 정리를 산출물로 냅니다. 이의 라운드가 3번을 넘거나 세션이 66번을 넘으면 실패가 아니라 사람이 force 옵션으로 마무리할 수 있는 출구가 열리고, 남은 이의는 PLAN 에 기록되어 나중에 검증 단계가 대조합니다. 기억할 한 문장은 "인터뷰는 셀 수 있는 조건으로만 끝난다"입니다.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fw run 한 바퀴를 따라가 보겠습니다. 시작하면 먼저 리포와 브랜치를 점검하고, 다음 단계를 고르면서 비용과 시간 상한을 확인하고, 현재 커밋 위치를 기록한 뒤 AI 세션을 띄웁니다. 세션이 돌아오면 보고를 봅니다. 질문이 있다고 하면 시도 횟수를 깎지 않고 멈춰서 사람에게 알립니다. 실패했다고 하면 왼쪽 점선처럼 실패 이유를 들고 같은 단계를 다시 시도합니다. 끝났다고 하면 그때부터 다섯 관문입니다. 브랜치를 벗어나지 않았는지, 검증 스크립트를 건드리지 않았는지 보고, 검증 명령을 직접 실행해 통과하는지 보고, 커밋이 정말 새로 생겼는지 확인한 뒤에야 통과를 확정합니다. 어느 관문에서 걸리든 왼쪽 점선으로 돌아가 다시 시도하고, 기본 두 번 다 실패하면 FAILED 로 멈춥니다. 검증 명령 자체가 깨진 경우는 다시 시도할 의미가 없어 바로 FAILED 입니다. 오른쪽 성질들도 짚어두면, 재시도할 때 실패 내용을 다음 세션에 그대로 넘기고, 판정은 STATE 에 남아서 아침에 fw report 로 한눈에 볼 수 있으며, 멈춤은 세션 사이에서만 일어나 돌고 있는 세션을 죽이지 않습니다. 기억할 한 문장은 "끝났다는 말은 다섯 관문을 지나야 끝난다"입니다.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이번에는 AI 세션 하나와 하네스 사이의 약속입니다. 위 시퀀스에서 하네스는 세션에게 할 일, PLAN 의 결정, 사람의 답을 프롬프트로 주고, 도구 호출 권한 검사와 보고 형식을 붙입니다. 세션은 시작 전에 PLAN 결정과 충돌하는 게 있으면 바로 질문으로 멈추고, 아니면 파일을 읽고 고치고 명령을 실행하는데 이 하나하나가 허가를 받습니다. 커밋은 의미 단위로 나눠서 하고, 끝나면 정해진 형식으로 상태, 요약, 질문, 커밋 목록, 발견 사항을 돌려줍니다. 하네스는 그 보고를 그대로 믿지 않고 커밋이 정말 새로 생겼는지 확인하고 검증 명령을 직접 실행한 뒤 판정을 기록합니다. 아래 두 표가 받는 것과 돌려주는 것의 목록입니다. 특히 중요한 구분이 맨 아래 있습니다. 결정이 없어서 못 끝내면 blocked 로 멈추고, 끝낼 수는 있는데 따로 알릴 게 있으면 findings 에 적고 계속 갑니다. PLAN 은 AI 가 직접 고치지 않고 제안만 남깁니다. 기억할 한 문장은 "멈출 일과 메모할 일을 구분한다"입니다.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AI 가 질문을 던졌을 때 어떻게 되는지 보겠습니다. 유인 모드에서는 불확실하면 사람에게 묻는데, 무인 모드에서는 물을 사람이 없으니 blocked 상태로 멈추는 것으로 바뀝니다. 시퀀스를 보면 세션이 질문과 함께 멈추면 하네스는 시도 횟수를 돌려주고 질문을 기록한 뒤 알림을 보내고 프로세스를 끝냅니다. 여기서부터 사람 차례입니다. fw status 로 질문 전문을 보고, fw answer 로 답을 적으면 그 답이 PLAN 의 결정 표에 새 행으로 자동 추가되고 STATE 에도 남습니다. 그리고 fw run 을 다시 실행하면 답이 프롬프트에 들어간 채로 같은 단계가 다시 돌아갑니다. 오른쪽 예시처럼 명령은 세 개면 됩니다. 채팅에서 한 결정이 문서 밖으로 새지 않게 하는 것이 이 구조의 목적이고, 그래서 이후 모든 세션이 같은 결정을 받습니다. 기억할 한 문장은 "답은 PLAN 에 결정으로 남는다"입니다.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PR 모드를 켜면 리뷰 왕복까지 무인으로 돕니다. 단계 검증을 통과하면 브랜치를 올리고 PR 을 만들고, 이후 60초마다 PR 을 확인합니다. 리뷰어가 @fw 를 붙여 코멘트를 남기면 그 코멘트를 데이터로 인용해 수정 세션을 하나씩 순서대로 띄우고, 각 세션이 끝나면 브랜치와 커밋을 확인하고, 모아서 검증을 한 번 돌린 뒤 전부 통과해야 push 와 답글과 처리 기록을 확정합니다. 승인이 감지되면 멈춰서 사람의 머지를 기다리고, 머지 뒤 fw run 을 다시 실행하면 다음 단계로 넘어갑니다. 아래 네 가지가 신뢰 경계입니다. 마커가 붙은 코멘트만 읽고 코드블록이나 인용 안의 마커는 무시합니다. 신뢰 리뷰어 목록에 없는 사람의 코멘트는 무시하고, 목록이 비어 있으면 시작 자체를 거부합니다. 하네스는 머지를 할 수 없게 막아 두었고, PR 당 수정 세션 수에는 상한이 있습니다. 기억할 한 문장은 "코멘트는 신뢰 경계 밖 입력이고 머지는 사람만 한다"입니다.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모든 단계가 끝나면 인터뷰에 나왔던 세 역할이 검증관으로 돌아옵니다. 임무는 통과를 확인하는 것이 아니라 반증을 찾는 것입니다. 그림의 분기처럼 PLAN 에 어느 절이 있는지에 따라 검증관이 정해집니다. 평가 검증관은 항상 돌며 검증 기준 항목마다 근거가 있는지 보고 없으면 없다고 씁니다. 기획 검증관은 결정이 슬쩍 바뀌거나 무시되지 않았는지, 개발 검증관은 구조를 깨거나 의존성을 몰래 추가하지 않았는지 봅니다. 역할이 둘 이상이면 합의 세션이 보고서를 종합해 합의된 완료, 합의된 문제, 이견, 다음 목표 제안을 만들고, 그 결과가 VERIFY.md 와 다음 목표 제안 필드에 남습니다. 다음 사이클을 열지는 사람이 결정합니다. 아래 원칙처럼 검증관은 파일을 고치지 않고, 비용 상한에 닿아 역할을 생략하면 그 사실을 보고서에 적으며, 검증 보고서가 실패해도 완료 판정은 유지되고 나중에 fw verify 로 다시 돌릴 수 있습니다. 기억할 한 문장은 "검증은 통과 확인이 아니라 반증 찾기"입니다.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아침에 fw status 를 열면 보게 될 상태값들입니다. 왼쪽 그림의 가운데가 running 이고 다섯 상태가 주변에 있습니다. blocked 는 AI 의 질문에 사람이 답해야 하는 상태고, halted 는 STOP 파일이나 상한 때문에 멈춘 상태여서 답 없이 fw run 만 다시 하면 재개됩니다. 이 둘을 구분하는 것이 이 페이지의 요점입니다. awaiting_merge 는 PR 승인 뒤 사람의 머지를 기다리는 상태, failed 는 재시도를 다 썼거나 검증 명령이 깨진 상태로 fw retry 후 재개하고, done 은 모든 단계가 끝난 상태입니다. 오른쪽은 단계 하나의 상태로 별개입니다. pending 에서 in_progress 로 가서 재시도를 반복하고, 통과하면 done, PR 모드면 in_review 를 거칩니다. 아래 표는 상태마다 사람이 할 일과 fw run 의 종료 코드를 정리한 것입니다. 기억할 한 문장은 "halted 는 그냥 다시 돌리면 되고 blocked 는 답이 필요하다"입니다.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이제 실습입니다. 설치는 왼쪽처럼 두 가지입니다. Claude Code 에서 마켓플레이스를 등록해 플러그인을 설치하고, 리포 루트에서 npm run fw:install 로 하네스를 설치한 뒤 fw --version 으로 확인합니다. 전제조건은 Node 22.12 이상, git 2.11 이상, Claude 인증, PR 모드를 쓸 때만 gh 로그인입니다. 시나리오 A 는 목표가 선명할 때의 다섯 단계입니다. 대상 리포에서 start 커맨드로 문서를 만들고, PLAN 을 읽으면서 STATE 의 검증 명령이 실패할 때 0 이 아닌 종료 코드를 내는지 확인합니다. 항상 성공하는 꼴의 명령을 넣으면 fw run 이 시작 자체를 거부한다는 점을 기억해 주세요. 그 다음 fw doctor 로 검증 명령을 실제로 한 번 돌려 미리 점검하고, fw run 으로 무인 주행을 시작합니다. 기본 브랜치 위에서 실행하면 feature 브랜치를 자동으로 만들어 격리하므로 main 은 건드리지 않습니다. 기억할 한 문장은 "start 로 만들고 doctor 로 점검하고 run 으로 맡긴다"입니다.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시나리오 B 는 계획이 없을 때입니다. fw interview 에 목표 문장을 주면 기획 역할부터 질문을 냅니다. 각 질문에는 왜 이 질문이 필요한지가 붙어 있고, fw interview-answer 로 답하고 재실행하면 개발, 평가 순으로 이어서 묻습니다. 평가 역할은 "잘 됐다"를 명령 하나의 종료 코드로 확인할 수 있는 형태로 만들 수 있는지 파고듭니다. 초안이 셋 모이면 이의 라운드가 자동으로 돌고, 이의가 0 이 되면 사람이 승인합니다. 실측에서는 3라운드 안에 완전히 수렴하지 않아 force 옵션으로 마무리하는 것이 사실상 정상 경로였습니다. 뒤 라운드의 이의는 정당하지만 점점 가늘어지기 때문입니다. 승인 뒤에는 PLAN 의 단계 표를 사람이 채우고 fw init 으로 STATE 를 만들어 단계 목록과 검증 명령을 적은 뒤, fw doctor 와 fw run 으로 넘어갑니다. 사람이 손대는 지점은 답하기와 승인하기 둘입니다. 기억할 한 문장은 "세 고수에게 캐묻게 하고 사람은 답과 승인만 한다"입니다.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밤새 돌리는 방법과 아침 루틴입니다. 왼쪽처럼 nohup 으로 띄우면 터미널을 닫아도 되고, 콘솔에 찍히던 내용은 로그 파일에 그대로 남습니다. STATE 에 비용과 시간 상한을 걸어두면 안심하고 맡길 수 있습니다. 오른쪽 관측 명령 셋은 묻는 질문이 다릅니다. fw status 는 지금 어디까지 왔는지, fw log 는 왜 멈췼는지, fw report 는 잘 돌아갔는지를 보여줍니다. 아침에는 알림 종류가 첫 명령을 정합니다. 완료 알림이면 fw report 를 보고 검증 보고서의 이견 절을 읽고 git log 로 커밋을 훑은 뒤 판정합니다. 됐으면 PR 이나 머지로 가고, 아니면 발견 사항을 새 단계로 추가해 다시 돌립니다. BLOCKED 면 질문을 보고 답하고 재실행하고, FAILED 면 로그로 원인을 찾아 고친 뒤 fw retry 로 되살립니다. 승인 알림이면 머지 후 재실행하고, halted 면 상한을 조정하거나 그대로 재실행합니다. 기억할 한 문장은 "report, VERIFY, git log 순으로 본다"입니다.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멈췼을 때의 대응표입니다. 대부분은 STATE 한 줄이나 명령 하나로 풀립니다. 시작 자체가 거부되면 검증 명령이 항상 성공하는 꼴이거나 자리표시자가 남았거나 신뢰 리뷰어 목록이 비어 있는 경우이니 메시지대로 STATE 를 고치면 되고, fw doctor 로 미리 잡을 수 있습니다. 시작 전 점검에서 막히면 커밋 안 된 변경을 정리하거나 경로와 gh 로그인을 확인합니다. BLOCKED 는 답하고 재실행, FAILED 는 로그를 보고 원인을 고친 뒤 fw retry, halted 는 그냥 재실행입니다. 다른 fw run 이 돌고 있다는 메시지는 잠금 파일 때문이고, 20분 무응답 실패는 네트워크 문제로 자동 재시도됩니다. 빌드 설정 자체를 고치는 단계라서 변조 의심이 오탐이라면 그 단계에 옵트아웃 설정을 켤 수 있습니다. 아래 킬 스위치는 fw stop 하나로 STOP 파일을 만들어 다음 세션을 띄우기 직전에 멈추게 하며, 돌고 있는 세션은 중간에 죽이지 않습니다. 기억할 한 문장은 "멈춤에는 각각 첫 조치가 정해져 있다"입니다.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매니저 관점의 질문, 무인으로 돌려도 되는가에 대한 답입니다. 규칙을 문장이 아니라 코드로 지키고, 네 층으로 겹쳐서 한 층이 뚫려도 다음 층이 잡습니다. 0층은 AI 를 띄우기 전이라 비용이 들지 않는 층으로, 검증 명령이 항상 성공하는 꼴이면 시작을 거부하고 리포와 git 상태를 먼저 확인합니다. 1층은 AI 가 도는 동안 도구 호출을 하나씩 검사하는 층으로, 리포 밖 쓰기나 위험한 명령이나 나중에 펼쳐지는 셸 문법은 거부하고, 선택적으로 샌드박스로 OS 수준에서 격리하며, 허용과 거부를 기록합니다. 2층은 결과 판정으로 AI 가 뭐라고 했든 git 으로 확인하는 층이고, 3층은 재시도, 비용, 시간 상한과 킬 스위치처럼 언제든 멈출 수 있게 하는 층입니다. 각 층은 실제로 재현된 사고 뒤에 하나씩 추가되었습니다. 오른쪽 네 가지 교훈은 그 과정에서 반복된 것들이고, 비용은 세션마다 기록되고 fw report 로 종류별로 집계되며 상한을 넘으면 멈춥니다. 금액은 모델과 리포에 따라 크게 달라지니 한 번 돌려 직접 재 보시면 됩니다. 재시도가 0회라고 꼭 좋은 것은 아니라는 점도 함께 봐 주세요. 기억할 한 문장은 "한 층이 뚫려도 다음 층이 잡는다"입니다.</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마무리입니다. AI 가 목표를 정하고 기준을 정하고 스스로 통과 판정까지 하면 닫힌 루프가 됩니다. 그래서 목표, 답, 승인, 머지, 최종 판정은 사람이 하고, 인터뷰, 코드 작성, 검증, 재시도는 하네스가 합니다. 오늘 기억할 것은 셋입니다. 끝났다는 말을 믿지 않고 종료 코드와 git 으로 판정한다는 것, 같은 세 역할이 계획과 검증을 맡는다는 것, 문서는 3종이고 기계 사실의 진실은 STATE.json 한 곳이라는 것입니다. 오늘 할 일은 오른쪽 상자에 있습니다. 설치 명령을 한 번 돌리고, 목표가 선명하면 start 커맨드로, 계획이 없으면 fw interview 로 첫 워크플로우를 시작해 보세요. 더 자세한 내용은 플러그인 README 와 하네스 README, 설계 문서에 있습니다. 기억할 한 문장은 "시작과 끝은 사람, 가운데는 기계"입니다.</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feature-workflow-intro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feature-workflow-intro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100000">
              <a:srgbClr val="101A2F"/>
            </a:gs>
          </a:gsLst>
          <a:lin ang="2700000" scaled="1"/>
        </a:gradFill>
        <a:effectLst/>
      </p:bgPr>
    </p:bg>
    <p:spTree>
      <p:nvGrpSpPr>
        <p:cNvPr id="1" name=""/>
        <p:cNvGrpSpPr/>
        <p:nvPr/>
      </p:nvGrpSpPr>
      <p:grpSpPr>
        <a:xfrm>
          <a:off x="0" y="0"/>
          <a:ext cx="0" cy="0"/>
          <a:chOff x="0" y="0"/>
          <a:chExt cx="0" cy="0"/>
        </a:xfrm>
      </p:grpSpPr>
      <p:sp>
        <p:nvSpPr>
          <p:cNvPr id="2" name="Freeform 2"/>
          <p:cNvSpPr/>
          <p:nvPr/>
        </p:nvSpPr>
        <p:spPr>
          <a:xfrm>
            <a:off x="8572500" y="0"/>
            <a:ext cx="3619500" cy="6858000"/>
          </a:xfrm>
          <a:custGeom>
            <a:avLst/>
            <a:gdLst/>
            <a:ahLst/>
            <a:cxnLst/>
            <a:rect l="l" t="t" r="r" b="b"/>
            <a:pathLst>
              <a:path w="3619500" h="6858000">
                <a:moveTo>
                  <a:pt x="381000" y="0"/>
                </a:moveTo>
                <a:lnTo>
                  <a:pt x="381000" y="6858000"/>
                </a:lnTo>
                <a:moveTo>
                  <a:pt x="1047750" y="0"/>
                </a:moveTo>
                <a:lnTo>
                  <a:pt x="1047750" y="6858000"/>
                </a:lnTo>
                <a:moveTo>
                  <a:pt x="1714500" y="0"/>
                </a:moveTo>
                <a:lnTo>
                  <a:pt x="1714500" y="6858000"/>
                </a:lnTo>
                <a:moveTo>
                  <a:pt x="2381250" y="0"/>
                </a:moveTo>
                <a:lnTo>
                  <a:pt x="2381250" y="6858000"/>
                </a:lnTo>
                <a:moveTo>
                  <a:pt x="0" y="952500"/>
                </a:moveTo>
                <a:lnTo>
                  <a:pt x="3619500" y="952500"/>
                </a:lnTo>
                <a:moveTo>
                  <a:pt x="0" y="1714500"/>
                </a:moveTo>
                <a:lnTo>
                  <a:pt x="3619500" y="1714500"/>
                </a:lnTo>
                <a:moveTo>
                  <a:pt x="0" y="2476500"/>
                </a:moveTo>
                <a:lnTo>
                  <a:pt x="3619500" y="2476500"/>
                </a:lnTo>
                <a:moveTo>
                  <a:pt x="0" y="3238500"/>
                </a:moveTo>
                <a:lnTo>
                  <a:pt x="3619500" y="3238500"/>
                </a:lnTo>
                <a:moveTo>
                  <a:pt x="0" y="4000500"/>
                </a:moveTo>
                <a:lnTo>
                  <a:pt x="3619500" y="4000500"/>
                </a:lnTo>
                <a:moveTo>
                  <a:pt x="0" y="4762500"/>
                </a:moveTo>
                <a:lnTo>
                  <a:pt x="3619500" y="4762500"/>
                </a:lnTo>
                <a:moveTo>
                  <a:pt x="0" y="5524500"/>
                </a:moveTo>
                <a:lnTo>
                  <a:pt x="3619500" y="5524500"/>
                </a:lnTo>
                <a:moveTo>
                  <a:pt x="0" y="6286500"/>
                </a:moveTo>
                <a:lnTo>
                  <a:pt x="3619500" y="6286500"/>
                </a:lnTo>
              </a:path>
            </a:pathLst>
          </a:custGeom>
          <a:noFill/>
          <a:ln w="9525">
            <a:solidFill>
              <a:srgbClr val="1B2740"/>
            </a:solidFill>
          </a:ln>
        </p:spPr>
      </p:sp>
      <p:grpSp>
        <p:nvGrpSpPr>
          <p:cNvPr id="4" name="Group 4"/>
          <p:cNvGrpSpPr/>
          <p:nvPr/>
        </p:nvGrpSpPr>
        <p:grpSpPr>
          <a:xfrm>
            <a:off x="601980" y="581025"/>
            <a:ext cx="4271772" cy="293370"/>
            <a:chOff x="601980" y="581025"/>
            <a:chExt cx="4271772" cy="293370"/>
          </a:xfrm>
        </p:grpSpPr>
        <p:sp>
          <p:nvSpPr>
            <p:cNvPr id="3" name="TextBox 3"/>
            <p:cNvSpPr txBox="1"/>
            <p:nvPr/>
          </p:nvSpPr>
          <p:spPr>
            <a:xfrm>
              <a:off x="601980" y="581025"/>
              <a:ext cx="4271772" cy="293370"/>
            </a:xfrm>
            <a:prstGeom prst="rect">
              <a:avLst/>
            </a:prstGeom>
            <a:noFill/>
            <a:ln>
              <a:noFill/>
            </a:ln>
          </p:spPr>
          <p:txBody>
            <a:bodyPr wrap="none" lIns="0" tIns="0" rIns="0" bIns="0" anchor="t" anchorCtr="0">
              <a:spAutoFit/>
            </a:bodyPr>
            <a:lstStyle/>
            <a:p>
              <a:pPr algn="l"/>
              <a:r>
                <a:rPr lang="ko-KR" sz="1500" spc="150" dirty="0">
                  <a:solidFill>
                    <a:schemeClr val="accent5"/>
                  </a:solidFill>
                  <a:latin typeface="Consolas"/>
                  <a:ea typeface="Microsoft YaHei"/>
                  <a:cs typeface="Consolas"/>
                </a:rPr>
                <a:t>FEATURE-WORKFLOW · 사내 기술 세션</a:t>
              </a:r>
            </a:p>
          </p:txBody>
        </p:sp>
      </p:grpSp>
      <p:grpSp>
        <p:nvGrpSpPr>
          <p:cNvPr id="6" name="Group 6"/>
          <p:cNvGrpSpPr/>
          <p:nvPr/>
        </p:nvGrpSpPr>
        <p:grpSpPr>
          <a:xfrm>
            <a:off x="590550" y="1436370"/>
            <a:ext cx="6242876" cy="2724150"/>
            <a:chOff x="590550" y="1436370"/>
            <a:chExt cx="6242876" cy="2724150"/>
          </a:xfrm>
        </p:grpSpPr>
        <p:sp>
          <p:nvSpPr>
            <p:cNvPr id="5" name="TextBox 5"/>
            <p:cNvSpPr txBox="1"/>
            <p:nvPr/>
          </p:nvSpPr>
          <p:spPr>
            <a:xfrm>
              <a:off x="590550" y="1436370"/>
              <a:ext cx="6242876" cy="2724150"/>
            </a:xfrm>
            <a:prstGeom prst="rect">
              <a:avLst/>
            </a:prstGeom>
            <a:noFill/>
            <a:ln>
              <a:noFill/>
            </a:ln>
          </p:spPr>
          <p:txBody>
            <a:bodyPr wrap="none" lIns="0" tIns="0" rIns="0" bIns="0" anchor="t" anchorCtr="0">
              <a:spAutoFit/>
            </a:bodyPr>
            <a:lstStyle/>
            <a:p>
              <a:pPr algn="l">
                <a:lnSpc>
                  <a:spcPts val="6600"/>
                </a:lnSpc>
              </a:pPr>
              <a:r>
                <a:rPr lang="ko-KR" sz="5400" b="1" dirty="0">
                  <a:solidFill>
                    <a:schemeClr val="dk1"/>
                  </a:solidFill>
                  <a:effectLst>
                    <a:glow rad="57150">
                      <a:srgbClr val="4FC3F7">
                        <a:alpha val="45000"/>
                      </a:srgbClr>
                    </a:glow>
                  </a:effectLst>
                  <a:latin typeface="+mn-lt"/>
                  <a:ea typeface="+mn-ea"/>
                  <a:cs typeface="+mn-cs"/>
                </a:rPr>
                <a:t>세션이</a:t>
              </a:r>
              <a:br/>
              <a:r>
                <a:rPr lang="ko-KR" sz="5400" b="1" dirty="0">
                  <a:solidFill>
                    <a:schemeClr val="dk1"/>
                  </a:solidFill>
                  <a:effectLst>
                    <a:glow rad="57150">
                      <a:srgbClr val="4FC3F7">
                        <a:alpha val="45000"/>
                      </a:srgbClr>
                    </a:glow>
                  </a:effectLst>
                  <a:latin typeface="+mn-lt"/>
                  <a:ea typeface="+mn-ea"/>
                  <a:cs typeface="+mn-cs"/>
                </a:rPr>
                <a:t>"끝났다"고 말해도,</a:t>
              </a:r>
              <a:br/>
              <a:r>
                <a:rPr lang="ko-KR" sz="5400" b="1" dirty="0">
                  <a:solidFill>
                    <a:schemeClr val="accent1"/>
                  </a:solidFill>
                  <a:effectLst>
                    <a:glow rad="57150">
                      <a:srgbClr val="4FC3F7">
                        <a:alpha val="45000"/>
                      </a:srgbClr>
                    </a:glow>
                  </a:effectLst>
                  <a:latin typeface="+mn-lt"/>
                  <a:ea typeface="+mn-ea"/>
                  <a:cs typeface="+mn-cs"/>
                </a:rPr>
                <a:t>믿지 않는다.</a:t>
              </a:r>
            </a:p>
          </p:txBody>
        </p:sp>
      </p:grpSp>
      <p:grpSp>
        <p:nvGrpSpPr>
          <p:cNvPr id="9" name="Group 9"/>
          <p:cNvGrpSpPr/>
          <p:nvPr/>
        </p:nvGrpSpPr>
        <p:grpSpPr>
          <a:xfrm>
            <a:off x="597408" y="4065270"/>
            <a:ext cx="6793573" cy="862203"/>
            <a:chOff x="597408" y="4065270"/>
            <a:chExt cx="6793573" cy="862203"/>
          </a:xfrm>
        </p:grpSpPr>
        <p:sp>
          <p:nvSpPr>
            <p:cNvPr id="7" name="TextBox 7"/>
            <p:cNvSpPr txBox="1"/>
            <p:nvPr/>
          </p:nvSpPr>
          <p:spPr>
            <a:xfrm>
              <a:off x="597408" y="4065270"/>
              <a:ext cx="3060603" cy="469392"/>
            </a:xfrm>
            <a:prstGeom prst="rect">
              <a:avLst/>
            </a:prstGeom>
            <a:noFill/>
            <a:ln>
              <a:noFill/>
            </a:ln>
          </p:spPr>
          <p:txBody>
            <a:bodyPr wrap="none" lIns="0" tIns="0" rIns="0" bIns="0" anchor="t" anchorCtr="0">
              <a:spAutoFit/>
            </a:bodyPr>
            <a:lstStyle/>
            <a:p>
              <a:pPr algn="l"/>
              <a:r>
                <a:rPr lang="ko-KR" sz="2400" b="1" dirty="0">
                  <a:solidFill>
                    <a:schemeClr val="accent1"/>
                  </a:solidFill>
                  <a:latin typeface="+mn-lt"/>
                  <a:ea typeface="+mn-ea"/>
                  <a:cs typeface="+mn-cs"/>
                </a:rPr>
                <a:t>feature-workflow</a:t>
              </a:r>
            </a:p>
          </p:txBody>
        </p:sp>
        <p:sp>
          <p:nvSpPr>
            <p:cNvPr id="8" name="TextBox 8"/>
            <p:cNvSpPr txBox="1"/>
            <p:nvPr/>
          </p:nvSpPr>
          <p:spPr>
            <a:xfrm>
              <a:off x="598932" y="4516755"/>
              <a:ext cx="6792049" cy="410718"/>
            </a:xfrm>
            <a:prstGeom prst="rect">
              <a:avLst/>
            </a:prstGeom>
            <a:noFill/>
            <a:ln>
              <a:noFill/>
            </a:ln>
          </p:spPr>
          <p:txBody>
            <a:bodyPr wrap="none" lIns="0" tIns="0" rIns="0" bIns="0" anchor="t" anchorCtr="0">
              <a:spAutoFit/>
            </a:bodyPr>
            <a:lstStyle/>
            <a:p>
              <a:pPr algn="l"/>
              <a:r>
                <a:rPr lang="ko-KR" sz="2100" dirty="0">
                  <a:solidFill>
                    <a:schemeClr val="dk1"/>
                  </a:solidFill>
                  <a:latin typeface="+mn-lt"/>
                  <a:ea typeface="+mn-ea"/>
                  <a:cs typeface="+mn-cs"/>
                </a:rPr>
                <a:t>큰 작업을 끝까지 끌고 가는 워크플로우 + 무인 하네스</a:t>
              </a:r>
            </a:p>
          </p:txBody>
        </p:sp>
      </p:grpSp>
      <p:grpSp>
        <p:nvGrpSpPr>
          <p:cNvPr id="12" name="Group 12"/>
          <p:cNvGrpSpPr/>
          <p:nvPr/>
        </p:nvGrpSpPr>
        <p:grpSpPr>
          <a:xfrm>
            <a:off x="609600" y="5086350"/>
            <a:ext cx="4468555" cy="469773"/>
            <a:chOff x="609600" y="5086350"/>
            <a:chExt cx="4468555" cy="469773"/>
          </a:xfrm>
        </p:grpSpPr>
        <p:sp>
          <p:nvSpPr>
            <p:cNvPr id="10" name="Rectangle 10"/>
            <p:cNvSpPr/>
            <p:nvPr/>
          </p:nvSpPr>
          <p:spPr>
            <a:xfrm>
              <a:off x="609600" y="5086350"/>
              <a:ext cx="38100" cy="381000"/>
            </a:xfrm>
            <a:prstGeom prst="rect">
              <a:avLst/>
            </a:prstGeom>
            <a:solidFill>
              <a:schemeClr val="accent2"/>
            </a:solidFill>
            <a:ln>
              <a:noFill/>
            </a:ln>
          </p:spPr>
        </p:sp>
        <p:sp>
          <p:nvSpPr>
            <p:cNvPr id="11" name="TextBox 11"/>
            <p:cNvSpPr txBox="1"/>
            <p:nvPr/>
          </p:nvSpPr>
          <p:spPr>
            <a:xfrm>
              <a:off x="789432" y="5145405"/>
              <a:ext cx="4288723" cy="410718"/>
            </a:xfrm>
            <a:prstGeom prst="rect">
              <a:avLst/>
            </a:prstGeom>
            <a:noFill/>
            <a:ln>
              <a:noFill/>
            </a:ln>
          </p:spPr>
          <p:txBody>
            <a:bodyPr wrap="none" lIns="0" tIns="0" rIns="0" bIns="0" anchor="t" anchorCtr="0">
              <a:spAutoFit/>
            </a:bodyPr>
            <a:lstStyle/>
            <a:p>
              <a:pPr algn="l"/>
              <a:r>
                <a:rPr lang="ko-KR" sz="2100" b="1" dirty="0">
                  <a:solidFill>
                    <a:schemeClr val="accent2"/>
                  </a:solidFill>
                  <a:latin typeface="+mn-lt"/>
                  <a:ea typeface="+mn-ea"/>
                  <a:cs typeface="+mn-cs"/>
                </a:rPr>
                <a:t>시작과 끝은 사람</a:t>
              </a:r>
              <a:r>
                <a:rPr lang="ko-KR" sz="2100" dirty="0">
                  <a:solidFill>
                    <a:schemeClr val="dk1"/>
                  </a:solidFill>
                  <a:latin typeface="+mn-lt"/>
                  <a:ea typeface="+mn-ea"/>
                  <a:cs typeface="+mn-cs"/>
                </a:rPr>
                <a:t xml:space="preserve"> · </a:t>
              </a:r>
              <a:r>
                <a:rPr lang="ko-KR" sz="2100" b="1" dirty="0">
                  <a:solidFill>
                    <a:schemeClr val="accent1"/>
                  </a:solidFill>
                  <a:latin typeface="+mn-lt"/>
                  <a:ea typeface="+mn-ea"/>
                  <a:cs typeface="+mn-cs"/>
                </a:rPr>
                <a:t>가운데는 기계</a:t>
              </a:r>
            </a:p>
          </p:txBody>
        </p:sp>
      </p:grpSp>
      <p:grpSp>
        <p:nvGrpSpPr>
          <p:cNvPr id="14" name="Group 14"/>
          <p:cNvGrpSpPr/>
          <p:nvPr/>
        </p:nvGrpSpPr>
        <p:grpSpPr>
          <a:xfrm>
            <a:off x="602742" y="5950268"/>
            <a:ext cx="7228675" cy="264033"/>
            <a:chOff x="602742" y="5950268"/>
            <a:chExt cx="7228675" cy="264033"/>
          </a:xfrm>
        </p:grpSpPr>
        <p:sp>
          <p:nvSpPr>
            <p:cNvPr id="13" name="TextBox 13"/>
            <p:cNvSpPr txBox="1"/>
            <p:nvPr/>
          </p:nvSpPr>
          <p:spPr>
            <a:xfrm>
              <a:off x="602742" y="5950268"/>
              <a:ext cx="7228675"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사내 기술 세션 · 2026-09 · claude-helper 마켓플레이스 · plugins/feature-workflow</a:t>
              </a:r>
            </a:p>
          </p:txBody>
        </p:sp>
      </p:grpSp>
      <p:grpSp>
        <p:nvGrpSpPr>
          <p:cNvPr id="31" name="Group 31"/>
          <p:cNvGrpSpPr/>
          <p:nvPr/>
        </p:nvGrpSpPr>
        <p:grpSpPr>
          <a:xfrm>
            <a:off x="10134600" y="1416368"/>
            <a:ext cx="1323804" cy="4512183"/>
            <a:chOff x="10134600" y="1416368"/>
            <a:chExt cx="1323804" cy="4512183"/>
          </a:xfrm>
        </p:grpSpPr>
        <p:sp>
          <p:nvSpPr>
            <p:cNvPr id="15" name="Line 15"/>
            <p:cNvSpPr/>
            <p:nvPr/>
          </p:nvSpPr>
          <p:spPr>
            <a:xfrm>
              <a:off x="10267950" y="1600200"/>
              <a:ext cx="9525" cy="4038600"/>
            </a:xfrm>
            <a:custGeom>
              <a:avLst/>
              <a:gdLst/>
              <a:ahLst/>
              <a:cxnLst/>
              <a:rect l="l" t="t" r="r" b="b"/>
              <a:pathLst>
                <a:path w="9525" h="4038600">
                  <a:moveTo>
                    <a:pt x="0" y="0"/>
                  </a:moveTo>
                  <a:lnTo>
                    <a:pt x="0" y="4038600"/>
                  </a:lnTo>
                </a:path>
              </a:pathLst>
            </a:custGeom>
            <a:noFill/>
            <a:ln w="19050">
              <a:solidFill>
                <a:schemeClr val="accent6"/>
              </a:solidFill>
            </a:ln>
          </p:spPr>
        </p:sp>
        <p:sp>
          <p:nvSpPr>
            <p:cNvPr id="16" name="Line 16"/>
            <p:cNvSpPr/>
            <p:nvPr/>
          </p:nvSpPr>
          <p:spPr>
            <a:xfrm>
              <a:off x="10267950" y="1600200"/>
              <a:ext cx="9525" cy="647700"/>
            </a:xfrm>
            <a:custGeom>
              <a:avLst/>
              <a:gdLst/>
              <a:ahLst/>
              <a:cxnLst/>
              <a:rect l="l" t="t" r="r" b="b"/>
              <a:pathLst>
                <a:path w="9525" h="647700">
                  <a:moveTo>
                    <a:pt x="0" y="0"/>
                  </a:moveTo>
                  <a:lnTo>
                    <a:pt x="0" y="647700"/>
                  </a:lnTo>
                </a:path>
              </a:pathLst>
            </a:custGeom>
            <a:noFill/>
            <a:ln w="19050">
              <a:solidFill>
                <a:schemeClr val="accent2"/>
              </a:solidFill>
            </a:ln>
          </p:spPr>
        </p:sp>
        <p:sp>
          <p:nvSpPr>
            <p:cNvPr id="17" name="Line 17"/>
            <p:cNvSpPr/>
            <p:nvPr/>
          </p:nvSpPr>
          <p:spPr>
            <a:xfrm>
              <a:off x="10267950" y="2247900"/>
              <a:ext cx="9525" cy="2743200"/>
            </a:xfrm>
            <a:custGeom>
              <a:avLst/>
              <a:gdLst/>
              <a:ahLst/>
              <a:cxnLst/>
              <a:rect l="l" t="t" r="r" b="b"/>
              <a:pathLst>
                <a:path w="9525" h="2743200">
                  <a:moveTo>
                    <a:pt x="0" y="0"/>
                  </a:moveTo>
                  <a:lnTo>
                    <a:pt x="0" y="2743200"/>
                  </a:lnTo>
                </a:path>
              </a:pathLst>
            </a:custGeom>
            <a:noFill/>
            <a:ln w="19050">
              <a:solidFill>
                <a:schemeClr val="accent1"/>
              </a:solidFill>
            </a:ln>
          </p:spPr>
        </p:sp>
        <p:sp>
          <p:nvSpPr>
            <p:cNvPr id="18" name="Line 18"/>
            <p:cNvSpPr/>
            <p:nvPr/>
          </p:nvSpPr>
          <p:spPr>
            <a:xfrm>
              <a:off x="10267950" y="4991100"/>
              <a:ext cx="9525" cy="647700"/>
            </a:xfrm>
            <a:custGeom>
              <a:avLst/>
              <a:gdLst/>
              <a:ahLst/>
              <a:cxnLst/>
              <a:rect l="l" t="t" r="r" b="b"/>
              <a:pathLst>
                <a:path w="9525" h="647700">
                  <a:moveTo>
                    <a:pt x="0" y="0"/>
                  </a:moveTo>
                  <a:lnTo>
                    <a:pt x="0" y="647700"/>
                  </a:lnTo>
                </a:path>
              </a:pathLst>
            </a:custGeom>
            <a:noFill/>
            <a:ln w="19050">
              <a:solidFill>
                <a:schemeClr val="accent2"/>
              </a:solidFill>
            </a:ln>
          </p:spPr>
        </p:sp>
        <p:sp>
          <p:nvSpPr>
            <p:cNvPr id="19" name="Ellipse 19"/>
            <p:cNvSpPr/>
            <p:nvPr/>
          </p:nvSpPr>
          <p:spPr>
            <a:xfrm>
              <a:off x="10134600" y="1466850"/>
              <a:ext cx="266700" cy="266700"/>
            </a:xfrm>
            <a:prstGeom prst="ellipse">
              <a:avLst/>
            </a:prstGeom>
            <a:solidFill>
              <a:schemeClr val="lt1"/>
            </a:solidFill>
            <a:ln w="19050">
              <a:solidFill>
                <a:schemeClr val="accent2"/>
              </a:solidFill>
            </a:ln>
          </p:spPr>
        </p:sp>
        <p:sp>
          <p:nvSpPr>
            <p:cNvPr id="20" name="Ellipse 20"/>
            <p:cNvSpPr/>
            <p:nvPr/>
          </p:nvSpPr>
          <p:spPr>
            <a:xfrm>
              <a:off x="10220325" y="1552575"/>
              <a:ext cx="95250" cy="95250"/>
            </a:xfrm>
            <a:prstGeom prst="ellipse">
              <a:avLst/>
            </a:prstGeom>
            <a:solidFill>
              <a:schemeClr val="accent2"/>
            </a:solidFill>
            <a:ln>
              <a:noFill/>
            </a:ln>
          </p:spPr>
        </p:sp>
        <p:sp>
          <p:nvSpPr>
            <p:cNvPr id="21" name="Ellipse 21"/>
            <p:cNvSpPr/>
            <p:nvPr/>
          </p:nvSpPr>
          <p:spPr>
            <a:xfrm>
              <a:off x="10153650" y="2667000"/>
              <a:ext cx="228600" cy="228600"/>
            </a:xfrm>
            <a:prstGeom prst="ellipse">
              <a:avLst/>
            </a:prstGeom>
            <a:solidFill>
              <a:srgbClr val="182238"/>
            </a:solidFill>
            <a:ln w="19050">
              <a:solidFill>
                <a:schemeClr val="accent1"/>
              </a:solidFill>
            </a:ln>
            <a:effectLst>
              <a:glow rad="47625">
                <a:srgbClr val="4FC3F7">
                  <a:alpha val="50000"/>
                </a:srgbClr>
              </a:glow>
            </a:effectLst>
          </p:spPr>
        </p:sp>
        <p:sp>
          <p:nvSpPr>
            <p:cNvPr id="22" name="Ellipse 22"/>
            <p:cNvSpPr/>
            <p:nvPr/>
          </p:nvSpPr>
          <p:spPr>
            <a:xfrm>
              <a:off x="10153650" y="3505200"/>
              <a:ext cx="228600" cy="228600"/>
            </a:xfrm>
            <a:prstGeom prst="ellipse">
              <a:avLst/>
            </a:prstGeom>
            <a:solidFill>
              <a:srgbClr val="182238"/>
            </a:solidFill>
            <a:ln w="19050">
              <a:solidFill>
                <a:schemeClr val="accent1"/>
              </a:solidFill>
            </a:ln>
            <a:effectLst>
              <a:glow rad="47625">
                <a:srgbClr val="4FC3F7">
                  <a:alpha val="50000"/>
                </a:srgbClr>
              </a:glow>
            </a:effectLst>
          </p:spPr>
        </p:sp>
        <p:sp>
          <p:nvSpPr>
            <p:cNvPr id="23" name="Ellipse 23"/>
            <p:cNvSpPr/>
            <p:nvPr/>
          </p:nvSpPr>
          <p:spPr>
            <a:xfrm>
              <a:off x="10153650" y="4343400"/>
              <a:ext cx="228600" cy="228600"/>
            </a:xfrm>
            <a:prstGeom prst="ellipse">
              <a:avLst/>
            </a:prstGeom>
            <a:solidFill>
              <a:srgbClr val="182238"/>
            </a:solidFill>
            <a:ln w="19050">
              <a:solidFill>
                <a:schemeClr val="accent1"/>
              </a:solidFill>
            </a:ln>
            <a:effectLst>
              <a:glow rad="47625">
                <a:srgbClr val="4FC3F7">
                  <a:alpha val="50000"/>
                </a:srgbClr>
              </a:glow>
            </a:effectLst>
          </p:spPr>
        </p:sp>
        <p:sp>
          <p:nvSpPr>
            <p:cNvPr id="24" name="Ellipse 24"/>
            <p:cNvSpPr/>
            <p:nvPr/>
          </p:nvSpPr>
          <p:spPr>
            <a:xfrm>
              <a:off x="10134600" y="5505450"/>
              <a:ext cx="266700" cy="266700"/>
            </a:xfrm>
            <a:prstGeom prst="ellipse">
              <a:avLst/>
            </a:prstGeom>
            <a:solidFill>
              <a:schemeClr val="lt1"/>
            </a:solidFill>
            <a:ln w="19050">
              <a:solidFill>
                <a:schemeClr val="accent2"/>
              </a:solidFill>
            </a:ln>
          </p:spPr>
        </p:sp>
        <p:sp>
          <p:nvSpPr>
            <p:cNvPr id="25" name="Ellipse 25"/>
            <p:cNvSpPr/>
            <p:nvPr/>
          </p:nvSpPr>
          <p:spPr>
            <a:xfrm>
              <a:off x="10220325" y="5591175"/>
              <a:ext cx="95250" cy="95250"/>
            </a:xfrm>
            <a:prstGeom prst="ellipse">
              <a:avLst/>
            </a:prstGeom>
            <a:solidFill>
              <a:schemeClr val="accent2"/>
            </a:solidFill>
            <a:ln>
              <a:noFill/>
            </a:ln>
          </p:spPr>
        </p:sp>
        <p:sp>
          <p:nvSpPr>
            <p:cNvPr id="26" name="TextBox 26"/>
            <p:cNvSpPr txBox="1"/>
            <p:nvPr/>
          </p:nvSpPr>
          <p:spPr>
            <a:xfrm>
              <a:off x="10508742" y="1416368"/>
              <a:ext cx="896684" cy="473583"/>
            </a:xfrm>
            <a:prstGeom prst="rect">
              <a:avLst/>
            </a:prstGeom>
            <a:noFill/>
            <a:ln>
              <a:noFill/>
            </a:ln>
          </p:spPr>
          <p:txBody>
            <a:bodyPr wrap="none" lIns="0" tIns="0" rIns="0" bIns="0" anchor="t" anchorCtr="0">
              <a:spAutoFit/>
            </a:bodyPr>
            <a:lstStyle/>
            <a:p>
              <a:pPr algn="l">
                <a:lnSpc>
                  <a:spcPts val="1650"/>
                </a:lnSpc>
              </a:pPr>
              <a:r>
                <a:rPr lang="ko-KR" sz="1350" b="1" dirty="0">
                  <a:solidFill>
                    <a:schemeClr val="accent2"/>
                  </a:solidFill>
                  <a:latin typeface="+mn-lt"/>
                  <a:ea typeface="+mn-ea"/>
                  <a:cs typeface="+mn-cs"/>
                </a:rPr>
                <a:t>사람</a:t>
              </a:r>
              <a:br/>
              <a:r>
                <a:rPr lang="ko-KR" sz="1350" dirty="0">
                  <a:solidFill>
                    <a:schemeClr val="accent2"/>
                  </a:solidFill>
                  <a:latin typeface="+mn-lt"/>
                  <a:ea typeface="+mn-ea"/>
                  <a:cs typeface="+mn-cs"/>
                </a:rPr>
                <a:t>목표 · 승인</a:t>
              </a:r>
            </a:p>
          </p:txBody>
        </p:sp>
        <p:sp>
          <p:nvSpPr>
            <p:cNvPr id="27" name="TextBox 27"/>
            <p:cNvSpPr txBox="1"/>
            <p:nvPr/>
          </p:nvSpPr>
          <p:spPr>
            <a:xfrm>
              <a:off x="10508742" y="2692718"/>
              <a:ext cx="558927"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인터뷰</a:t>
              </a:r>
            </a:p>
          </p:txBody>
        </p:sp>
        <p:sp>
          <p:nvSpPr>
            <p:cNvPr id="28" name="TextBox 28"/>
            <p:cNvSpPr txBox="1"/>
            <p:nvPr/>
          </p:nvSpPr>
          <p:spPr>
            <a:xfrm>
              <a:off x="10508742" y="3530918"/>
              <a:ext cx="931488"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phase 실행</a:t>
              </a:r>
            </a:p>
          </p:txBody>
        </p:sp>
        <p:sp>
          <p:nvSpPr>
            <p:cNvPr id="29" name="TextBox 29"/>
            <p:cNvSpPr txBox="1"/>
            <p:nvPr/>
          </p:nvSpPr>
          <p:spPr>
            <a:xfrm>
              <a:off x="10508742" y="4369118"/>
              <a:ext cx="949662"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검증 + 합의</a:t>
              </a:r>
            </a:p>
          </p:txBody>
        </p:sp>
        <p:sp>
          <p:nvSpPr>
            <p:cNvPr id="30" name="TextBox 30"/>
            <p:cNvSpPr txBox="1"/>
            <p:nvPr/>
          </p:nvSpPr>
          <p:spPr>
            <a:xfrm>
              <a:off x="10508742" y="5454968"/>
              <a:ext cx="896684" cy="473583"/>
            </a:xfrm>
            <a:prstGeom prst="rect">
              <a:avLst/>
            </a:prstGeom>
            <a:noFill/>
            <a:ln>
              <a:noFill/>
            </a:ln>
          </p:spPr>
          <p:txBody>
            <a:bodyPr wrap="none" lIns="0" tIns="0" rIns="0" bIns="0" anchor="t" anchorCtr="0">
              <a:spAutoFit/>
            </a:bodyPr>
            <a:lstStyle/>
            <a:p>
              <a:pPr algn="l">
                <a:lnSpc>
                  <a:spcPts val="1650"/>
                </a:lnSpc>
              </a:pPr>
              <a:r>
                <a:rPr lang="ko-KR" sz="1350" b="1" dirty="0">
                  <a:solidFill>
                    <a:schemeClr val="accent2"/>
                  </a:solidFill>
                  <a:latin typeface="+mn-lt"/>
                  <a:ea typeface="+mn-ea"/>
                  <a:cs typeface="+mn-cs"/>
                </a:rPr>
                <a:t>사람</a:t>
              </a:r>
              <a:br/>
              <a:r>
                <a:rPr lang="ko-KR" sz="1350" dirty="0">
                  <a:solidFill>
                    <a:schemeClr val="accent2"/>
                  </a:solidFill>
                  <a:latin typeface="+mn-lt"/>
                  <a:ea typeface="+mn-ea"/>
                  <a:cs typeface="+mn-cs"/>
                </a:rPr>
                <a:t>머지 · 판정</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01980" y="428625"/>
            <a:ext cx="2244852" cy="293370"/>
            <a:chOff x="601980" y="428625"/>
            <a:chExt cx="2244852" cy="293370"/>
          </a:xfrm>
        </p:grpSpPr>
        <p:sp>
          <p:nvSpPr>
            <p:cNvPr id="2" name="TextBox 2"/>
            <p:cNvSpPr txBox="1"/>
            <p:nvPr/>
          </p:nvSpPr>
          <p:spPr>
            <a:xfrm>
              <a:off x="601980" y="428625"/>
              <a:ext cx="2244852" cy="293370"/>
            </a:xfrm>
            <a:prstGeom prst="rect">
              <a:avLst/>
            </a:prstGeom>
            <a:noFill/>
            <a:ln>
              <a:noFill/>
            </a:ln>
          </p:spPr>
          <p:txBody>
            <a:bodyPr wrap="none" lIns="0" tIns="0" rIns="0" bIns="0" anchor="t" anchorCtr="0">
              <a:spAutoFit/>
            </a:bodyPr>
            <a:lstStyle/>
            <a:p>
              <a:pPr algn="l"/>
              <a:r>
                <a:rPr lang="ko-KR" sz="1500" spc="150" dirty="0">
                  <a:solidFill>
                    <a:schemeClr val="accent5"/>
                  </a:solidFill>
                  <a:latin typeface="Consolas"/>
                  <a:ea typeface="Microsoft YaHei"/>
                  <a:cs typeface="Consolas"/>
                </a:rPr>
                <a:t>PART 01 · 결론 먼저</a:t>
              </a:r>
            </a:p>
          </p:txBody>
        </p:sp>
      </p:grpSp>
      <p:grpSp>
        <p:nvGrpSpPr>
          <p:cNvPr id="5" name="Group 5"/>
          <p:cNvGrpSpPr/>
          <p:nvPr/>
        </p:nvGrpSpPr>
        <p:grpSpPr>
          <a:xfrm>
            <a:off x="593598" y="822008"/>
            <a:ext cx="6662833" cy="1111377"/>
            <a:chOff x="593598" y="822008"/>
            <a:chExt cx="6662833" cy="1111377"/>
          </a:xfrm>
        </p:grpSpPr>
        <p:sp>
          <p:nvSpPr>
            <p:cNvPr id="4" name="TextBox 4"/>
            <p:cNvSpPr txBox="1"/>
            <p:nvPr/>
          </p:nvSpPr>
          <p:spPr>
            <a:xfrm>
              <a:off x="593598" y="822008"/>
              <a:ext cx="6662833" cy="1111377"/>
            </a:xfrm>
            <a:prstGeom prst="rect">
              <a:avLst/>
            </a:prstGeom>
            <a:noFill/>
            <a:ln>
              <a:noFill/>
            </a:ln>
          </p:spPr>
          <p:txBody>
            <a:bodyPr wrap="none" lIns="0" tIns="0" rIns="0" bIns="0" anchor="t" anchorCtr="0">
              <a:spAutoFit/>
            </a:bodyPr>
            <a:lstStyle/>
            <a:p>
              <a:pPr algn="l">
                <a:lnSpc>
                  <a:spcPts val="3900"/>
                </a:lnSpc>
              </a:pPr>
              <a:r>
                <a:rPr lang="ko-KR" sz="3150" b="1" dirty="0">
                  <a:solidFill>
                    <a:schemeClr val="dk1"/>
                  </a:solidFill>
                  <a:latin typeface="+mn-lt"/>
                  <a:ea typeface="+mn-ea"/>
                  <a:cs typeface="+mn-cs"/>
                </a:rPr>
                <a:t>큰 작업은 세션 하나로 끝나지 않는다</a:t>
              </a:r>
            </a:p>
            <a:p>
              <a:pPr algn="l">
                <a:lnSpc>
                  <a:spcPts val="3900"/>
                </a:lnSpc>
              </a:pPr>
              <a:r>
                <a:rPr lang="ko-KR" sz="3150" b="1" dirty="0">
                  <a:solidFill>
                    <a:schemeClr val="dk1"/>
                  </a:solidFill>
                  <a:latin typeface="+mn-lt"/>
                  <a:ea typeface="+mn-ea"/>
                  <a:cs typeface="+mn-cs"/>
                </a:rPr>
                <a:t xml:space="preserve">— 그래서 </a:t>
              </a:r>
              <a:r>
                <a:rPr lang="ko-KR" sz="3150" b="1" dirty="0">
                  <a:solidFill>
                    <a:schemeClr val="accent1"/>
                  </a:solidFill>
                  <a:latin typeface="+mn-lt"/>
                  <a:ea typeface="+mn-ea"/>
                  <a:cs typeface="+mn-cs"/>
                </a:rPr>
                <a:t>두 층</a:t>
              </a:r>
              <a:r>
                <a:rPr lang="ko-KR" sz="3150" b="1" dirty="0">
                  <a:solidFill>
                    <a:schemeClr val="dk1"/>
                  </a:solidFill>
                  <a:latin typeface="+mn-lt"/>
                  <a:ea typeface="+mn-ea"/>
                  <a:cs typeface="+mn-cs"/>
                </a:rPr>
                <a:t>이 필요하다</a:t>
              </a:r>
            </a:p>
          </p:txBody>
        </p:sp>
      </p:grpSp>
      <p:sp>
        <p:nvSpPr>
          <p:cNvPr id="6" name="Freeform 6"/>
          <p:cNvSpPr/>
          <p:nvPr/>
        </p:nvSpPr>
        <p:spPr>
          <a:xfrm>
            <a:off x="685800" y="2190750"/>
            <a:ext cx="171450" cy="2857500"/>
          </a:xfrm>
          <a:prstGeom prst="leftBracket">
            <a:avLst/>
          </a:prstGeom>
          <a:noFill/>
          <a:ln w="19050">
            <a:solidFill>
              <a:schemeClr val="accent2"/>
            </a:solidFill>
          </a:ln>
        </p:spPr>
      </p:sp>
      <p:grpSp>
        <p:nvGrpSpPr>
          <p:cNvPr id="20" name="Group 20"/>
          <p:cNvGrpSpPr/>
          <p:nvPr/>
        </p:nvGrpSpPr>
        <p:grpSpPr>
          <a:xfrm>
            <a:off x="944880" y="1968818"/>
            <a:ext cx="3610874" cy="3273933"/>
            <a:chOff x="944880" y="1968818"/>
            <a:chExt cx="3610874" cy="3273933"/>
          </a:xfrm>
        </p:grpSpPr>
        <p:sp>
          <p:nvSpPr>
            <p:cNvPr id="7" name="TextBox 7"/>
            <p:cNvSpPr txBox="1"/>
            <p:nvPr/>
          </p:nvSpPr>
          <p:spPr>
            <a:xfrm>
              <a:off x="945642" y="1968818"/>
              <a:ext cx="1152601" cy="264033"/>
            </a:xfrm>
            <a:prstGeom prst="rect">
              <a:avLst/>
            </a:prstGeom>
            <a:noFill/>
            <a:ln>
              <a:noFill/>
            </a:ln>
          </p:spPr>
          <p:txBody>
            <a:bodyPr wrap="none" lIns="0" tIns="0" rIns="0" bIns="0" anchor="t" anchorCtr="0">
              <a:spAutoFit/>
            </a:bodyPr>
            <a:lstStyle/>
            <a:p>
              <a:pPr algn="l"/>
              <a:r>
                <a:rPr lang="ko-KR" sz="1350" spc="150" dirty="0">
                  <a:solidFill>
                    <a:schemeClr val="accent2"/>
                  </a:solidFill>
                  <a:latin typeface="Consolas"/>
                  <a:ea typeface="Microsoft YaHei"/>
                  <a:cs typeface="Consolas"/>
                </a:rPr>
                <a:t>세 가지 고통</a:t>
              </a:r>
            </a:p>
          </p:txBody>
        </p:sp>
        <p:grpSp>
          <p:nvGrpSpPr>
            <p:cNvPr id="11" name="Group 11"/>
            <p:cNvGrpSpPr/>
            <p:nvPr/>
          </p:nvGrpSpPr>
          <p:grpSpPr>
            <a:xfrm>
              <a:off x="944880" y="2358390"/>
              <a:ext cx="3490150" cy="826961"/>
              <a:chOff x="944880" y="2358390"/>
              <a:chExt cx="3490150" cy="826961"/>
            </a:xfrm>
          </p:grpSpPr>
          <p:sp>
            <p:nvSpPr>
              <p:cNvPr id="8" name="TextBox 8"/>
              <p:cNvSpPr txBox="1"/>
              <p:nvPr/>
            </p:nvSpPr>
            <p:spPr>
              <a:xfrm>
                <a:off x="944880" y="2390775"/>
                <a:ext cx="237363" cy="293370"/>
              </a:xfrm>
              <a:prstGeom prst="rect">
                <a:avLst/>
              </a:prstGeom>
              <a:noFill/>
              <a:ln>
                <a:noFill/>
              </a:ln>
            </p:spPr>
            <p:txBody>
              <a:bodyPr wrap="none" lIns="0" tIns="0" rIns="0" bIns="0" anchor="t" anchorCtr="0">
                <a:spAutoFit/>
              </a:bodyPr>
              <a:lstStyle/>
              <a:p>
                <a:pPr algn="l"/>
                <a:r>
                  <a:rPr lang="ko-KR" sz="1500" dirty="0">
                    <a:solidFill>
                      <a:schemeClr val="accent2"/>
                    </a:solidFill>
                    <a:latin typeface="Consolas"/>
                    <a:ea typeface="Consolas"/>
                    <a:cs typeface="Consolas"/>
                  </a:rPr>
                  <a:t>01</a:t>
                </a:r>
              </a:p>
            </p:txBody>
          </p:sp>
          <p:sp>
            <p:nvSpPr>
              <p:cNvPr id="9" name="TextBox 9"/>
              <p:cNvSpPr txBox="1"/>
              <p:nvPr/>
            </p:nvSpPr>
            <p:spPr>
              <a:xfrm>
                <a:off x="1324356" y="2358390"/>
                <a:ext cx="2810374" cy="352044"/>
              </a:xfrm>
              <a:prstGeom prst="rect">
                <a:avLst/>
              </a:prstGeom>
              <a:noFill/>
              <a:ln>
                <a:noFill/>
              </a:ln>
            </p:spPr>
            <p:txBody>
              <a:bodyPr wrap="none" lIns="0" tIns="0" rIns="0" bIns="0" anchor="t" anchorCtr="0">
                <a:spAutoFit/>
              </a:bodyPr>
              <a:lstStyle/>
              <a:p>
                <a:pPr algn="l"/>
                <a:r>
                  <a:rPr lang="ko-KR" sz="1800" b="1" dirty="0">
                    <a:solidFill>
                      <a:schemeClr val="dk1"/>
                    </a:solidFill>
                    <a:latin typeface="+mn-lt"/>
                    <a:ea typeface="+mn-ea"/>
                    <a:cs typeface="+mn-cs"/>
                  </a:rPr>
                  <a:t>세션이 끊기면 컨텍스트 0</a:t>
                </a:r>
              </a:p>
            </p:txBody>
          </p:sp>
          <p:sp>
            <p:nvSpPr>
              <p:cNvPr id="10" name="TextBox 10"/>
              <p:cNvSpPr txBox="1"/>
              <p:nvPr/>
            </p:nvSpPr>
            <p:spPr>
              <a:xfrm>
                <a:off x="1326642" y="2692718"/>
                <a:ext cx="3108388" cy="492633"/>
              </a:xfrm>
              <a:prstGeom prst="rect">
                <a:avLst/>
              </a:prstGeom>
              <a:noFill/>
              <a:ln>
                <a:noFill/>
              </a:ln>
            </p:spPr>
            <p:txBody>
              <a:bodyPr wrap="none" lIns="0" tIns="0" rIns="0" bIns="0" anchor="t" anchorCtr="0">
                <a:spAutoFit/>
              </a:bodyPr>
              <a:lstStyle/>
              <a:p>
                <a:pPr algn="l">
                  <a:lnSpc>
                    <a:spcPts val="1800"/>
                  </a:lnSpc>
                </a:pPr>
                <a:r>
                  <a:rPr lang="ko-KR" sz="1350" dirty="0">
                    <a:solidFill>
                      <a:schemeClr val="accent5"/>
                    </a:solidFill>
                    <a:latin typeface="+mn-lt"/>
                    <a:ea typeface="+mn-ea"/>
                    <a:cs typeface="+mn-cs"/>
                  </a:rPr>
                  <a:t>여러 날·여러 세션에 걸치면 다음 세션은</a:t>
                </a:r>
                <a:br/>
                <a:r>
                  <a:rPr lang="ko-KR" sz="1350" dirty="0">
                    <a:solidFill>
                      <a:schemeClr val="accent5"/>
                    </a:solidFill>
                    <a:latin typeface="+mn-lt"/>
                    <a:ea typeface="+mn-ea"/>
                    <a:cs typeface="+mn-cs"/>
                  </a:rPr>
                  <a:t>처음부터 다시 파악해야 한다</a:t>
                </a:r>
              </a:p>
            </p:txBody>
          </p:sp>
        </p:grpSp>
        <p:grpSp>
          <p:nvGrpSpPr>
            <p:cNvPr id="15" name="Group 15"/>
            <p:cNvGrpSpPr/>
            <p:nvPr/>
          </p:nvGrpSpPr>
          <p:grpSpPr>
            <a:xfrm>
              <a:off x="944880" y="3387090"/>
              <a:ext cx="3610874" cy="826961"/>
              <a:chOff x="944880" y="3387090"/>
              <a:chExt cx="3610874" cy="826961"/>
            </a:xfrm>
          </p:grpSpPr>
          <p:sp>
            <p:nvSpPr>
              <p:cNvPr id="12" name="TextBox 12"/>
              <p:cNvSpPr txBox="1"/>
              <p:nvPr/>
            </p:nvSpPr>
            <p:spPr>
              <a:xfrm>
                <a:off x="944880" y="3419475"/>
                <a:ext cx="237363" cy="293370"/>
              </a:xfrm>
              <a:prstGeom prst="rect">
                <a:avLst/>
              </a:prstGeom>
              <a:noFill/>
              <a:ln>
                <a:noFill/>
              </a:ln>
            </p:spPr>
            <p:txBody>
              <a:bodyPr wrap="none" lIns="0" tIns="0" rIns="0" bIns="0" anchor="t" anchorCtr="0">
                <a:spAutoFit/>
              </a:bodyPr>
              <a:lstStyle/>
              <a:p>
                <a:pPr algn="l"/>
                <a:r>
                  <a:rPr lang="ko-KR" sz="1500" dirty="0">
                    <a:solidFill>
                      <a:schemeClr val="accent2"/>
                    </a:solidFill>
                    <a:latin typeface="Consolas"/>
                    <a:ea typeface="Consolas"/>
                    <a:cs typeface="Consolas"/>
                  </a:rPr>
                  <a:t>02</a:t>
                </a:r>
              </a:p>
            </p:txBody>
          </p:sp>
          <p:sp>
            <p:nvSpPr>
              <p:cNvPr id="13" name="TextBox 13"/>
              <p:cNvSpPr txBox="1"/>
              <p:nvPr/>
            </p:nvSpPr>
            <p:spPr>
              <a:xfrm>
                <a:off x="1324356" y="3387090"/>
                <a:ext cx="3231398" cy="352044"/>
              </a:xfrm>
              <a:prstGeom prst="rect">
                <a:avLst/>
              </a:prstGeom>
              <a:noFill/>
              <a:ln>
                <a:noFill/>
              </a:ln>
            </p:spPr>
            <p:txBody>
              <a:bodyPr wrap="none" lIns="0" tIns="0" rIns="0" bIns="0" anchor="t" anchorCtr="0">
                <a:spAutoFit/>
              </a:bodyPr>
              <a:lstStyle/>
              <a:p>
                <a:pPr algn="l"/>
                <a:r>
                  <a:rPr lang="ko-KR" sz="1800" b="1" dirty="0">
                    <a:solidFill>
                      <a:schemeClr val="dk1"/>
                    </a:solidFill>
                    <a:latin typeface="+mn-lt"/>
                    <a:ea typeface="+mn-ea"/>
                    <a:cs typeface="+mn-cs"/>
                  </a:rPr>
                  <a:t>산문 규칙은 어겨도 못 막는다</a:t>
                </a:r>
              </a:p>
            </p:txBody>
          </p:sp>
          <p:sp>
            <p:nvSpPr>
              <p:cNvPr id="14" name="TextBox 14"/>
              <p:cNvSpPr txBox="1"/>
              <p:nvPr/>
            </p:nvSpPr>
            <p:spPr>
              <a:xfrm>
                <a:off x="1326642" y="3721418"/>
                <a:ext cx="2696908" cy="492633"/>
              </a:xfrm>
              <a:prstGeom prst="rect">
                <a:avLst/>
              </a:prstGeom>
              <a:noFill/>
              <a:ln>
                <a:noFill/>
              </a:ln>
            </p:spPr>
            <p:txBody>
              <a:bodyPr wrap="none" lIns="0" tIns="0" rIns="0" bIns="0" anchor="t" anchorCtr="0">
                <a:spAutoFit/>
              </a:bodyPr>
              <a:lstStyle/>
              <a:p>
                <a:pPr algn="l">
                  <a:lnSpc>
                    <a:spcPts val="1800"/>
                  </a:lnSpc>
                </a:pPr>
                <a:r>
                  <a:rPr lang="ko-KR" sz="1350" dirty="0">
                    <a:solidFill>
                      <a:schemeClr val="accent5"/>
                    </a:solidFill>
                    <a:latin typeface="+mn-lt"/>
                    <a:ea typeface="+mn-ea"/>
                    <a:cs typeface="+mn-cs"/>
                  </a:rPr>
                  <a:t>"검증 안 하고 다음 phase 금지" 를</a:t>
                </a:r>
                <a:br/>
                <a:r>
                  <a:rPr lang="ko-KR" sz="1350" dirty="0">
                    <a:solidFill>
                      <a:schemeClr val="accent5"/>
                    </a:solidFill>
                    <a:latin typeface="+mn-lt"/>
                    <a:ea typeface="+mn-ea"/>
                    <a:cs typeface="+mn-cs"/>
                  </a:rPr>
                  <a:t>모델이 어겨도 막을 방법이 없다</a:t>
                </a:r>
              </a:p>
            </p:txBody>
          </p:sp>
        </p:grpSp>
        <p:grpSp>
          <p:nvGrpSpPr>
            <p:cNvPr id="19" name="Group 19"/>
            <p:cNvGrpSpPr/>
            <p:nvPr/>
          </p:nvGrpSpPr>
          <p:grpSpPr>
            <a:xfrm>
              <a:off x="944880" y="4415790"/>
              <a:ext cx="3172968" cy="826961"/>
              <a:chOff x="944880" y="4415790"/>
              <a:chExt cx="3172968" cy="826961"/>
            </a:xfrm>
          </p:grpSpPr>
          <p:sp>
            <p:nvSpPr>
              <p:cNvPr id="16" name="TextBox 16"/>
              <p:cNvSpPr txBox="1"/>
              <p:nvPr/>
            </p:nvSpPr>
            <p:spPr>
              <a:xfrm>
                <a:off x="944880" y="4448175"/>
                <a:ext cx="237363" cy="293370"/>
              </a:xfrm>
              <a:prstGeom prst="rect">
                <a:avLst/>
              </a:prstGeom>
              <a:noFill/>
              <a:ln>
                <a:noFill/>
              </a:ln>
            </p:spPr>
            <p:txBody>
              <a:bodyPr wrap="none" lIns="0" tIns="0" rIns="0" bIns="0" anchor="t" anchorCtr="0">
                <a:spAutoFit/>
              </a:bodyPr>
              <a:lstStyle/>
              <a:p>
                <a:pPr algn="l"/>
                <a:r>
                  <a:rPr lang="ko-KR" sz="1500" dirty="0">
                    <a:solidFill>
                      <a:schemeClr val="accent2"/>
                    </a:solidFill>
                    <a:latin typeface="Consolas"/>
                    <a:ea typeface="Consolas"/>
                    <a:cs typeface="Consolas"/>
                  </a:rPr>
                  <a:t>03</a:t>
                </a:r>
              </a:p>
            </p:txBody>
          </p:sp>
          <p:sp>
            <p:nvSpPr>
              <p:cNvPr id="17" name="TextBox 17"/>
              <p:cNvSpPr txBox="1"/>
              <p:nvPr/>
            </p:nvSpPr>
            <p:spPr>
              <a:xfrm>
                <a:off x="1324356" y="4415790"/>
                <a:ext cx="2594107" cy="352044"/>
              </a:xfrm>
              <a:prstGeom prst="rect">
                <a:avLst/>
              </a:prstGeom>
              <a:noFill/>
              <a:ln>
                <a:noFill/>
              </a:ln>
            </p:spPr>
            <p:txBody>
              <a:bodyPr wrap="none" lIns="0" tIns="0" rIns="0" bIns="0" anchor="t" anchorCtr="0">
                <a:spAutoFit/>
              </a:bodyPr>
              <a:lstStyle/>
              <a:p>
                <a:pPr algn="l"/>
                <a:r>
                  <a:rPr lang="ko-KR" sz="1800" b="1" dirty="0">
                    <a:solidFill>
                      <a:schemeClr val="dk1"/>
                    </a:solidFill>
                    <a:latin typeface="+mn-lt"/>
                    <a:ea typeface="+mn-ea"/>
                    <a:cs typeface="+mn-cs"/>
                  </a:rPr>
                  <a:t>결정이 채팅에 흩어진다</a:t>
                </a:r>
              </a:p>
            </p:txBody>
          </p:sp>
          <p:sp>
            <p:nvSpPr>
              <p:cNvPr id="18" name="TextBox 18"/>
              <p:cNvSpPr txBox="1"/>
              <p:nvPr/>
            </p:nvSpPr>
            <p:spPr>
              <a:xfrm>
                <a:off x="1326642" y="4750118"/>
                <a:ext cx="2791206" cy="492633"/>
              </a:xfrm>
              <a:prstGeom prst="rect">
                <a:avLst/>
              </a:prstGeom>
              <a:noFill/>
              <a:ln>
                <a:noFill/>
              </a:ln>
            </p:spPr>
            <p:txBody>
              <a:bodyPr wrap="none" lIns="0" tIns="0" rIns="0" bIns="0" anchor="t" anchorCtr="0">
                <a:spAutoFit/>
              </a:bodyPr>
              <a:lstStyle/>
              <a:p>
                <a:pPr algn="l">
                  <a:lnSpc>
                    <a:spcPts val="1800"/>
                  </a:lnSpc>
                </a:pPr>
                <a:r>
                  <a:rPr lang="ko-KR" sz="1350" dirty="0">
                    <a:solidFill>
                      <a:schemeClr val="accent5"/>
                    </a:solidFill>
                    <a:latin typeface="+mn-lt"/>
                    <a:ea typeface="+mn-ea"/>
                    <a:cs typeface="+mn-cs"/>
                  </a:rPr>
                  <a:t>문서 밖으로 샌 결정은 다음 세션이</a:t>
                </a:r>
                <a:br/>
                <a:r>
                  <a:rPr lang="ko-KR" sz="1350" dirty="0">
                    <a:solidFill>
                      <a:schemeClr val="accent5"/>
                    </a:solidFill>
                    <a:latin typeface="+mn-lt"/>
                    <a:ea typeface="+mn-ea"/>
                    <a:cs typeface="+mn-cs"/>
                  </a:rPr>
                  <a:t>폐기된 결정을 되살리는 사고를 낸다</a:t>
                </a:r>
              </a:p>
            </p:txBody>
          </p:sp>
        </p:grpSp>
      </p:grpSp>
      <p:grpSp>
        <p:nvGrpSpPr>
          <p:cNvPr id="28" name="Group 28"/>
          <p:cNvGrpSpPr/>
          <p:nvPr/>
        </p:nvGrpSpPr>
        <p:grpSpPr>
          <a:xfrm>
            <a:off x="5715000" y="1943100"/>
            <a:ext cx="4191000" cy="1409700"/>
            <a:chOff x="5715000" y="1943100"/>
            <a:chExt cx="4191000" cy="1409700"/>
          </a:xfrm>
        </p:grpSpPr>
        <p:sp>
          <p:nvSpPr>
            <p:cNvPr id="21" name="Rectangle 21"/>
            <p:cNvSpPr/>
            <p:nvPr/>
          </p:nvSpPr>
          <p:spPr>
            <a:xfrm>
              <a:off x="5715000" y="1943100"/>
              <a:ext cx="4191000" cy="1409700"/>
            </a:xfrm>
            <a:prstGeom prst="roundRect">
              <a:avLst>
                <a:gd name="adj" fmla="val 4054"/>
              </a:avLst>
            </a:prstGeom>
            <a:solidFill>
              <a:schemeClr val="lt2"/>
            </a:solidFill>
            <a:ln w="19050">
              <a:solidFill>
                <a:schemeClr val="accent2"/>
              </a:solidFill>
            </a:ln>
          </p:spPr>
        </p:sp>
        <p:grpSp>
          <p:nvGrpSpPr>
            <p:cNvPr id="24" name="Group 24"/>
            <p:cNvGrpSpPr/>
            <p:nvPr/>
          </p:nvGrpSpPr>
          <p:grpSpPr>
            <a:xfrm>
              <a:off x="5981700" y="2152650"/>
              <a:ext cx="152400" cy="228600"/>
              <a:chOff x="5981700" y="2152650"/>
              <a:chExt cx="152400" cy="228600"/>
            </a:xfrm>
          </p:grpSpPr>
          <p:sp>
            <p:nvSpPr>
              <p:cNvPr id="22" name="Freeform 22"/>
              <p:cNvSpPr/>
              <p:nvPr/>
            </p:nvSpPr>
            <p:spPr>
              <a:xfrm>
                <a:off x="6007100" y="2152650"/>
                <a:ext cx="101600" cy="101600"/>
              </a:xfrm>
              <a:custGeom>
                <a:avLst/>
                <a:gdLst/>
                <a:ahLst/>
                <a:cxnLst/>
                <a:rect l="l" t="t" r="r" b="b"/>
                <a:pathLst>
                  <a:path w="101600" h="101600">
                    <a:moveTo>
                      <a:pt x="0" y="50800"/>
                    </a:moveTo>
                    <a:cubicBezTo>
                      <a:pt x="0" y="78856"/>
                      <a:pt x="22744" y="101600"/>
                      <a:pt x="50800" y="101600"/>
                    </a:cubicBezTo>
                    <a:cubicBezTo>
                      <a:pt x="78856" y="101600"/>
                      <a:pt x="101600" y="78856"/>
                      <a:pt x="101600" y="50800"/>
                    </a:cubicBezTo>
                    <a:cubicBezTo>
                      <a:pt x="101600" y="22744"/>
                      <a:pt x="78856" y="0"/>
                      <a:pt x="50800" y="0"/>
                    </a:cubicBezTo>
                    <a:cubicBezTo>
                      <a:pt x="22744" y="0"/>
                      <a:pt x="0" y="22744"/>
                      <a:pt x="0" y="50800"/>
                    </a:cubicBezTo>
                  </a:path>
                </a:pathLst>
              </a:custGeom>
              <a:noFill/>
              <a:ln w="25400">
                <a:solidFill>
                  <a:schemeClr val="accent2"/>
                </a:solidFill>
              </a:ln>
            </p:spPr>
          </p:sp>
          <p:sp>
            <p:nvSpPr>
              <p:cNvPr id="23" name="Freeform 23"/>
              <p:cNvSpPr/>
              <p:nvPr/>
            </p:nvSpPr>
            <p:spPr>
              <a:xfrm>
                <a:off x="5981700" y="2305050"/>
                <a:ext cx="152400" cy="76200"/>
              </a:xfrm>
              <a:custGeom>
                <a:avLst/>
                <a:gdLst/>
                <a:ahLst/>
                <a:cxnLst/>
                <a:rect l="l" t="t" r="r" b="b"/>
                <a:pathLst>
                  <a:path w="152400" h="76200">
                    <a:moveTo>
                      <a:pt x="0" y="76200"/>
                    </a:moveTo>
                    <a:lnTo>
                      <a:pt x="0" y="50800"/>
                    </a:lnTo>
                    <a:cubicBezTo>
                      <a:pt x="0" y="22744"/>
                      <a:pt x="22744" y="0"/>
                      <a:pt x="50800" y="0"/>
                    </a:cubicBezTo>
                    <a:lnTo>
                      <a:pt x="101600" y="0"/>
                    </a:lnTo>
                    <a:cubicBezTo>
                      <a:pt x="129656" y="0"/>
                      <a:pt x="152400" y="22744"/>
                      <a:pt x="152400" y="50800"/>
                    </a:cubicBezTo>
                    <a:lnTo>
                      <a:pt x="152400" y="76200"/>
                    </a:lnTo>
                  </a:path>
                </a:pathLst>
              </a:custGeom>
              <a:noFill/>
              <a:ln w="25400">
                <a:solidFill>
                  <a:schemeClr val="accent2"/>
                </a:solidFill>
              </a:ln>
            </p:spPr>
          </p:sp>
        </p:grpSp>
        <p:sp>
          <p:nvSpPr>
            <p:cNvPr id="25" name="TextBox 25"/>
            <p:cNvSpPr txBox="1"/>
            <p:nvPr/>
          </p:nvSpPr>
          <p:spPr>
            <a:xfrm>
              <a:off x="6315456" y="2148840"/>
              <a:ext cx="2681947" cy="352044"/>
            </a:xfrm>
            <a:prstGeom prst="rect">
              <a:avLst/>
            </a:prstGeom>
            <a:noFill/>
            <a:ln>
              <a:noFill/>
            </a:ln>
          </p:spPr>
          <p:txBody>
            <a:bodyPr wrap="none" lIns="0" tIns="0" rIns="0" bIns="0" anchor="t" anchorCtr="0">
              <a:spAutoFit/>
            </a:bodyPr>
            <a:lstStyle/>
            <a:p>
              <a:pPr algn="l"/>
              <a:r>
                <a:rPr lang="ko-KR" sz="1800" b="1" dirty="0">
                  <a:solidFill>
                    <a:schemeClr val="dk1"/>
                  </a:solidFill>
                  <a:latin typeface="+mn-lt"/>
                  <a:ea typeface="+mn-ea"/>
                  <a:cs typeface="+mn-cs"/>
                </a:rPr>
                <a:t>층 1 · 유인 스킬/커맨드</a:t>
              </a:r>
            </a:p>
          </p:txBody>
        </p:sp>
        <p:sp>
          <p:nvSpPr>
            <p:cNvPr id="26" name="TextBox 26"/>
            <p:cNvSpPr txBox="1"/>
            <p:nvPr/>
          </p:nvSpPr>
          <p:spPr>
            <a:xfrm>
              <a:off x="5898642" y="2559368"/>
              <a:ext cx="3730238" cy="264033"/>
            </a:xfrm>
            <a:prstGeom prst="rect">
              <a:avLst/>
            </a:prstGeom>
            <a:noFill/>
            <a:ln>
              <a:noFill/>
            </a:ln>
          </p:spPr>
          <p:txBody>
            <a:bodyPr wrap="none" lIns="0" tIns="0" rIns="0" bIns="0" anchor="t" anchorCtr="0">
              <a:spAutoFit/>
            </a:bodyPr>
            <a:lstStyle/>
            <a:p>
              <a:pPr algn="l"/>
              <a:r>
                <a:rPr lang="ko-KR" sz="1350" dirty="0">
                  <a:solidFill>
                    <a:schemeClr val="accent2"/>
                  </a:solidFill>
                  <a:latin typeface="Consolas"/>
                  <a:ea typeface="Consolas"/>
                  <a:cs typeface="Consolas"/>
                </a:rPr>
                <a:t>/start · resume · review · notes · verify</a:t>
              </a:r>
            </a:p>
          </p:txBody>
        </p:sp>
        <p:sp>
          <p:nvSpPr>
            <p:cNvPr id="27" name="TextBox 27"/>
            <p:cNvSpPr txBox="1"/>
            <p:nvPr/>
          </p:nvSpPr>
          <p:spPr>
            <a:xfrm>
              <a:off x="5898642" y="2826068"/>
              <a:ext cx="3494151" cy="492633"/>
            </a:xfrm>
            <a:prstGeom prst="rect">
              <a:avLst/>
            </a:prstGeom>
            <a:noFill/>
            <a:ln>
              <a:noFill/>
            </a:ln>
          </p:spPr>
          <p:txBody>
            <a:bodyPr wrap="none" lIns="0" tIns="0" rIns="0" bIns="0" anchor="t" anchorCtr="0">
              <a:spAutoFit/>
            </a:bodyPr>
            <a:lstStyle/>
            <a:p>
              <a:pPr algn="l">
                <a:lnSpc>
                  <a:spcPts val="1800"/>
                </a:lnSpc>
              </a:pPr>
              <a:r>
                <a:rPr lang="ko-KR" sz="1350" dirty="0">
                  <a:solidFill>
                    <a:schemeClr val="accent5"/>
                  </a:solidFill>
                  <a:latin typeface="+mn-lt"/>
                  <a:ea typeface="+mn-ea"/>
                  <a:cs typeface="+mn-cs"/>
                </a:rPr>
                <a:t>사람이 세션을 운전하며 brainstorm → plan →</a:t>
              </a:r>
              <a:br/>
              <a:r>
                <a:rPr lang="ko-KR" sz="1350" dirty="0">
                  <a:solidFill>
                    <a:schemeClr val="accent5"/>
                  </a:solidFill>
                  <a:latin typeface="+mn-lt"/>
                  <a:ea typeface="+mn-ea"/>
                  <a:cs typeface="+mn-cs"/>
                </a:rPr>
                <a:t>phase 실행 → verify 를 밟는 규약</a:t>
              </a:r>
            </a:p>
          </p:txBody>
        </p:sp>
      </p:grpSp>
      <p:sp>
        <p:nvSpPr>
          <p:cNvPr id="29" name="Freeform 29"/>
          <p:cNvSpPr/>
          <p:nvPr/>
        </p:nvSpPr>
        <p:spPr>
          <a:xfrm>
            <a:off x="7600950" y="3390900"/>
            <a:ext cx="419100" cy="838200"/>
          </a:xfrm>
          <a:prstGeom prst="upDownArrow">
            <a:avLst/>
          </a:prstGeom>
          <a:solidFill>
            <a:schemeClr val="accent1">
              <a:alpha val="90000"/>
            </a:schemeClr>
          </a:solidFill>
          <a:ln>
            <a:noFill/>
          </a:ln>
        </p:spPr>
      </p:sp>
      <p:grpSp>
        <p:nvGrpSpPr>
          <p:cNvPr id="31" name="Group 31"/>
          <p:cNvGrpSpPr/>
          <p:nvPr/>
        </p:nvGrpSpPr>
        <p:grpSpPr>
          <a:xfrm>
            <a:off x="8108442" y="3721418"/>
            <a:ext cx="1785652" cy="264033"/>
            <a:chOff x="8108442" y="3721418"/>
            <a:chExt cx="1785652" cy="264033"/>
          </a:xfrm>
        </p:grpSpPr>
        <p:sp>
          <p:nvSpPr>
            <p:cNvPr id="30" name="TextBox 30"/>
            <p:cNvSpPr txBox="1"/>
            <p:nvPr/>
          </p:nvSpPr>
          <p:spPr>
            <a:xfrm>
              <a:off x="8108442" y="3721418"/>
              <a:ext cx="1785652"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유인 ↔ 무인 왕복 자유</a:t>
              </a:r>
            </a:p>
          </p:txBody>
        </p:sp>
      </p:grpSp>
      <p:grpSp>
        <p:nvGrpSpPr>
          <p:cNvPr id="45" name="Group 45"/>
          <p:cNvGrpSpPr/>
          <p:nvPr/>
        </p:nvGrpSpPr>
        <p:grpSpPr>
          <a:xfrm>
            <a:off x="5715000" y="4267200"/>
            <a:ext cx="4191000" cy="1409700"/>
            <a:chOff x="5715000" y="4267200"/>
            <a:chExt cx="4191000" cy="1409700"/>
          </a:xfrm>
        </p:grpSpPr>
        <p:sp>
          <p:nvSpPr>
            <p:cNvPr id="32" name="Rectangle 32"/>
            <p:cNvSpPr/>
            <p:nvPr/>
          </p:nvSpPr>
          <p:spPr>
            <a:xfrm>
              <a:off x="5715000" y="4267200"/>
              <a:ext cx="4191000" cy="1409700"/>
            </a:xfrm>
            <a:prstGeom prst="roundRect">
              <a:avLst>
                <a:gd name="adj" fmla="val 4054"/>
              </a:avLst>
            </a:prstGeom>
            <a:solidFill>
              <a:schemeClr val="lt2"/>
            </a:solidFill>
            <a:ln w="19050">
              <a:solidFill>
                <a:schemeClr val="accent1"/>
              </a:solidFill>
            </a:ln>
          </p:spPr>
        </p:sp>
        <p:grpSp>
          <p:nvGrpSpPr>
            <p:cNvPr id="42" name="Group 42"/>
            <p:cNvGrpSpPr/>
            <p:nvPr/>
          </p:nvGrpSpPr>
          <p:grpSpPr>
            <a:xfrm>
              <a:off x="5969000" y="4464050"/>
              <a:ext cx="177800" cy="241300"/>
              <a:chOff x="5969000" y="4464050"/>
              <a:chExt cx="177800" cy="241300"/>
            </a:xfrm>
          </p:grpSpPr>
          <p:sp>
            <p:nvSpPr>
              <p:cNvPr id="33" name="Freeform 33"/>
              <p:cNvSpPr/>
              <p:nvPr/>
            </p:nvSpPr>
            <p:spPr>
              <a:xfrm>
                <a:off x="5981700" y="4489450"/>
                <a:ext cx="152400" cy="101600"/>
              </a:xfrm>
              <a:custGeom>
                <a:avLst/>
                <a:gdLst/>
                <a:ahLst/>
                <a:cxnLst/>
                <a:rect l="l" t="t" r="r" b="b"/>
                <a:pathLst>
                  <a:path w="152400" h="101600">
                    <a:moveTo>
                      <a:pt x="0" y="25400"/>
                    </a:moveTo>
                    <a:cubicBezTo>
                      <a:pt x="0" y="11372"/>
                      <a:pt x="11372" y="0"/>
                      <a:pt x="25400" y="0"/>
                    </a:cubicBezTo>
                    <a:lnTo>
                      <a:pt x="127000" y="0"/>
                    </a:lnTo>
                    <a:cubicBezTo>
                      <a:pt x="141028" y="0"/>
                      <a:pt x="152400" y="11372"/>
                      <a:pt x="152400" y="25400"/>
                    </a:cubicBezTo>
                    <a:lnTo>
                      <a:pt x="152400" y="76200"/>
                    </a:lnTo>
                    <a:cubicBezTo>
                      <a:pt x="152400" y="90228"/>
                      <a:pt x="141028" y="101600"/>
                      <a:pt x="127000" y="101600"/>
                    </a:cubicBezTo>
                    <a:lnTo>
                      <a:pt x="25400" y="101600"/>
                    </a:lnTo>
                    <a:cubicBezTo>
                      <a:pt x="11372" y="101600"/>
                      <a:pt x="0" y="90228"/>
                      <a:pt x="0" y="76200"/>
                    </a:cubicBezTo>
                    <a:lnTo>
                      <a:pt x="0" y="25400"/>
                    </a:lnTo>
                  </a:path>
                </a:pathLst>
              </a:custGeom>
              <a:noFill/>
              <a:ln w="25400">
                <a:solidFill>
                  <a:schemeClr val="accent1"/>
                </a:solidFill>
              </a:ln>
            </p:spPr>
          </p:sp>
          <p:sp>
            <p:nvSpPr>
              <p:cNvPr id="34" name="Freeform 34"/>
              <p:cNvSpPr/>
              <p:nvPr/>
            </p:nvSpPr>
            <p:spPr>
              <a:xfrm>
                <a:off x="6057900" y="4464050"/>
                <a:ext cx="9525" cy="25400"/>
              </a:xfrm>
              <a:custGeom>
                <a:avLst/>
                <a:gdLst/>
                <a:ahLst/>
                <a:cxnLst/>
                <a:rect l="l" t="t" r="r" b="b"/>
                <a:pathLst>
                  <a:path w="9525" h="25400">
                    <a:moveTo>
                      <a:pt x="0" y="0"/>
                    </a:moveTo>
                    <a:lnTo>
                      <a:pt x="0" y="25400"/>
                    </a:lnTo>
                  </a:path>
                </a:pathLst>
              </a:custGeom>
              <a:noFill/>
              <a:ln w="25400">
                <a:solidFill>
                  <a:schemeClr val="accent1"/>
                </a:solidFill>
              </a:ln>
            </p:spPr>
          </p:sp>
          <p:sp>
            <p:nvSpPr>
              <p:cNvPr id="35" name="Freeform 35"/>
              <p:cNvSpPr/>
              <p:nvPr/>
            </p:nvSpPr>
            <p:spPr>
              <a:xfrm>
                <a:off x="6019800" y="4591050"/>
                <a:ext cx="9525" cy="114300"/>
              </a:xfrm>
              <a:custGeom>
                <a:avLst/>
                <a:gdLst/>
                <a:ahLst/>
                <a:cxnLst/>
                <a:rect l="l" t="t" r="r" b="b"/>
                <a:pathLst>
                  <a:path w="9525" h="114300">
                    <a:moveTo>
                      <a:pt x="0" y="0"/>
                    </a:moveTo>
                    <a:lnTo>
                      <a:pt x="0" y="114300"/>
                    </a:lnTo>
                  </a:path>
                </a:pathLst>
              </a:custGeom>
              <a:noFill/>
              <a:ln w="25400">
                <a:solidFill>
                  <a:schemeClr val="accent1"/>
                </a:solidFill>
              </a:ln>
            </p:spPr>
          </p:sp>
          <p:sp>
            <p:nvSpPr>
              <p:cNvPr id="36" name="Freeform 36"/>
              <p:cNvSpPr/>
              <p:nvPr/>
            </p:nvSpPr>
            <p:spPr>
              <a:xfrm>
                <a:off x="6096000" y="4591050"/>
                <a:ext cx="9525" cy="114300"/>
              </a:xfrm>
              <a:custGeom>
                <a:avLst/>
                <a:gdLst/>
                <a:ahLst/>
                <a:cxnLst/>
                <a:rect l="l" t="t" r="r" b="b"/>
                <a:pathLst>
                  <a:path w="9525" h="114300">
                    <a:moveTo>
                      <a:pt x="0" y="0"/>
                    </a:moveTo>
                    <a:lnTo>
                      <a:pt x="0" y="114300"/>
                    </a:lnTo>
                  </a:path>
                </a:pathLst>
              </a:custGeom>
              <a:noFill/>
              <a:ln w="25400">
                <a:solidFill>
                  <a:schemeClr val="accent1"/>
                </a:solidFill>
              </a:ln>
            </p:spPr>
          </p:sp>
          <p:sp>
            <p:nvSpPr>
              <p:cNvPr id="37" name="Freeform 37"/>
              <p:cNvSpPr/>
              <p:nvPr/>
            </p:nvSpPr>
            <p:spPr>
              <a:xfrm>
                <a:off x="5969000" y="4616450"/>
                <a:ext cx="50800" cy="25400"/>
              </a:xfrm>
              <a:custGeom>
                <a:avLst/>
                <a:gdLst/>
                <a:ahLst/>
                <a:cxnLst/>
                <a:rect l="l" t="t" r="r" b="b"/>
                <a:pathLst>
                  <a:path w="50800" h="25400">
                    <a:moveTo>
                      <a:pt x="0" y="25400"/>
                    </a:moveTo>
                    <a:lnTo>
                      <a:pt x="50800" y="0"/>
                    </a:lnTo>
                  </a:path>
                </a:pathLst>
              </a:custGeom>
              <a:noFill/>
              <a:ln w="25400">
                <a:solidFill>
                  <a:schemeClr val="accent1"/>
                </a:solidFill>
              </a:ln>
            </p:spPr>
          </p:sp>
          <p:sp>
            <p:nvSpPr>
              <p:cNvPr id="38" name="Freeform 38"/>
              <p:cNvSpPr/>
              <p:nvPr/>
            </p:nvSpPr>
            <p:spPr>
              <a:xfrm>
                <a:off x="6096000" y="4616450"/>
                <a:ext cx="50800" cy="25400"/>
              </a:xfrm>
              <a:custGeom>
                <a:avLst/>
                <a:gdLst/>
                <a:ahLst/>
                <a:cxnLst/>
                <a:rect l="l" t="t" r="r" b="b"/>
                <a:pathLst>
                  <a:path w="50800" h="25400">
                    <a:moveTo>
                      <a:pt x="0" y="0"/>
                    </a:moveTo>
                    <a:lnTo>
                      <a:pt x="50800" y="25400"/>
                    </a:lnTo>
                  </a:path>
                </a:pathLst>
              </a:custGeom>
              <a:noFill/>
              <a:ln w="25400">
                <a:solidFill>
                  <a:schemeClr val="accent1"/>
                </a:solidFill>
              </a:ln>
            </p:spPr>
          </p:sp>
          <p:sp>
            <p:nvSpPr>
              <p:cNvPr id="39" name="Freeform 39"/>
              <p:cNvSpPr/>
              <p:nvPr/>
            </p:nvSpPr>
            <p:spPr>
              <a:xfrm>
                <a:off x="6019800" y="4667249"/>
                <a:ext cx="76200" cy="9525"/>
              </a:xfrm>
              <a:custGeom>
                <a:avLst/>
                <a:gdLst/>
                <a:ahLst/>
                <a:cxnLst/>
                <a:rect l="l" t="t" r="r" b="b"/>
                <a:pathLst>
                  <a:path w="76200" h="9525">
                    <a:moveTo>
                      <a:pt x="0" y="0"/>
                    </a:moveTo>
                    <a:lnTo>
                      <a:pt x="76200" y="0"/>
                    </a:lnTo>
                  </a:path>
                </a:pathLst>
              </a:custGeom>
              <a:noFill/>
              <a:ln w="25400">
                <a:solidFill>
                  <a:schemeClr val="accent1"/>
                </a:solidFill>
              </a:ln>
            </p:spPr>
          </p:sp>
          <p:sp>
            <p:nvSpPr>
              <p:cNvPr id="40" name="Freeform 40"/>
              <p:cNvSpPr/>
              <p:nvPr/>
            </p:nvSpPr>
            <p:spPr>
              <a:xfrm>
                <a:off x="6032500" y="4540250"/>
                <a:ext cx="9525" cy="9525"/>
              </a:xfrm>
              <a:custGeom>
                <a:avLst/>
                <a:gdLst/>
                <a:ahLst/>
                <a:cxnLst/>
                <a:rect l="l" t="t" r="r" b="b"/>
                <a:pathLst>
                  <a:path w="9525" h="9525">
                    <a:moveTo>
                      <a:pt x="0" y="0"/>
                    </a:moveTo>
                    <a:lnTo>
                      <a:pt x="0" y="127"/>
                    </a:lnTo>
                  </a:path>
                </a:pathLst>
              </a:custGeom>
              <a:noFill/>
              <a:ln w="25400">
                <a:solidFill>
                  <a:schemeClr val="accent1"/>
                </a:solidFill>
              </a:ln>
            </p:spPr>
          </p:sp>
          <p:sp>
            <p:nvSpPr>
              <p:cNvPr id="41" name="Freeform 41"/>
              <p:cNvSpPr/>
              <p:nvPr/>
            </p:nvSpPr>
            <p:spPr>
              <a:xfrm>
                <a:off x="6083300" y="4540250"/>
                <a:ext cx="9525" cy="9525"/>
              </a:xfrm>
              <a:custGeom>
                <a:avLst/>
                <a:gdLst/>
                <a:ahLst/>
                <a:cxnLst/>
                <a:rect l="l" t="t" r="r" b="b"/>
                <a:pathLst>
                  <a:path w="9525" h="9525">
                    <a:moveTo>
                      <a:pt x="0" y="0"/>
                    </a:moveTo>
                    <a:lnTo>
                      <a:pt x="0" y="127"/>
                    </a:lnTo>
                  </a:path>
                </a:pathLst>
              </a:custGeom>
              <a:noFill/>
              <a:ln w="25400">
                <a:solidFill>
                  <a:schemeClr val="accent1"/>
                </a:solidFill>
              </a:ln>
            </p:spPr>
          </p:sp>
        </p:grpSp>
        <p:sp>
          <p:nvSpPr>
            <p:cNvPr id="43" name="TextBox 43"/>
            <p:cNvSpPr txBox="1"/>
            <p:nvPr/>
          </p:nvSpPr>
          <p:spPr>
            <a:xfrm>
              <a:off x="6315456" y="4472940"/>
              <a:ext cx="2464468" cy="352044"/>
            </a:xfrm>
            <a:prstGeom prst="rect">
              <a:avLst/>
            </a:prstGeom>
            <a:noFill/>
            <a:ln>
              <a:noFill/>
            </a:ln>
          </p:spPr>
          <p:txBody>
            <a:bodyPr wrap="none" lIns="0" tIns="0" rIns="0" bIns="0" anchor="t" anchorCtr="0">
              <a:spAutoFit/>
            </a:bodyPr>
            <a:lstStyle/>
            <a:p>
              <a:pPr algn="l"/>
              <a:r>
                <a:rPr lang="ko-KR" sz="1800" b="1" dirty="0">
                  <a:solidFill>
                    <a:schemeClr val="dk1"/>
                  </a:solidFill>
                  <a:latin typeface="+mn-lt"/>
                  <a:ea typeface="+mn-ea"/>
                  <a:cs typeface="+mn-cs"/>
                </a:rPr>
                <a:t xml:space="preserve">층 2 · 무인 하네스 </a:t>
              </a:r>
              <a:r>
                <a:rPr lang="ko-KR" sz="1800" b="1" dirty="0">
                  <a:solidFill>
                    <a:schemeClr val="accent1"/>
                  </a:solidFill>
                  <a:latin typeface="Consolas"/>
                  <a:ea typeface="Consolas"/>
                  <a:cs typeface="Consolas"/>
                </a:rPr>
                <a:t>fw</a:t>
              </a:r>
            </a:p>
          </p:txBody>
        </p:sp>
        <p:sp>
          <p:nvSpPr>
            <p:cNvPr id="44" name="TextBox 44"/>
            <p:cNvSpPr txBox="1"/>
            <p:nvPr/>
          </p:nvSpPr>
          <p:spPr>
            <a:xfrm>
              <a:off x="5898642" y="4864418"/>
              <a:ext cx="2671191" cy="721233"/>
            </a:xfrm>
            <a:prstGeom prst="rect">
              <a:avLst/>
            </a:prstGeom>
            <a:noFill/>
            <a:ln>
              <a:noFill/>
            </a:ln>
          </p:spPr>
          <p:txBody>
            <a:bodyPr wrap="none" lIns="0" tIns="0" rIns="0" bIns="0" anchor="t" anchorCtr="0">
              <a:spAutoFit/>
            </a:bodyPr>
            <a:lstStyle/>
            <a:p>
              <a:pPr algn="l">
                <a:lnSpc>
                  <a:spcPts val="1800"/>
                </a:lnSpc>
              </a:pPr>
              <a:r>
                <a:rPr lang="ko-KR" sz="1350" dirty="0">
                  <a:solidFill>
                    <a:schemeClr val="accent5"/>
                  </a:solidFill>
                  <a:latin typeface="+mn-lt"/>
                  <a:ea typeface="+mn-ea"/>
                  <a:cs typeface="+mn-cs"/>
                </a:rPr>
                <a:t>같은 규약을 모델이 어길 수 없는</a:t>
              </a:r>
              <a:br/>
              <a:r>
                <a:rPr lang="ko-KR" sz="1350" dirty="0">
                  <a:solidFill>
                    <a:schemeClr val="accent5"/>
                  </a:solidFill>
                  <a:latin typeface="+mn-lt"/>
                  <a:ea typeface="+mn-ea"/>
                  <a:cs typeface="+mn-cs"/>
                </a:rPr>
                <a:t>코드로 옮긴 오케스트레이터</a:t>
              </a:r>
              <a:br/>
              <a:r>
                <a:rPr lang="ko-KR" sz="1350" dirty="0">
                  <a:solidFill>
                    <a:schemeClr val="accent5"/>
                  </a:solidFill>
                  <a:latin typeface="+mn-lt"/>
                  <a:ea typeface="+mn-ea"/>
                  <a:cs typeface="+mn-cs"/>
                </a:rPr>
                <a:t>인터뷰 → phase 실행 → 검증 → 합의</a:t>
              </a:r>
            </a:p>
          </p:txBody>
        </p:sp>
      </p:grpSp>
      <p:grpSp>
        <p:nvGrpSpPr>
          <p:cNvPr id="55" name="Group 55"/>
          <p:cNvGrpSpPr/>
          <p:nvPr/>
        </p:nvGrpSpPr>
        <p:grpSpPr>
          <a:xfrm>
            <a:off x="10325100" y="1993900"/>
            <a:ext cx="1123950" cy="3530600"/>
            <a:chOff x="10325100" y="1993900"/>
            <a:chExt cx="1123950" cy="3530600"/>
          </a:xfrm>
        </p:grpSpPr>
        <p:sp>
          <p:nvSpPr>
            <p:cNvPr id="46" name="Line 46"/>
            <p:cNvSpPr/>
            <p:nvPr/>
          </p:nvSpPr>
          <p:spPr>
            <a:xfrm>
              <a:off x="10887075" y="2190750"/>
              <a:ext cx="9525" cy="3333750"/>
            </a:xfrm>
            <a:custGeom>
              <a:avLst/>
              <a:gdLst/>
              <a:ahLst/>
              <a:cxnLst/>
              <a:rect l="l" t="t" r="r" b="b"/>
              <a:pathLst>
                <a:path w="9525" h="3333750">
                  <a:moveTo>
                    <a:pt x="0" y="0"/>
                  </a:moveTo>
                  <a:lnTo>
                    <a:pt x="0" y="3333750"/>
                  </a:lnTo>
                </a:path>
              </a:pathLst>
            </a:custGeom>
            <a:noFill/>
            <a:ln w="19050">
              <a:solidFill>
                <a:schemeClr val="accent1"/>
              </a:solidFill>
              <a:prstDash val="dash"/>
            </a:ln>
          </p:spPr>
        </p:sp>
        <p:sp>
          <p:nvSpPr>
            <p:cNvPr id="47" name="Freeform 47"/>
            <p:cNvSpPr/>
            <p:nvPr/>
          </p:nvSpPr>
          <p:spPr>
            <a:xfrm>
              <a:off x="10772775" y="1993900"/>
              <a:ext cx="228599" cy="190500"/>
            </a:xfrm>
            <a:custGeom>
              <a:avLst/>
              <a:gdLst/>
              <a:ahLst/>
              <a:cxnLst/>
              <a:rect l="l" t="t" r="r" b="b"/>
              <a:pathLst>
                <a:path w="228599" h="190500">
                  <a:moveTo>
                    <a:pt x="25400" y="0"/>
                  </a:moveTo>
                  <a:lnTo>
                    <a:pt x="76200" y="0"/>
                  </a:lnTo>
                  <a:lnTo>
                    <a:pt x="114300" y="38100"/>
                  </a:lnTo>
                  <a:lnTo>
                    <a:pt x="203199" y="38100"/>
                  </a:lnTo>
                  <a:cubicBezTo>
                    <a:pt x="217227" y="38100"/>
                    <a:pt x="228599" y="49472"/>
                    <a:pt x="228599" y="63500"/>
                  </a:cubicBezTo>
                  <a:lnTo>
                    <a:pt x="228599" y="165100"/>
                  </a:lnTo>
                  <a:cubicBezTo>
                    <a:pt x="228599" y="179128"/>
                    <a:pt x="217227" y="190500"/>
                    <a:pt x="203199" y="190500"/>
                  </a:cubicBezTo>
                  <a:lnTo>
                    <a:pt x="25400" y="190500"/>
                  </a:lnTo>
                  <a:cubicBezTo>
                    <a:pt x="11372" y="190500"/>
                    <a:pt x="0" y="179128"/>
                    <a:pt x="0" y="165100"/>
                  </a:cubicBezTo>
                  <a:lnTo>
                    <a:pt x="0" y="25400"/>
                  </a:lnTo>
                  <a:cubicBezTo>
                    <a:pt x="0" y="11372"/>
                    <a:pt x="11372" y="0"/>
                    <a:pt x="25400" y="0"/>
                  </a:cubicBezTo>
                </a:path>
              </a:pathLst>
            </a:custGeom>
            <a:noFill/>
            <a:ln w="25400">
              <a:solidFill>
                <a:srgbClr val="9AA8BD"/>
              </a:solidFill>
            </a:ln>
          </p:spPr>
        </p:sp>
        <p:sp>
          <p:nvSpPr>
            <p:cNvPr id="48" name="TextBox 48"/>
            <p:cNvSpPr txBox="1"/>
            <p:nvPr/>
          </p:nvSpPr>
          <p:spPr>
            <a:xfrm>
              <a:off x="10580351" y="2349818"/>
              <a:ext cx="613448" cy="264033"/>
            </a:xfrm>
            <a:prstGeom prst="rect">
              <a:avLst/>
            </a:prstGeom>
            <a:noFill/>
            <a:ln>
              <a:noFill/>
            </a:ln>
          </p:spPr>
          <p:txBody>
            <a:bodyPr wrap="none" lIns="0" tIns="0" rIns="0" bIns="0" anchor="t" anchorCtr="0">
              <a:spAutoFit/>
            </a:bodyPr>
            <a:lstStyle/>
            <a:p>
              <a:pPr algn="ctr"/>
              <a:r>
                <a:rPr lang="ko-KR" sz="1350" dirty="0">
                  <a:solidFill>
                    <a:schemeClr val="accent5"/>
                  </a:solidFill>
                  <a:latin typeface="+mn-lt"/>
                  <a:ea typeface="+mn-ea"/>
                  <a:cs typeface="+mn-cs"/>
                </a:rPr>
                <a:t>공유 축</a:t>
              </a:r>
            </a:p>
          </p:txBody>
        </p:sp>
        <p:sp>
          <p:nvSpPr>
            <p:cNvPr id="49" name="Rectangle 49"/>
            <p:cNvSpPr/>
            <p:nvPr/>
          </p:nvSpPr>
          <p:spPr>
            <a:xfrm>
              <a:off x="10325100" y="3143250"/>
              <a:ext cx="1123950" cy="285750"/>
            </a:xfrm>
            <a:prstGeom prst="roundRect">
              <a:avLst>
                <a:gd name="adj" fmla="val 13333"/>
              </a:avLst>
            </a:prstGeom>
            <a:solidFill>
              <a:srgbClr val="182238"/>
            </a:solidFill>
            <a:ln w="9525">
              <a:solidFill>
                <a:schemeClr val="accent6"/>
              </a:solidFill>
            </a:ln>
          </p:spPr>
        </p:sp>
        <p:sp>
          <p:nvSpPr>
            <p:cNvPr id="50" name="TextBox 50"/>
            <p:cNvSpPr txBox="1"/>
            <p:nvPr/>
          </p:nvSpPr>
          <p:spPr>
            <a:xfrm>
              <a:off x="10498312" y="3197542"/>
              <a:ext cx="777526" cy="264033"/>
            </a:xfrm>
            <a:prstGeom prst="rect">
              <a:avLst/>
            </a:prstGeom>
            <a:noFill/>
            <a:ln>
              <a:noFill/>
            </a:ln>
          </p:spPr>
          <p:txBody>
            <a:bodyPr wrap="none" lIns="0" tIns="0" rIns="0" bIns="0" anchor="t" anchorCtr="0">
              <a:spAutoFit/>
            </a:bodyPr>
            <a:lstStyle/>
            <a:p>
              <a:pPr algn="ctr"/>
              <a:r>
                <a:rPr lang="ko-KR" sz="1350" dirty="0">
                  <a:solidFill>
                    <a:schemeClr val="dk1"/>
                  </a:solidFill>
                  <a:latin typeface="Consolas"/>
                  <a:ea typeface="Consolas"/>
                  <a:cs typeface="Consolas"/>
                </a:rPr>
                <a:t>PLAN.md</a:t>
              </a:r>
            </a:p>
          </p:txBody>
        </p:sp>
        <p:sp>
          <p:nvSpPr>
            <p:cNvPr id="51" name="Rectangle 51"/>
            <p:cNvSpPr/>
            <p:nvPr/>
          </p:nvSpPr>
          <p:spPr>
            <a:xfrm>
              <a:off x="10325100" y="3657600"/>
              <a:ext cx="1123950" cy="285750"/>
            </a:xfrm>
            <a:prstGeom prst="roundRect">
              <a:avLst>
                <a:gd name="adj" fmla="val 13333"/>
              </a:avLst>
            </a:prstGeom>
            <a:solidFill>
              <a:srgbClr val="182238"/>
            </a:solidFill>
            <a:ln w="9525">
              <a:solidFill>
                <a:schemeClr val="accent6"/>
              </a:solidFill>
            </a:ln>
          </p:spPr>
        </p:sp>
        <p:sp>
          <p:nvSpPr>
            <p:cNvPr id="52" name="TextBox 52"/>
            <p:cNvSpPr txBox="1"/>
            <p:nvPr/>
          </p:nvSpPr>
          <p:spPr>
            <a:xfrm>
              <a:off x="10426413" y="3711892"/>
              <a:ext cx="921323" cy="264033"/>
            </a:xfrm>
            <a:prstGeom prst="rect">
              <a:avLst/>
            </a:prstGeom>
            <a:noFill/>
            <a:ln>
              <a:noFill/>
            </a:ln>
          </p:spPr>
          <p:txBody>
            <a:bodyPr wrap="none" lIns="0" tIns="0" rIns="0" bIns="0" anchor="t" anchorCtr="0">
              <a:spAutoFit/>
            </a:bodyPr>
            <a:lstStyle/>
            <a:p>
              <a:pPr algn="ctr"/>
              <a:r>
                <a:rPr lang="ko-KR" sz="1350" dirty="0">
                  <a:solidFill>
                    <a:schemeClr val="dk1"/>
                  </a:solidFill>
                  <a:latin typeface="Consolas"/>
                  <a:ea typeface="Consolas"/>
                  <a:cs typeface="Consolas"/>
                </a:rPr>
                <a:t>NOTES.md</a:t>
              </a:r>
            </a:p>
          </p:txBody>
        </p:sp>
        <p:sp>
          <p:nvSpPr>
            <p:cNvPr id="53" name="Rectangle 53"/>
            <p:cNvSpPr/>
            <p:nvPr/>
          </p:nvSpPr>
          <p:spPr>
            <a:xfrm>
              <a:off x="10325100" y="4171950"/>
              <a:ext cx="1123950" cy="285750"/>
            </a:xfrm>
            <a:prstGeom prst="roundRect">
              <a:avLst>
                <a:gd name="adj" fmla="val 13333"/>
              </a:avLst>
            </a:prstGeom>
            <a:solidFill>
              <a:srgbClr val="182238"/>
            </a:solidFill>
            <a:ln w="9525">
              <a:solidFill>
                <a:schemeClr val="accent1"/>
              </a:solidFill>
            </a:ln>
          </p:spPr>
        </p:sp>
        <p:sp>
          <p:nvSpPr>
            <p:cNvPr id="54" name="TextBox 54"/>
            <p:cNvSpPr txBox="1"/>
            <p:nvPr/>
          </p:nvSpPr>
          <p:spPr>
            <a:xfrm>
              <a:off x="10388155" y="4226242"/>
              <a:ext cx="997839" cy="264033"/>
            </a:xfrm>
            <a:prstGeom prst="rect">
              <a:avLst/>
            </a:prstGeom>
            <a:noFill/>
            <a:ln>
              <a:noFill/>
            </a:ln>
          </p:spPr>
          <p:txBody>
            <a:bodyPr wrap="none" lIns="0" tIns="0" rIns="0" bIns="0" anchor="t" anchorCtr="0">
              <a:spAutoFit/>
            </a:bodyPr>
            <a:lstStyle/>
            <a:p>
              <a:pPr algn="ctr"/>
              <a:r>
                <a:rPr lang="ko-KR" sz="1350" dirty="0">
                  <a:solidFill>
                    <a:schemeClr val="accent1"/>
                  </a:solidFill>
                  <a:latin typeface="Consolas"/>
                  <a:ea typeface="Consolas"/>
                  <a:cs typeface="Consolas"/>
                </a:rPr>
                <a:t>STATE.json</a:t>
              </a:r>
            </a:p>
          </p:txBody>
        </p:sp>
      </p:grpSp>
      <p:grpSp>
        <p:nvGrpSpPr>
          <p:cNvPr id="58" name="Group 58"/>
          <p:cNvGrpSpPr/>
          <p:nvPr/>
        </p:nvGrpSpPr>
        <p:grpSpPr>
          <a:xfrm>
            <a:off x="945642" y="5855018"/>
            <a:ext cx="6210948" cy="511683"/>
            <a:chOff x="945642" y="5855018"/>
            <a:chExt cx="6210948" cy="511683"/>
          </a:xfrm>
        </p:grpSpPr>
        <p:sp>
          <p:nvSpPr>
            <p:cNvPr id="56" name="TextBox 56"/>
            <p:cNvSpPr txBox="1"/>
            <p:nvPr/>
          </p:nvSpPr>
          <p:spPr>
            <a:xfrm>
              <a:off x="945642" y="5855018"/>
              <a:ext cx="4402665" cy="264033"/>
            </a:xfrm>
            <a:prstGeom prst="rect">
              <a:avLst/>
            </a:prstGeom>
            <a:noFill/>
            <a:ln>
              <a:noFill/>
            </a:ln>
          </p:spPr>
          <p:txBody>
            <a:bodyPr wrap="none" lIns="0" tIns="0" rIns="0" bIns="0" anchor="t" anchorCtr="0">
              <a:spAutoFit/>
            </a:bodyPr>
            <a:lstStyle/>
            <a:p>
              <a:pPr algn="l"/>
              <a:r>
                <a:rPr lang="ko-KR" sz="1350" dirty="0">
                  <a:solidFill>
                    <a:schemeClr val="dk1"/>
                  </a:solidFill>
                  <a:latin typeface="Consolas"/>
                  <a:ea typeface="Consolas"/>
                  <a:cs typeface="Consolas"/>
                </a:rPr>
                <a:t>docs/&lt;workflow&gt;/</a:t>
              </a:r>
              <a:r>
                <a:rPr lang="ko-KR" sz="1350" dirty="0">
                  <a:solidFill>
                    <a:schemeClr val="accent5"/>
                  </a:solidFill>
                  <a:latin typeface="+mn-lt"/>
                  <a:ea typeface="+mn-ea"/>
                  <a:cs typeface="+mn-cs"/>
                </a:rPr>
                <a:t xml:space="preserve"> 의 3종 문서를 두 층이 공유한다 —</a:t>
              </a:r>
            </a:p>
          </p:txBody>
        </p:sp>
        <p:sp>
          <p:nvSpPr>
            <p:cNvPr id="57" name="TextBox 57"/>
            <p:cNvSpPr txBox="1"/>
            <p:nvPr/>
          </p:nvSpPr>
          <p:spPr>
            <a:xfrm>
              <a:off x="945642" y="6102668"/>
              <a:ext cx="6210948"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유인으로 시작 → 무인으로 돌리고 → 다시 유인으로 이어받는 왕복이 자유롭다</a:t>
              </a:r>
            </a:p>
          </p:txBody>
        </p:sp>
      </p:grpSp>
      <p:grpSp>
        <p:nvGrpSpPr>
          <p:cNvPr id="61" name="Group 61"/>
          <p:cNvGrpSpPr/>
          <p:nvPr/>
        </p:nvGrpSpPr>
        <p:grpSpPr>
          <a:xfrm>
            <a:off x="604266" y="6516052"/>
            <a:ext cx="10983468" cy="205359"/>
            <a:chOff x="604266" y="6516052"/>
            <a:chExt cx="10983468" cy="205359"/>
          </a:xfrm>
        </p:grpSpPr>
        <p:sp>
          <p:nvSpPr>
            <p:cNvPr id="59" name="TextBox 59"/>
            <p:cNvSpPr txBox="1"/>
            <p:nvPr/>
          </p:nvSpPr>
          <p:spPr>
            <a:xfrm>
              <a:off x="604266" y="6516052"/>
              <a:ext cx="4318806"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feature-workflow · plugins/feature-workflow/README.md §2</a:t>
              </a:r>
            </a:p>
          </p:txBody>
        </p:sp>
        <p:sp>
          <p:nvSpPr>
            <p:cNvPr id="60" name="TextBox 60"/>
            <p:cNvSpPr txBox="1"/>
            <p:nvPr/>
          </p:nvSpPr>
          <p:spPr>
            <a:xfrm>
              <a:off x="11103540" y="65160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02 / 19</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01980" y="428625"/>
            <a:ext cx="2244852" cy="293370"/>
            <a:chOff x="601980" y="428625"/>
            <a:chExt cx="2244852" cy="293370"/>
          </a:xfrm>
        </p:grpSpPr>
        <p:sp>
          <p:nvSpPr>
            <p:cNvPr id="2" name="TextBox 2"/>
            <p:cNvSpPr txBox="1"/>
            <p:nvPr/>
          </p:nvSpPr>
          <p:spPr>
            <a:xfrm>
              <a:off x="601980" y="428625"/>
              <a:ext cx="2244852" cy="293370"/>
            </a:xfrm>
            <a:prstGeom prst="rect">
              <a:avLst/>
            </a:prstGeom>
            <a:noFill/>
            <a:ln>
              <a:noFill/>
            </a:ln>
          </p:spPr>
          <p:txBody>
            <a:bodyPr wrap="none" lIns="0" tIns="0" rIns="0" bIns="0" anchor="t" anchorCtr="0">
              <a:spAutoFit/>
            </a:bodyPr>
            <a:lstStyle/>
            <a:p>
              <a:pPr algn="l"/>
              <a:r>
                <a:rPr lang="ko-KR" sz="1500" spc="150" dirty="0">
                  <a:solidFill>
                    <a:schemeClr val="accent5"/>
                  </a:solidFill>
                  <a:latin typeface="Consolas"/>
                  <a:ea typeface="Microsoft YaHei"/>
                  <a:cs typeface="Consolas"/>
                </a:rPr>
                <a:t>PART 01 · 결론 먼저</a:t>
              </a:r>
            </a:p>
          </p:txBody>
        </p:sp>
      </p:grpSp>
      <p:grpSp>
        <p:nvGrpSpPr>
          <p:cNvPr id="5" name="Group 5"/>
          <p:cNvGrpSpPr/>
          <p:nvPr/>
        </p:nvGrpSpPr>
        <p:grpSpPr>
          <a:xfrm>
            <a:off x="593598" y="822008"/>
            <a:ext cx="7484735" cy="616077"/>
            <a:chOff x="593598" y="822008"/>
            <a:chExt cx="7484735" cy="616077"/>
          </a:xfrm>
        </p:grpSpPr>
        <p:sp>
          <p:nvSpPr>
            <p:cNvPr id="4" name="TextBox 4"/>
            <p:cNvSpPr txBox="1"/>
            <p:nvPr/>
          </p:nvSpPr>
          <p:spPr>
            <a:xfrm>
              <a:off x="593598" y="822008"/>
              <a:ext cx="7484735" cy="616077"/>
            </a:xfrm>
            <a:prstGeom prst="rect">
              <a:avLst/>
            </a:prstGeom>
            <a:noFill/>
            <a:ln>
              <a:noFill/>
            </a:ln>
          </p:spPr>
          <p:txBody>
            <a:bodyPr wrap="none" lIns="0" tIns="0" rIns="0" bIns="0" anchor="t" anchorCtr="0">
              <a:spAutoFit/>
            </a:bodyPr>
            <a:lstStyle/>
            <a:p>
              <a:pPr algn="l"/>
              <a:r>
                <a:rPr lang="ko-KR" sz="3150" b="1" dirty="0">
                  <a:solidFill>
                    <a:schemeClr val="dk1"/>
                  </a:solidFill>
                  <a:latin typeface="+mn-lt"/>
                  <a:ea typeface="+mn-ea"/>
                  <a:cs typeface="+mn-cs"/>
                </a:rPr>
                <a:t>이 시스템을 관통하는 세 가지 아이디어</a:t>
              </a:r>
            </a:p>
          </p:txBody>
        </p:sp>
      </p:grpSp>
      <p:grpSp>
        <p:nvGrpSpPr>
          <p:cNvPr id="9" name="Group 9"/>
          <p:cNvGrpSpPr/>
          <p:nvPr/>
        </p:nvGrpSpPr>
        <p:grpSpPr>
          <a:xfrm>
            <a:off x="590550" y="1703070"/>
            <a:ext cx="7846314" cy="1159764"/>
            <a:chOff x="590550" y="1703070"/>
            <a:chExt cx="7846314" cy="1159764"/>
          </a:xfrm>
        </p:grpSpPr>
        <p:sp>
          <p:nvSpPr>
            <p:cNvPr id="6" name="TextBox 6"/>
            <p:cNvSpPr txBox="1"/>
            <p:nvPr/>
          </p:nvSpPr>
          <p:spPr>
            <a:xfrm>
              <a:off x="590550" y="1703070"/>
              <a:ext cx="877725" cy="1047750"/>
            </a:xfrm>
            <a:prstGeom prst="rect">
              <a:avLst/>
            </a:prstGeom>
            <a:noFill/>
            <a:ln>
              <a:noFill/>
            </a:ln>
          </p:spPr>
          <p:txBody>
            <a:bodyPr wrap="none" lIns="0" tIns="0" rIns="0" bIns="0" anchor="t" anchorCtr="0">
              <a:spAutoFit/>
            </a:bodyPr>
            <a:lstStyle/>
            <a:p>
              <a:pPr algn="l"/>
              <a:r>
                <a:rPr lang="ko-KR" sz="5400" b="1" dirty="0">
                  <a:solidFill>
                    <a:schemeClr val="accent1">
                      <a:alphaMod val="35000"/>
                    </a:schemeClr>
                  </a:solidFill>
                  <a:latin typeface="+mn-lt"/>
                  <a:ea typeface="+mn-ea"/>
                  <a:cs typeface="+mn-cs"/>
                </a:rPr>
                <a:t>01</a:t>
              </a:r>
            </a:p>
          </p:txBody>
        </p:sp>
        <p:sp>
          <p:nvSpPr>
            <p:cNvPr id="7" name="TextBox 7"/>
            <p:cNvSpPr txBox="1"/>
            <p:nvPr/>
          </p:nvSpPr>
          <p:spPr>
            <a:xfrm>
              <a:off x="1799082" y="1792605"/>
              <a:ext cx="4215927" cy="410718"/>
            </a:xfrm>
            <a:prstGeom prst="rect">
              <a:avLst/>
            </a:prstGeom>
            <a:noFill/>
            <a:ln>
              <a:noFill/>
            </a:ln>
          </p:spPr>
          <p:txBody>
            <a:bodyPr wrap="none" lIns="0" tIns="0" rIns="0" bIns="0" anchor="t" anchorCtr="0">
              <a:spAutoFit/>
            </a:bodyPr>
            <a:lstStyle/>
            <a:p>
              <a:pPr algn="l"/>
              <a:r>
                <a:rPr lang="ko-KR" sz="2100" b="1" dirty="0">
                  <a:solidFill>
                    <a:schemeClr val="accent2"/>
                  </a:solidFill>
                  <a:latin typeface="+mn-lt"/>
                  <a:ea typeface="+mn-ea"/>
                  <a:cs typeface="+mn-cs"/>
                </a:rPr>
                <a:t>시작과 끝은 사람</a:t>
              </a:r>
              <a:r>
                <a:rPr lang="ko-KR" sz="2100" b="1" dirty="0">
                  <a:solidFill>
                    <a:schemeClr val="dk1"/>
                  </a:solidFill>
                  <a:latin typeface="+mn-lt"/>
                  <a:ea typeface="+mn-ea"/>
                  <a:cs typeface="+mn-cs"/>
                </a:rPr>
                <a:t xml:space="preserve">, 가운데는 </a:t>
              </a:r>
              <a:r>
                <a:rPr lang="ko-KR" sz="2100" b="1" dirty="0">
                  <a:solidFill>
                    <a:schemeClr val="accent1"/>
                  </a:solidFill>
                  <a:latin typeface="+mn-lt"/>
                  <a:ea typeface="+mn-ea"/>
                  <a:cs typeface="+mn-cs"/>
                </a:rPr>
                <a:t>기계</a:t>
              </a:r>
            </a:p>
          </p:txBody>
        </p:sp>
        <p:sp>
          <p:nvSpPr>
            <p:cNvPr id="8" name="TextBox 8"/>
            <p:cNvSpPr txBox="1"/>
            <p:nvPr/>
          </p:nvSpPr>
          <p:spPr>
            <a:xfrm>
              <a:off x="1800606" y="2186940"/>
              <a:ext cx="6636258" cy="675894"/>
            </a:xfrm>
            <a:prstGeom prst="rect">
              <a:avLst/>
            </a:prstGeom>
            <a:noFill/>
            <a:ln>
              <a:noFill/>
            </a:ln>
          </p:spPr>
          <p:txBody>
            <a:bodyPr wrap="none" lIns="0" tIns="0" rIns="0" bIns="0" anchor="t" anchorCtr="0">
              <a:spAutoFit/>
            </a:bodyPr>
            <a:lstStyle/>
            <a:p>
              <a:pPr algn="l">
                <a:lnSpc>
                  <a:spcPts val="2550"/>
                </a:lnSpc>
              </a:pPr>
              <a:r>
                <a:rPr lang="ko-KR" sz="1800" dirty="0">
                  <a:solidFill>
                    <a:schemeClr val="dk1"/>
                  </a:solidFill>
                  <a:latin typeface="+mn-lt"/>
                  <a:ea typeface="+mn-ea"/>
                  <a:cs typeface="+mn-cs"/>
                </a:rPr>
                <a:t>목표·인터뷰 답·PLAN 승인·PR 머지·최종 "됐다"는 사람만 한다.</a:t>
              </a:r>
              <a:br/>
              <a:r>
                <a:rPr lang="ko-KR" sz="1800" dirty="0">
                  <a:solidFill>
                    <a:schemeClr val="dk1"/>
                  </a:solidFill>
                  <a:latin typeface="+mn-lt"/>
                  <a:ea typeface="+mn-ea"/>
                  <a:cs typeface="+mn-cs"/>
                </a:rPr>
                <a:t xml:space="preserve">하네스는 </a:t>
              </a:r>
              <a:r>
                <a:rPr lang="ko-KR" sz="1800" b="1" dirty="0">
                  <a:solidFill>
                    <a:schemeClr val="dk1"/>
                  </a:solidFill>
                  <a:latin typeface="+mn-lt"/>
                  <a:ea typeface="+mn-ea"/>
                  <a:cs typeface="+mn-cs"/>
                </a:rPr>
                <a:t>결정을 만들지 않고 운반만</a:t>
              </a:r>
              <a:r>
                <a:rPr lang="ko-KR" sz="1800" dirty="0">
                  <a:solidFill>
                    <a:schemeClr val="dk1"/>
                  </a:solidFill>
                  <a:latin typeface="+mn-lt"/>
                  <a:ea typeface="+mn-ea"/>
                  <a:cs typeface="+mn-cs"/>
                </a:rPr>
                <a:t xml:space="preserve"> 한다.</a:t>
              </a:r>
            </a:p>
          </p:txBody>
        </p:sp>
      </p:grpSp>
      <p:grpSp>
        <p:nvGrpSpPr>
          <p:cNvPr id="13" name="Group 13"/>
          <p:cNvGrpSpPr/>
          <p:nvPr/>
        </p:nvGrpSpPr>
        <p:grpSpPr>
          <a:xfrm>
            <a:off x="590550" y="3036570"/>
            <a:ext cx="9743694" cy="1159764"/>
            <a:chOff x="590550" y="3036570"/>
            <a:chExt cx="9743694" cy="1159764"/>
          </a:xfrm>
        </p:grpSpPr>
        <p:sp>
          <p:nvSpPr>
            <p:cNvPr id="10" name="TextBox 10"/>
            <p:cNvSpPr txBox="1"/>
            <p:nvPr/>
          </p:nvSpPr>
          <p:spPr>
            <a:xfrm>
              <a:off x="590550" y="3036570"/>
              <a:ext cx="877725" cy="1047750"/>
            </a:xfrm>
            <a:prstGeom prst="rect">
              <a:avLst/>
            </a:prstGeom>
            <a:noFill/>
            <a:ln>
              <a:noFill/>
            </a:ln>
          </p:spPr>
          <p:txBody>
            <a:bodyPr wrap="none" lIns="0" tIns="0" rIns="0" bIns="0" anchor="t" anchorCtr="0">
              <a:spAutoFit/>
            </a:bodyPr>
            <a:lstStyle/>
            <a:p>
              <a:pPr algn="l"/>
              <a:r>
                <a:rPr lang="ko-KR" sz="5400" b="1" dirty="0">
                  <a:solidFill>
                    <a:schemeClr val="accent1">
                      <a:alphaMod val="35000"/>
                    </a:schemeClr>
                  </a:solidFill>
                  <a:latin typeface="+mn-lt"/>
                  <a:ea typeface="+mn-ea"/>
                  <a:cs typeface="+mn-cs"/>
                </a:rPr>
                <a:t>02</a:t>
              </a:r>
            </a:p>
          </p:txBody>
        </p:sp>
        <p:sp>
          <p:nvSpPr>
            <p:cNvPr id="11" name="TextBox 11"/>
            <p:cNvSpPr txBox="1"/>
            <p:nvPr/>
          </p:nvSpPr>
          <p:spPr>
            <a:xfrm>
              <a:off x="1799082" y="3126105"/>
              <a:ext cx="4007434" cy="410718"/>
            </a:xfrm>
            <a:prstGeom prst="rect">
              <a:avLst/>
            </a:prstGeom>
            <a:noFill/>
            <a:ln>
              <a:noFill/>
            </a:ln>
          </p:spPr>
          <p:txBody>
            <a:bodyPr wrap="none" lIns="0" tIns="0" rIns="0" bIns="0" anchor="t" anchorCtr="0">
              <a:spAutoFit/>
            </a:bodyPr>
            <a:lstStyle/>
            <a:p>
              <a:pPr algn="l"/>
              <a:r>
                <a:rPr lang="ko-KR" sz="2100" b="1" dirty="0">
                  <a:solidFill>
                    <a:schemeClr val="dk1"/>
                  </a:solidFill>
                  <a:latin typeface="+mn-lt"/>
                  <a:ea typeface="+mn-ea"/>
                  <a:cs typeface="+mn-cs"/>
                </a:rPr>
                <a:t xml:space="preserve">세션의 "끝났다"를 </a:t>
              </a:r>
              <a:r>
                <a:rPr lang="ko-KR" sz="2100" b="1" dirty="0">
                  <a:solidFill>
                    <a:schemeClr val="accent1"/>
                  </a:solidFill>
                  <a:latin typeface="+mn-lt"/>
                  <a:ea typeface="+mn-ea"/>
                  <a:cs typeface="+mn-cs"/>
                </a:rPr>
                <a:t>믿지 않는다</a:t>
              </a:r>
            </a:p>
          </p:txBody>
        </p:sp>
        <p:sp>
          <p:nvSpPr>
            <p:cNvPr id="12" name="TextBox 12"/>
            <p:cNvSpPr txBox="1"/>
            <p:nvPr/>
          </p:nvSpPr>
          <p:spPr>
            <a:xfrm>
              <a:off x="1800606" y="3520440"/>
              <a:ext cx="8533638" cy="675894"/>
            </a:xfrm>
            <a:prstGeom prst="rect">
              <a:avLst/>
            </a:prstGeom>
            <a:noFill/>
            <a:ln>
              <a:noFill/>
            </a:ln>
          </p:spPr>
          <p:txBody>
            <a:bodyPr wrap="none" lIns="0" tIns="0" rIns="0" bIns="0" anchor="t" anchorCtr="0">
              <a:spAutoFit/>
            </a:bodyPr>
            <a:lstStyle/>
            <a:p>
              <a:pPr algn="l">
                <a:lnSpc>
                  <a:spcPts val="2550"/>
                </a:lnSpc>
              </a:pPr>
              <a:r>
                <a:rPr lang="ko-KR" sz="1800" dirty="0">
                  <a:solidFill>
                    <a:schemeClr val="dk1"/>
                  </a:solidFill>
                  <a:latin typeface="+mn-lt"/>
                  <a:ea typeface="+mn-ea"/>
                  <a:cs typeface="+mn-cs"/>
                </a:rPr>
                <a:t xml:space="preserve">검증 명령을 하네스가 직접 실행해 </a:t>
              </a:r>
              <a:r>
                <a:rPr lang="ko-KR" sz="1800" b="1" dirty="0">
                  <a:solidFill>
                    <a:schemeClr val="accent1"/>
                  </a:solidFill>
                  <a:latin typeface="+mn-lt"/>
                  <a:ea typeface="+mn-ea"/>
                  <a:cs typeface="+mn-cs"/>
                </a:rPr>
                <a:t>exit code</a:t>
              </a:r>
              <a:r>
                <a:rPr lang="ko-KR" sz="1800" dirty="0">
                  <a:solidFill>
                    <a:schemeClr val="dk1"/>
                  </a:solidFill>
                  <a:latin typeface="+mn-lt"/>
                  <a:ea typeface="+mn-ea"/>
                  <a:cs typeface="+mn-cs"/>
                </a:rPr>
                <a:t xml:space="preserve"> 로 판정한다.</a:t>
              </a:r>
              <a:br/>
              <a:r>
                <a:rPr lang="ko-KR" sz="1800" dirty="0">
                  <a:solidFill>
                    <a:schemeClr val="dk1"/>
                  </a:solidFill>
                  <a:latin typeface="+mn-lt"/>
                  <a:ea typeface="+mn-ea"/>
                  <a:cs typeface="+mn-cs"/>
                </a:rPr>
                <a:t>커밋 SHA 실존·신규·브랜치 도달성, 검증 스크립트 위조까지 기계적으로 확인한다.</a:t>
              </a:r>
            </a:p>
          </p:txBody>
        </p:sp>
      </p:grpSp>
      <p:grpSp>
        <p:nvGrpSpPr>
          <p:cNvPr id="22" name="Group 22"/>
          <p:cNvGrpSpPr/>
          <p:nvPr/>
        </p:nvGrpSpPr>
        <p:grpSpPr>
          <a:xfrm>
            <a:off x="590550" y="4370070"/>
            <a:ext cx="10991850" cy="1787081"/>
            <a:chOff x="590550" y="4370070"/>
            <a:chExt cx="10991850" cy="1787081"/>
          </a:xfrm>
        </p:grpSpPr>
        <p:sp>
          <p:nvSpPr>
            <p:cNvPr id="14" name="TextBox 14"/>
            <p:cNvSpPr txBox="1"/>
            <p:nvPr/>
          </p:nvSpPr>
          <p:spPr>
            <a:xfrm>
              <a:off x="590550" y="4370070"/>
              <a:ext cx="877725" cy="1047750"/>
            </a:xfrm>
            <a:prstGeom prst="rect">
              <a:avLst/>
            </a:prstGeom>
            <a:noFill/>
            <a:ln>
              <a:noFill/>
            </a:ln>
          </p:spPr>
          <p:txBody>
            <a:bodyPr wrap="none" lIns="0" tIns="0" rIns="0" bIns="0" anchor="t" anchorCtr="0">
              <a:spAutoFit/>
            </a:bodyPr>
            <a:lstStyle/>
            <a:p>
              <a:pPr algn="l"/>
              <a:r>
                <a:rPr lang="ko-KR" sz="5400" b="1" dirty="0">
                  <a:solidFill>
                    <a:schemeClr val="accent1">
                      <a:alphaMod val="35000"/>
                    </a:schemeClr>
                  </a:solidFill>
                  <a:latin typeface="+mn-lt"/>
                  <a:ea typeface="+mn-ea"/>
                  <a:cs typeface="+mn-cs"/>
                </a:rPr>
                <a:t>03</a:t>
              </a:r>
            </a:p>
          </p:txBody>
        </p:sp>
        <p:sp>
          <p:nvSpPr>
            <p:cNvPr id="15" name="TextBox 15"/>
            <p:cNvSpPr txBox="1"/>
            <p:nvPr/>
          </p:nvSpPr>
          <p:spPr>
            <a:xfrm>
              <a:off x="1799082" y="4459605"/>
              <a:ext cx="3859016" cy="410718"/>
            </a:xfrm>
            <a:prstGeom prst="rect">
              <a:avLst/>
            </a:prstGeom>
            <a:noFill/>
            <a:ln>
              <a:noFill/>
            </a:ln>
          </p:spPr>
          <p:txBody>
            <a:bodyPr wrap="none" lIns="0" tIns="0" rIns="0" bIns="0" anchor="t" anchorCtr="0">
              <a:spAutoFit/>
            </a:bodyPr>
            <a:lstStyle/>
            <a:p>
              <a:pPr algn="l"/>
              <a:r>
                <a:rPr lang="ko-KR" sz="2100" b="1" dirty="0">
                  <a:solidFill>
                    <a:schemeClr val="dk1"/>
                  </a:solidFill>
                  <a:latin typeface="+mn-lt"/>
                  <a:ea typeface="+mn-ea"/>
                  <a:cs typeface="+mn-cs"/>
                </a:rPr>
                <a:t xml:space="preserve">같은 </a:t>
              </a:r>
              <a:r>
                <a:rPr lang="ko-KR" sz="2100" b="1" dirty="0">
                  <a:solidFill>
                    <a:schemeClr val="accent3"/>
                  </a:solidFill>
                  <a:latin typeface="+mn-lt"/>
                  <a:ea typeface="+mn-ea"/>
                  <a:cs typeface="+mn-cs"/>
                </a:rPr>
                <a:t>세 역할</a:t>
              </a:r>
              <a:r>
                <a:rPr lang="ko-KR" sz="2100" b="1" dirty="0">
                  <a:solidFill>
                    <a:schemeClr val="dk1"/>
                  </a:solidFill>
                  <a:latin typeface="+mn-lt"/>
                  <a:ea typeface="+mn-ea"/>
                  <a:cs typeface="+mn-cs"/>
                </a:rPr>
                <a:t>이 두 번 등장한다</a:t>
              </a:r>
            </a:p>
          </p:txBody>
        </p:sp>
        <p:sp>
          <p:nvSpPr>
            <p:cNvPr id="16" name="TextBox 16"/>
            <p:cNvSpPr txBox="1"/>
            <p:nvPr/>
          </p:nvSpPr>
          <p:spPr>
            <a:xfrm>
              <a:off x="1800606" y="4853940"/>
              <a:ext cx="9746064" cy="352044"/>
            </a:xfrm>
            <a:prstGeom prst="rect">
              <a:avLst/>
            </a:prstGeom>
            <a:noFill/>
            <a:ln>
              <a:noFill/>
            </a:ln>
          </p:spPr>
          <p:txBody>
            <a:bodyPr wrap="none" lIns="0" tIns="0" rIns="0" bIns="0" anchor="t" anchorCtr="0">
              <a:spAutoFit/>
            </a:bodyPr>
            <a:lstStyle/>
            <a:p>
              <a:pPr algn="l"/>
              <a:r>
                <a:rPr lang="ko-KR" sz="1800" b="1" dirty="0">
                  <a:solidFill>
                    <a:schemeClr val="dk1"/>
                  </a:solidFill>
                  <a:latin typeface="+mn-lt"/>
                  <a:ea typeface="+mn-ea"/>
                  <a:cs typeface="+mn-cs"/>
                </a:rPr>
                <a:t xml:space="preserve">기획·개발·평가 고수가 시작엔 </a:t>
              </a:r>
              <a:r>
                <a:rPr lang="ko-KR" sz="1800" b="1" dirty="0">
                  <a:solidFill>
                    <a:schemeClr val="accent2"/>
                  </a:solidFill>
                  <a:latin typeface="+mn-lt"/>
                  <a:ea typeface="+mn-ea"/>
                  <a:cs typeface="+mn-cs"/>
                </a:rPr>
                <a:t>인터뷰</a:t>
              </a:r>
              <a:r>
                <a:rPr lang="ko-KR" sz="1800" b="1" dirty="0">
                  <a:solidFill>
                    <a:schemeClr val="dk1"/>
                  </a:solidFill>
                  <a:latin typeface="+mn-lt"/>
                  <a:ea typeface="+mn-ea"/>
                  <a:cs typeface="+mn-cs"/>
                </a:rPr>
                <a:t xml:space="preserve">로 계획을 만들고, 끝엔 </a:t>
              </a:r>
              <a:r>
                <a:rPr lang="ko-KR" sz="1800" b="1" dirty="0">
                  <a:solidFill>
                    <a:schemeClr val="accent3"/>
                  </a:solidFill>
                  <a:latin typeface="+mn-lt"/>
                  <a:ea typeface="+mn-ea"/>
                  <a:cs typeface="+mn-cs"/>
                </a:rPr>
                <a:t>검증관</a:t>
              </a:r>
              <a:r>
                <a:rPr lang="ko-KR" sz="1800" b="1" dirty="0">
                  <a:solidFill>
                    <a:schemeClr val="dk1"/>
                  </a:solidFill>
                  <a:latin typeface="+mn-lt"/>
                  <a:ea typeface="+mn-ea"/>
                  <a:cs typeface="+mn-cs"/>
                </a:rPr>
                <a:t>으로 반증을 찾는다.</a:t>
              </a:r>
            </a:p>
          </p:txBody>
        </p:sp>
        <p:sp>
          <p:nvSpPr>
            <p:cNvPr id="17" name="Line 17"/>
            <p:cNvSpPr/>
            <p:nvPr/>
          </p:nvSpPr>
          <p:spPr>
            <a:xfrm>
              <a:off x="1809750" y="5257800"/>
              <a:ext cx="9772650" cy="9525"/>
            </a:xfrm>
            <a:custGeom>
              <a:avLst/>
              <a:gdLst/>
              <a:ahLst/>
              <a:cxnLst/>
              <a:rect l="l" t="t" r="r" b="b"/>
              <a:pathLst>
                <a:path w="9772650" h="9525">
                  <a:moveTo>
                    <a:pt x="0" y="0"/>
                  </a:moveTo>
                  <a:lnTo>
                    <a:pt x="9772650" y="0"/>
                  </a:lnTo>
                </a:path>
              </a:pathLst>
            </a:custGeom>
            <a:noFill/>
            <a:ln w="9525">
              <a:solidFill>
                <a:schemeClr val="accent6"/>
              </a:solidFill>
            </a:ln>
          </p:spPr>
        </p:sp>
        <p:sp>
          <p:nvSpPr>
            <p:cNvPr id="18" name="TextBox 18"/>
            <p:cNvSpPr txBox="1"/>
            <p:nvPr/>
          </p:nvSpPr>
          <p:spPr>
            <a:xfrm>
              <a:off x="1802892" y="5397818"/>
              <a:ext cx="3631997" cy="264033"/>
            </a:xfrm>
            <a:prstGeom prst="rect">
              <a:avLst/>
            </a:prstGeom>
            <a:noFill/>
            <a:ln>
              <a:noFill/>
            </a:ln>
          </p:spPr>
          <p:txBody>
            <a:bodyPr wrap="none" lIns="0" tIns="0" rIns="0" bIns="0" anchor="t" anchorCtr="0">
              <a:spAutoFit/>
            </a:bodyPr>
            <a:lstStyle/>
            <a:p>
              <a:pPr algn="l"/>
              <a:r>
                <a:rPr lang="ko-KR" sz="1350" dirty="0">
                  <a:solidFill>
                    <a:schemeClr val="dk1"/>
                  </a:solidFill>
                  <a:latin typeface="+mn-lt"/>
                  <a:ea typeface="+mn-ea"/>
                  <a:cs typeface="+mn-cs"/>
                </a:rPr>
                <a:t>기획</a:t>
              </a:r>
              <a:r>
                <a:rPr lang="ko-KR" sz="1350" dirty="0">
                  <a:solidFill>
                    <a:schemeClr val="accent5"/>
                  </a:solidFill>
                  <a:latin typeface="+mn-lt"/>
                  <a:ea typeface="+mn-ea"/>
                  <a:cs typeface="+mn-cs"/>
                </a:rPr>
                <a:t xml:space="preserve"> → PLAN §핵심 결정 → 결정이 지켜졌나</a:t>
              </a:r>
            </a:p>
          </p:txBody>
        </p:sp>
        <p:sp>
          <p:nvSpPr>
            <p:cNvPr id="19" name="TextBox 19"/>
            <p:cNvSpPr txBox="1"/>
            <p:nvPr/>
          </p:nvSpPr>
          <p:spPr>
            <a:xfrm>
              <a:off x="1802892" y="5645468"/>
              <a:ext cx="4265676" cy="264033"/>
            </a:xfrm>
            <a:prstGeom prst="rect">
              <a:avLst/>
            </a:prstGeom>
            <a:noFill/>
            <a:ln>
              <a:noFill/>
            </a:ln>
          </p:spPr>
          <p:txBody>
            <a:bodyPr wrap="none" lIns="0" tIns="0" rIns="0" bIns="0" anchor="t" anchorCtr="0">
              <a:spAutoFit/>
            </a:bodyPr>
            <a:lstStyle/>
            <a:p>
              <a:pPr algn="l"/>
              <a:r>
                <a:rPr lang="ko-KR" sz="1350" dirty="0">
                  <a:solidFill>
                    <a:schemeClr val="dk1"/>
                  </a:solidFill>
                  <a:latin typeface="+mn-lt"/>
                  <a:ea typeface="+mn-ea"/>
                  <a:cs typeface="+mn-cs"/>
                </a:rPr>
                <a:t>개발</a:t>
              </a:r>
              <a:r>
                <a:rPr lang="ko-KR" sz="1350" dirty="0">
                  <a:solidFill>
                    <a:schemeClr val="accent5"/>
                  </a:solidFill>
                  <a:latin typeface="+mn-lt"/>
                  <a:ea typeface="+mn-ea"/>
                  <a:cs typeface="+mn-cs"/>
                </a:rPr>
                <a:t xml:space="preserve"> → PLAN §개발 방향 → 구조가 무너지지 않았나</a:t>
              </a:r>
            </a:p>
          </p:txBody>
        </p:sp>
        <p:sp>
          <p:nvSpPr>
            <p:cNvPr id="20" name="TextBox 20"/>
            <p:cNvSpPr txBox="1"/>
            <p:nvPr/>
          </p:nvSpPr>
          <p:spPr>
            <a:xfrm>
              <a:off x="1802892" y="5893118"/>
              <a:ext cx="4265676" cy="264033"/>
            </a:xfrm>
            <a:prstGeom prst="rect">
              <a:avLst/>
            </a:prstGeom>
            <a:noFill/>
            <a:ln>
              <a:noFill/>
            </a:ln>
          </p:spPr>
          <p:txBody>
            <a:bodyPr wrap="none" lIns="0" tIns="0" rIns="0" bIns="0" anchor="t" anchorCtr="0">
              <a:spAutoFit/>
            </a:bodyPr>
            <a:lstStyle/>
            <a:p>
              <a:pPr algn="l"/>
              <a:r>
                <a:rPr lang="ko-KR" sz="1350" dirty="0">
                  <a:solidFill>
                    <a:schemeClr val="dk1"/>
                  </a:solidFill>
                  <a:latin typeface="+mn-lt"/>
                  <a:ea typeface="+mn-ea"/>
                  <a:cs typeface="+mn-cs"/>
                </a:rPr>
                <a:t>평가</a:t>
              </a:r>
              <a:r>
                <a:rPr lang="ko-KR" sz="1350" dirty="0">
                  <a:solidFill>
                    <a:schemeClr val="accent5"/>
                  </a:solidFill>
                  <a:latin typeface="+mn-lt"/>
                  <a:ea typeface="+mn-ea"/>
                  <a:cs typeface="+mn-cs"/>
                </a:rPr>
                <a:t xml:space="preserve"> → PLAN §검증 기준 → 기준을 실제로 충족했나</a:t>
              </a:r>
            </a:p>
          </p:txBody>
        </p:sp>
        <p:sp>
          <p:nvSpPr>
            <p:cNvPr id="21" name="TextBox 21"/>
            <p:cNvSpPr txBox="1"/>
            <p:nvPr/>
          </p:nvSpPr>
          <p:spPr>
            <a:xfrm>
              <a:off x="7232142" y="5397818"/>
              <a:ext cx="2694337" cy="264033"/>
            </a:xfrm>
            <a:prstGeom prst="rect">
              <a:avLst/>
            </a:prstGeom>
            <a:noFill/>
            <a:ln>
              <a:noFill/>
            </a:ln>
          </p:spPr>
          <p:txBody>
            <a:bodyPr wrap="none" lIns="0" tIns="0" rIns="0" bIns="0" anchor="t" anchorCtr="0">
              <a:spAutoFit/>
            </a:bodyPr>
            <a:lstStyle/>
            <a:p>
              <a:pPr algn="l"/>
              <a:r>
                <a:rPr lang="ko-KR" sz="1350" i="1" dirty="0">
                  <a:solidFill>
                    <a:schemeClr val="accent5"/>
                  </a:solidFill>
                  <a:latin typeface="+mn-lt"/>
                  <a:ea typeface="+mn-ea"/>
                  <a:cs typeface="+mn-cs"/>
                </a:rPr>
                <a:t>인터뷰 산출물 = 검증 체크리스트</a:t>
              </a:r>
            </a:p>
          </p:txBody>
        </p:sp>
      </p:grpSp>
      <p:grpSp>
        <p:nvGrpSpPr>
          <p:cNvPr id="25" name="Group 25"/>
          <p:cNvGrpSpPr/>
          <p:nvPr/>
        </p:nvGrpSpPr>
        <p:grpSpPr>
          <a:xfrm>
            <a:off x="604266" y="6516052"/>
            <a:ext cx="10983468" cy="205359"/>
            <a:chOff x="604266" y="6516052"/>
            <a:chExt cx="10983468" cy="205359"/>
          </a:xfrm>
        </p:grpSpPr>
        <p:sp>
          <p:nvSpPr>
            <p:cNvPr id="23" name="TextBox 23"/>
            <p:cNvSpPr txBox="1"/>
            <p:nvPr/>
          </p:nvSpPr>
          <p:spPr>
            <a:xfrm>
              <a:off x="604266" y="6516052"/>
              <a:ext cx="4318806"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feature-workflow · plugins/feature-workflow/README.md §1</a:t>
              </a:r>
            </a:p>
          </p:txBody>
        </p:sp>
        <p:sp>
          <p:nvSpPr>
            <p:cNvPr id="24" name="TextBox 24"/>
            <p:cNvSpPr txBox="1"/>
            <p:nvPr/>
          </p:nvSpPr>
          <p:spPr>
            <a:xfrm>
              <a:off x="11103540" y="65160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03 / 19</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609600" y="1905000"/>
            <a:ext cx="10972800" cy="3810000"/>
          </a:xfrm>
          <a:custGeom>
            <a:avLst/>
            <a:gdLst/>
            <a:ahLst/>
            <a:cxnLst/>
            <a:rect l="l" t="t" r="r" b="b"/>
            <a:pathLst>
              <a:path w="10972800" h="3810000">
                <a:moveTo>
                  <a:pt x="152400" y="0"/>
                </a:moveTo>
                <a:lnTo>
                  <a:pt x="152400" y="3810000"/>
                </a:lnTo>
                <a:moveTo>
                  <a:pt x="914400" y="0"/>
                </a:moveTo>
                <a:lnTo>
                  <a:pt x="914400" y="3810000"/>
                </a:lnTo>
                <a:moveTo>
                  <a:pt x="1676400" y="0"/>
                </a:moveTo>
                <a:lnTo>
                  <a:pt x="1676400" y="3810000"/>
                </a:lnTo>
                <a:moveTo>
                  <a:pt x="2438400" y="0"/>
                </a:moveTo>
                <a:lnTo>
                  <a:pt x="2438400" y="3810000"/>
                </a:lnTo>
                <a:moveTo>
                  <a:pt x="3200400" y="0"/>
                </a:moveTo>
                <a:lnTo>
                  <a:pt x="3200400" y="3810000"/>
                </a:lnTo>
                <a:moveTo>
                  <a:pt x="3962400" y="0"/>
                </a:moveTo>
                <a:lnTo>
                  <a:pt x="3962400" y="3810000"/>
                </a:lnTo>
                <a:moveTo>
                  <a:pt x="4724400" y="0"/>
                </a:moveTo>
                <a:lnTo>
                  <a:pt x="4724400" y="3810000"/>
                </a:lnTo>
                <a:moveTo>
                  <a:pt x="5486400" y="0"/>
                </a:moveTo>
                <a:lnTo>
                  <a:pt x="5486400" y="3810000"/>
                </a:lnTo>
                <a:moveTo>
                  <a:pt x="6248400" y="0"/>
                </a:moveTo>
                <a:lnTo>
                  <a:pt x="6248400" y="3810000"/>
                </a:lnTo>
                <a:moveTo>
                  <a:pt x="7010400" y="0"/>
                </a:moveTo>
                <a:lnTo>
                  <a:pt x="7010400" y="3810000"/>
                </a:lnTo>
                <a:moveTo>
                  <a:pt x="7772400" y="0"/>
                </a:moveTo>
                <a:lnTo>
                  <a:pt x="7772400" y="3810000"/>
                </a:lnTo>
                <a:moveTo>
                  <a:pt x="8534400" y="0"/>
                </a:moveTo>
                <a:lnTo>
                  <a:pt x="8534400" y="3810000"/>
                </a:lnTo>
                <a:moveTo>
                  <a:pt x="9296400" y="0"/>
                </a:moveTo>
                <a:lnTo>
                  <a:pt x="9296400" y="3810000"/>
                </a:lnTo>
                <a:moveTo>
                  <a:pt x="10058400" y="0"/>
                </a:moveTo>
                <a:lnTo>
                  <a:pt x="10058400" y="3810000"/>
                </a:lnTo>
                <a:moveTo>
                  <a:pt x="10820400" y="0"/>
                </a:moveTo>
                <a:lnTo>
                  <a:pt x="10820400" y="3810000"/>
                </a:lnTo>
                <a:moveTo>
                  <a:pt x="0" y="381000"/>
                </a:moveTo>
                <a:lnTo>
                  <a:pt x="10972800" y="381000"/>
                </a:lnTo>
                <a:moveTo>
                  <a:pt x="0" y="1143000"/>
                </a:moveTo>
                <a:lnTo>
                  <a:pt x="10972800" y="1143000"/>
                </a:lnTo>
                <a:moveTo>
                  <a:pt x="0" y="1905000"/>
                </a:moveTo>
                <a:lnTo>
                  <a:pt x="10972800" y="1905000"/>
                </a:lnTo>
                <a:moveTo>
                  <a:pt x="0" y="2667000"/>
                </a:moveTo>
                <a:lnTo>
                  <a:pt x="10972800" y="2667000"/>
                </a:lnTo>
                <a:moveTo>
                  <a:pt x="0" y="3429000"/>
                </a:moveTo>
                <a:lnTo>
                  <a:pt x="10972800" y="3429000"/>
                </a:lnTo>
              </a:path>
            </a:pathLst>
          </a:custGeom>
          <a:noFill/>
          <a:ln w="9525">
            <a:solidFill>
              <a:srgbClr val="1B2740"/>
            </a:solidFill>
          </a:ln>
        </p:spPr>
      </p:sp>
      <p:grpSp>
        <p:nvGrpSpPr>
          <p:cNvPr id="4" name="Group 4"/>
          <p:cNvGrpSpPr/>
          <p:nvPr/>
        </p:nvGrpSpPr>
        <p:grpSpPr>
          <a:xfrm>
            <a:off x="601980" y="428625"/>
            <a:ext cx="2244852" cy="293370"/>
            <a:chOff x="601980" y="428625"/>
            <a:chExt cx="2244852" cy="293370"/>
          </a:xfrm>
        </p:grpSpPr>
        <p:sp>
          <p:nvSpPr>
            <p:cNvPr id="3" name="TextBox 3"/>
            <p:cNvSpPr txBox="1"/>
            <p:nvPr/>
          </p:nvSpPr>
          <p:spPr>
            <a:xfrm>
              <a:off x="601980" y="428625"/>
              <a:ext cx="2244852" cy="293370"/>
            </a:xfrm>
            <a:prstGeom prst="rect">
              <a:avLst/>
            </a:prstGeom>
            <a:noFill/>
            <a:ln>
              <a:noFill/>
            </a:ln>
          </p:spPr>
          <p:txBody>
            <a:bodyPr wrap="none" lIns="0" tIns="0" rIns="0" bIns="0" anchor="t" anchorCtr="0">
              <a:spAutoFit/>
            </a:bodyPr>
            <a:lstStyle/>
            <a:p>
              <a:pPr algn="l"/>
              <a:r>
                <a:rPr lang="ko-KR" sz="1500" spc="150" dirty="0">
                  <a:solidFill>
                    <a:schemeClr val="accent5"/>
                  </a:solidFill>
                  <a:latin typeface="Consolas"/>
                  <a:ea typeface="Microsoft YaHei"/>
                  <a:cs typeface="Consolas"/>
                </a:rPr>
                <a:t>PART 01 · 결론 먼저</a:t>
              </a:r>
            </a:p>
          </p:txBody>
        </p:sp>
      </p:grpSp>
      <p:grpSp>
        <p:nvGrpSpPr>
          <p:cNvPr id="7" name="Group 7"/>
          <p:cNvGrpSpPr/>
          <p:nvPr/>
        </p:nvGrpSpPr>
        <p:grpSpPr>
          <a:xfrm>
            <a:off x="593598" y="822008"/>
            <a:ext cx="10117044" cy="943165"/>
            <a:chOff x="593598" y="822008"/>
            <a:chExt cx="10117044" cy="943165"/>
          </a:xfrm>
        </p:grpSpPr>
        <p:sp>
          <p:nvSpPr>
            <p:cNvPr id="5" name="TextBox 5"/>
            <p:cNvSpPr txBox="1"/>
            <p:nvPr/>
          </p:nvSpPr>
          <p:spPr>
            <a:xfrm>
              <a:off x="593598" y="822008"/>
              <a:ext cx="10117044" cy="616077"/>
            </a:xfrm>
            <a:prstGeom prst="rect">
              <a:avLst/>
            </a:prstGeom>
            <a:noFill/>
            <a:ln>
              <a:noFill/>
            </a:ln>
          </p:spPr>
          <p:txBody>
            <a:bodyPr wrap="none" lIns="0" tIns="0" rIns="0" bIns="0" anchor="t" anchorCtr="0">
              <a:spAutoFit/>
            </a:bodyPr>
            <a:lstStyle/>
            <a:p>
              <a:pPr algn="l"/>
              <a:r>
                <a:rPr lang="ko-KR" sz="3150" b="1" dirty="0">
                  <a:solidFill>
                    <a:schemeClr val="accent2"/>
                  </a:solidFill>
                  <a:latin typeface="+mn-lt"/>
                  <a:ea typeface="+mn-ea"/>
                  <a:cs typeface="+mn-cs"/>
                </a:rPr>
                <a:t>시작과 끝은 사람</a:t>
              </a:r>
              <a:r>
                <a:rPr lang="ko-KR" sz="3150" b="1" dirty="0">
                  <a:solidFill>
                    <a:schemeClr val="dk1"/>
                  </a:solidFill>
                  <a:latin typeface="+mn-lt"/>
                  <a:ea typeface="+mn-ea"/>
                  <a:cs typeface="+mn-cs"/>
                </a:rPr>
                <a:t xml:space="preserve">, 가운데 무인 구간은 </a:t>
              </a:r>
              <a:r>
                <a:rPr lang="ko-KR" sz="3150" b="1" dirty="0">
                  <a:solidFill>
                    <a:schemeClr val="accent1"/>
                  </a:solidFill>
                  <a:latin typeface="+mn-lt"/>
                  <a:ea typeface="+mn-ea"/>
                  <a:cs typeface="+mn-cs"/>
                </a:rPr>
                <a:t>하네스</a:t>
              </a:r>
              <a:r>
                <a:rPr lang="ko-KR" sz="3150" b="1" dirty="0">
                  <a:solidFill>
                    <a:schemeClr val="dk1"/>
                  </a:solidFill>
                  <a:latin typeface="+mn-lt"/>
                  <a:ea typeface="+mn-ea"/>
                  <a:cs typeface="+mn-cs"/>
                </a:rPr>
                <a:t>가 돈다</a:t>
              </a:r>
            </a:p>
          </p:txBody>
        </p:sp>
        <p:sp>
          <p:nvSpPr>
            <p:cNvPr id="6" name="TextBox 6"/>
            <p:cNvSpPr txBox="1"/>
            <p:nvPr/>
          </p:nvSpPr>
          <p:spPr>
            <a:xfrm>
              <a:off x="598932" y="1354455"/>
              <a:ext cx="8813368" cy="410718"/>
            </a:xfrm>
            <a:prstGeom prst="rect">
              <a:avLst/>
            </a:prstGeom>
            <a:noFill/>
            <a:ln>
              <a:noFill/>
            </a:ln>
          </p:spPr>
          <p:txBody>
            <a:bodyPr wrap="none" lIns="0" tIns="0" rIns="0" bIns="0" anchor="t" anchorCtr="0">
              <a:spAutoFit/>
            </a:bodyPr>
            <a:lstStyle/>
            <a:p>
              <a:pPr algn="l"/>
              <a:r>
                <a:rPr lang="ko-KR" sz="2100" dirty="0">
                  <a:solidFill>
                    <a:schemeClr val="accent5"/>
                  </a:solidFill>
                  <a:latin typeface="+mn-lt"/>
                  <a:ea typeface="+mn-ea"/>
                  <a:cs typeface="+mn-cs"/>
                </a:rPr>
                <a:t>한 사이클: 사람의 목표 → 하네스 무인 구간 → 사람의 판정 → 다음 목표</a:t>
              </a:r>
            </a:p>
          </p:txBody>
        </p:sp>
      </p:grpSp>
      <p:grpSp>
        <p:nvGrpSpPr>
          <p:cNvPr id="84" name="Group 84"/>
          <p:cNvGrpSpPr/>
          <p:nvPr/>
        </p:nvGrpSpPr>
        <p:grpSpPr>
          <a:xfrm>
            <a:off x="609600" y="1905000"/>
            <a:ext cx="10972800" cy="3810000"/>
            <a:chOff x="609600" y="1905000"/>
            <a:chExt cx="10972800" cy="3810000"/>
          </a:xfrm>
        </p:grpSpPr>
        <p:grpSp>
          <p:nvGrpSpPr>
            <p:cNvPr id="13" name="Group 13"/>
            <p:cNvGrpSpPr/>
            <p:nvPr/>
          </p:nvGrpSpPr>
          <p:grpSpPr>
            <a:xfrm>
              <a:off x="609600" y="1905000"/>
              <a:ext cx="3048000" cy="3810000"/>
              <a:chOff x="609600" y="1905000"/>
              <a:chExt cx="3048000" cy="3810000"/>
            </a:xfrm>
          </p:grpSpPr>
          <p:sp>
            <p:nvSpPr>
              <p:cNvPr id="8" name="Rectangle 8"/>
              <p:cNvSpPr/>
              <p:nvPr/>
            </p:nvSpPr>
            <p:spPr>
              <a:xfrm>
                <a:off x="609600" y="1905000"/>
                <a:ext cx="3048000" cy="3810000"/>
              </a:xfrm>
              <a:prstGeom prst="roundRect">
                <a:avLst>
                  <a:gd name="adj" fmla="val 1875"/>
                </a:avLst>
              </a:prstGeom>
              <a:solidFill>
                <a:schemeClr val="lt2">
                  <a:alpha val="60000"/>
                </a:schemeClr>
              </a:solidFill>
              <a:ln w="19050">
                <a:solidFill>
                  <a:schemeClr val="accent2"/>
                </a:solidFill>
              </a:ln>
            </p:spPr>
          </p:sp>
          <p:grpSp>
            <p:nvGrpSpPr>
              <p:cNvPr id="11" name="Group 11"/>
              <p:cNvGrpSpPr/>
              <p:nvPr/>
            </p:nvGrpSpPr>
            <p:grpSpPr>
              <a:xfrm>
                <a:off x="857250" y="2047875"/>
                <a:ext cx="114300" cy="171450"/>
                <a:chOff x="857250" y="2047875"/>
                <a:chExt cx="114300" cy="171450"/>
              </a:xfrm>
            </p:grpSpPr>
            <p:sp>
              <p:nvSpPr>
                <p:cNvPr id="9" name="Freeform 9"/>
                <p:cNvSpPr/>
                <p:nvPr/>
              </p:nvSpPr>
              <p:spPr>
                <a:xfrm>
                  <a:off x="876300" y="2047875"/>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19050">
                  <a:solidFill>
                    <a:schemeClr val="accent2"/>
                  </a:solidFill>
                </a:ln>
              </p:spPr>
            </p:sp>
            <p:sp>
              <p:nvSpPr>
                <p:cNvPr id="10" name="Freeform 10"/>
                <p:cNvSpPr/>
                <p:nvPr/>
              </p:nvSpPr>
              <p:spPr>
                <a:xfrm>
                  <a:off x="857250" y="2162175"/>
                  <a:ext cx="114300" cy="57150"/>
                </a:xfrm>
                <a:custGeom>
                  <a:avLst/>
                  <a:gdLst/>
                  <a:ahLst/>
                  <a:cxnLst/>
                  <a:rect l="l" t="t" r="r" b="b"/>
                  <a:pathLst>
                    <a:path w="114300" h="57150">
                      <a:moveTo>
                        <a:pt x="0" y="57150"/>
                      </a:moveTo>
                      <a:lnTo>
                        <a:pt x="0" y="38100"/>
                      </a:lnTo>
                      <a:cubicBezTo>
                        <a:pt x="0" y="17058"/>
                        <a:pt x="17058" y="0"/>
                        <a:pt x="38100" y="0"/>
                      </a:cubicBezTo>
                      <a:lnTo>
                        <a:pt x="76200" y="0"/>
                      </a:lnTo>
                      <a:cubicBezTo>
                        <a:pt x="97242" y="0"/>
                        <a:pt x="114300" y="17058"/>
                        <a:pt x="114300" y="38100"/>
                      </a:cubicBezTo>
                      <a:lnTo>
                        <a:pt x="114300" y="57150"/>
                      </a:lnTo>
                    </a:path>
                  </a:pathLst>
                </a:custGeom>
                <a:noFill/>
                <a:ln w="19050">
                  <a:solidFill>
                    <a:schemeClr val="accent2"/>
                  </a:solidFill>
                </a:ln>
              </p:spPr>
            </p:sp>
          </p:grpSp>
          <p:sp>
            <p:nvSpPr>
              <p:cNvPr id="12" name="TextBox 12"/>
              <p:cNvSpPr txBox="1"/>
              <p:nvPr/>
            </p:nvSpPr>
            <p:spPr>
              <a:xfrm>
                <a:off x="1098042" y="2045018"/>
                <a:ext cx="1010241" cy="264033"/>
              </a:xfrm>
              <a:prstGeom prst="rect">
                <a:avLst/>
              </a:prstGeom>
              <a:noFill/>
              <a:ln>
                <a:noFill/>
              </a:ln>
            </p:spPr>
            <p:txBody>
              <a:bodyPr wrap="none" lIns="0" tIns="0" rIns="0" bIns="0" anchor="t" anchorCtr="0">
                <a:spAutoFit/>
              </a:bodyPr>
              <a:lstStyle/>
              <a:p>
                <a:pPr algn="l"/>
                <a:r>
                  <a:rPr lang="ko-KR" sz="1350" spc="75" dirty="0">
                    <a:solidFill>
                      <a:schemeClr val="accent2"/>
                    </a:solidFill>
                    <a:latin typeface="Consolas"/>
                    <a:ea typeface="Microsoft YaHei"/>
                    <a:cs typeface="Consolas"/>
                  </a:rPr>
                  <a:t>사람 — 시작</a:t>
                </a:r>
              </a:p>
            </p:txBody>
          </p:sp>
        </p:grpSp>
        <p:grpSp>
          <p:nvGrpSpPr>
            <p:cNvPr id="26" name="Group 26"/>
            <p:cNvGrpSpPr/>
            <p:nvPr/>
          </p:nvGrpSpPr>
          <p:grpSpPr>
            <a:xfrm>
              <a:off x="3810000" y="1905000"/>
              <a:ext cx="4572000" cy="3810000"/>
              <a:chOff x="3810000" y="1905000"/>
              <a:chExt cx="4572000" cy="3810000"/>
            </a:xfrm>
          </p:grpSpPr>
          <p:sp>
            <p:nvSpPr>
              <p:cNvPr id="14" name="Rectangle 14"/>
              <p:cNvSpPr/>
              <p:nvPr/>
            </p:nvSpPr>
            <p:spPr>
              <a:xfrm>
                <a:off x="3810000" y="1905000"/>
                <a:ext cx="4572000" cy="3810000"/>
              </a:xfrm>
              <a:prstGeom prst="roundRect">
                <a:avLst>
                  <a:gd name="adj" fmla="val 1500"/>
                </a:avLst>
              </a:prstGeom>
              <a:solidFill>
                <a:schemeClr val="lt2">
                  <a:alpha val="60000"/>
                </a:schemeClr>
              </a:solidFill>
              <a:ln w="19050">
                <a:solidFill>
                  <a:schemeClr val="accent1"/>
                </a:solidFill>
              </a:ln>
            </p:spPr>
          </p:sp>
          <p:grpSp>
            <p:nvGrpSpPr>
              <p:cNvPr id="24" name="Group 24"/>
              <p:cNvGrpSpPr/>
              <p:nvPr/>
            </p:nvGrpSpPr>
            <p:grpSpPr>
              <a:xfrm>
                <a:off x="4048125" y="2038350"/>
                <a:ext cx="133350" cy="180975"/>
                <a:chOff x="4048125" y="2038350"/>
                <a:chExt cx="133350" cy="180975"/>
              </a:xfrm>
            </p:grpSpPr>
            <p:sp>
              <p:nvSpPr>
                <p:cNvPr id="15" name="Freeform 15"/>
                <p:cNvSpPr/>
                <p:nvPr/>
              </p:nvSpPr>
              <p:spPr>
                <a:xfrm>
                  <a:off x="4057650" y="2057400"/>
                  <a:ext cx="114300" cy="76200"/>
                </a:xfrm>
                <a:custGeom>
                  <a:avLst/>
                  <a:gdLst/>
                  <a:ahLst/>
                  <a:cxnLst/>
                  <a:rect l="l" t="t" r="r" b="b"/>
                  <a:pathLst>
                    <a:path w="114300" h="76200">
                      <a:moveTo>
                        <a:pt x="0" y="19050"/>
                      </a:moveTo>
                      <a:cubicBezTo>
                        <a:pt x="0" y="8529"/>
                        <a:pt x="8529" y="0"/>
                        <a:pt x="19050" y="0"/>
                      </a:cubicBezTo>
                      <a:lnTo>
                        <a:pt x="95250" y="0"/>
                      </a:lnTo>
                      <a:cubicBezTo>
                        <a:pt x="105771" y="0"/>
                        <a:pt x="114300" y="8529"/>
                        <a:pt x="114300" y="19050"/>
                      </a:cubicBezTo>
                      <a:lnTo>
                        <a:pt x="114300" y="57150"/>
                      </a:lnTo>
                      <a:cubicBezTo>
                        <a:pt x="114300" y="67671"/>
                        <a:pt x="105771" y="76200"/>
                        <a:pt x="95250" y="76200"/>
                      </a:cubicBezTo>
                      <a:lnTo>
                        <a:pt x="19050" y="76200"/>
                      </a:lnTo>
                      <a:cubicBezTo>
                        <a:pt x="8529" y="76200"/>
                        <a:pt x="0" y="67671"/>
                        <a:pt x="0" y="57150"/>
                      </a:cubicBezTo>
                      <a:lnTo>
                        <a:pt x="0" y="19050"/>
                      </a:lnTo>
                    </a:path>
                  </a:pathLst>
                </a:custGeom>
                <a:noFill/>
                <a:ln w="19050">
                  <a:solidFill>
                    <a:schemeClr val="accent1"/>
                  </a:solidFill>
                </a:ln>
              </p:spPr>
            </p:sp>
            <p:sp>
              <p:nvSpPr>
                <p:cNvPr id="16" name="Freeform 16"/>
                <p:cNvSpPr/>
                <p:nvPr/>
              </p:nvSpPr>
              <p:spPr>
                <a:xfrm>
                  <a:off x="4114800" y="2038350"/>
                  <a:ext cx="9525" cy="19050"/>
                </a:xfrm>
                <a:custGeom>
                  <a:avLst/>
                  <a:gdLst/>
                  <a:ahLst/>
                  <a:cxnLst/>
                  <a:rect l="l" t="t" r="r" b="b"/>
                  <a:pathLst>
                    <a:path w="9525" h="19050">
                      <a:moveTo>
                        <a:pt x="0" y="0"/>
                      </a:moveTo>
                      <a:lnTo>
                        <a:pt x="0" y="19050"/>
                      </a:lnTo>
                    </a:path>
                  </a:pathLst>
                </a:custGeom>
                <a:noFill/>
                <a:ln w="19050">
                  <a:solidFill>
                    <a:schemeClr val="accent1"/>
                  </a:solidFill>
                </a:ln>
              </p:spPr>
            </p:sp>
            <p:sp>
              <p:nvSpPr>
                <p:cNvPr id="17" name="Freeform 17"/>
                <p:cNvSpPr/>
                <p:nvPr/>
              </p:nvSpPr>
              <p:spPr>
                <a:xfrm>
                  <a:off x="4086225" y="2133600"/>
                  <a:ext cx="9525" cy="85725"/>
                </a:xfrm>
                <a:custGeom>
                  <a:avLst/>
                  <a:gdLst/>
                  <a:ahLst/>
                  <a:cxnLst/>
                  <a:rect l="l" t="t" r="r" b="b"/>
                  <a:pathLst>
                    <a:path w="9525" h="85725">
                      <a:moveTo>
                        <a:pt x="0" y="0"/>
                      </a:moveTo>
                      <a:lnTo>
                        <a:pt x="0" y="85725"/>
                      </a:lnTo>
                    </a:path>
                  </a:pathLst>
                </a:custGeom>
                <a:noFill/>
                <a:ln w="19050">
                  <a:solidFill>
                    <a:schemeClr val="accent1"/>
                  </a:solidFill>
                </a:ln>
              </p:spPr>
            </p:sp>
            <p:sp>
              <p:nvSpPr>
                <p:cNvPr id="18" name="Freeform 18"/>
                <p:cNvSpPr/>
                <p:nvPr/>
              </p:nvSpPr>
              <p:spPr>
                <a:xfrm>
                  <a:off x="4143375" y="2133600"/>
                  <a:ext cx="9525" cy="85725"/>
                </a:xfrm>
                <a:custGeom>
                  <a:avLst/>
                  <a:gdLst/>
                  <a:ahLst/>
                  <a:cxnLst/>
                  <a:rect l="l" t="t" r="r" b="b"/>
                  <a:pathLst>
                    <a:path w="9525" h="85725">
                      <a:moveTo>
                        <a:pt x="0" y="0"/>
                      </a:moveTo>
                      <a:lnTo>
                        <a:pt x="0" y="85725"/>
                      </a:lnTo>
                    </a:path>
                  </a:pathLst>
                </a:custGeom>
                <a:noFill/>
                <a:ln w="19050">
                  <a:solidFill>
                    <a:schemeClr val="accent1"/>
                  </a:solidFill>
                </a:ln>
              </p:spPr>
            </p:sp>
            <p:sp>
              <p:nvSpPr>
                <p:cNvPr id="19" name="Freeform 19"/>
                <p:cNvSpPr/>
                <p:nvPr/>
              </p:nvSpPr>
              <p:spPr>
                <a:xfrm>
                  <a:off x="4048125" y="2152650"/>
                  <a:ext cx="38100" cy="19050"/>
                </a:xfrm>
                <a:custGeom>
                  <a:avLst/>
                  <a:gdLst/>
                  <a:ahLst/>
                  <a:cxnLst/>
                  <a:rect l="l" t="t" r="r" b="b"/>
                  <a:pathLst>
                    <a:path w="38100" h="19050">
                      <a:moveTo>
                        <a:pt x="0" y="19050"/>
                      </a:moveTo>
                      <a:lnTo>
                        <a:pt x="38100" y="0"/>
                      </a:lnTo>
                    </a:path>
                  </a:pathLst>
                </a:custGeom>
                <a:noFill/>
                <a:ln w="19050">
                  <a:solidFill>
                    <a:schemeClr val="accent1"/>
                  </a:solidFill>
                </a:ln>
              </p:spPr>
            </p:sp>
            <p:sp>
              <p:nvSpPr>
                <p:cNvPr id="20" name="Freeform 20"/>
                <p:cNvSpPr/>
                <p:nvPr/>
              </p:nvSpPr>
              <p:spPr>
                <a:xfrm>
                  <a:off x="4143375" y="2152650"/>
                  <a:ext cx="38100" cy="19050"/>
                </a:xfrm>
                <a:custGeom>
                  <a:avLst/>
                  <a:gdLst/>
                  <a:ahLst/>
                  <a:cxnLst/>
                  <a:rect l="l" t="t" r="r" b="b"/>
                  <a:pathLst>
                    <a:path w="38100" h="19050">
                      <a:moveTo>
                        <a:pt x="0" y="0"/>
                      </a:moveTo>
                      <a:lnTo>
                        <a:pt x="38100" y="19050"/>
                      </a:lnTo>
                    </a:path>
                  </a:pathLst>
                </a:custGeom>
                <a:noFill/>
                <a:ln w="19050">
                  <a:solidFill>
                    <a:schemeClr val="accent1"/>
                  </a:solidFill>
                </a:ln>
              </p:spPr>
            </p:sp>
            <p:sp>
              <p:nvSpPr>
                <p:cNvPr id="21" name="Freeform 21"/>
                <p:cNvSpPr/>
                <p:nvPr/>
              </p:nvSpPr>
              <p:spPr>
                <a:xfrm>
                  <a:off x="4086225" y="2190750"/>
                  <a:ext cx="57150" cy="9525"/>
                </a:xfrm>
                <a:custGeom>
                  <a:avLst/>
                  <a:gdLst/>
                  <a:ahLst/>
                  <a:cxnLst/>
                  <a:rect l="l" t="t" r="r" b="b"/>
                  <a:pathLst>
                    <a:path w="57150" h="9525">
                      <a:moveTo>
                        <a:pt x="0" y="0"/>
                      </a:moveTo>
                      <a:lnTo>
                        <a:pt x="57150" y="0"/>
                      </a:lnTo>
                    </a:path>
                  </a:pathLst>
                </a:custGeom>
                <a:noFill/>
                <a:ln w="19050">
                  <a:solidFill>
                    <a:schemeClr val="accent1"/>
                  </a:solidFill>
                </a:ln>
              </p:spPr>
            </p:sp>
            <p:sp>
              <p:nvSpPr>
                <p:cNvPr id="22" name="Freeform 22"/>
                <p:cNvSpPr/>
                <p:nvPr/>
              </p:nvSpPr>
              <p:spPr>
                <a:xfrm>
                  <a:off x="4095750" y="2095500"/>
                  <a:ext cx="9525" cy="9525"/>
                </a:xfrm>
                <a:custGeom>
                  <a:avLst/>
                  <a:gdLst/>
                  <a:ahLst/>
                  <a:cxnLst/>
                  <a:rect l="l" t="t" r="r" b="b"/>
                  <a:pathLst>
                    <a:path w="9525" h="9525">
                      <a:moveTo>
                        <a:pt x="0" y="0"/>
                      </a:moveTo>
                      <a:lnTo>
                        <a:pt x="0" y="95"/>
                      </a:lnTo>
                    </a:path>
                  </a:pathLst>
                </a:custGeom>
                <a:noFill/>
                <a:ln w="19050">
                  <a:solidFill>
                    <a:schemeClr val="accent1"/>
                  </a:solidFill>
                </a:ln>
              </p:spPr>
            </p:sp>
            <p:sp>
              <p:nvSpPr>
                <p:cNvPr id="23" name="Freeform 23"/>
                <p:cNvSpPr/>
                <p:nvPr/>
              </p:nvSpPr>
              <p:spPr>
                <a:xfrm>
                  <a:off x="4133850" y="2095500"/>
                  <a:ext cx="9525" cy="9525"/>
                </a:xfrm>
                <a:custGeom>
                  <a:avLst/>
                  <a:gdLst/>
                  <a:ahLst/>
                  <a:cxnLst/>
                  <a:rect l="l" t="t" r="r" b="b"/>
                  <a:pathLst>
                    <a:path w="9525" h="9525">
                      <a:moveTo>
                        <a:pt x="0" y="0"/>
                      </a:moveTo>
                      <a:lnTo>
                        <a:pt x="0" y="95"/>
                      </a:lnTo>
                    </a:path>
                  </a:pathLst>
                </a:custGeom>
                <a:noFill/>
                <a:ln w="19050">
                  <a:solidFill>
                    <a:schemeClr val="accent1"/>
                  </a:solidFill>
                </a:ln>
              </p:spPr>
            </p:sp>
          </p:grpSp>
          <p:sp>
            <p:nvSpPr>
              <p:cNvPr id="25" name="TextBox 25"/>
              <p:cNvSpPr txBox="1"/>
              <p:nvPr/>
            </p:nvSpPr>
            <p:spPr>
              <a:xfrm>
                <a:off x="4298442" y="2045018"/>
                <a:ext cx="1971427" cy="264033"/>
              </a:xfrm>
              <a:prstGeom prst="rect">
                <a:avLst/>
              </a:prstGeom>
              <a:noFill/>
              <a:ln>
                <a:noFill/>
              </a:ln>
            </p:spPr>
            <p:txBody>
              <a:bodyPr wrap="none" lIns="0" tIns="0" rIns="0" bIns="0" anchor="t" anchorCtr="0">
                <a:spAutoFit/>
              </a:bodyPr>
              <a:lstStyle/>
              <a:p>
                <a:pPr algn="l"/>
                <a:r>
                  <a:rPr lang="ko-KR" sz="1350" spc="75" dirty="0">
                    <a:solidFill>
                      <a:schemeClr val="accent1"/>
                    </a:solidFill>
                    <a:latin typeface="Consolas"/>
                    <a:ea typeface="Microsoft YaHei"/>
                    <a:cs typeface="Consolas"/>
                  </a:rPr>
                  <a:t>무인 구간 — fw 하네스</a:t>
                </a:r>
              </a:p>
            </p:txBody>
          </p:sp>
        </p:grpSp>
        <p:grpSp>
          <p:nvGrpSpPr>
            <p:cNvPr id="32" name="Group 32"/>
            <p:cNvGrpSpPr/>
            <p:nvPr/>
          </p:nvGrpSpPr>
          <p:grpSpPr>
            <a:xfrm>
              <a:off x="8534400" y="1905000"/>
              <a:ext cx="3048000" cy="3810000"/>
              <a:chOff x="8534400" y="1905000"/>
              <a:chExt cx="3048000" cy="3810000"/>
            </a:xfrm>
          </p:grpSpPr>
          <p:sp>
            <p:nvSpPr>
              <p:cNvPr id="27" name="Rectangle 27"/>
              <p:cNvSpPr/>
              <p:nvPr/>
            </p:nvSpPr>
            <p:spPr>
              <a:xfrm>
                <a:off x="8534400" y="1905000"/>
                <a:ext cx="3048000" cy="3810000"/>
              </a:xfrm>
              <a:prstGeom prst="roundRect">
                <a:avLst>
                  <a:gd name="adj" fmla="val 1875"/>
                </a:avLst>
              </a:prstGeom>
              <a:solidFill>
                <a:schemeClr val="lt2">
                  <a:alpha val="60000"/>
                </a:schemeClr>
              </a:solidFill>
              <a:ln w="19050">
                <a:solidFill>
                  <a:schemeClr val="accent2"/>
                </a:solidFill>
              </a:ln>
            </p:spPr>
          </p:sp>
          <p:grpSp>
            <p:nvGrpSpPr>
              <p:cNvPr id="30" name="Group 30"/>
              <p:cNvGrpSpPr/>
              <p:nvPr/>
            </p:nvGrpSpPr>
            <p:grpSpPr>
              <a:xfrm>
                <a:off x="8782050" y="2047875"/>
                <a:ext cx="114300" cy="171450"/>
                <a:chOff x="8782050" y="2047875"/>
                <a:chExt cx="114300" cy="171450"/>
              </a:xfrm>
            </p:grpSpPr>
            <p:sp>
              <p:nvSpPr>
                <p:cNvPr id="28" name="Freeform 28"/>
                <p:cNvSpPr/>
                <p:nvPr/>
              </p:nvSpPr>
              <p:spPr>
                <a:xfrm>
                  <a:off x="8801100" y="2047875"/>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19050">
                  <a:solidFill>
                    <a:schemeClr val="accent2"/>
                  </a:solidFill>
                </a:ln>
              </p:spPr>
            </p:sp>
            <p:sp>
              <p:nvSpPr>
                <p:cNvPr id="29" name="Freeform 29"/>
                <p:cNvSpPr/>
                <p:nvPr/>
              </p:nvSpPr>
              <p:spPr>
                <a:xfrm>
                  <a:off x="8782050" y="2162175"/>
                  <a:ext cx="114300" cy="57150"/>
                </a:xfrm>
                <a:custGeom>
                  <a:avLst/>
                  <a:gdLst/>
                  <a:ahLst/>
                  <a:cxnLst/>
                  <a:rect l="l" t="t" r="r" b="b"/>
                  <a:pathLst>
                    <a:path w="114300" h="57150">
                      <a:moveTo>
                        <a:pt x="0" y="57150"/>
                      </a:moveTo>
                      <a:lnTo>
                        <a:pt x="0" y="38100"/>
                      </a:lnTo>
                      <a:cubicBezTo>
                        <a:pt x="0" y="17058"/>
                        <a:pt x="17058" y="0"/>
                        <a:pt x="38100" y="0"/>
                      </a:cubicBezTo>
                      <a:lnTo>
                        <a:pt x="76200" y="0"/>
                      </a:lnTo>
                      <a:cubicBezTo>
                        <a:pt x="97242" y="0"/>
                        <a:pt x="114300" y="17058"/>
                        <a:pt x="114300" y="38100"/>
                      </a:cubicBezTo>
                      <a:lnTo>
                        <a:pt x="114300" y="57150"/>
                      </a:lnTo>
                    </a:path>
                  </a:pathLst>
                </a:custGeom>
                <a:noFill/>
                <a:ln w="19050">
                  <a:solidFill>
                    <a:schemeClr val="accent2"/>
                  </a:solidFill>
                </a:ln>
              </p:spPr>
            </p:sp>
          </p:grpSp>
          <p:sp>
            <p:nvSpPr>
              <p:cNvPr id="31" name="TextBox 31"/>
              <p:cNvSpPr txBox="1"/>
              <p:nvPr/>
            </p:nvSpPr>
            <p:spPr>
              <a:xfrm>
                <a:off x="9022842" y="2045018"/>
                <a:ext cx="818407" cy="264033"/>
              </a:xfrm>
              <a:prstGeom prst="rect">
                <a:avLst/>
              </a:prstGeom>
              <a:noFill/>
              <a:ln>
                <a:noFill/>
              </a:ln>
            </p:spPr>
            <p:txBody>
              <a:bodyPr wrap="none" lIns="0" tIns="0" rIns="0" bIns="0" anchor="t" anchorCtr="0">
                <a:spAutoFit/>
              </a:bodyPr>
              <a:lstStyle/>
              <a:p>
                <a:pPr algn="l"/>
                <a:r>
                  <a:rPr lang="ko-KR" sz="1350" spc="75" dirty="0">
                    <a:solidFill>
                      <a:schemeClr val="accent2"/>
                    </a:solidFill>
                    <a:latin typeface="Consolas"/>
                    <a:ea typeface="Microsoft YaHei"/>
                    <a:cs typeface="Consolas"/>
                  </a:rPr>
                  <a:t>사람 — 끝</a:t>
                </a:r>
              </a:p>
            </p:txBody>
          </p:sp>
        </p:grpSp>
        <p:grpSp>
          <p:nvGrpSpPr>
            <p:cNvPr id="36" name="Group 36"/>
            <p:cNvGrpSpPr/>
            <p:nvPr/>
          </p:nvGrpSpPr>
          <p:grpSpPr>
            <a:xfrm>
              <a:off x="990600" y="2381250"/>
              <a:ext cx="2286000" cy="609600"/>
              <a:chOff x="990600" y="2381250"/>
              <a:chExt cx="2286000" cy="609600"/>
            </a:xfrm>
          </p:grpSpPr>
          <p:sp>
            <p:nvSpPr>
              <p:cNvPr id="33" name="Rectangle 33"/>
              <p:cNvSpPr/>
              <p:nvPr/>
            </p:nvSpPr>
            <p:spPr>
              <a:xfrm>
                <a:off x="990600" y="2381250"/>
                <a:ext cx="2286000" cy="609600"/>
              </a:xfrm>
              <a:prstGeom prst="roundRect">
                <a:avLst>
                  <a:gd name="adj" fmla="val 9375"/>
                </a:avLst>
              </a:prstGeom>
              <a:solidFill>
                <a:srgbClr val="182238"/>
              </a:solidFill>
              <a:ln w="19050">
                <a:solidFill>
                  <a:schemeClr val="accent2"/>
                </a:solidFill>
              </a:ln>
            </p:spPr>
          </p:sp>
          <p:sp>
            <p:nvSpPr>
              <p:cNvPr id="34" name="TextBox 34"/>
              <p:cNvSpPr txBox="1"/>
              <p:nvPr/>
            </p:nvSpPr>
            <p:spPr>
              <a:xfrm>
                <a:off x="1136142" y="2483168"/>
                <a:ext cx="1218632" cy="264033"/>
              </a:xfrm>
              <a:prstGeom prst="rect">
                <a:avLst/>
              </a:prstGeom>
              <a:noFill/>
              <a:ln>
                <a:noFill/>
              </a:ln>
            </p:spPr>
            <p:txBody>
              <a:bodyPr wrap="none" lIns="0" tIns="0" rIns="0" bIns="0" anchor="t" anchorCtr="0">
                <a:spAutoFit/>
              </a:bodyPr>
              <a:lstStyle/>
              <a:p>
                <a:pPr algn="l"/>
                <a:r>
                  <a:rPr lang="ko-KR" sz="1350" b="1" dirty="0">
                    <a:solidFill>
                      <a:schemeClr val="dk1"/>
                    </a:solidFill>
                    <a:latin typeface="+mn-lt"/>
                    <a:ea typeface="+mn-ea"/>
                    <a:cs typeface="+mn-cs"/>
                  </a:rPr>
                  <a:t>목표 한두 문장</a:t>
                </a:r>
              </a:p>
            </p:txBody>
          </p:sp>
          <p:sp>
            <p:nvSpPr>
              <p:cNvPr id="35" name="TextBox 35"/>
              <p:cNvSpPr txBox="1"/>
              <p:nvPr/>
            </p:nvSpPr>
            <p:spPr>
              <a:xfrm>
                <a:off x="1136142" y="2711768"/>
                <a:ext cx="1758391"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인터뷰 질문에 답하기</a:t>
                </a:r>
              </a:p>
            </p:txBody>
          </p:sp>
        </p:grpSp>
        <p:grpSp>
          <p:nvGrpSpPr>
            <p:cNvPr id="40" name="Group 40"/>
            <p:cNvGrpSpPr/>
            <p:nvPr/>
          </p:nvGrpSpPr>
          <p:grpSpPr>
            <a:xfrm>
              <a:off x="990600" y="3524250"/>
              <a:ext cx="2474290" cy="609600"/>
              <a:chOff x="990600" y="3524250"/>
              <a:chExt cx="2474290" cy="609600"/>
            </a:xfrm>
          </p:grpSpPr>
          <p:sp>
            <p:nvSpPr>
              <p:cNvPr id="37" name="Rectangle 37"/>
              <p:cNvSpPr/>
              <p:nvPr/>
            </p:nvSpPr>
            <p:spPr>
              <a:xfrm>
                <a:off x="990600" y="3524250"/>
                <a:ext cx="2286000" cy="609600"/>
              </a:xfrm>
              <a:prstGeom prst="roundRect">
                <a:avLst>
                  <a:gd name="adj" fmla="val 9375"/>
                </a:avLst>
              </a:prstGeom>
              <a:solidFill>
                <a:srgbClr val="182238"/>
              </a:solidFill>
              <a:ln w="19050">
                <a:solidFill>
                  <a:schemeClr val="accent2"/>
                </a:solidFill>
              </a:ln>
            </p:spPr>
          </p:sp>
          <p:sp>
            <p:nvSpPr>
              <p:cNvPr id="38" name="TextBox 38"/>
              <p:cNvSpPr txBox="1"/>
              <p:nvPr/>
            </p:nvSpPr>
            <p:spPr>
              <a:xfrm>
                <a:off x="1136142" y="3626168"/>
                <a:ext cx="2328748" cy="264033"/>
              </a:xfrm>
              <a:prstGeom prst="rect">
                <a:avLst/>
              </a:prstGeom>
              <a:noFill/>
              <a:ln>
                <a:noFill/>
              </a:ln>
            </p:spPr>
            <p:txBody>
              <a:bodyPr wrap="none" lIns="0" tIns="0" rIns="0" bIns="0" anchor="t" anchorCtr="0">
                <a:spAutoFit/>
              </a:bodyPr>
              <a:lstStyle/>
              <a:p>
                <a:pPr algn="l"/>
                <a:r>
                  <a:rPr lang="ko-KR" sz="1350" b="1" dirty="0">
                    <a:solidFill>
                      <a:schemeClr val="dk1"/>
                    </a:solidFill>
                    <a:latin typeface="+mn-lt"/>
                    <a:ea typeface="+mn-ea"/>
                    <a:cs typeface="+mn-cs"/>
                  </a:rPr>
                  <a:t>PLAN 승인 · Phase 표 확정</a:t>
                </a:r>
              </a:p>
            </p:txBody>
          </p:sp>
          <p:sp>
            <p:nvSpPr>
              <p:cNvPr id="39" name="TextBox 39"/>
              <p:cNvSpPr txBox="1"/>
              <p:nvPr/>
            </p:nvSpPr>
            <p:spPr>
              <a:xfrm>
                <a:off x="1136142" y="3854768"/>
                <a:ext cx="1522133" cy="264033"/>
              </a:xfrm>
              <a:prstGeom prst="rect">
                <a:avLst/>
              </a:prstGeom>
              <a:noFill/>
              <a:ln>
                <a:noFill/>
              </a:ln>
            </p:spPr>
            <p:txBody>
              <a:bodyPr wrap="none" lIns="0" tIns="0" rIns="0" bIns="0" anchor="t" anchorCtr="0">
                <a:spAutoFit/>
              </a:bodyPr>
              <a:lstStyle/>
              <a:p>
                <a:pPr algn="l"/>
                <a:r>
                  <a:rPr lang="ko-KR" sz="1350" dirty="0">
                    <a:solidFill>
                      <a:schemeClr val="accent2"/>
                    </a:solidFill>
                    <a:latin typeface="Consolas"/>
                    <a:ea typeface="Consolas"/>
                    <a:cs typeface="Consolas"/>
                  </a:rPr>
                  <a:t>approve → fw init</a:t>
                </a:r>
              </a:p>
            </p:txBody>
          </p:sp>
        </p:grpSp>
        <p:grpSp>
          <p:nvGrpSpPr>
            <p:cNvPr id="44" name="Group 44"/>
            <p:cNvGrpSpPr/>
            <p:nvPr/>
          </p:nvGrpSpPr>
          <p:grpSpPr>
            <a:xfrm>
              <a:off x="4953000" y="2381250"/>
              <a:ext cx="2658142" cy="609600"/>
              <a:chOff x="4953000" y="2381250"/>
              <a:chExt cx="2658142" cy="609600"/>
            </a:xfrm>
          </p:grpSpPr>
          <p:sp>
            <p:nvSpPr>
              <p:cNvPr id="41" name="Rectangle 41"/>
              <p:cNvSpPr/>
              <p:nvPr/>
            </p:nvSpPr>
            <p:spPr>
              <a:xfrm>
                <a:off x="4953000" y="2381250"/>
                <a:ext cx="2286000" cy="609600"/>
              </a:xfrm>
              <a:prstGeom prst="roundRect">
                <a:avLst>
                  <a:gd name="adj" fmla="val 9375"/>
                </a:avLst>
              </a:prstGeom>
              <a:solidFill>
                <a:srgbClr val="182238"/>
              </a:solidFill>
              <a:ln w="19050">
                <a:solidFill>
                  <a:schemeClr val="accent1"/>
                </a:solidFill>
              </a:ln>
            </p:spPr>
          </p:sp>
          <p:sp>
            <p:nvSpPr>
              <p:cNvPr id="42" name="TextBox 42"/>
              <p:cNvSpPr txBox="1"/>
              <p:nvPr/>
            </p:nvSpPr>
            <p:spPr>
              <a:xfrm>
                <a:off x="5098542" y="2483168"/>
                <a:ext cx="1084601" cy="264033"/>
              </a:xfrm>
              <a:prstGeom prst="rect">
                <a:avLst/>
              </a:prstGeom>
              <a:noFill/>
              <a:ln>
                <a:noFill/>
              </a:ln>
            </p:spPr>
            <p:txBody>
              <a:bodyPr wrap="none" lIns="0" tIns="0" rIns="0" bIns="0" anchor="t" anchorCtr="0">
                <a:spAutoFit/>
              </a:bodyPr>
              <a:lstStyle/>
              <a:p>
                <a:pPr algn="l"/>
                <a:r>
                  <a:rPr lang="ko-KR" sz="1350" b="1" dirty="0">
                    <a:solidFill>
                      <a:schemeClr val="dk1"/>
                    </a:solidFill>
                    <a:latin typeface="+mn-lt"/>
                    <a:ea typeface="+mn-ea"/>
                    <a:cs typeface="+mn-cs"/>
                  </a:rPr>
                  <a:t>3역할 인터뷰</a:t>
                </a:r>
              </a:p>
            </p:txBody>
          </p:sp>
          <p:sp>
            <p:nvSpPr>
              <p:cNvPr id="43" name="TextBox 43"/>
              <p:cNvSpPr txBox="1"/>
              <p:nvPr/>
            </p:nvSpPr>
            <p:spPr>
              <a:xfrm>
                <a:off x="5098542" y="2711768"/>
                <a:ext cx="2512600"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기획 → 개발 → 평가 · 상호 이의</a:t>
                </a:r>
              </a:p>
            </p:txBody>
          </p:sp>
        </p:grpSp>
        <p:grpSp>
          <p:nvGrpSpPr>
            <p:cNvPr id="48" name="Group 48"/>
            <p:cNvGrpSpPr/>
            <p:nvPr/>
          </p:nvGrpSpPr>
          <p:grpSpPr>
            <a:xfrm>
              <a:off x="4953000" y="3524250"/>
              <a:ext cx="2857195" cy="609600"/>
              <a:chOff x="4953000" y="3524250"/>
              <a:chExt cx="2857195" cy="609600"/>
            </a:xfrm>
          </p:grpSpPr>
          <p:sp>
            <p:nvSpPr>
              <p:cNvPr id="45" name="Rectangle 45"/>
              <p:cNvSpPr/>
              <p:nvPr/>
            </p:nvSpPr>
            <p:spPr>
              <a:xfrm>
                <a:off x="4953000" y="3524250"/>
                <a:ext cx="2286000" cy="609600"/>
              </a:xfrm>
              <a:prstGeom prst="roundRect">
                <a:avLst>
                  <a:gd name="adj" fmla="val 9375"/>
                </a:avLst>
              </a:prstGeom>
              <a:solidFill>
                <a:srgbClr val="182238"/>
              </a:solidFill>
              <a:ln w="19050">
                <a:solidFill>
                  <a:schemeClr val="accent1"/>
                </a:solidFill>
              </a:ln>
            </p:spPr>
          </p:sp>
          <p:sp>
            <p:nvSpPr>
              <p:cNvPr id="46" name="TextBox 46"/>
              <p:cNvSpPr txBox="1"/>
              <p:nvPr/>
            </p:nvSpPr>
            <p:spPr>
              <a:xfrm>
                <a:off x="5098542" y="3626168"/>
                <a:ext cx="1379924" cy="264033"/>
              </a:xfrm>
              <a:prstGeom prst="rect">
                <a:avLst/>
              </a:prstGeom>
              <a:noFill/>
              <a:ln>
                <a:noFill/>
              </a:ln>
            </p:spPr>
            <p:txBody>
              <a:bodyPr wrap="none" lIns="0" tIns="0" rIns="0" bIns="0" anchor="t" anchorCtr="0">
                <a:spAutoFit/>
              </a:bodyPr>
              <a:lstStyle/>
              <a:p>
                <a:pPr algn="l"/>
                <a:r>
                  <a:rPr lang="ko-KR" sz="1350" b="1" dirty="0">
                    <a:solidFill>
                      <a:schemeClr val="dk1"/>
                    </a:solidFill>
                    <a:latin typeface="+mn-lt"/>
                    <a:ea typeface="+mn-ea"/>
                    <a:cs typeface="+mn-cs"/>
                  </a:rPr>
                  <a:t>phase 순차 실행</a:t>
                </a:r>
              </a:p>
            </p:txBody>
          </p:sp>
          <p:sp>
            <p:nvSpPr>
              <p:cNvPr id="47" name="TextBox 47"/>
              <p:cNvSpPr txBox="1"/>
              <p:nvPr/>
            </p:nvSpPr>
            <p:spPr>
              <a:xfrm>
                <a:off x="5098542" y="3854768"/>
                <a:ext cx="2711653"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AI 세션 → 검증 실행 → 커밋 확인</a:t>
                </a:r>
              </a:p>
            </p:txBody>
          </p:sp>
        </p:grpSp>
        <p:grpSp>
          <p:nvGrpSpPr>
            <p:cNvPr id="52" name="Group 52"/>
            <p:cNvGrpSpPr/>
            <p:nvPr/>
          </p:nvGrpSpPr>
          <p:grpSpPr>
            <a:xfrm>
              <a:off x="4953000" y="4667250"/>
              <a:ext cx="2555829" cy="609600"/>
              <a:chOff x="4953000" y="4667250"/>
              <a:chExt cx="2555829" cy="609600"/>
            </a:xfrm>
          </p:grpSpPr>
          <p:sp>
            <p:nvSpPr>
              <p:cNvPr id="49" name="Rectangle 49"/>
              <p:cNvSpPr/>
              <p:nvPr/>
            </p:nvSpPr>
            <p:spPr>
              <a:xfrm>
                <a:off x="4953000" y="4667250"/>
                <a:ext cx="2286000" cy="609600"/>
              </a:xfrm>
              <a:prstGeom prst="roundRect">
                <a:avLst>
                  <a:gd name="adj" fmla="val 9375"/>
                </a:avLst>
              </a:prstGeom>
              <a:solidFill>
                <a:srgbClr val="182238"/>
              </a:solidFill>
              <a:ln w="19050">
                <a:solidFill>
                  <a:schemeClr val="accent3"/>
                </a:solidFill>
              </a:ln>
            </p:spPr>
          </p:sp>
          <p:sp>
            <p:nvSpPr>
              <p:cNvPr id="50" name="TextBox 50"/>
              <p:cNvSpPr txBox="1"/>
              <p:nvPr/>
            </p:nvSpPr>
            <p:spPr>
              <a:xfrm>
                <a:off x="5098542" y="4769168"/>
                <a:ext cx="2088244" cy="264033"/>
              </a:xfrm>
              <a:prstGeom prst="rect">
                <a:avLst/>
              </a:prstGeom>
              <a:noFill/>
              <a:ln>
                <a:noFill/>
              </a:ln>
            </p:spPr>
            <p:txBody>
              <a:bodyPr wrap="none" lIns="0" tIns="0" rIns="0" bIns="0" anchor="t" anchorCtr="0">
                <a:spAutoFit/>
              </a:bodyPr>
              <a:lstStyle/>
              <a:p>
                <a:pPr algn="l"/>
                <a:r>
                  <a:rPr lang="ko-KR" sz="1350" b="1" dirty="0">
                    <a:solidFill>
                      <a:schemeClr val="dk1"/>
                    </a:solidFill>
                    <a:latin typeface="+mn-lt"/>
                    <a:ea typeface="+mn-ea"/>
                    <a:cs typeface="+mn-cs"/>
                  </a:rPr>
                  <a:t>적대적 3역할 검증 + 합의</a:t>
                </a:r>
              </a:p>
            </p:txBody>
          </p:sp>
          <p:sp>
            <p:nvSpPr>
              <p:cNvPr id="51" name="TextBox 51"/>
              <p:cNvSpPr txBox="1"/>
              <p:nvPr/>
            </p:nvSpPr>
            <p:spPr>
              <a:xfrm>
                <a:off x="5098542" y="4997768"/>
                <a:ext cx="2410287"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VERIFY.md · 다음 목표 제안</a:t>
                </a:r>
              </a:p>
            </p:txBody>
          </p:sp>
        </p:grpSp>
        <p:grpSp>
          <p:nvGrpSpPr>
            <p:cNvPr id="56" name="Group 56"/>
            <p:cNvGrpSpPr/>
            <p:nvPr/>
          </p:nvGrpSpPr>
          <p:grpSpPr>
            <a:xfrm>
              <a:off x="8915400" y="3524250"/>
              <a:ext cx="2440057" cy="609600"/>
              <a:chOff x="8915400" y="3524250"/>
              <a:chExt cx="2440057" cy="609600"/>
            </a:xfrm>
          </p:grpSpPr>
          <p:sp>
            <p:nvSpPr>
              <p:cNvPr id="53" name="Rectangle 53"/>
              <p:cNvSpPr/>
              <p:nvPr/>
            </p:nvSpPr>
            <p:spPr>
              <a:xfrm>
                <a:off x="8915400" y="3524250"/>
                <a:ext cx="2286000" cy="609600"/>
              </a:xfrm>
              <a:prstGeom prst="roundRect">
                <a:avLst>
                  <a:gd name="adj" fmla="val 9375"/>
                </a:avLst>
              </a:prstGeom>
              <a:solidFill>
                <a:srgbClr val="182238"/>
              </a:solidFill>
              <a:ln w="19050">
                <a:solidFill>
                  <a:schemeClr val="accent2"/>
                </a:solidFill>
              </a:ln>
            </p:spPr>
          </p:sp>
          <p:sp>
            <p:nvSpPr>
              <p:cNvPr id="54" name="TextBox 54"/>
              <p:cNvSpPr txBox="1"/>
              <p:nvPr/>
            </p:nvSpPr>
            <p:spPr>
              <a:xfrm>
                <a:off x="9060942" y="3626168"/>
                <a:ext cx="1981002" cy="264033"/>
              </a:xfrm>
              <a:prstGeom prst="rect">
                <a:avLst/>
              </a:prstGeom>
              <a:noFill/>
              <a:ln>
                <a:noFill/>
              </a:ln>
            </p:spPr>
            <p:txBody>
              <a:bodyPr wrap="none" lIns="0" tIns="0" rIns="0" bIns="0" anchor="t" anchorCtr="0">
                <a:spAutoFit/>
              </a:bodyPr>
              <a:lstStyle/>
              <a:p>
                <a:pPr algn="l"/>
                <a:r>
                  <a:rPr lang="ko-KR" sz="1350" b="1" dirty="0">
                    <a:solidFill>
                      <a:schemeClr val="dk1"/>
                    </a:solidFill>
                    <a:latin typeface="+mn-lt"/>
                    <a:ea typeface="+mn-ea"/>
                    <a:cs typeface="+mn-cs"/>
                  </a:rPr>
                  <a:t>BLOCKED 답 · PR 머지</a:t>
                </a:r>
              </a:p>
            </p:txBody>
          </p:sp>
          <p:sp>
            <p:nvSpPr>
              <p:cNvPr id="55" name="TextBox 55"/>
              <p:cNvSpPr txBox="1"/>
              <p:nvPr/>
            </p:nvSpPr>
            <p:spPr>
              <a:xfrm>
                <a:off x="9060942" y="3854768"/>
                <a:ext cx="2294515" cy="264033"/>
              </a:xfrm>
              <a:prstGeom prst="rect">
                <a:avLst/>
              </a:prstGeom>
              <a:noFill/>
              <a:ln>
                <a:noFill/>
              </a:ln>
            </p:spPr>
            <p:txBody>
              <a:bodyPr wrap="none" lIns="0" tIns="0" rIns="0" bIns="0" anchor="t" anchorCtr="0">
                <a:spAutoFit/>
              </a:bodyPr>
              <a:lstStyle/>
              <a:p>
                <a:pPr algn="l"/>
                <a:r>
                  <a:rPr lang="ko-KR" sz="1350" dirty="0">
                    <a:solidFill>
                      <a:schemeClr val="accent2"/>
                    </a:solidFill>
                    <a:latin typeface="Consolas"/>
                    <a:ea typeface="Consolas"/>
                    <a:cs typeface="Consolas"/>
                  </a:rPr>
                  <a:t>fw answer</a:t>
                </a:r>
                <a:r>
                  <a:rPr lang="ko-KR" sz="1350" dirty="0">
                    <a:solidFill>
                      <a:schemeClr val="accent5"/>
                    </a:solidFill>
                    <a:latin typeface="+mn-lt"/>
                    <a:ea typeface="+mn-ea"/>
                    <a:cs typeface="+mn-cs"/>
                  </a:rPr>
                  <a:t xml:space="preserve"> · 리뷰는 사람이</a:t>
                </a:r>
              </a:p>
            </p:txBody>
          </p:sp>
        </p:grpSp>
        <p:grpSp>
          <p:nvGrpSpPr>
            <p:cNvPr id="60" name="Group 60"/>
            <p:cNvGrpSpPr/>
            <p:nvPr/>
          </p:nvGrpSpPr>
          <p:grpSpPr>
            <a:xfrm>
              <a:off x="8915400" y="4667250"/>
              <a:ext cx="2536774" cy="609600"/>
              <a:chOff x="8915400" y="4667250"/>
              <a:chExt cx="2536774" cy="609600"/>
            </a:xfrm>
          </p:grpSpPr>
          <p:sp>
            <p:nvSpPr>
              <p:cNvPr id="57" name="Rectangle 57"/>
              <p:cNvSpPr/>
              <p:nvPr/>
            </p:nvSpPr>
            <p:spPr>
              <a:xfrm>
                <a:off x="8915400" y="4667250"/>
                <a:ext cx="2286000" cy="609600"/>
              </a:xfrm>
              <a:prstGeom prst="roundRect">
                <a:avLst>
                  <a:gd name="adj" fmla="val 9375"/>
                </a:avLst>
              </a:prstGeom>
              <a:solidFill>
                <a:srgbClr val="182238"/>
              </a:solidFill>
              <a:ln w="19050">
                <a:solidFill>
                  <a:schemeClr val="accent2"/>
                </a:solidFill>
              </a:ln>
            </p:spPr>
          </p:sp>
          <p:sp>
            <p:nvSpPr>
              <p:cNvPr id="58" name="TextBox 58"/>
              <p:cNvSpPr txBox="1"/>
              <p:nvPr/>
            </p:nvSpPr>
            <p:spPr>
              <a:xfrm>
                <a:off x="9060942" y="4769168"/>
                <a:ext cx="2391232" cy="264033"/>
              </a:xfrm>
              <a:prstGeom prst="rect">
                <a:avLst/>
              </a:prstGeom>
              <a:noFill/>
              <a:ln>
                <a:noFill/>
              </a:ln>
            </p:spPr>
            <p:txBody>
              <a:bodyPr wrap="none" lIns="0" tIns="0" rIns="0" bIns="0" anchor="t" anchorCtr="0">
                <a:spAutoFit/>
              </a:bodyPr>
              <a:lstStyle/>
              <a:p>
                <a:pPr algn="l"/>
                <a:r>
                  <a:rPr lang="ko-KR" sz="1350" b="1" dirty="0">
                    <a:solidFill>
                      <a:schemeClr val="dk1"/>
                    </a:solidFill>
                    <a:latin typeface="+mn-lt"/>
                    <a:ea typeface="+mn-ea"/>
                    <a:cs typeface="+mn-cs"/>
                  </a:rPr>
                  <a:t xml:space="preserve">VERIFY.md · </a:t>
                </a:r>
                <a:r>
                  <a:rPr lang="ko-KR" sz="1350" b="1" dirty="0">
                    <a:solidFill>
                      <a:schemeClr val="accent2"/>
                    </a:solidFill>
                    <a:latin typeface="Consolas"/>
                    <a:ea typeface="Consolas"/>
                    <a:cs typeface="Consolas"/>
                  </a:rPr>
                  <a:t>fw report</a:t>
                </a:r>
                <a:r>
                  <a:rPr lang="ko-KR" sz="1350" b="1" dirty="0">
                    <a:solidFill>
                      <a:schemeClr val="dk1"/>
                    </a:solidFill>
                    <a:latin typeface="+mn-lt"/>
                    <a:ea typeface="+mn-ea"/>
                    <a:cs typeface="+mn-cs"/>
                  </a:rPr>
                  <a:t xml:space="preserve"> 로</a:t>
                </a:r>
              </a:p>
            </p:txBody>
          </p:sp>
          <p:sp>
            <p:nvSpPr>
              <p:cNvPr id="59" name="TextBox 59"/>
              <p:cNvSpPr txBox="1"/>
              <p:nvPr/>
            </p:nvSpPr>
            <p:spPr>
              <a:xfrm>
                <a:off x="9060942" y="4997768"/>
                <a:ext cx="1967389"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최종 판정 → 다음 사이클</a:t>
                </a:r>
              </a:p>
            </p:txBody>
          </p:sp>
        </p:grpSp>
        <p:grpSp>
          <p:nvGrpSpPr>
            <p:cNvPr id="83" name="Group 83"/>
            <p:cNvGrpSpPr/>
            <p:nvPr/>
          </p:nvGrpSpPr>
          <p:grpSpPr>
            <a:xfrm>
              <a:off x="800100" y="2420302"/>
              <a:ext cx="9267825" cy="3139059"/>
              <a:chOff x="800100" y="2420302"/>
              <a:chExt cx="9267825" cy="3139059"/>
            </a:xfrm>
          </p:grpSpPr>
          <p:sp>
            <p:nvSpPr>
              <p:cNvPr id="61" name="Line 61"/>
              <p:cNvSpPr/>
              <p:nvPr/>
            </p:nvSpPr>
            <p:spPr>
              <a:xfrm>
                <a:off x="3276600" y="2609850"/>
                <a:ext cx="1657350" cy="1"/>
              </a:xfrm>
              <a:prstGeom prst="line">
                <a:avLst/>
              </a:prstGeom>
              <a:noFill/>
              <a:ln w="19050">
                <a:solidFill>
                  <a:schemeClr val="accent2"/>
                </a:solidFill>
                <a:tailEnd type="triangle" w="med" len="med"/>
              </a:ln>
            </p:spPr>
          </p:sp>
          <p:sp>
            <p:nvSpPr>
              <p:cNvPr id="62" name="Line 62"/>
              <p:cNvSpPr/>
              <p:nvPr/>
            </p:nvSpPr>
            <p:spPr>
              <a:xfrm flipH="1">
                <a:off x="3295650" y="2781300"/>
                <a:ext cx="1657350" cy="1"/>
              </a:xfrm>
              <a:prstGeom prst="line">
                <a:avLst/>
              </a:prstGeom>
              <a:noFill/>
              <a:ln w="19050">
                <a:solidFill>
                  <a:schemeClr val="accent1"/>
                </a:solidFill>
                <a:prstDash val="lgDash"/>
                <a:tailEnd type="triangle" w="med" len="med"/>
              </a:ln>
            </p:spPr>
          </p:sp>
          <p:sp>
            <p:nvSpPr>
              <p:cNvPr id="63" name="TextBox 63"/>
              <p:cNvSpPr txBox="1"/>
              <p:nvPr/>
            </p:nvSpPr>
            <p:spPr>
              <a:xfrm>
                <a:off x="3816163" y="2420302"/>
                <a:ext cx="597275" cy="205359"/>
              </a:xfrm>
              <a:prstGeom prst="rect">
                <a:avLst/>
              </a:prstGeom>
              <a:noFill/>
              <a:ln>
                <a:noFill/>
              </a:ln>
            </p:spPr>
            <p:txBody>
              <a:bodyPr wrap="none" lIns="0" tIns="0" rIns="0" bIns="0" anchor="t" anchorCtr="0">
                <a:spAutoFit/>
              </a:bodyPr>
              <a:lstStyle/>
              <a:p>
                <a:pPr algn="ctr"/>
                <a:r>
                  <a:rPr lang="ko-KR" sz="1050" dirty="0">
                    <a:solidFill>
                      <a:schemeClr val="accent5"/>
                    </a:solidFill>
                    <a:latin typeface="+mn-lt"/>
                    <a:ea typeface="+mn-ea"/>
                    <a:cs typeface="+mn-cs"/>
                  </a:rPr>
                  <a:t>목표 · 답</a:t>
                </a:r>
              </a:p>
            </p:txBody>
          </p:sp>
          <p:sp>
            <p:nvSpPr>
              <p:cNvPr id="64" name="TextBox 64"/>
              <p:cNvSpPr txBox="1"/>
              <p:nvPr/>
            </p:nvSpPr>
            <p:spPr>
              <a:xfrm>
                <a:off x="3968115" y="2839402"/>
                <a:ext cx="293370" cy="205359"/>
              </a:xfrm>
              <a:prstGeom prst="rect">
                <a:avLst/>
              </a:prstGeom>
              <a:noFill/>
              <a:ln>
                <a:noFill/>
              </a:ln>
            </p:spPr>
            <p:txBody>
              <a:bodyPr wrap="none" lIns="0" tIns="0" rIns="0" bIns="0" anchor="t" anchorCtr="0">
                <a:spAutoFit/>
              </a:bodyPr>
              <a:lstStyle/>
              <a:p>
                <a:pPr algn="ctr"/>
                <a:r>
                  <a:rPr lang="ko-KR" sz="1050" dirty="0">
                    <a:solidFill>
                      <a:schemeClr val="accent5"/>
                    </a:solidFill>
                    <a:latin typeface="+mn-lt"/>
                    <a:ea typeface="+mn-ea"/>
                    <a:cs typeface="+mn-cs"/>
                  </a:rPr>
                  <a:t>질문</a:t>
                </a:r>
              </a:p>
            </p:txBody>
          </p:sp>
          <p:sp>
            <p:nvSpPr>
              <p:cNvPr id="65" name="Line 65"/>
              <p:cNvSpPr/>
              <p:nvPr/>
            </p:nvSpPr>
            <p:spPr>
              <a:xfrm>
                <a:off x="6096000" y="2990850"/>
                <a:ext cx="9525" cy="266700"/>
              </a:xfrm>
              <a:custGeom>
                <a:avLst/>
                <a:gdLst/>
                <a:ahLst/>
                <a:cxnLst/>
                <a:rect l="l" t="t" r="r" b="b"/>
                <a:pathLst>
                  <a:path w="9525" h="266700">
                    <a:moveTo>
                      <a:pt x="0" y="0"/>
                    </a:moveTo>
                    <a:lnTo>
                      <a:pt x="0" y="266700"/>
                    </a:lnTo>
                  </a:path>
                </a:pathLst>
              </a:custGeom>
              <a:noFill/>
              <a:ln w="19050">
                <a:solidFill>
                  <a:schemeClr val="accent1"/>
                </a:solidFill>
              </a:ln>
            </p:spPr>
          </p:sp>
          <p:sp>
            <p:nvSpPr>
              <p:cNvPr id="66" name="Line 66"/>
              <p:cNvSpPr/>
              <p:nvPr/>
            </p:nvSpPr>
            <p:spPr>
              <a:xfrm>
                <a:off x="2133600" y="3257550"/>
                <a:ext cx="3962400" cy="9525"/>
              </a:xfrm>
              <a:custGeom>
                <a:avLst/>
                <a:gdLst/>
                <a:ahLst/>
                <a:cxnLst/>
                <a:rect l="l" t="t" r="r" b="b"/>
                <a:pathLst>
                  <a:path w="3962400" h="9525">
                    <a:moveTo>
                      <a:pt x="3962400" y="0"/>
                    </a:moveTo>
                    <a:lnTo>
                      <a:pt x="0" y="0"/>
                    </a:lnTo>
                  </a:path>
                </a:pathLst>
              </a:custGeom>
              <a:noFill/>
              <a:ln w="19050">
                <a:solidFill>
                  <a:schemeClr val="accent1"/>
                </a:solidFill>
              </a:ln>
            </p:spPr>
          </p:sp>
          <p:sp>
            <p:nvSpPr>
              <p:cNvPr id="67" name="Line 67"/>
              <p:cNvSpPr/>
              <p:nvPr/>
            </p:nvSpPr>
            <p:spPr>
              <a:xfrm>
                <a:off x="2133600" y="3257550"/>
                <a:ext cx="1" cy="247650"/>
              </a:xfrm>
              <a:prstGeom prst="line">
                <a:avLst/>
              </a:prstGeom>
              <a:noFill/>
              <a:ln w="19050">
                <a:solidFill>
                  <a:schemeClr val="accent1"/>
                </a:solidFill>
                <a:tailEnd type="triangle" w="med" len="med"/>
              </a:ln>
            </p:spPr>
          </p:sp>
          <p:sp>
            <p:nvSpPr>
              <p:cNvPr id="68" name="TextBox 68"/>
              <p:cNvSpPr txBox="1"/>
              <p:nvPr/>
            </p:nvSpPr>
            <p:spPr>
              <a:xfrm>
                <a:off x="3512258" y="3087052"/>
                <a:ext cx="1205084" cy="205359"/>
              </a:xfrm>
              <a:prstGeom prst="rect">
                <a:avLst/>
              </a:prstGeom>
              <a:noFill/>
              <a:ln>
                <a:noFill/>
              </a:ln>
            </p:spPr>
            <p:txBody>
              <a:bodyPr wrap="none" lIns="0" tIns="0" rIns="0" bIns="0" anchor="t" anchorCtr="0">
                <a:spAutoFit/>
              </a:bodyPr>
              <a:lstStyle/>
              <a:p>
                <a:pPr algn="ctr"/>
                <a:r>
                  <a:rPr lang="ko-KR" sz="1050" dirty="0">
                    <a:solidFill>
                      <a:schemeClr val="accent5"/>
                    </a:solidFill>
                    <a:latin typeface="+mn-lt"/>
                    <a:ea typeface="+mn-ea"/>
                    <a:cs typeface="+mn-cs"/>
                  </a:rPr>
                  <a:t>준비됨 → 승인 요청</a:t>
                </a:r>
              </a:p>
            </p:txBody>
          </p:sp>
          <p:sp>
            <p:nvSpPr>
              <p:cNvPr id="69" name="Line 69"/>
              <p:cNvSpPr/>
              <p:nvPr/>
            </p:nvSpPr>
            <p:spPr>
              <a:xfrm>
                <a:off x="3276600" y="3829050"/>
                <a:ext cx="1657350" cy="1"/>
              </a:xfrm>
              <a:prstGeom prst="line">
                <a:avLst/>
              </a:prstGeom>
              <a:noFill/>
              <a:ln w="19050">
                <a:solidFill>
                  <a:schemeClr val="accent2"/>
                </a:solidFill>
                <a:tailEnd type="triangle" w="med" len="med"/>
              </a:ln>
            </p:spPr>
          </p:sp>
          <p:sp>
            <p:nvSpPr>
              <p:cNvPr id="70" name="TextBox 70"/>
              <p:cNvSpPr txBox="1"/>
              <p:nvPr/>
            </p:nvSpPr>
            <p:spPr>
              <a:xfrm>
                <a:off x="3879771" y="3639502"/>
                <a:ext cx="470059" cy="205359"/>
              </a:xfrm>
              <a:prstGeom prst="rect">
                <a:avLst/>
              </a:prstGeom>
              <a:noFill/>
              <a:ln>
                <a:noFill/>
              </a:ln>
            </p:spPr>
            <p:txBody>
              <a:bodyPr wrap="none" lIns="0" tIns="0" rIns="0" bIns="0" anchor="t" anchorCtr="0">
                <a:spAutoFit/>
              </a:bodyPr>
              <a:lstStyle/>
              <a:p>
                <a:pPr algn="ctr"/>
                <a:r>
                  <a:rPr lang="ko-KR" sz="1050" dirty="0">
                    <a:solidFill>
                      <a:schemeClr val="accent5"/>
                    </a:solidFill>
                    <a:latin typeface="+mn-lt"/>
                    <a:ea typeface="+mn-ea"/>
                    <a:cs typeface="+mn-cs"/>
                  </a:rPr>
                  <a:t>fw run</a:t>
                </a:r>
              </a:p>
            </p:txBody>
          </p:sp>
          <p:sp>
            <p:nvSpPr>
              <p:cNvPr id="71" name="Line 71"/>
              <p:cNvSpPr/>
              <p:nvPr/>
            </p:nvSpPr>
            <p:spPr>
              <a:xfrm>
                <a:off x="6096000" y="4133850"/>
                <a:ext cx="1" cy="514350"/>
              </a:xfrm>
              <a:prstGeom prst="line">
                <a:avLst/>
              </a:prstGeom>
              <a:noFill/>
              <a:ln w="19050">
                <a:solidFill>
                  <a:schemeClr val="accent1"/>
                </a:solidFill>
                <a:tailEnd type="triangle" w="med" len="med"/>
              </a:ln>
            </p:spPr>
          </p:sp>
          <p:sp>
            <p:nvSpPr>
              <p:cNvPr id="72" name="TextBox 72"/>
              <p:cNvSpPr txBox="1"/>
              <p:nvPr/>
            </p:nvSpPr>
            <p:spPr>
              <a:xfrm>
                <a:off x="6224016" y="4325302"/>
                <a:ext cx="936517"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전 phase done</a:t>
                </a:r>
              </a:p>
            </p:txBody>
          </p:sp>
          <p:sp>
            <p:nvSpPr>
              <p:cNvPr id="73" name="Line 73"/>
              <p:cNvSpPr/>
              <p:nvPr/>
            </p:nvSpPr>
            <p:spPr>
              <a:xfrm>
                <a:off x="7239000" y="3752850"/>
                <a:ext cx="1657350" cy="1"/>
              </a:xfrm>
              <a:prstGeom prst="line">
                <a:avLst/>
              </a:prstGeom>
              <a:noFill/>
              <a:ln w="19050">
                <a:solidFill>
                  <a:schemeClr val="accent1"/>
                </a:solidFill>
                <a:prstDash val="lgDash"/>
                <a:tailEnd type="triangle" w="med" len="med"/>
              </a:ln>
            </p:spPr>
          </p:sp>
          <p:sp>
            <p:nvSpPr>
              <p:cNvPr id="74" name="Line 74"/>
              <p:cNvSpPr/>
              <p:nvPr/>
            </p:nvSpPr>
            <p:spPr>
              <a:xfrm flipH="1">
                <a:off x="7258050" y="3924300"/>
                <a:ext cx="1657350" cy="1"/>
              </a:xfrm>
              <a:prstGeom prst="line">
                <a:avLst/>
              </a:prstGeom>
              <a:noFill/>
              <a:ln w="19050">
                <a:solidFill>
                  <a:schemeClr val="accent2"/>
                </a:solidFill>
                <a:tailEnd type="triangle" w="med" len="med"/>
              </a:ln>
            </p:spPr>
          </p:sp>
          <p:sp>
            <p:nvSpPr>
              <p:cNvPr id="75" name="TextBox 75"/>
              <p:cNvSpPr txBox="1"/>
              <p:nvPr/>
            </p:nvSpPr>
            <p:spPr>
              <a:xfrm>
                <a:off x="7754493" y="3563302"/>
                <a:ext cx="645414" cy="205359"/>
              </a:xfrm>
              <a:prstGeom prst="rect">
                <a:avLst/>
              </a:prstGeom>
              <a:noFill/>
              <a:ln>
                <a:noFill/>
              </a:ln>
            </p:spPr>
            <p:txBody>
              <a:bodyPr wrap="none" lIns="0" tIns="0" rIns="0" bIns="0" anchor="t" anchorCtr="0">
                <a:spAutoFit/>
              </a:bodyPr>
              <a:lstStyle/>
              <a:p>
                <a:pPr algn="ctr"/>
                <a:r>
                  <a:rPr lang="ko-KR" sz="1050" dirty="0">
                    <a:solidFill>
                      <a:schemeClr val="accent5"/>
                    </a:solidFill>
                    <a:latin typeface="+mn-lt"/>
                    <a:ea typeface="+mn-ea"/>
                    <a:cs typeface="+mn-cs"/>
                  </a:rPr>
                  <a:t>질문 · PR</a:t>
                </a:r>
              </a:p>
            </p:txBody>
          </p:sp>
          <p:sp>
            <p:nvSpPr>
              <p:cNvPr id="76" name="TextBox 76"/>
              <p:cNvSpPr txBox="1"/>
              <p:nvPr/>
            </p:nvSpPr>
            <p:spPr>
              <a:xfrm>
                <a:off x="7707887" y="3982402"/>
                <a:ext cx="738626" cy="205359"/>
              </a:xfrm>
              <a:prstGeom prst="rect">
                <a:avLst/>
              </a:prstGeom>
              <a:noFill/>
              <a:ln>
                <a:noFill/>
              </a:ln>
            </p:spPr>
            <p:txBody>
              <a:bodyPr wrap="none" lIns="0" tIns="0" rIns="0" bIns="0" anchor="t" anchorCtr="0">
                <a:spAutoFit/>
              </a:bodyPr>
              <a:lstStyle/>
              <a:p>
                <a:pPr algn="ctr"/>
                <a:r>
                  <a:rPr lang="ko-KR" sz="1050" dirty="0">
                    <a:solidFill>
                      <a:schemeClr val="accent5"/>
                    </a:solidFill>
                    <a:latin typeface="+mn-lt"/>
                    <a:ea typeface="+mn-ea"/>
                    <a:cs typeface="+mn-cs"/>
                  </a:rPr>
                  <a:t>답 · 머지됨</a:t>
                </a:r>
              </a:p>
            </p:txBody>
          </p:sp>
          <p:sp>
            <p:nvSpPr>
              <p:cNvPr id="77" name="Line 77"/>
              <p:cNvSpPr/>
              <p:nvPr/>
            </p:nvSpPr>
            <p:spPr>
              <a:xfrm>
                <a:off x="7239000" y="4972050"/>
                <a:ext cx="1657350" cy="1"/>
              </a:xfrm>
              <a:prstGeom prst="line">
                <a:avLst/>
              </a:prstGeom>
              <a:noFill/>
              <a:ln w="19050">
                <a:solidFill>
                  <a:schemeClr val="accent3"/>
                </a:solidFill>
                <a:tailEnd type="triangle" w="med" len="med"/>
              </a:ln>
            </p:spPr>
          </p:sp>
          <p:sp>
            <p:nvSpPr>
              <p:cNvPr id="78" name="Line 78"/>
              <p:cNvSpPr/>
              <p:nvPr/>
            </p:nvSpPr>
            <p:spPr>
              <a:xfrm>
                <a:off x="10058400" y="5276850"/>
                <a:ext cx="9525" cy="266700"/>
              </a:xfrm>
              <a:custGeom>
                <a:avLst/>
                <a:gdLst/>
                <a:ahLst/>
                <a:cxnLst/>
                <a:rect l="l" t="t" r="r" b="b"/>
                <a:pathLst>
                  <a:path w="9525" h="266700">
                    <a:moveTo>
                      <a:pt x="0" y="0"/>
                    </a:moveTo>
                    <a:lnTo>
                      <a:pt x="0" y="266700"/>
                    </a:lnTo>
                  </a:path>
                </a:pathLst>
              </a:custGeom>
              <a:noFill/>
              <a:ln w="14288">
                <a:solidFill>
                  <a:srgbClr val="9AA8BD"/>
                </a:solidFill>
                <a:prstDash val="dash"/>
              </a:ln>
            </p:spPr>
          </p:sp>
          <p:sp>
            <p:nvSpPr>
              <p:cNvPr id="79" name="Line 79"/>
              <p:cNvSpPr/>
              <p:nvPr/>
            </p:nvSpPr>
            <p:spPr>
              <a:xfrm>
                <a:off x="800100" y="5543550"/>
                <a:ext cx="9258300" cy="9525"/>
              </a:xfrm>
              <a:custGeom>
                <a:avLst/>
                <a:gdLst/>
                <a:ahLst/>
                <a:cxnLst/>
                <a:rect l="l" t="t" r="r" b="b"/>
                <a:pathLst>
                  <a:path w="9258300" h="9525">
                    <a:moveTo>
                      <a:pt x="9258300" y="0"/>
                    </a:moveTo>
                    <a:lnTo>
                      <a:pt x="0" y="0"/>
                    </a:lnTo>
                  </a:path>
                </a:pathLst>
              </a:custGeom>
              <a:noFill/>
              <a:ln w="14288">
                <a:solidFill>
                  <a:srgbClr val="9AA8BD"/>
                </a:solidFill>
                <a:prstDash val="dash"/>
              </a:ln>
            </p:spPr>
          </p:sp>
          <p:sp>
            <p:nvSpPr>
              <p:cNvPr id="80" name="Line 80"/>
              <p:cNvSpPr/>
              <p:nvPr/>
            </p:nvSpPr>
            <p:spPr>
              <a:xfrm>
                <a:off x="800100" y="2686050"/>
                <a:ext cx="9525" cy="2857500"/>
              </a:xfrm>
              <a:custGeom>
                <a:avLst/>
                <a:gdLst/>
                <a:ahLst/>
                <a:cxnLst/>
                <a:rect l="l" t="t" r="r" b="b"/>
                <a:pathLst>
                  <a:path w="9525" h="2857500">
                    <a:moveTo>
                      <a:pt x="0" y="2857500"/>
                    </a:moveTo>
                    <a:lnTo>
                      <a:pt x="0" y="0"/>
                    </a:lnTo>
                  </a:path>
                </a:pathLst>
              </a:custGeom>
              <a:noFill/>
              <a:ln w="14288">
                <a:solidFill>
                  <a:srgbClr val="9AA8BD"/>
                </a:solidFill>
                <a:prstDash val="dash"/>
              </a:ln>
            </p:spPr>
          </p:sp>
          <p:sp>
            <p:nvSpPr>
              <p:cNvPr id="81" name="Line 81"/>
              <p:cNvSpPr/>
              <p:nvPr/>
            </p:nvSpPr>
            <p:spPr>
              <a:xfrm>
                <a:off x="800100" y="2686050"/>
                <a:ext cx="171450" cy="1"/>
              </a:xfrm>
              <a:prstGeom prst="line">
                <a:avLst/>
              </a:prstGeom>
              <a:noFill/>
              <a:ln w="14288">
                <a:solidFill>
                  <a:srgbClr val="9AA8BD"/>
                </a:solidFill>
                <a:prstDash val="dash"/>
                <a:tailEnd type="triangle" w="med" len="med"/>
              </a:ln>
            </p:spPr>
          </p:sp>
          <p:sp>
            <p:nvSpPr>
              <p:cNvPr id="82" name="TextBox 82"/>
              <p:cNvSpPr txBox="1"/>
              <p:nvPr/>
            </p:nvSpPr>
            <p:spPr>
              <a:xfrm>
                <a:off x="3843185" y="5354002"/>
                <a:ext cx="4505630" cy="205359"/>
              </a:xfrm>
              <a:prstGeom prst="rect">
                <a:avLst/>
              </a:prstGeom>
              <a:noFill/>
              <a:ln>
                <a:noFill/>
              </a:ln>
            </p:spPr>
            <p:txBody>
              <a:bodyPr wrap="none" lIns="0" tIns="0" rIns="0" bIns="0" anchor="t" anchorCtr="0">
                <a:spAutoFit/>
              </a:bodyPr>
              <a:lstStyle/>
              <a:p>
                <a:pPr algn="ctr"/>
                <a:r>
                  <a:rPr lang="ko-KR" sz="1050" dirty="0">
                    <a:solidFill>
                      <a:schemeClr val="accent5"/>
                    </a:solidFill>
                    <a:latin typeface="+mn-lt"/>
                    <a:ea typeface="+mn-ea"/>
                    <a:cs typeface="+mn-cs"/>
                  </a:rPr>
                  <a:t>다음 목표 제안(next_goal_suggestions) → 사람이 결정하면 새 사이클</a:t>
                </a:r>
              </a:p>
            </p:txBody>
          </p:sp>
        </p:grpSp>
      </p:grpSp>
      <p:grpSp>
        <p:nvGrpSpPr>
          <p:cNvPr id="89" name="Group 89"/>
          <p:cNvGrpSpPr/>
          <p:nvPr/>
        </p:nvGrpSpPr>
        <p:grpSpPr>
          <a:xfrm>
            <a:off x="676275" y="5950268"/>
            <a:ext cx="11040789" cy="264033"/>
            <a:chOff x="676275" y="5950268"/>
            <a:chExt cx="11040789" cy="264033"/>
          </a:xfrm>
        </p:grpSpPr>
        <p:grpSp>
          <p:nvGrpSpPr>
            <p:cNvPr id="87" name="Group 87"/>
            <p:cNvGrpSpPr/>
            <p:nvPr/>
          </p:nvGrpSpPr>
          <p:grpSpPr>
            <a:xfrm>
              <a:off x="676275" y="5953125"/>
              <a:ext cx="95250" cy="171450"/>
              <a:chOff x="676275" y="5953125"/>
              <a:chExt cx="95250" cy="171450"/>
            </a:xfrm>
          </p:grpSpPr>
          <p:sp>
            <p:nvSpPr>
              <p:cNvPr id="85" name="Freeform 85"/>
              <p:cNvSpPr/>
              <p:nvPr/>
            </p:nvSpPr>
            <p:spPr>
              <a:xfrm>
                <a:off x="676275" y="5981700"/>
                <a:ext cx="95250" cy="114300"/>
              </a:xfrm>
              <a:custGeom>
                <a:avLst/>
                <a:gdLst/>
                <a:ahLst/>
                <a:cxnLst/>
                <a:rect l="l" t="t" r="r" b="b"/>
                <a:pathLst>
                  <a:path w="95250" h="114300">
                    <a:moveTo>
                      <a:pt x="92393" y="19050"/>
                    </a:moveTo>
                    <a:cubicBezTo>
                      <a:pt x="88514" y="8045"/>
                      <a:pt x="78333" y="503"/>
                      <a:pt x="66675" y="0"/>
                    </a:cubicBezTo>
                    <a:lnTo>
                      <a:pt x="28575" y="0"/>
                    </a:lnTo>
                    <a:cubicBezTo>
                      <a:pt x="12793" y="0"/>
                      <a:pt x="0" y="12793"/>
                      <a:pt x="0" y="28575"/>
                    </a:cubicBezTo>
                    <a:cubicBezTo>
                      <a:pt x="0" y="44357"/>
                      <a:pt x="12793" y="57150"/>
                      <a:pt x="28575" y="57150"/>
                    </a:cubicBezTo>
                    <a:lnTo>
                      <a:pt x="66675" y="57150"/>
                    </a:lnTo>
                    <a:cubicBezTo>
                      <a:pt x="82457" y="57150"/>
                      <a:pt x="95250" y="69943"/>
                      <a:pt x="95250" y="85725"/>
                    </a:cubicBezTo>
                    <a:cubicBezTo>
                      <a:pt x="95250" y="101507"/>
                      <a:pt x="82457" y="114300"/>
                      <a:pt x="66675" y="114300"/>
                    </a:cubicBezTo>
                    <a:lnTo>
                      <a:pt x="28575" y="114300"/>
                    </a:lnTo>
                    <a:cubicBezTo>
                      <a:pt x="16917" y="113797"/>
                      <a:pt x="6736" y="106255"/>
                      <a:pt x="2857" y="95250"/>
                    </a:cubicBezTo>
                  </a:path>
                </a:pathLst>
              </a:custGeom>
              <a:noFill/>
              <a:ln w="19050">
                <a:solidFill>
                  <a:schemeClr val="accent1"/>
                </a:solidFill>
              </a:ln>
            </p:spPr>
          </p:sp>
          <p:sp>
            <p:nvSpPr>
              <p:cNvPr id="86" name="Freeform 86"/>
              <p:cNvSpPr/>
              <p:nvPr/>
            </p:nvSpPr>
            <p:spPr>
              <a:xfrm>
                <a:off x="723900" y="5953125"/>
                <a:ext cx="9525" cy="171450"/>
              </a:xfrm>
              <a:custGeom>
                <a:avLst/>
                <a:gdLst/>
                <a:ahLst/>
                <a:cxnLst/>
                <a:rect l="l" t="t" r="r" b="b"/>
                <a:pathLst>
                  <a:path w="9525" h="171450">
                    <a:moveTo>
                      <a:pt x="0" y="0"/>
                    </a:moveTo>
                    <a:lnTo>
                      <a:pt x="0" y="28575"/>
                    </a:lnTo>
                    <a:moveTo>
                      <a:pt x="0" y="142875"/>
                    </a:moveTo>
                    <a:lnTo>
                      <a:pt x="0" y="171450"/>
                    </a:lnTo>
                  </a:path>
                </a:pathLst>
              </a:custGeom>
              <a:noFill/>
              <a:ln w="19050">
                <a:solidFill>
                  <a:schemeClr val="accent1"/>
                </a:solidFill>
              </a:ln>
            </p:spPr>
          </p:sp>
        </p:grpSp>
        <p:sp>
          <p:nvSpPr>
            <p:cNvPr id="88" name="TextBox 88"/>
            <p:cNvSpPr txBox="1"/>
            <p:nvPr/>
          </p:nvSpPr>
          <p:spPr>
            <a:xfrm>
              <a:off x="907542" y="5950268"/>
              <a:ext cx="10809522"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 xml:space="preserve">비용은 세션마다 STATE.json 에 기록 · </a:t>
              </a:r>
              <a:r>
                <a:rPr lang="ko-KR" sz="1350" dirty="0">
                  <a:solidFill>
                    <a:schemeClr val="accent1"/>
                  </a:solidFill>
                  <a:latin typeface="Consolas"/>
                  <a:ea typeface="Consolas"/>
                  <a:cs typeface="Consolas"/>
                </a:rPr>
                <a:t>max_cost_usd</a:t>
              </a:r>
              <a:r>
                <a:rPr lang="ko-KR" sz="1350" dirty="0">
                  <a:solidFill>
                    <a:schemeClr val="accent5"/>
                  </a:solidFill>
                  <a:latin typeface="+mn-lt"/>
                  <a:ea typeface="+mn-ea"/>
                  <a:cs typeface="+mn-cs"/>
                </a:rPr>
                <a:t xml:space="preserve"> 로 상한 · </a:t>
              </a:r>
              <a:r>
                <a:rPr lang="ko-KR" sz="1350" dirty="0">
                  <a:solidFill>
                    <a:schemeClr val="accent1"/>
                  </a:solidFill>
                  <a:latin typeface="Consolas"/>
                  <a:ea typeface="Consolas"/>
                  <a:cs typeface="Consolas"/>
                </a:rPr>
                <a:t>fw report</a:t>
              </a:r>
              <a:r>
                <a:rPr lang="ko-KR" sz="1350" dirty="0">
                  <a:solidFill>
                    <a:schemeClr val="accent5"/>
                  </a:solidFill>
                  <a:latin typeface="+mn-lt"/>
                  <a:ea typeface="+mn-ea"/>
                  <a:cs typeface="+mn-cs"/>
                </a:rPr>
                <a:t xml:space="preserve"> 로 종류별 집계 — 금액은 모델·리포에 따라 크게 다르다</a:t>
              </a:r>
            </a:p>
          </p:txBody>
        </p:sp>
      </p:grpSp>
      <p:grpSp>
        <p:nvGrpSpPr>
          <p:cNvPr id="92" name="Group 92"/>
          <p:cNvGrpSpPr/>
          <p:nvPr/>
        </p:nvGrpSpPr>
        <p:grpSpPr>
          <a:xfrm>
            <a:off x="604266" y="6516052"/>
            <a:ext cx="10983468" cy="205359"/>
            <a:chOff x="604266" y="6516052"/>
            <a:chExt cx="10983468" cy="205359"/>
          </a:xfrm>
        </p:grpSpPr>
        <p:sp>
          <p:nvSpPr>
            <p:cNvPr id="90" name="TextBox 90"/>
            <p:cNvSpPr txBox="1"/>
            <p:nvPr/>
          </p:nvSpPr>
          <p:spPr>
            <a:xfrm>
              <a:off x="604266" y="6516052"/>
              <a:ext cx="4973928"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feature-workflow · plugins/feature-workflow/README.md §2 전체 그림</a:t>
              </a:r>
            </a:p>
          </p:txBody>
        </p:sp>
        <p:sp>
          <p:nvSpPr>
            <p:cNvPr id="91" name="TextBox 91"/>
            <p:cNvSpPr txBox="1"/>
            <p:nvPr/>
          </p:nvSpPr>
          <p:spPr>
            <a:xfrm>
              <a:off x="11103540" y="65160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04 / 19</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609600" y="1905000"/>
            <a:ext cx="10972800" cy="3810000"/>
          </a:xfrm>
          <a:custGeom>
            <a:avLst/>
            <a:gdLst/>
            <a:ahLst/>
            <a:cxnLst/>
            <a:rect l="l" t="t" r="r" b="b"/>
            <a:pathLst>
              <a:path w="10972800" h="3810000">
                <a:moveTo>
                  <a:pt x="152400" y="0"/>
                </a:moveTo>
                <a:lnTo>
                  <a:pt x="152400" y="3810000"/>
                </a:lnTo>
                <a:moveTo>
                  <a:pt x="914400" y="0"/>
                </a:moveTo>
                <a:lnTo>
                  <a:pt x="914400" y="3810000"/>
                </a:lnTo>
                <a:moveTo>
                  <a:pt x="1676400" y="0"/>
                </a:moveTo>
                <a:lnTo>
                  <a:pt x="1676400" y="3810000"/>
                </a:lnTo>
                <a:moveTo>
                  <a:pt x="2438400" y="0"/>
                </a:moveTo>
                <a:lnTo>
                  <a:pt x="2438400" y="3810000"/>
                </a:lnTo>
                <a:moveTo>
                  <a:pt x="3200400" y="0"/>
                </a:moveTo>
                <a:lnTo>
                  <a:pt x="3200400" y="3810000"/>
                </a:lnTo>
                <a:moveTo>
                  <a:pt x="3962400" y="0"/>
                </a:moveTo>
                <a:lnTo>
                  <a:pt x="3962400" y="3810000"/>
                </a:lnTo>
                <a:moveTo>
                  <a:pt x="4724400" y="0"/>
                </a:moveTo>
                <a:lnTo>
                  <a:pt x="4724400" y="3810000"/>
                </a:lnTo>
                <a:moveTo>
                  <a:pt x="5486400" y="0"/>
                </a:moveTo>
                <a:lnTo>
                  <a:pt x="5486400" y="3810000"/>
                </a:lnTo>
                <a:moveTo>
                  <a:pt x="6248400" y="0"/>
                </a:moveTo>
                <a:lnTo>
                  <a:pt x="6248400" y="3810000"/>
                </a:lnTo>
                <a:moveTo>
                  <a:pt x="7010400" y="0"/>
                </a:moveTo>
                <a:lnTo>
                  <a:pt x="7010400" y="3810000"/>
                </a:lnTo>
                <a:moveTo>
                  <a:pt x="7772400" y="0"/>
                </a:moveTo>
                <a:lnTo>
                  <a:pt x="7772400" y="3810000"/>
                </a:lnTo>
                <a:moveTo>
                  <a:pt x="8534400" y="0"/>
                </a:moveTo>
                <a:lnTo>
                  <a:pt x="8534400" y="3810000"/>
                </a:lnTo>
                <a:moveTo>
                  <a:pt x="9296400" y="0"/>
                </a:moveTo>
                <a:lnTo>
                  <a:pt x="9296400" y="3810000"/>
                </a:lnTo>
                <a:moveTo>
                  <a:pt x="10058400" y="0"/>
                </a:moveTo>
                <a:lnTo>
                  <a:pt x="10058400" y="3810000"/>
                </a:lnTo>
                <a:moveTo>
                  <a:pt x="10820400" y="0"/>
                </a:moveTo>
                <a:lnTo>
                  <a:pt x="10820400" y="3810000"/>
                </a:lnTo>
                <a:moveTo>
                  <a:pt x="0" y="381000"/>
                </a:moveTo>
                <a:lnTo>
                  <a:pt x="10972800" y="381000"/>
                </a:lnTo>
                <a:moveTo>
                  <a:pt x="0" y="1143000"/>
                </a:moveTo>
                <a:lnTo>
                  <a:pt x="10972800" y="1143000"/>
                </a:lnTo>
                <a:moveTo>
                  <a:pt x="0" y="1905000"/>
                </a:moveTo>
                <a:lnTo>
                  <a:pt x="10972800" y="1905000"/>
                </a:lnTo>
                <a:moveTo>
                  <a:pt x="0" y="2667000"/>
                </a:moveTo>
                <a:lnTo>
                  <a:pt x="10972800" y="2667000"/>
                </a:lnTo>
                <a:moveTo>
                  <a:pt x="0" y="3429000"/>
                </a:moveTo>
                <a:lnTo>
                  <a:pt x="10972800" y="3429000"/>
                </a:lnTo>
              </a:path>
            </a:pathLst>
          </a:custGeom>
          <a:noFill/>
          <a:ln w="9525">
            <a:solidFill>
              <a:srgbClr val="1B2740"/>
            </a:solidFill>
          </a:ln>
        </p:spPr>
      </p:sp>
      <p:grpSp>
        <p:nvGrpSpPr>
          <p:cNvPr id="4" name="Group 4"/>
          <p:cNvGrpSpPr/>
          <p:nvPr/>
        </p:nvGrpSpPr>
        <p:grpSpPr>
          <a:xfrm>
            <a:off x="601980" y="428625"/>
            <a:ext cx="2244852" cy="293370"/>
            <a:chOff x="601980" y="428625"/>
            <a:chExt cx="2244852" cy="293370"/>
          </a:xfrm>
        </p:grpSpPr>
        <p:sp>
          <p:nvSpPr>
            <p:cNvPr id="3" name="TextBox 3"/>
            <p:cNvSpPr txBox="1"/>
            <p:nvPr/>
          </p:nvSpPr>
          <p:spPr>
            <a:xfrm>
              <a:off x="601980" y="428625"/>
              <a:ext cx="2244852" cy="293370"/>
            </a:xfrm>
            <a:prstGeom prst="rect">
              <a:avLst/>
            </a:prstGeom>
            <a:noFill/>
            <a:ln>
              <a:noFill/>
            </a:ln>
          </p:spPr>
          <p:txBody>
            <a:bodyPr wrap="none" lIns="0" tIns="0" rIns="0" bIns="0" anchor="t" anchorCtr="0">
              <a:spAutoFit/>
            </a:bodyPr>
            <a:lstStyle/>
            <a:p>
              <a:pPr algn="l"/>
              <a:r>
                <a:rPr lang="ko-KR" sz="1500" spc="150" dirty="0">
                  <a:solidFill>
                    <a:schemeClr val="accent5"/>
                  </a:solidFill>
                  <a:latin typeface="Consolas"/>
                  <a:ea typeface="Microsoft YaHei"/>
                  <a:cs typeface="Consolas"/>
                </a:rPr>
                <a:t>PART 02 · 동작 원리</a:t>
              </a:r>
            </a:p>
          </p:txBody>
        </p:sp>
      </p:grpSp>
      <p:grpSp>
        <p:nvGrpSpPr>
          <p:cNvPr id="6" name="Group 6"/>
          <p:cNvGrpSpPr/>
          <p:nvPr/>
        </p:nvGrpSpPr>
        <p:grpSpPr>
          <a:xfrm>
            <a:off x="593598" y="822008"/>
            <a:ext cx="8068008" cy="1111377"/>
            <a:chOff x="593598" y="822008"/>
            <a:chExt cx="8068008" cy="1111377"/>
          </a:xfrm>
        </p:grpSpPr>
        <p:sp>
          <p:nvSpPr>
            <p:cNvPr id="5" name="TextBox 5"/>
            <p:cNvSpPr txBox="1"/>
            <p:nvPr/>
          </p:nvSpPr>
          <p:spPr>
            <a:xfrm>
              <a:off x="593598" y="822008"/>
              <a:ext cx="8068008" cy="1111377"/>
            </a:xfrm>
            <a:prstGeom prst="rect">
              <a:avLst/>
            </a:prstGeom>
            <a:noFill/>
            <a:ln>
              <a:noFill/>
            </a:ln>
          </p:spPr>
          <p:txBody>
            <a:bodyPr wrap="none" lIns="0" tIns="0" rIns="0" bIns="0" anchor="t" anchorCtr="0">
              <a:spAutoFit/>
            </a:bodyPr>
            <a:lstStyle/>
            <a:p>
              <a:pPr algn="l">
                <a:lnSpc>
                  <a:spcPts val="3900"/>
                </a:lnSpc>
              </a:pPr>
              <a:r>
                <a:rPr lang="ko-KR" sz="3150" b="1" dirty="0">
                  <a:solidFill>
                    <a:schemeClr val="dk1"/>
                  </a:solidFill>
                  <a:latin typeface="+mn-lt"/>
                  <a:ea typeface="+mn-ea"/>
                  <a:cs typeface="+mn-cs"/>
                </a:rPr>
                <a:t>문서는 3종만, 진실은 한 곳에만</a:t>
              </a:r>
              <a:br/>
              <a:r>
                <a:rPr lang="ko-KR" sz="3150" b="1" dirty="0">
                  <a:solidFill>
                    <a:schemeClr val="dk1"/>
                  </a:solidFill>
                  <a:latin typeface="+mn-lt"/>
                  <a:ea typeface="+mn-ea"/>
                  <a:cs typeface="+mn-cs"/>
                </a:rPr>
                <a:t xml:space="preserve">기계 사실은 </a:t>
              </a:r>
              <a:r>
                <a:rPr lang="ko-KR" sz="3150" b="1" dirty="0">
                  <a:solidFill>
                    <a:schemeClr val="accent1"/>
                  </a:solidFill>
                  <a:latin typeface="Consolas"/>
                  <a:ea typeface="Consolas"/>
                  <a:cs typeface="Consolas"/>
                </a:rPr>
                <a:t>STATE.json</a:t>
              </a:r>
              <a:r>
                <a:rPr lang="ko-KR" sz="3150" b="1" dirty="0">
                  <a:solidFill>
                    <a:schemeClr val="dk1"/>
                  </a:solidFill>
                  <a:latin typeface="+mn-lt"/>
                  <a:ea typeface="+mn-ea"/>
                  <a:cs typeface="+mn-cs"/>
                </a:rPr>
                <a:t xml:space="preserve"> 이 유일하게 갖는다</a:t>
              </a:r>
            </a:p>
          </p:txBody>
        </p:sp>
      </p:grpSp>
      <p:grpSp>
        <p:nvGrpSpPr>
          <p:cNvPr id="80" name="Group 80"/>
          <p:cNvGrpSpPr/>
          <p:nvPr/>
        </p:nvGrpSpPr>
        <p:grpSpPr>
          <a:xfrm>
            <a:off x="907542" y="1905000"/>
            <a:ext cx="10303307" cy="3635311"/>
            <a:chOff x="907542" y="1905000"/>
            <a:chExt cx="10303307" cy="3635311"/>
          </a:xfrm>
        </p:grpSpPr>
        <p:grpSp>
          <p:nvGrpSpPr>
            <p:cNvPr id="10" name="Group 10"/>
            <p:cNvGrpSpPr/>
            <p:nvPr/>
          </p:nvGrpSpPr>
          <p:grpSpPr>
            <a:xfrm>
              <a:off x="4305300" y="1905000"/>
              <a:ext cx="3581400" cy="3619500"/>
              <a:chOff x="4305300" y="1905000"/>
              <a:chExt cx="3581400" cy="3619500"/>
            </a:xfrm>
          </p:grpSpPr>
          <p:sp>
            <p:nvSpPr>
              <p:cNvPr id="7" name="Rectangle 7"/>
              <p:cNvSpPr/>
              <p:nvPr/>
            </p:nvSpPr>
            <p:spPr>
              <a:xfrm>
                <a:off x="4305300" y="1905000"/>
                <a:ext cx="3581400" cy="3619500"/>
              </a:xfrm>
              <a:prstGeom prst="roundRect">
                <a:avLst>
                  <a:gd name="adj" fmla="val 1596"/>
                </a:avLst>
              </a:prstGeom>
              <a:solidFill>
                <a:schemeClr val="lt2">
                  <a:alpha val="60000"/>
                </a:schemeClr>
              </a:solidFill>
              <a:ln w="19050">
                <a:solidFill>
                  <a:schemeClr val="accent6"/>
                </a:solidFill>
              </a:ln>
            </p:spPr>
          </p:sp>
          <p:sp>
            <p:nvSpPr>
              <p:cNvPr id="8" name="Freeform 8"/>
              <p:cNvSpPr/>
              <p:nvPr/>
            </p:nvSpPr>
            <p:spPr>
              <a:xfrm>
                <a:off x="4505325" y="2038350"/>
                <a:ext cx="171450" cy="142875"/>
              </a:xfrm>
              <a:custGeom>
                <a:avLst/>
                <a:gdLst/>
                <a:ahLst/>
                <a:cxnLst/>
                <a:rect l="l" t="t" r="r" b="b"/>
                <a:pathLst>
                  <a:path w="171450" h="142875">
                    <a:moveTo>
                      <a:pt x="19050" y="0"/>
                    </a:moveTo>
                    <a:lnTo>
                      <a:pt x="57150" y="0"/>
                    </a:lnTo>
                    <a:lnTo>
                      <a:pt x="85725" y="28575"/>
                    </a:lnTo>
                    <a:lnTo>
                      <a:pt x="152400" y="28575"/>
                    </a:lnTo>
                    <a:cubicBezTo>
                      <a:pt x="162921" y="28575"/>
                      <a:pt x="171450" y="37104"/>
                      <a:pt x="171450" y="47625"/>
                    </a:cubicBezTo>
                    <a:lnTo>
                      <a:pt x="171450" y="123825"/>
                    </a:lnTo>
                    <a:cubicBezTo>
                      <a:pt x="171450" y="134346"/>
                      <a:pt x="162921" y="142875"/>
                      <a:pt x="152400" y="142875"/>
                    </a:cubicBezTo>
                    <a:lnTo>
                      <a:pt x="19050" y="142875"/>
                    </a:lnTo>
                    <a:cubicBezTo>
                      <a:pt x="8529" y="142875"/>
                      <a:pt x="0" y="134346"/>
                      <a:pt x="0" y="123825"/>
                    </a:cubicBezTo>
                    <a:lnTo>
                      <a:pt x="0" y="19050"/>
                    </a:lnTo>
                    <a:cubicBezTo>
                      <a:pt x="0" y="8529"/>
                      <a:pt x="8529" y="0"/>
                      <a:pt x="19050" y="0"/>
                    </a:cubicBezTo>
                  </a:path>
                </a:pathLst>
              </a:custGeom>
              <a:noFill/>
              <a:ln w="19050">
                <a:solidFill>
                  <a:srgbClr val="9AA8BD"/>
                </a:solidFill>
              </a:ln>
            </p:spPr>
          </p:sp>
          <p:sp>
            <p:nvSpPr>
              <p:cNvPr id="9" name="TextBox 9"/>
              <p:cNvSpPr txBox="1"/>
              <p:nvPr/>
            </p:nvSpPr>
            <p:spPr>
              <a:xfrm>
                <a:off x="4773930" y="2019300"/>
                <a:ext cx="1822514" cy="293370"/>
              </a:xfrm>
              <a:prstGeom prst="rect">
                <a:avLst/>
              </a:prstGeom>
              <a:noFill/>
              <a:ln>
                <a:noFill/>
              </a:ln>
            </p:spPr>
            <p:txBody>
              <a:bodyPr wrap="none" lIns="0" tIns="0" rIns="0" bIns="0" anchor="t" anchorCtr="0">
                <a:spAutoFit/>
              </a:bodyPr>
              <a:lstStyle/>
              <a:p>
                <a:pPr algn="l"/>
                <a:r>
                  <a:rPr lang="ko-KR" sz="1500" dirty="0">
                    <a:solidFill>
                      <a:schemeClr val="dk1"/>
                    </a:solidFill>
                    <a:latin typeface="Consolas"/>
                    <a:ea typeface="Consolas"/>
                    <a:cs typeface="Consolas"/>
                  </a:rPr>
                  <a:t>docs/&lt;workflow&gt;/</a:t>
                </a:r>
              </a:p>
            </p:txBody>
          </p:sp>
        </p:grpSp>
        <p:sp>
          <p:nvSpPr>
            <p:cNvPr id="11" name="Freeform 11"/>
            <p:cNvSpPr/>
            <p:nvPr/>
          </p:nvSpPr>
          <p:spPr>
            <a:xfrm>
              <a:off x="4686300" y="2343150"/>
              <a:ext cx="2819400" cy="495300"/>
            </a:xfrm>
            <a:prstGeom prst="foldedCorner">
              <a:avLst/>
            </a:prstGeom>
            <a:solidFill>
              <a:srgbClr val="182238"/>
            </a:solidFill>
            <a:ln w="19050">
              <a:solidFill>
                <a:schemeClr val="accent1"/>
              </a:solidFill>
            </a:ln>
          </p:spPr>
        </p:sp>
        <p:sp>
          <p:nvSpPr>
            <p:cNvPr id="12" name="Freeform 12"/>
            <p:cNvSpPr/>
            <p:nvPr/>
          </p:nvSpPr>
          <p:spPr>
            <a:xfrm>
              <a:off x="4686300" y="2952750"/>
              <a:ext cx="2819400" cy="495300"/>
            </a:xfrm>
            <a:prstGeom prst="foldedCorner">
              <a:avLst/>
            </a:prstGeom>
            <a:solidFill>
              <a:srgbClr val="182238"/>
            </a:solidFill>
            <a:ln w="19050">
              <a:solidFill>
                <a:schemeClr val="accent1"/>
              </a:solidFill>
            </a:ln>
          </p:spPr>
        </p:sp>
        <p:sp>
          <p:nvSpPr>
            <p:cNvPr id="13" name="Freeform 13"/>
            <p:cNvSpPr/>
            <p:nvPr/>
          </p:nvSpPr>
          <p:spPr>
            <a:xfrm>
              <a:off x="4686300" y="3562350"/>
              <a:ext cx="2819400" cy="495300"/>
            </a:xfrm>
            <a:prstGeom prst="foldedCorner">
              <a:avLst/>
            </a:prstGeom>
            <a:solidFill>
              <a:srgbClr val="182238"/>
            </a:solidFill>
            <a:ln w="19050">
              <a:solidFill>
                <a:schemeClr val="accent1"/>
              </a:solidFill>
            </a:ln>
          </p:spPr>
        </p:sp>
        <p:sp>
          <p:nvSpPr>
            <p:cNvPr id="14" name="Freeform 14"/>
            <p:cNvSpPr/>
            <p:nvPr/>
          </p:nvSpPr>
          <p:spPr>
            <a:xfrm>
              <a:off x="4686300" y="4171950"/>
              <a:ext cx="2819400" cy="495300"/>
            </a:xfrm>
            <a:prstGeom prst="foldedCorner">
              <a:avLst/>
            </a:prstGeom>
            <a:solidFill>
              <a:srgbClr val="182238"/>
            </a:solidFill>
            <a:ln w="19050">
              <a:solidFill>
                <a:schemeClr val="accent3"/>
              </a:solidFill>
            </a:ln>
          </p:spPr>
        </p:sp>
        <p:sp>
          <p:nvSpPr>
            <p:cNvPr id="15" name="Freeform 15"/>
            <p:cNvSpPr/>
            <p:nvPr/>
          </p:nvSpPr>
          <p:spPr>
            <a:xfrm>
              <a:off x="4686300" y="4781550"/>
              <a:ext cx="2819400" cy="495300"/>
            </a:xfrm>
            <a:prstGeom prst="foldedCorner">
              <a:avLst/>
            </a:prstGeom>
            <a:solidFill>
              <a:srgbClr val="182238"/>
            </a:solidFill>
            <a:ln w="19050">
              <a:solidFill>
                <a:schemeClr val="accent3"/>
              </a:solidFill>
            </a:ln>
          </p:spPr>
        </p:sp>
        <p:grpSp>
          <p:nvGrpSpPr>
            <p:cNvPr id="27" name="Group 27"/>
            <p:cNvGrpSpPr/>
            <p:nvPr/>
          </p:nvGrpSpPr>
          <p:grpSpPr>
            <a:xfrm>
              <a:off x="4792980" y="2371725"/>
              <a:ext cx="2595143" cy="3168586"/>
              <a:chOff x="4792980" y="2371725"/>
              <a:chExt cx="2595143" cy="3168586"/>
            </a:xfrm>
          </p:grpSpPr>
          <p:sp>
            <p:nvSpPr>
              <p:cNvPr id="16" name="TextBox 16"/>
              <p:cNvSpPr txBox="1"/>
              <p:nvPr/>
            </p:nvSpPr>
            <p:spPr>
              <a:xfrm>
                <a:off x="4792980" y="2371725"/>
                <a:ext cx="906351" cy="293370"/>
              </a:xfrm>
              <a:prstGeom prst="rect">
                <a:avLst/>
              </a:prstGeom>
              <a:noFill/>
              <a:ln>
                <a:noFill/>
              </a:ln>
            </p:spPr>
            <p:txBody>
              <a:bodyPr wrap="none" lIns="0" tIns="0" rIns="0" bIns="0" anchor="t" anchorCtr="0">
                <a:spAutoFit/>
              </a:bodyPr>
              <a:lstStyle/>
              <a:p>
                <a:pPr algn="l"/>
                <a:r>
                  <a:rPr lang="ko-KR" sz="1500" b="1" dirty="0">
                    <a:solidFill>
                      <a:schemeClr val="dk1"/>
                    </a:solidFill>
                    <a:latin typeface="Consolas"/>
                    <a:ea typeface="Consolas"/>
                    <a:cs typeface="Consolas"/>
                  </a:rPr>
                  <a:t>PLAN.md</a:t>
                </a:r>
              </a:p>
            </p:txBody>
          </p:sp>
          <p:sp>
            <p:nvSpPr>
              <p:cNvPr id="17" name="TextBox 17"/>
              <p:cNvSpPr txBox="1"/>
              <p:nvPr/>
            </p:nvSpPr>
            <p:spPr>
              <a:xfrm>
                <a:off x="4793742" y="2616518"/>
                <a:ext cx="2594381"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마스터 플랜 · 결정 표 · 용어 표</a:t>
                </a:r>
              </a:p>
            </p:txBody>
          </p:sp>
          <p:sp>
            <p:nvSpPr>
              <p:cNvPr id="18" name="TextBox 18"/>
              <p:cNvSpPr txBox="1"/>
              <p:nvPr/>
            </p:nvSpPr>
            <p:spPr>
              <a:xfrm>
                <a:off x="4792980" y="2981325"/>
                <a:ext cx="1074115" cy="293370"/>
              </a:xfrm>
              <a:prstGeom prst="rect">
                <a:avLst/>
              </a:prstGeom>
              <a:noFill/>
              <a:ln>
                <a:noFill/>
              </a:ln>
            </p:spPr>
            <p:txBody>
              <a:bodyPr wrap="none" lIns="0" tIns="0" rIns="0" bIns="0" anchor="t" anchorCtr="0">
                <a:spAutoFit/>
              </a:bodyPr>
              <a:lstStyle/>
              <a:p>
                <a:pPr algn="l"/>
                <a:r>
                  <a:rPr lang="ko-KR" sz="1500" b="1" dirty="0">
                    <a:solidFill>
                      <a:schemeClr val="dk1"/>
                    </a:solidFill>
                    <a:latin typeface="Consolas"/>
                    <a:ea typeface="Consolas"/>
                    <a:cs typeface="Consolas"/>
                  </a:rPr>
                  <a:t>NOTES.md</a:t>
                </a:r>
              </a:p>
            </p:txBody>
          </p:sp>
          <p:sp>
            <p:nvSpPr>
              <p:cNvPr id="19" name="TextBox 19"/>
              <p:cNvSpPr txBox="1"/>
              <p:nvPr/>
            </p:nvSpPr>
            <p:spPr>
              <a:xfrm>
                <a:off x="4793742" y="3226118"/>
                <a:ext cx="2303602"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사람용 메모 · 리스크 · 배경</a:t>
                </a:r>
              </a:p>
            </p:txBody>
          </p:sp>
          <p:sp>
            <p:nvSpPr>
              <p:cNvPr id="20" name="TextBox 20"/>
              <p:cNvSpPr txBox="1"/>
              <p:nvPr/>
            </p:nvSpPr>
            <p:spPr>
              <a:xfrm>
                <a:off x="4792980" y="3590925"/>
                <a:ext cx="1163384" cy="293370"/>
              </a:xfrm>
              <a:prstGeom prst="rect">
                <a:avLst/>
              </a:prstGeom>
              <a:noFill/>
              <a:ln>
                <a:noFill/>
              </a:ln>
            </p:spPr>
            <p:txBody>
              <a:bodyPr wrap="none" lIns="0" tIns="0" rIns="0" bIns="0" anchor="t" anchorCtr="0">
                <a:spAutoFit/>
              </a:bodyPr>
              <a:lstStyle/>
              <a:p>
                <a:pPr algn="l"/>
                <a:r>
                  <a:rPr lang="ko-KR" sz="1500" b="1" dirty="0">
                    <a:solidFill>
                      <a:schemeClr val="accent1"/>
                    </a:solidFill>
                    <a:latin typeface="Consolas"/>
                    <a:ea typeface="Consolas"/>
                    <a:cs typeface="Consolas"/>
                  </a:rPr>
                  <a:t>STATE.json</a:t>
                </a:r>
              </a:p>
            </p:txBody>
          </p:sp>
          <p:sp>
            <p:nvSpPr>
              <p:cNvPr id="21" name="TextBox 21"/>
              <p:cNvSpPr txBox="1"/>
              <p:nvPr/>
            </p:nvSpPr>
            <p:spPr>
              <a:xfrm>
                <a:off x="4793742" y="3835718"/>
                <a:ext cx="2494426"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phase 상태 · 다음 단계 · 비용</a:t>
                </a:r>
              </a:p>
            </p:txBody>
          </p:sp>
          <p:sp>
            <p:nvSpPr>
              <p:cNvPr id="22" name="TextBox 22"/>
              <p:cNvSpPr txBox="1"/>
              <p:nvPr/>
            </p:nvSpPr>
            <p:spPr>
              <a:xfrm>
                <a:off x="4792980" y="4200525"/>
                <a:ext cx="1590637" cy="293370"/>
              </a:xfrm>
              <a:prstGeom prst="rect">
                <a:avLst/>
              </a:prstGeom>
              <a:noFill/>
              <a:ln>
                <a:noFill/>
              </a:ln>
            </p:spPr>
            <p:txBody>
              <a:bodyPr wrap="none" lIns="0" tIns="0" rIns="0" bIns="0" anchor="t" anchorCtr="0">
                <a:spAutoFit/>
              </a:bodyPr>
              <a:lstStyle/>
              <a:p>
                <a:pPr algn="l"/>
                <a:r>
                  <a:rPr lang="ko-KR" sz="1500" b="1" dirty="0">
                    <a:solidFill>
                      <a:schemeClr val="dk1"/>
                    </a:solidFill>
                    <a:latin typeface="Consolas"/>
                    <a:ea typeface="Consolas"/>
                    <a:cs typeface="Consolas"/>
                  </a:rPr>
                  <a:t>INTERVIEW.json</a:t>
                </a:r>
              </a:p>
            </p:txBody>
          </p:sp>
          <p:sp>
            <p:nvSpPr>
              <p:cNvPr id="23" name="TextBox 23"/>
              <p:cNvSpPr txBox="1"/>
              <p:nvPr/>
            </p:nvSpPr>
            <p:spPr>
              <a:xfrm>
                <a:off x="4793742" y="4445318"/>
                <a:ext cx="2330863"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질문 · 답 · 초안 · 이의 이력</a:t>
                </a:r>
              </a:p>
            </p:txBody>
          </p:sp>
          <p:sp>
            <p:nvSpPr>
              <p:cNvPr id="24" name="TextBox 24"/>
              <p:cNvSpPr txBox="1"/>
              <p:nvPr/>
            </p:nvSpPr>
            <p:spPr>
              <a:xfrm>
                <a:off x="4792980" y="4810125"/>
                <a:ext cx="1098275" cy="293370"/>
              </a:xfrm>
              <a:prstGeom prst="rect">
                <a:avLst/>
              </a:prstGeom>
              <a:noFill/>
              <a:ln>
                <a:noFill/>
              </a:ln>
            </p:spPr>
            <p:txBody>
              <a:bodyPr wrap="none" lIns="0" tIns="0" rIns="0" bIns="0" anchor="t" anchorCtr="0">
                <a:spAutoFit/>
              </a:bodyPr>
              <a:lstStyle/>
              <a:p>
                <a:pPr algn="l"/>
                <a:r>
                  <a:rPr lang="ko-KR" sz="1500" b="1" dirty="0">
                    <a:solidFill>
                      <a:schemeClr val="dk1"/>
                    </a:solidFill>
                    <a:latin typeface="Consolas"/>
                    <a:ea typeface="Consolas"/>
                    <a:cs typeface="Consolas"/>
                  </a:rPr>
                  <a:t>VERIFY.md</a:t>
                </a:r>
              </a:p>
            </p:txBody>
          </p:sp>
          <p:sp>
            <p:nvSpPr>
              <p:cNvPr id="25" name="TextBox 25"/>
              <p:cNvSpPr txBox="1"/>
              <p:nvPr/>
            </p:nvSpPr>
            <p:spPr>
              <a:xfrm>
                <a:off x="4793742" y="5054918"/>
                <a:ext cx="2249081"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3역할 검증 보고서 + 합의문</a:t>
                </a:r>
              </a:p>
            </p:txBody>
          </p:sp>
          <p:sp>
            <p:nvSpPr>
              <p:cNvPr id="26" name="TextBox 26"/>
              <p:cNvSpPr txBox="1"/>
              <p:nvPr/>
            </p:nvSpPr>
            <p:spPr>
              <a:xfrm>
                <a:off x="4795266" y="5334952"/>
                <a:ext cx="2458702"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Consolas"/>
                    <a:ea typeface="Consolas"/>
                    <a:cs typeface="Consolas"/>
                  </a:rPr>
                  <a:t>logs/ · .fw.lock · STOP — gitignore</a:t>
                </a:r>
              </a:p>
            </p:txBody>
          </p:sp>
        </p:grpSp>
        <p:grpSp>
          <p:nvGrpSpPr>
            <p:cNvPr id="33" name="Group 33"/>
            <p:cNvGrpSpPr/>
            <p:nvPr/>
          </p:nvGrpSpPr>
          <p:grpSpPr>
            <a:xfrm>
              <a:off x="907542" y="2243137"/>
              <a:ext cx="1116330" cy="732664"/>
              <a:chOff x="907542" y="2243137"/>
              <a:chExt cx="1116330" cy="732664"/>
            </a:xfrm>
          </p:grpSpPr>
          <p:grpSp>
            <p:nvGrpSpPr>
              <p:cNvPr id="30" name="Group 30"/>
              <p:cNvGrpSpPr/>
              <p:nvPr/>
            </p:nvGrpSpPr>
            <p:grpSpPr>
              <a:xfrm>
                <a:off x="1019175" y="2243137"/>
                <a:ext cx="209550" cy="314325"/>
                <a:chOff x="1019175" y="2243137"/>
                <a:chExt cx="209550" cy="314325"/>
              </a:xfrm>
            </p:grpSpPr>
            <p:sp>
              <p:nvSpPr>
                <p:cNvPr id="28" name="Freeform 28"/>
                <p:cNvSpPr/>
                <p:nvPr/>
              </p:nvSpPr>
              <p:spPr>
                <a:xfrm>
                  <a:off x="1054100" y="2243137"/>
                  <a:ext cx="139700" cy="139700"/>
                </a:xfrm>
                <a:custGeom>
                  <a:avLst/>
                  <a:gdLst/>
                  <a:ahLst/>
                  <a:cxnLst/>
                  <a:rect l="l" t="t" r="r" b="b"/>
                  <a:pathLst>
                    <a:path w="139700" h="139700">
                      <a:moveTo>
                        <a:pt x="0" y="69850"/>
                      </a:moveTo>
                      <a:cubicBezTo>
                        <a:pt x="0" y="108427"/>
                        <a:pt x="31273" y="139700"/>
                        <a:pt x="69850" y="139700"/>
                      </a:cubicBezTo>
                      <a:cubicBezTo>
                        <a:pt x="108427" y="139700"/>
                        <a:pt x="139700" y="108427"/>
                        <a:pt x="139700" y="69850"/>
                      </a:cubicBezTo>
                      <a:cubicBezTo>
                        <a:pt x="139700" y="31273"/>
                        <a:pt x="108427" y="0"/>
                        <a:pt x="69850" y="0"/>
                      </a:cubicBezTo>
                      <a:cubicBezTo>
                        <a:pt x="31273" y="0"/>
                        <a:pt x="0" y="31273"/>
                        <a:pt x="0" y="69850"/>
                      </a:cubicBezTo>
                    </a:path>
                  </a:pathLst>
                </a:custGeom>
                <a:noFill/>
                <a:ln w="34925">
                  <a:solidFill>
                    <a:schemeClr val="accent2"/>
                  </a:solidFill>
                </a:ln>
              </p:spPr>
            </p:sp>
            <p:sp>
              <p:nvSpPr>
                <p:cNvPr id="29" name="Freeform 29"/>
                <p:cNvSpPr/>
                <p:nvPr/>
              </p:nvSpPr>
              <p:spPr>
                <a:xfrm>
                  <a:off x="1019175" y="2452687"/>
                  <a:ext cx="209550" cy="104775"/>
                </a:xfrm>
                <a:custGeom>
                  <a:avLst/>
                  <a:gdLst/>
                  <a:ahLst/>
                  <a:cxnLst/>
                  <a:rect l="l" t="t" r="r" b="b"/>
                  <a:pathLst>
                    <a:path w="209550" h="104775">
                      <a:moveTo>
                        <a:pt x="0" y="104775"/>
                      </a:moveTo>
                      <a:lnTo>
                        <a:pt x="0" y="69850"/>
                      </a:lnTo>
                      <a:cubicBezTo>
                        <a:pt x="0" y="31273"/>
                        <a:pt x="31273" y="0"/>
                        <a:pt x="69850" y="0"/>
                      </a:cubicBezTo>
                      <a:lnTo>
                        <a:pt x="139700" y="0"/>
                      </a:lnTo>
                      <a:cubicBezTo>
                        <a:pt x="178277" y="0"/>
                        <a:pt x="209550" y="31273"/>
                        <a:pt x="209550" y="69850"/>
                      </a:cubicBezTo>
                      <a:lnTo>
                        <a:pt x="209550" y="104775"/>
                      </a:lnTo>
                    </a:path>
                  </a:pathLst>
                </a:custGeom>
                <a:noFill/>
                <a:ln w="34925">
                  <a:solidFill>
                    <a:schemeClr val="accent2"/>
                  </a:solidFill>
                </a:ln>
              </p:spPr>
            </p:sp>
          </p:grpSp>
          <p:sp>
            <p:nvSpPr>
              <p:cNvPr id="31" name="TextBox 31"/>
              <p:cNvSpPr txBox="1"/>
              <p:nvPr/>
            </p:nvSpPr>
            <p:spPr>
              <a:xfrm>
                <a:off x="1437132" y="2268855"/>
                <a:ext cx="586740" cy="410718"/>
              </a:xfrm>
              <a:prstGeom prst="rect">
                <a:avLst/>
              </a:prstGeom>
              <a:noFill/>
              <a:ln>
                <a:noFill/>
              </a:ln>
            </p:spPr>
            <p:txBody>
              <a:bodyPr wrap="none" lIns="0" tIns="0" rIns="0" bIns="0" anchor="t" anchorCtr="0">
                <a:spAutoFit/>
              </a:bodyPr>
              <a:lstStyle/>
              <a:p>
                <a:pPr algn="l"/>
                <a:r>
                  <a:rPr lang="ko-KR" sz="2100" b="1" dirty="0">
                    <a:solidFill>
                      <a:schemeClr val="accent2"/>
                    </a:solidFill>
                    <a:latin typeface="+mn-lt"/>
                    <a:ea typeface="+mn-ea"/>
                    <a:cs typeface="+mn-cs"/>
                  </a:rPr>
                  <a:t>사람</a:t>
                </a:r>
              </a:p>
            </p:txBody>
          </p:sp>
          <p:sp>
            <p:nvSpPr>
              <p:cNvPr id="32" name="TextBox 32"/>
              <p:cNvSpPr txBox="1"/>
              <p:nvPr/>
            </p:nvSpPr>
            <p:spPr>
              <a:xfrm>
                <a:off x="907542" y="2711768"/>
                <a:ext cx="949662"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쓴다 — 항상</a:t>
                </a:r>
              </a:p>
            </p:txBody>
          </p:sp>
        </p:grpSp>
        <p:grpSp>
          <p:nvGrpSpPr>
            <p:cNvPr id="47" name="Group 47"/>
            <p:cNvGrpSpPr/>
            <p:nvPr/>
          </p:nvGrpSpPr>
          <p:grpSpPr>
            <a:xfrm>
              <a:off x="907542" y="4511675"/>
              <a:ext cx="2116379" cy="978726"/>
              <a:chOff x="907542" y="4511675"/>
              <a:chExt cx="2116379" cy="978726"/>
            </a:xfrm>
          </p:grpSpPr>
          <p:grpSp>
            <p:nvGrpSpPr>
              <p:cNvPr id="43" name="Group 43"/>
              <p:cNvGrpSpPr/>
              <p:nvPr/>
            </p:nvGrpSpPr>
            <p:grpSpPr>
              <a:xfrm>
                <a:off x="1001712" y="4511675"/>
                <a:ext cx="244475" cy="331787"/>
                <a:chOff x="1001712" y="4511675"/>
                <a:chExt cx="244475" cy="331787"/>
              </a:xfrm>
            </p:grpSpPr>
            <p:sp>
              <p:nvSpPr>
                <p:cNvPr id="34" name="Freeform 34"/>
                <p:cNvSpPr/>
                <p:nvPr/>
              </p:nvSpPr>
              <p:spPr>
                <a:xfrm>
                  <a:off x="1019175" y="4546600"/>
                  <a:ext cx="209550" cy="139700"/>
                </a:xfrm>
                <a:custGeom>
                  <a:avLst/>
                  <a:gdLst/>
                  <a:ahLst/>
                  <a:cxnLst/>
                  <a:rect l="l" t="t" r="r" b="b"/>
                  <a:pathLst>
                    <a:path w="209550" h="139700">
                      <a:moveTo>
                        <a:pt x="0" y="34925"/>
                      </a:moveTo>
                      <a:cubicBezTo>
                        <a:pt x="0" y="15636"/>
                        <a:pt x="15636" y="0"/>
                        <a:pt x="34925" y="0"/>
                      </a:cubicBezTo>
                      <a:lnTo>
                        <a:pt x="174625" y="0"/>
                      </a:lnTo>
                      <a:cubicBezTo>
                        <a:pt x="193913" y="0"/>
                        <a:pt x="209550" y="15636"/>
                        <a:pt x="209550" y="34925"/>
                      </a:cubicBezTo>
                      <a:lnTo>
                        <a:pt x="209550" y="104775"/>
                      </a:lnTo>
                      <a:cubicBezTo>
                        <a:pt x="209550" y="124063"/>
                        <a:pt x="193913" y="139700"/>
                        <a:pt x="174625" y="139700"/>
                      </a:cubicBezTo>
                      <a:lnTo>
                        <a:pt x="34925" y="139700"/>
                      </a:lnTo>
                      <a:cubicBezTo>
                        <a:pt x="15636" y="139700"/>
                        <a:pt x="0" y="124063"/>
                        <a:pt x="0" y="104775"/>
                      </a:cubicBezTo>
                      <a:lnTo>
                        <a:pt x="0" y="34925"/>
                      </a:lnTo>
                    </a:path>
                  </a:pathLst>
                </a:custGeom>
                <a:noFill/>
                <a:ln w="34925">
                  <a:solidFill>
                    <a:srgbClr val="9AA8BD"/>
                  </a:solidFill>
                </a:ln>
              </p:spPr>
            </p:sp>
            <p:sp>
              <p:nvSpPr>
                <p:cNvPr id="35" name="Freeform 35"/>
                <p:cNvSpPr/>
                <p:nvPr/>
              </p:nvSpPr>
              <p:spPr>
                <a:xfrm>
                  <a:off x="1123950" y="4511675"/>
                  <a:ext cx="9525" cy="34925"/>
                </a:xfrm>
                <a:custGeom>
                  <a:avLst/>
                  <a:gdLst/>
                  <a:ahLst/>
                  <a:cxnLst/>
                  <a:rect l="l" t="t" r="r" b="b"/>
                  <a:pathLst>
                    <a:path w="9525" h="34925">
                      <a:moveTo>
                        <a:pt x="0" y="0"/>
                      </a:moveTo>
                      <a:lnTo>
                        <a:pt x="0" y="34925"/>
                      </a:lnTo>
                    </a:path>
                  </a:pathLst>
                </a:custGeom>
                <a:noFill/>
                <a:ln w="34925">
                  <a:solidFill>
                    <a:srgbClr val="9AA8BD"/>
                  </a:solidFill>
                </a:ln>
              </p:spPr>
            </p:sp>
            <p:sp>
              <p:nvSpPr>
                <p:cNvPr id="36" name="Freeform 36"/>
                <p:cNvSpPr/>
                <p:nvPr/>
              </p:nvSpPr>
              <p:spPr>
                <a:xfrm>
                  <a:off x="1071562" y="4686300"/>
                  <a:ext cx="9525" cy="157162"/>
                </a:xfrm>
                <a:custGeom>
                  <a:avLst/>
                  <a:gdLst/>
                  <a:ahLst/>
                  <a:cxnLst/>
                  <a:rect l="l" t="t" r="r" b="b"/>
                  <a:pathLst>
                    <a:path w="9525" h="157162">
                      <a:moveTo>
                        <a:pt x="0" y="0"/>
                      </a:moveTo>
                      <a:lnTo>
                        <a:pt x="0" y="157162"/>
                      </a:lnTo>
                    </a:path>
                  </a:pathLst>
                </a:custGeom>
                <a:noFill/>
                <a:ln w="34925">
                  <a:solidFill>
                    <a:srgbClr val="9AA8BD"/>
                  </a:solidFill>
                </a:ln>
              </p:spPr>
            </p:sp>
            <p:sp>
              <p:nvSpPr>
                <p:cNvPr id="37" name="Freeform 37"/>
                <p:cNvSpPr/>
                <p:nvPr/>
              </p:nvSpPr>
              <p:spPr>
                <a:xfrm>
                  <a:off x="1176337" y="4686300"/>
                  <a:ext cx="9525" cy="157162"/>
                </a:xfrm>
                <a:custGeom>
                  <a:avLst/>
                  <a:gdLst/>
                  <a:ahLst/>
                  <a:cxnLst/>
                  <a:rect l="l" t="t" r="r" b="b"/>
                  <a:pathLst>
                    <a:path w="9525" h="157162">
                      <a:moveTo>
                        <a:pt x="0" y="0"/>
                      </a:moveTo>
                      <a:lnTo>
                        <a:pt x="0" y="157162"/>
                      </a:lnTo>
                    </a:path>
                  </a:pathLst>
                </a:custGeom>
                <a:noFill/>
                <a:ln w="34925">
                  <a:solidFill>
                    <a:srgbClr val="9AA8BD"/>
                  </a:solidFill>
                </a:ln>
              </p:spPr>
            </p:sp>
            <p:sp>
              <p:nvSpPr>
                <p:cNvPr id="38" name="Freeform 38"/>
                <p:cNvSpPr/>
                <p:nvPr/>
              </p:nvSpPr>
              <p:spPr>
                <a:xfrm>
                  <a:off x="1001712" y="4721225"/>
                  <a:ext cx="69850" cy="34925"/>
                </a:xfrm>
                <a:custGeom>
                  <a:avLst/>
                  <a:gdLst/>
                  <a:ahLst/>
                  <a:cxnLst/>
                  <a:rect l="l" t="t" r="r" b="b"/>
                  <a:pathLst>
                    <a:path w="69850" h="34925">
                      <a:moveTo>
                        <a:pt x="0" y="34925"/>
                      </a:moveTo>
                      <a:lnTo>
                        <a:pt x="69850" y="0"/>
                      </a:lnTo>
                    </a:path>
                  </a:pathLst>
                </a:custGeom>
                <a:noFill/>
                <a:ln w="34925">
                  <a:solidFill>
                    <a:srgbClr val="9AA8BD"/>
                  </a:solidFill>
                </a:ln>
              </p:spPr>
            </p:sp>
            <p:sp>
              <p:nvSpPr>
                <p:cNvPr id="39" name="Freeform 39"/>
                <p:cNvSpPr/>
                <p:nvPr/>
              </p:nvSpPr>
              <p:spPr>
                <a:xfrm>
                  <a:off x="1176337" y="4721225"/>
                  <a:ext cx="69850" cy="34925"/>
                </a:xfrm>
                <a:custGeom>
                  <a:avLst/>
                  <a:gdLst/>
                  <a:ahLst/>
                  <a:cxnLst/>
                  <a:rect l="l" t="t" r="r" b="b"/>
                  <a:pathLst>
                    <a:path w="69850" h="34925">
                      <a:moveTo>
                        <a:pt x="0" y="0"/>
                      </a:moveTo>
                      <a:lnTo>
                        <a:pt x="69850" y="34925"/>
                      </a:lnTo>
                    </a:path>
                  </a:pathLst>
                </a:custGeom>
                <a:noFill/>
                <a:ln w="34925">
                  <a:solidFill>
                    <a:srgbClr val="9AA8BD"/>
                  </a:solidFill>
                </a:ln>
              </p:spPr>
            </p:sp>
            <p:sp>
              <p:nvSpPr>
                <p:cNvPr id="40" name="Freeform 40"/>
                <p:cNvSpPr/>
                <p:nvPr/>
              </p:nvSpPr>
              <p:spPr>
                <a:xfrm>
                  <a:off x="1071562" y="4791074"/>
                  <a:ext cx="104775" cy="9525"/>
                </a:xfrm>
                <a:custGeom>
                  <a:avLst/>
                  <a:gdLst/>
                  <a:ahLst/>
                  <a:cxnLst/>
                  <a:rect l="l" t="t" r="r" b="b"/>
                  <a:pathLst>
                    <a:path w="104775" h="9525">
                      <a:moveTo>
                        <a:pt x="0" y="0"/>
                      </a:moveTo>
                      <a:lnTo>
                        <a:pt x="104775" y="0"/>
                      </a:lnTo>
                    </a:path>
                  </a:pathLst>
                </a:custGeom>
                <a:noFill/>
                <a:ln w="34925">
                  <a:solidFill>
                    <a:srgbClr val="9AA8BD"/>
                  </a:solidFill>
                </a:ln>
              </p:spPr>
            </p:sp>
            <p:sp>
              <p:nvSpPr>
                <p:cNvPr id="41" name="Freeform 41"/>
                <p:cNvSpPr/>
                <p:nvPr/>
              </p:nvSpPr>
              <p:spPr>
                <a:xfrm>
                  <a:off x="1089025" y="4616450"/>
                  <a:ext cx="9525" cy="9525"/>
                </a:xfrm>
                <a:custGeom>
                  <a:avLst/>
                  <a:gdLst/>
                  <a:ahLst/>
                  <a:cxnLst/>
                  <a:rect l="l" t="t" r="r" b="b"/>
                  <a:pathLst>
                    <a:path w="9525" h="9525">
                      <a:moveTo>
                        <a:pt x="0" y="0"/>
                      </a:moveTo>
                      <a:lnTo>
                        <a:pt x="0" y="175"/>
                      </a:lnTo>
                    </a:path>
                  </a:pathLst>
                </a:custGeom>
                <a:noFill/>
                <a:ln w="34925">
                  <a:solidFill>
                    <a:srgbClr val="9AA8BD"/>
                  </a:solidFill>
                </a:ln>
              </p:spPr>
            </p:sp>
            <p:sp>
              <p:nvSpPr>
                <p:cNvPr id="42" name="Freeform 42"/>
                <p:cNvSpPr/>
                <p:nvPr/>
              </p:nvSpPr>
              <p:spPr>
                <a:xfrm>
                  <a:off x="1158875" y="4616450"/>
                  <a:ext cx="9525" cy="9525"/>
                </a:xfrm>
                <a:custGeom>
                  <a:avLst/>
                  <a:gdLst/>
                  <a:ahLst/>
                  <a:cxnLst/>
                  <a:rect l="l" t="t" r="r" b="b"/>
                  <a:pathLst>
                    <a:path w="9525" h="9525">
                      <a:moveTo>
                        <a:pt x="0" y="0"/>
                      </a:moveTo>
                      <a:lnTo>
                        <a:pt x="0" y="175"/>
                      </a:lnTo>
                    </a:path>
                  </a:pathLst>
                </a:custGeom>
                <a:noFill/>
                <a:ln w="34925">
                  <a:solidFill>
                    <a:srgbClr val="9AA8BD"/>
                  </a:solidFill>
                </a:ln>
              </p:spPr>
            </p:sp>
          </p:grpSp>
          <p:sp>
            <p:nvSpPr>
              <p:cNvPr id="44" name="TextBox 44"/>
              <p:cNvSpPr txBox="1"/>
              <p:nvPr/>
            </p:nvSpPr>
            <p:spPr>
              <a:xfrm>
                <a:off x="1437132" y="4554855"/>
                <a:ext cx="1241195" cy="410718"/>
              </a:xfrm>
              <a:prstGeom prst="rect">
                <a:avLst/>
              </a:prstGeom>
              <a:noFill/>
              <a:ln>
                <a:noFill/>
              </a:ln>
            </p:spPr>
            <p:txBody>
              <a:bodyPr wrap="none" lIns="0" tIns="0" rIns="0" bIns="0" anchor="t" anchorCtr="0">
                <a:spAutoFit/>
              </a:bodyPr>
              <a:lstStyle/>
              <a:p>
                <a:pPr algn="l"/>
                <a:r>
                  <a:rPr lang="ko-KR" sz="2100" b="1" dirty="0">
                    <a:solidFill>
                      <a:schemeClr val="dk1"/>
                    </a:solidFill>
                    <a:latin typeface="+mn-lt"/>
                    <a:ea typeface="+mn-ea"/>
                    <a:cs typeface="+mn-cs"/>
                  </a:rPr>
                  <a:t>무인 세션</a:t>
                </a:r>
              </a:p>
            </p:txBody>
          </p:sp>
          <p:sp>
            <p:nvSpPr>
              <p:cNvPr id="45" name="TextBox 45"/>
              <p:cNvSpPr txBox="1"/>
              <p:nvPr/>
            </p:nvSpPr>
            <p:spPr>
              <a:xfrm>
                <a:off x="907542" y="4997768"/>
                <a:ext cx="2116379"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읽기 전용 — PLAN·STATE</a:t>
                </a:r>
              </a:p>
            </p:txBody>
          </p:sp>
          <p:sp>
            <p:nvSpPr>
              <p:cNvPr id="46" name="TextBox 46"/>
              <p:cNvSpPr txBox="1"/>
              <p:nvPr/>
            </p:nvSpPr>
            <p:spPr>
              <a:xfrm>
                <a:off x="907542" y="5226368"/>
                <a:ext cx="1626718"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권장 갱신 — NOTES</a:t>
                </a:r>
              </a:p>
            </p:txBody>
          </p:sp>
        </p:grpSp>
        <p:grpSp>
          <p:nvGrpSpPr>
            <p:cNvPr id="60" name="Group 60"/>
            <p:cNvGrpSpPr/>
            <p:nvPr/>
          </p:nvGrpSpPr>
          <p:grpSpPr>
            <a:xfrm>
              <a:off x="9670542" y="2225675"/>
              <a:ext cx="1540307" cy="750126"/>
              <a:chOff x="9670542" y="2225675"/>
              <a:chExt cx="1540307" cy="750126"/>
            </a:xfrm>
          </p:grpSpPr>
          <p:grpSp>
            <p:nvGrpSpPr>
              <p:cNvPr id="57" name="Group 57"/>
              <p:cNvGrpSpPr/>
              <p:nvPr/>
            </p:nvGrpSpPr>
            <p:grpSpPr>
              <a:xfrm>
                <a:off x="9764712" y="2225675"/>
                <a:ext cx="244475" cy="331787"/>
                <a:chOff x="9764712" y="2225675"/>
                <a:chExt cx="244475" cy="331787"/>
              </a:xfrm>
            </p:grpSpPr>
            <p:sp>
              <p:nvSpPr>
                <p:cNvPr id="48" name="Freeform 48"/>
                <p:cNvSpPr/>
                <p:nvPr/>
              </p:nvSpPr>
              <p:spPr>
                <a:xfrm>
                  <a:off x="9782175" y="2260600"/>
                  <a:ext cx="209550" cy="139700"/>
                </a:xfrm>
                <a:custGeom>
                  <a:avLst/>
                  <a:gdLst/>
                  <a:ahLst/>
                  <a:cxnLst/>
                  <a:rect l="l" t="t" r="r" b="b"/>
                  <a:pathLst>
                    <a:path w="209550" h="139700">
                      <a:moveTo>
                        <a:pt x="0" y="34925"/>
                      </a:moveTo>
                      <a:cubicBezTo>
                        <a:pt x="0" y="15636"/>
                        <a:pt x="15636" y="0"/>
                        <a:pt x="34925" y="0"/>
                      </a:cubicBezTo>
                      <a:lnTo>
                        <a:pt x="174625" y="0"/>
                      </a:lnTo>
                      <a:cubicBezTo>
                        <a:pt x="193913" y="0"/>
                        <a:pt x="209550" y="15636"/>
                        <a:pt x="209550" y="34925"/>
                      </a:cubicBezTo>
                      <a:lnTo>
                        <a:pt x="209550" y="104775"/>
                      </a:lnTo>
                      <a:cubicBezTo>
                        <a:pt x="209550" y="124063"/>
                        <a:pt x="193913" y="139700"/>
                        <a:pt x="174625" y="139700"/>
                      </a:cubicBezTo>
                      <a:lnTo>
                        <a:pt x="34925" y="139700"/>
                      </a:lnTo>
                      <a:cubicBezTo>
                        <a:pt x="15636" y="139700"/>
                        <a:pt x="0" y="124063"/>
                        <a:pt x="0" y="104775"/>
                      </a:cubicBezTo>
                      <a:lnTo>
                        <a:pt x="0" y="34925"/>
                      </a:lnTo>
                    </a:path>
                  </a:pathLst>
                </a:custGeom>
                <a:noFill/>
                <a:ln w="34925">
                  <a:solidFill>
                    <a:schemeClr val="accent1"/>
                  </a:solidFill>
                </a:ln>
              </p:spPr>
            </p:sp>
            <p:sp>
              <p:nvSpPr>
                <p:cNvPr id="49" name="Freeform 49"/>
                <p:cNvSpPr/>
                <p:nvPr/>
              </p:nvSpPr>
              <p:spPr>
                <a:xfrm>
                  <a:off x="9886950" y="2225675"/>
                  <a:ext cx="9525" cy="34925"/>
                </a:xfrm>
                <a:custGeom>
                  <a:avLst/>
                  <a:gdLst/>
                  <a:ahLst/>
                  <a:cxnLst/>
                  <a:rect l="l" t="t" r="r" b="b"/>
                  <a:pathLst>
                    <a:path w="9525" h="34925">
                      <a:moveTo>
                        <a:pt x="0" y="0"/>
                      </a:moveTo>
                      <a:lnTo>
                        <a:pt x="0" y="34925"/>
                      </a:lnTo>
                    </a:path>
                  </a:pathLst>
                </a:custGeom>
                <a:noFill/>
                <a:ln w="34925">
                  <a:solidFill>
                    <a:schemeClr val="accent1"/>
                  </a:solidFill>
                </a:ln>
              </p:spPr>
            </p:sp>
            <p:sp>
              <p:nvSpPr>
                <p:cNvPr id="50" name="Freeform 50"/>
                <p:cNvSpPr/>
                <p:nvPr/>
              </p:nvSpPr>
              <p:spPr>
                <a:xfrm>
                  <a:off x="9834562" y="2400300"/>
                  <a:ext cx="9525" cy="157162"/>
                </a:xfrm>
                <a:custGeom>
                  <a:avLst/>
                  <a:gdLst/>
                  <a:ahLst/>
                  <a:cxnLst/>
                  <a:rect l="l" t="t" r="r" b="b"/>
                  <a:pathLst>
                    <a:path w="9525" h="157162">
                      <a:moveTo>
                        <a:pt x="0" y="0"/>
                      </a:moveTo>
                      <a:lnTo>
                        <a:pt x="0" y="157162"/>
                      </a:lnTo>
                    </a:path>
                  </a:pathLst>
                </a:custGeom>
                <a:noFill/>
                <a:ln w="34925">
                  <a:solidFill>
                    <a:schemeClr val="accent1"/>
                  </a:solidFill>
                </a:ln>
              </p:spPr>
            </p:sp>
            <p:sp>
              <p:nvSpPr>
                <p:cNvPr id="51" name="Freeform 51"/>
                <p:cNvSpPr/>
                <p:nvPr/>
              </p:nvSpPr>
              <p:spPr>
                <a:xfrm>
                  <a:off x="9939337" y="2400300"/>
                  <a:ext cx="9525" cy="157162"/>
                </a:xfrm>
                <a:custGeom>
                  <a:avLst/>
                  <a:gdLst/>
                  <a:ahLst/>
                  <a:cxnLst/>
                  <a:rect l="l" t="t" r="r" b="b"/>
                  <a:pathLst>
                    <a:path w="9525" h="157162">
                      <a:moveTo>
                        <a:pt x="0" y="0"/>
                      </a:moveTo>
                      <a:lnTo>
                        <a:pt x="0" y="157162"/>
                      </a:lnTo>
                    </a:path>
                  </a:pathLst>
                </a:custGeom>
                <a:noFill/>
                <a:ln w="34925">
                  <a:solidFill>
                    <a:schemeClr val="accent1"/>
                  </a:solidFill>
                </a:ln>
              </p:spPr>
            </p:sp>
            <p:sp>
              <p:nvSpPr>
                <p:cNvPr id="52" name="Freeform 52"/>
                <p:cNvSpPr/>
                <p:nvPr/>
              </p:nvSpPr>
              <p:spPr>
                <a:xfrm>
                  <a:off x="9764712" y="2435225"/>
                  <a:ext cx="69850" cy="34925"/>
                </a:xfrm>
                <a:custGeom>
                  <a:avLst/>
                  <a:gdLst/>
                  <a:ahLst/>
                  <a:cxnLst/>
                  <a:rect l="l" t="t" r="r" b="b"/>
                  <a:pathLst>
                    <a:path w="69850" h="34925">
                      <a:moveTo>
                        <a:pt x="0" y="34925"/>
                      </a:moveTo>
                      <a:lnTo>
                        <a:pt x="69850" y="0"/>
                      </a:lnTo>
                    </a:path>
                  </a:pathLst>
                </a:custGeom>
                <a:noFill/>
                <a:ln w="34925">
                  <a:solidFill>
                    <a:schemeClr val="accent1"/>
                  </a:solidFill>
                </a:ln>
              </p:spPr>
            </p:sp>
            <p:sp>
              <p:nvSpPr>
                <p:cNvPr id="53" name="Freeform 53"/>
                <p:cNvSpPr/>
                <p:nvPr/>
              </p:nvSpPr>
              <p:spPr>
                <a:xfrm>
                  <a:off x="9939337" y="2435225"/>
                  <a:ext cx="69850" cy="34925"/>
                </a:xfrm>
                <a:custGeom>
                  <a:avLst/>
                  <a:gdLst/>
                  <a:ahLst/>
                  <a:cxnLst/>
                  <a:rect l="l" t="t" r="r" b="b"/>
                  <a:pathLst>
                    <a:path w="69850" h="34925">
                      <a:moveTo>
                        <a:pt x="0" y="0"/>
                      </a:moveTo>
                      <a:lnTo>
                        <a:pt x="69850" y="34925"/>
                      </a:lnTo>
                    </a:path>
                  </a:pathLst>
                </a:custGeom>
                <a:noFill/>
                <a:ln w="34925">
                  <a:solidFill>
                    <a:schemeClr val="accent1"/>
                  </a:solidFill>
                </a:ln>
              </p:spPr>
            </p:sp>
            <p:sp>
              <p:nvSpPr>
                <p:cNvPr id="54" name="Freeform 54"/>
                <p:cNvSpPr/>
                <p:nvPr/>
              </p:nvSpPr>
              <p:spPr>
                <a:xfrm>
                  <a:off x="9834562" y="2505074"/>
                  <a:ext cx="104775" cy="9525"/>
                </a:xfrm>
                <a:custGeom>
                  <a:avLst/>
                  <a:gdLst/>
                  <a:ahLst/>
                  <a:cxnLst/>
                  <a:rect l="l" t="t" r="r" b="b"/>
                  <a:pathLst>
                    <a:path w="104775" h="9525">
                      <a:moveTo>
                        <a:pt x="0" y="0"/>
                      </a:moveTo>
                      <a:lnTo>
                        <a:pt x="104775" y="0"/>
                      </a:lnTo>
                    </a:path>
                  </a:pathLst>
                </a:custGeom>
                <a:noFill/>
                <a:ln w="34925">
                  <a:solidFill>
                    <a:schemeClr val="accent1"/>
                  </a:solidFill>
                </a:ln>
              </p:spPr>
            </p:sp>
            <p:sp>
              <p:nvSpPr>
                <p:cNvPr id="55" name="Freeform 55"/>
                <p:cNvSpPr/>
                <p:nvPr/>
              </p:nvSpPr>
              <p:spPr>
                <a:xfrm>
                  <a:off x="9852025" y="2330450"/>
                  <a:ext cx="9525" cy="9525"/>
                </a:xfrm>
                <a:custGeom>
                  <a:avLst/>
                  <a:gdLst/>
                  <a:ahLst/>
                  <a:cxnLst/>
                  <a:rect l="l" t="t" r="r" b="b"/>
                  <a:pathLst>
                    <a:path w="9525" h="9525">
                      <a:moveTo>
                        <a:pt x="0" y="0"/>
                      </a:moveTo>
                      <a:lnTo>
                        <a:pt x="0" y="175"/>
                      </a:lnTo>
                    </a:path>
                  </a:pathLst>
                </a:custGeom>
                <a:noFill/>
                <a:ln w="34925">
                  <a:solidFill>
                    <a:schemeClr val="accent1"/>
                  </a:solidFill>
                </a:ln>
              </p:spPr>
            </p:sp>
            <p:sp>
              <p:nvSpPr>
                <p:cNvPr id="56" name="Freeform 56"/>
                <p:cNvSpPr/>
                <p:nvPr/>
              </p:nvSpPr>
              <p:spPr>
                <a:xfrm>
                  <a:off x="9921875" y="2330450"/>
                  <a:ext cx="9525" cy="9525"/>
                </a:xfrm>
                <a:custGeom>
                  <a:avLst/>
                  <a:gdLst/>
                  <a:ahLst/>
                  <a:cxnLst/>
                  <a:rect l="l" t="t" r="r" b="b"/>
                  <a:pathLst>
                    <a:path w="9525" h="9525">
                      <a:moveTo>
                        <a:pt x="0" y="0"/>
                      </a:moveTo>
                      <a:lnTo>
                        <a:pt x="0" y="175"/>
                      </a:lnTo>
                    </a:path>
                  </a:pathLst>
                </a:custGeom>
                <a:noFill/>
                <a:ln w="34925">
                  <a:solidFill>
                    <a:schemeClr val="accent1"/>
                  </a:solidFill>
                </a:ln>
              </p:spPr>
            </p:sp>
          </p:grpSp>
          <p:sp>
            <p:nvSpPr>
              <p:cNvPr id="58" name="TextBox 58"/>
              <p:cNvSpPr txBox="1"/>
              <p:nvPr/>
            </p:nvSpPr>
            <p:spPr>
              <a:xfrm>
                <a:off x="10200132" y="2268855"/>
                <a:ext cx="869442" cy="410718"/>
              </a:xfrm>
              <a:prstGeom prst="rect">
                <a:avLst/>
              </a:prstGeom>
              <a:noFill/>
              <a:ln>
                <a:noFill/>
              </a:ln>
            </p:spPr>
            <p:txBody>
              <a:bodyPr wrap="none" lIns="0" tIns="0" rIns="0" bIns="0" anchor="t" anchorCtr="0">
                <a:spAutoFit/>
              </a:bodyPr>
              <a:lstStyle/>
              <a:p>
                <a:pPr algn="l"/>
                <a:r>
                  <a:rPr lang="ko-KR" sz="2100" b="1" dirty="0">
                    <a:solidFill>
                      <a:schemeClr val="accent1"/>
                    </a:solidFill>
                    <a:latin typeface="+mn-lt"/>
                    <a:ea typeface="+mn-ea"/>
                    <a:cs typeface="+mn-cs"/>
                  </a:rPr>
                  <a:t>하네스</a:t>
                </a:r>
              </a:p>
            </p:txBody>
          </p:sp>
          <p:sp>
            <p:nvSpPr>
              <p:cNvPr id="59" name="TextBox 59"/>
              <p:cNvSpPr txBox="1"/>
              <p:nvPr/>
            </p:nvSpPr>
            <p:spPr>
              <a:xfrm>
                <a:off x="9670542" y="2711768"/>
                <a:ext cx="1540307"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단일 작성자(무인)</a:t>
                </a:r>
              </a:p>
            </p:txBody>
          </p:sp>
        </p:grpSp>
        <p:grpSp>
          <p:nvGrpSpPr>
            <p:cNvPr id="79" name="Group 79"/>
            <p:cNvGrpSpPr/>
            <p:nvPr/>
          </p:nvGrpSpPr>
          <p:grpSpPr>
            <a:xfrm>
              <a:off x="2185302" y="2401252"/>
              <a:ext cx="7878737" cy="2627948"/>
              <a:chOff x="2185302" y="2401252"/>
              <a:chExt cx="7878737" cy="2627948"/>
            </a:xfrm>
          </p:grpSpPr>
          <p:sp>
            <p:nvSpPr>
              <p:cNvPr id="61" name="Line 61"/>
              <p:cNvSpPr/>
              <p:nvPr/>
            </p:nvSpPr>
            <p:spPr>
              <a:xfrm>
                <a:off x="2343150" y="2590800"/>
                <a:ext cx="2324100" cy="1"/>
              </a:xfrm>
              <a:prstGeom prst="line">
                <a:avLst/>
              </a:prstGeom>
              <a:noFill/>
              <a:ln w="19050">
                <a:solidFill>
                  <a:schemeClr val="accent2"/>
                </a:solidFill>
                <a:tailEnd type="triangle" w="med" len="med"/>
              </a:ln>
            </p:spPr>
          </p:sp>
          <p:sp>
            <p:nvSpPr>
              <p:cNvPr id="62" name="TextBox 62"/>
              <p:cNvSpPr txBox="1"/>
              <p:nvPr/>
            </p:nvSpPr>
            <p:spPr>
              <a:xfrm>
                <a:off x="2185302" y="2401252"/>
                <a:ext cx="2639797" cy="205359"/>
              </a:xfrm>
              <a:prstGeom prst="rect">
                <a:avLst/>
              </a:prstGeom>
              <a:noFill/>
              <a:ln>
                <a:noFill/>
              </a:ln>
            </p:spPr>
            <p:txBody>
              <a:bodyPr wrap="none" lIns="0" tIns="0" rIns="0" bIns="0" anchor="t" anchorCtr="0">
                <a:spAutoFit/>
              </a:bodyPr>
              <a:lstStyle/>
              <a:p>
                <a:pPr algn="ctr"/>
                <a:r>
                  <a:rPr lang="ko-KR" sz="1050" dirty="0">
                    <a:solidFill>
                      <a:schemeClr val="accent2"/>
                    </a:solidFill>
                    <a:latin typeface="+mn-lt"/>
                    <a:ea typeface="+mn-ea"/>
                    <a:cs typeface="+mn-cs"/>
                  </a:rPr>
                  <a:t>작성 · 승인 · fw answer 로 결정 append</a:t>
                </a:r>
              </a:p>
            </p:txBody>
          </p:sp>
          <p:sp>
            <p:nvSpPr>
              <p:cNvPr id="63" name="Line 63"/>
              <p:cNvSpPr/>
              <p:nvPr/>
            </p:nvSpPr>
            <p:spPr>
              <a:xfrm>
                <a:off x="2343150" y="2762250"/>
                <a:ext cx="2324100" cy="438150"/>
              </a:xfrm>
              <a:prstGeom prst="line">
                <a:avLst/>
              </a:prstGeom>
              <a:noFill/>
              <a:ln w="19050">
                <a:solidFill>
                  <a:schemeClr val="accent2"/>
                </a:solidFill>
                <a:tailEnd type="triangle" w="med" len="med"/>
              </a:ln>
            </p:spPr>
          </p:sp>
          <p:sp>
            <p:nvSpPr>
              <p:cNvPr id="64" name="TextBox 64"/>
              <p:cNvSpPr txBox="1"/>
              <p:nvPr/>
            </p:nvSpPr>
            <p:spPr>
              <a:xfrm>
                <a:off x="2834011" y="3010852"/>
                <a:ext cx="618477" cy="205359"/>
              </a:xfrm>
              <a:prstGeom prst="rect">
                <a:avLst/>
              </a:prstGeom>
              <a:noFill/>
              <a:ln>
                <a:noFill/>
              </a:ln>
            </p:spPr>
            <p:txBody>
              <a:bodyPr wrap="none" lIns="0" tIns="0" rIns="0" bIns="0" anchor="t" anchorCtr="0">
                <a:spAutoFit/>
              </a:bodyPr>
              <a:lstStyle/>
              <a:p>
                <a:pPr algn="ctr"/>
                <a:r>
                  <a:rPr lang="ko-KR" sz="1050" dirty="0">
                    <a:solidFill>
                      <a:schemeClr val="accent2"/>
                    </a:solidFill>
                    <a:latin typeface="+mn-lt"/>
                    <a:ea typeface="+mn-ea"/>
                    <a:cs typeface="+mn-cs"/>
                  </a:rPr>
                  <a:t>유인 갱신</a:t>
                </a:r>
              </a:p>
            </p:txBody>
          </p:sp>
          <p:sp>
            <p:nvSpPr>
              <p:cNvPr id="65" name="Line 65"/>
              <p:cNvSpPr/>
              <p:nvPr/>
            </p:nvSpPr>
            <p:spPr>
              <a:xfrm>
                <a:off x="2343150" y="2914650"/>
                <a:ext cx="2324100" cy="895350"/>
              </a:xfrm>
              <a:prstGeom prst="line">
                <a:avLst/>
              </a:prstGeom>
              <a:noFill/>
              <a:ln w="19050">
                <a:solidFill>
                  <a:schemeClr val="accent2"/>
                </a:solidFill>
                <a:prstDash val="dash"/>
                <a:tailEnd type="triangle" w="med" len="med"/>
              </a:ln>
            </p:spPr>
          </p:sp>
          <p:sp>
            <p:nvSpPr>
              <p:cNvPr id="66" name="TextBox 66"/>
              <p:cNvSpPr txBox="1"/>
              <p:nvPr/>
            </p:nvSpPr>
            <p:spPr>
              <a:xfrm>
                <a:off x="3383985" y="3563302"/>
                <a:ext cx="1042530" cy="205359"/>
              </a:xfrm>
              <a:prstGeom prst="rect">
                <a:avLst/>
              </a:prstGeom>
              <a:noFill/>
              <a:ln>
                <a:noFill/>
              </a:ln>
            </p:spPr>
            <p:txBody>
              <a:bodyPr wrap="none" lIns="0" tIns="0" rIns="0" bIns="0" anchor="t" anchorCtr="0">
                <a:spAutoFit/>
              </a:bodyPr>
              <a:lstStyle/>
              <a:p>
                <a:pPr algn="ctr"/>
                <a:r>
                  <a:rPr lang="ko-KR" sz="1050" dirty="0">
                    <a:solidFill>
                      <a:schemeClr val="accent2"/>
                    </a:solidFill>
                    <a:latin typeface="+mn-lt"/>
                    <a:ea typeface="+mn-ea"/>
                    <a:cs typeface="+mn-cs"/>
                  </a:rPr>
                  <a:t>유인 모드에서만</a:t>
                </a:r>
              </a:p>
            </p:txBody>
          </p:sp>
          <p:sp>
            <p:nvSpPr>
              <p:cNvPr id="67" name="Line 67"/>
              <p:cNvSpPr/>
              <p:nvPr/>
            </p:nvSpPr>
            <p:spPr>
              <a:xfrm flipV="1">
                <a:off x="2857500" y="4000500"/>
                <a:ext cx="1809750" cy="762000"/>
              </a:xfrm>
              <a:prstGeom prst="line">
                <a:avLst/>
              </a:prstGeom>
              <a:noFill/>
              <a:ln w="14288">
                <a:solidFill>
                  <a:srgbClr val="9AA8BD"/>
                </a:solidFill>
                <a:prstDash val="sysDot"/>
                <a:tailEnd type="triangle" w="med" len="med"/>
              </a:ln>
            </p:spPr>
          </p:sp>
          <p:sp>
            <p:nvSpPr>
              <p:cNvPr id="68" name="Line 68"/>
              <p:cNvSpPr/>
              <p:nvPr/>
            </p:nvSpPr>
            <p:spPr>
              <a:xfrm flipV="1">
                <a:off x="2857500" y="3390900"/>
                <a:ext cx="1809750" cy="1466850"/>
              </a:xfrm>
              <a:prstGeom prst="line">
                <a:avLst/>
              </a:prstGeom>
              <a:noFill/>
              <a:ln w="14288">
                <a:solidFill>
                  <a:srgbClr val="9AA8BD"/>
                </a:solidFill>
                <a:tailEnd type="triangle" w="med" len="med"/>
              </a:ln>
            </p:spPr>
          </p:sp>
          <p:sp>
            <p:nvSpPr>
              <p:cNvPr id="69" name="Line 69"/>
              <p:cNvSpPr/>
              <p:nvPr/>
            </p:nvSpPr>
            <p:spPr>
              <a:xfrm flipV="1">
                <a:off x="2857500" y="2781300"/>
                <a:ext cx="1809750" cy="2171700"/>
              </a:xfrm>
              <a:prstGeom prst="line">
                <a:avLst/>
              </a:prstGeom>
              <a:noFill/>
              <a:ln w="14288">
                <a:solidFill>
                  <a:srgbClr val="9AA8BD"/>
                </a:solidFill>
                <a:prstDash val="sysDot"/>
                <a:tailEnd type="triangle" w="med" len="med"/>
              </a:ln>
            </p:spPr>
          </p:sp>
          <p:sp>
            <p:nvSpPr>
              <p:cNvPr id="70" name="TextBox 70"/>
              <p:cNvSpPr txBox="1"/>
              <p:nvPr/>
            </p:nvSpPr>
            <p:spPr>
              <a:xfrm>
                <a:off x="2200980" y="4325302"/>
                <a:ext cx="2456040" cy="205359"/>
              </a:xfrm>
              <a:prstGeom prst="rect">
                <a:avLst/>
              </a:prstGeom>
              <a:noFill/>
              <a:ln>
                <a:noFill/>
              </a:ln>
            </p:spPr>
            <p:txBody>
              <a:bodyPr wrap="none" lIns="0" tIns="0" rIns="0" bIns="0" anchor="t" anchorCtr="0">
                <a:spAutoFit/>
              </a:bodyPr>
              <a:lstStyle/>
              <a:p>
                <a:pPr algn="ctr"/>
                <a:r>
                  <a:rPr lang="ko-KR" sz="1050" dirty="0">
                    <a:solidFill>
                      <a:schemeClr val="accent5"/>
                    </a:solidFill>
                    <a:latin typeface="+mn-lt"/>
                    <a:ea typeface="+mn-ea"/>
                    <a:cs typeface="+mn-cs"/>
                  </a:rPr>
                  <a:t>읽기만 — 결정·용어는 프롬프트로 전달</a:t>
                </a:r>
              </a:p>
            </p:txBody>
          </p:sp>
          <p:sp>
            <p:nvSpPr>
              <p:cNvPr id="71" name="Line 71"/>
              <p:cNvSpPr/>
              <p:nvPr/>
            </p:nvSpPr>
            <p:spPr>
              <a:xfrm flipH="1">
                <a:off x="7524750" y="2590800"/>
                <a:ext cx="2114550" cy="1"/>
              </a:xfrm>
              <a:prstGeom prst="line">
                <a:avLst/>
              </a:prstGeom>
              <a:noFill/>
              <a:ln w="19050">
                <a:solidFill>
                  <a:schemeClr val="accent1"/>
                </a:solidFill>
                <a:tailEnd type="triangle" w="med" len="med"/>
              </a:ln>
            </p:spPr>
          </p:sp>
          <p:sp>
            <p:nvSpPr>
              <p:cNvPr id="72" name="TextBox 72"/>
              <p:cNvSpPr txBox="1"/>
              <p:nvPr/>
            </p:nvSpPr>
            <p:spPr>
              <a:xfrm>
                <a:off x="7899283" y="2401252"/>
                <a:ext cx="1346435" cy="205359"/>
              </a:xfrm>
              <a:prstGeom prst="rect">
                <a:avLst/>
              </a:prstGeom>
              <a:noFill/>
              <a:ln>
                <a:noFill/>
              </a:ln>
            </p:spPr>
            <p:txBody>
              <a:bodyPr wrap="none" lIns="0" tIns="0" rIns="0" bIns="0" anchor="t" anchorCtr="0">
                <a:spAutoFit/>
              </a:bodyPr>
              <a:lstStyle/>
              <a:p>
                <a:pPr algn="ctr"/>
                <a:r>
                  <a:rPr lang="ko-KR" sz="1050" dirty="0">
                    <a:solidFill>
                      <a:schemeClr val="accent1"/>
                    </a:solidFill>
                    <a:latin typeface="+mn-lt"/>
                    <a:ea typeface="+mn-ea"/>
                    <a:cs typeface="+mn-cs"/>
                  </a:rPr>
                  <a:t>승인 시점에 1회 조립</a:t>
                </a:r>
              </a:p>
            </p:txBody>
          </p:sp>
          <p:sp>
            <p:nvSpPr>
              <p:cNvPr id="73" name="Line 73"/>
              <p:cNvSpPr/>
              <p:nvPr/>
            </p:nvSpPr>
            <p:spPr>
              <a:xfrm flipH="1">
                <a:off x="7524750" y="2762250"/>
                <a:ext cx="2114550" cy="1047750"/>
              </a:xfrm>
              <a:prstGeom prst="line">
                <a:avLst/>
              </a:prstGeom>
              <a:noFill/>
              <a:ln w="28575">
                <a:solidFill>
                  <a:schemeClr val="accent1"/>
                </a:solidFill>
                <a:tailEnd type="triangle" w="med" len="med"/>
              </a:ln>
            </p:spPr>
          </p:sp>
          <p:sp>
            <p:nvSpPr>
              <p:cNvPr id="74" name="TextBox 74"/>
              <p:cNvSpPr txBox="1"/>
              <p:nvPr/>
            </p:nvSpPr>
            <p:spPr>
              <a:xfrm>
                <a:off x="7842961" y="3239452"/>
                <a:ext cx="2221078" cy="205359"/>
              </a:xfrm>
              <a:prstGeom prst="rect">
                <a:avLst/>
              </a:prstGeom>
              <a:noFill/>
              <a:ln>
                <a:noFill/>
              </a:ln>
            </p:spPr>
            <p:txBody>
              <a:bodyPr wrap="none" lIns="0" tIns="0" rIns="0" bIns="0" anchor="t" anchorCtr="0">
                <a:spAutoFit/>
              </a:bodyPr>
              <a:lstStyle/>
              <a:p>
                <a:pPr algn="ctr"/>
                <a:r>
                  <a:rPr lang="ko-KR" sz="1050" dirty="0">
                    <a:solidFill>
                      <a:schemeClr val="accent1"/>
                    </a:solidFill>
                    <a:latin typeface="+mn-lt"/>
                    <a:ea typeface="+mn-ea"/>
                    <a:cs typeface="+mn-cs"/>
                  </a:rPr>
                  <a:t>판정 후 직접 기록 — AI 는 못 쓴다</a:t>
                </a:r>
              </a:p>
            </p:txBody>
          </p:sp>
          <p:sp>
            <p:nvSpPr>
              <p:cNvPr id="75" name="Line 75"/>
              <p:cNvSpPr/>
              <p:nvPr/>
            </p:nvSpPr>
            <p:spPr>
              <a:xfrm flipH="1">
                <a:off x="7524750" y="2914650"/>
                <a:ext cx="2114550" cy="1504950"/>
              </a:xfrm>
              <a:prstGeom prst="line">
                <a:avLst/>
              </a:prstGeom>
              <a:noFill/>
              <a:ln w="19050">
                <a:solidFill>
                  <a:schemeClr val="accent3"/>
                </a:solidFill>
                <a:tailEnd type="triangle" w="med" len="med"/>
              </a:ln>
            </p:spPr>
          </p:sp>
          <p:sp>
            <p:nvSpPr>
              <p:cNvPr id="76" name="TextBox 76"/>
              <p:cNvSpPr txBox="1"/>
              <p:nvPr/>
            </p:nvSpPr>
            <p:spPr>
              <a:xfrm>
                <a:off x="8764086" y="3887152"/>
                <a:ext cx="759828" cy="205359"/>
              </a:xfrm>
              <a:prstGeom prst="rect">
                <a:avLst/>
              </a:prstGeom>
              <a:noFill/>
              <a:ln>
                <a:noFill/>
              </a:ln>
            </p:spPr>
            <p:txBody>
              <a:bodyPr wrap="none" lIns="0" tIns="0" rIns="0" bIns="0" anchor="t" anchorCtr="0">
                <a:spAutoFit/>
              </a:bodyPr>
              <a:lstStyle/>
              <a:p>
                <a:pPr algn="ctr"/>
                <a:r>
                  <a:rPr lang="ko-KR" sz="1050" dirty="0">
                    <a:solidFill>
                      <a:schemeClr val="accent3"/>
                    </a:solidFill>
                    <a:latin typeface="+mn-lt"/>
                    <a:ea typeface="+mn-ea"/>
                    <a:cs typeface="+mn-cs"/>
                  </a:rPr>
                  <a:t>인터뷰 소유</a:t>
                </a:r>
              </a:p>
            </p:txBody>
          </p:sp>
          <p:sp>
            <p:nvSpPr>
              <p:cNvPr id="77" name="Line 77"/>
              <p:cNvSpPr/>
              <p:nvPr/>
            </p:nvSpPr>
            <p:spPr>
              <a:xfrm flipH="1">
                <a:off x="7524750" y="3009900"/>
                <a:ext cx="2114550" cy="2019300"/>
              </a:xfrm>
              <a:prstGeom prst="line">
                <a:avLst/>
              </a:prstGeom>
              <a:noFill/>
              <a:ln w="19050">
                <a:solidFill>
                  <a:schemeClr val="accent3"/>
                </a:solidFill>
                <a:tailEnd type="triangle" w="med" len="med"/>
              </a:ln>
            </p:spPr>
          </p:sp>
          <p:sp>
            <p:nvSpPr>
              <p:cNvPr id="78" name="TextBox 78"/>
              <p:cNvSpPr txBox="1"/>
              <p:nvPr/>
            </p:nvSpPr>
            <p:spPr>
              <a:xfrm>
                <a:off x="8979160" y="4649152"/>
                <a:ext cx="901179" cy="205359"/>
              </a:xfrm>
              <a:prstGeom prst="rect">
                <a:avLst/>
              </a:prstGeom>
              <a:noFill/>
              <a:ln>
                <a:noFill/>
              </a:ln>
            </p:spPr>
            <p:txBody>
              <a:bodyPr wrap="none" lIns="0" tIns="0" rIns="0" bIns="0" anchor="t" anchorCtr="0">
                <a:spAutoFit/>
              </a:bodyPr>
              <a:lstStyle/>
              <a:p>
                <a:pPr algn="ctr"/>
                <a:r>
                  <a:rPr lang="ko-KR" sz="1050" dirty="0">
                    <a:solidFill>
                      <a:schemeClr val="accent3"/>
                    </a:solidFill>
                    <a:latin typeface="+mn-lt"/>
                    <a:ea typeface="+mn-ea"/>
                    <a:cs typeface="+mn-cs"/>
                  </a:rPr>
                  <a:t>마무리에 작성</a:t>
                </a:r>
              </a:p>
            </p:txBody>
          </p:sp>
        </p:grpSp>
      </p:grpSp>
      <p:grpSp>
        <p:nvGrpSpPr>
          <p:cNvPr id="86" name="Group 86"/>
          <p:cNvGrpSpPr/>
          <p:nvPr/>
        </p:nvGrpSpPr>
        <p:grpSpPr>
          <a:xfrm>
            <a:off x="657225" y="5893118"/>
            <a:ext cx="8459343" cy="492633"/>
            <a:chOff x="657225" y="5893118"/>
            <a:chExt cx="8459343" cy="492633"/>
          </a:xfrm>
        </p:grpSpPr>
        <p:grpSp>
          <p:nvGrpSpPr>
            <p:cNvPr id="84" name="Group 84"/>
            <p:cNvGrpSpPr/>
            <p:nvPr/>
          </p:nvGrpSpPr>
          <p:grpSpPr>
            <a:xfrm>
              <a:off x="657225" y="5895975"/>
              <a:ext cx="133350" cy="171450"/>
              <a:chOff x="657225" y="5895975"/>
              <a:chExt cx="133350" cy="171450"/>
            </a:xfrm>
          </p:grpSpPr>
          <p:sp>
            <p:nvSpPr>
              <p:cNvPr id="81" name="Freeform 81"/>
              <p:cNvSpPr/>
              <p:nvPr/>
            </p:nvSpPr>
            <p:spPr>
              <a:xfrm>
                <a:off x="657225" y="5972175"/>
                <a:ext cx="133350" cy="95250"/>
              </a:xfrm>
              <a:custGeom>
                <a:avLst/>
                <a:gdLst/>
                <a:ahLst/>
                <a:cxnLst/>
                <a:rect l="l" t="t" r="r" b="b"/>
                <a:pathLst>
                  <a:path w="133350" h="95250">
                    <a:moveTo>
                      <a:pt x="0" y="19050"/>
                    </a:moveTo>
                    <a:cubicBezTo>
                      <a:pt x="0" y="8529"/>
                      <a:pt x="8529" y="0"/>
                      <a:pt x="19050" y="0"/>
                    </a:cubicBezTo>
                    <a:lnTo>
                      <a:pt x="114300" y="0"/>
                    </a:lnTo>
                    <a:cubicBezTo>
                      <a:pt x="124821" y="0"/>
                      <a:pt x="133350" y="8529"/>
                      <a:pt x="133350" y="19050"/>
                    </a:cubicBezTo>
                    <a:lnTo>
                      <a:pt x="133350" y="76200"/>
                    </a:lnTo>
                    <a:cubicBezTo>
                      <a:pt x="133350" y="86721"/>
                      <a:pt x="124821" y="95250"/>
                      <a:pt x="114300" y="95250"/>
                    </a:cubicBezTo>
                    <a:lnTo>
                      <a:pt x="19050" y="95250"/>
                    </a:lnTo>
                    <a:cubicBezTo>
                      <a:pt x="8529" y="95250"/>
                      <a:pt x="0" y="86721"/>
                      <a:pt x="0" y="76200"/>
                    </a:cubicBezTo>
                    <a:lnTo>
                      <a:pt x="0" y="19050"/>
                    </a:lnTo>
                  </a:path>
                </a:pathLst>
              </a:custGeom>
              <a:noFill/>
              <a:ln w="19050">
                <a:solidFill>
                  <a:schemeClr val="accent2"/>
                </a:solidFill>
              </a:ln>
            </p:spPr>
          </p:sp>
          <p:sp>
            <p:nvSpPr>
              <p:cNvPr id="82" name="Freeform 82"/>
              <p:cNvSpPr/>
              <p:nvPr/>
            </p:nvSpPr>
            <p:spPr>
              <a:xfrm>
                <a:off x="714375" y="6010275"/>
                <a:ext cx="19050" cy="19050"/>
              </a:xfrm>
              <a:custGeom>
                <a:avLst/>
                <a:gdLst/>
                <a:ahLst/>
                <a:cxnLst/>
                <a:rect l="l" t="t" r="r" b="b"/>
                <a:pathLst>
                  <a:path w="19050" h="19050">
                    <a:moveTo>
                      <a:pt x="0" y="9525"/>
                    </a:moveTo>
                    <a:cubicBezTo>
                      <a:pt x="0" y="14786"/>
                      <a:pt x="4264" y="19050"/>
                      <a:pt x="9525" y="19050"/>
                    </a:cubicBezTo>
                    <a:cubicBezTo>
                      <a:pt x="14786" y="19050"/>
                      <a:pt x="19050" y="14786"/>
                      <a:pt x="19050" y="9525"/>
                    </a:cubicBezTo>
                    <a:cubicBezTo>
                      <a:pt x="19050" y="4264"/>
                      <a:pt x="14786" y="0"/>
                      <a:pt x="9525" y="0"/>
                    </a:cubicBezTo>
                    <a:cubicBezTo>
                      <a:pt x="4264" y="0"/>
                      <a:pt x="0" y="4264"/>
                      <a:pt x="0" y="9525"/>
                    </a:cubicBezTo>
                  </a:path>
                </a:pathLst>
              </a:custGeom>
              <a:noFill/>
              <a:ln w="19050">
                <a:solidFill>
                  <a:schemeClr val="accent2"/>
                </a:solidFill>
              </a:ln>
            </p:spPr>
          </p:sp>
          <p:sp>
            <p:nvSpPr>
              <p:cNvPr id="83" name="Freeform 83"/>
              <p:cNvSpPr/>
              <p:nvPr/>
            </p:nvSpPr>
            <p:spPr>
              <a:xfrm>
                <a:off x="685800" y="5895975"/>
                <a:ext cx="76200" cy="76200"/>
              </a:xfrm>
              <a:custGeom>
                <a:avLst/>
                <a:gdLst/>
                <a:ahLst/>
                <a:cxnLst/>
                <a:rect l="l" t="t" r="r" b="b"/>
                <a:pathLst>
                  <a:path w="76200" h="76200">
                    <a:moveTo>
                      <a:pt x="0" y="76200"/>
                    </a:moveTo>
                    <a:lnTo>
                      <a:pt x="0" y="38100"/>
                    </a:lnTo>
                    <a:cubicBezTo>
                      <a:pt x="0" y="17058"/>
                      <a:pt x="17058" y="0"/>
                      <a:pt x="38100" y="0"/>
                    </a:cubicBezTo>
                    <a:cubicBezTo>
                      <a:pt x="59142" y="0"/>
                      <a:pt x="76200" y="17058"/>
                      <a:pt x="76200" y="38100"/>
                    </a:cubicBezTo>
                    <a:lnTo>
                      <a:pt x="76200" y="76200"/>
                    </a:lnTo>
                  </a:path>
                </a:pathLst>
              </a:custGeom>
              <a:noFill/>
              <a:ln w="19050">
                <a:solidFill>
                  <a:schemeClr val="accent2"/>
                </a:solidFill>
              </a:ln>
            </p:spPr>
          </p:sp>
        </p:grpSp>
        <p:sp>
          <p:nvSpPr>
            <p:cNvPr id="85" name="TextBox 85"/>
            <p:cNvSpPr txBox="1"/>
            <p:nvPr/>
          </p:nvSpPr>
          <p:spPr>
            <a:xfrm>
              <a:off x="907542" y="5893118"/>
              <a:ext cx="8209026" cy="492633"/>
            </a:xfrm>
            <a:prstGeom prst="rect">
              <a:avLst/>
            </a:prstGeom>
            <a:noFill/>
            <a:ln>
              <a:noFill/>
            </a:ln>
          </p:spPr>
          <p:txBody>
            <a:bodyPr wrap="none" lIns="0" tIns="0" rIns="0" bIns="0" anchor="t" anchorCtr="0">
              <a:spAutoFit/>
            </a:bodyPr>
            <a:lstStyle/>
            <a:p>
              <a:pPr algn="l">
                <a:lnSpc>
                  <a:spcPts val="1800"/>
                </a:lnSpc>
              </a:pPr>
              <a:r>
                <a:rPr lang="ko-KR" sz="1350" dirty="0">
                  <a:solidFill>
                    <a:schemeClr val="accent5"/>
                  </a:solidFill>
                  <a:latin typeface="+mn-lt"/>
                  <a:ea typeface="+mn-ea"/>
                  <a:cs typeface="+mn-cs"/>
                </a:rPr>
                <a:t xml:space="preserve">규칙 · PLAN 의 Phase 표와 STATE 의 </a:t>
              </a:r>
              <a:r>
                <a:rPr lang="ko-KR" sz="1350" dirty="0">
                  <a:solidFill>
                    <a:schemeClr val="dk1"/>
                  </a:solidFill>
                  <a:latin typeface="Consolas"/>
                  <a:ea typeface="Consolas"/>
                  <a:cs typeface="Consolas"/>
                </a:rPr>
                <a:t>phases</a:t>
              </a:r>
              <a:r>
                <a:rPr lang="ko-KR" sz="1350" dirty="0">
                  <a:solidFill>
                    <a:schemeClr val="accent5"/>
                  </a:solidFill>
                  <a:latin typeface="+mn-lt"/>
                  <a:ea typeface="+mn-ea"/>
                  <a:cs typeface="+mn-cs"/>
                </a:rPr>
                <a:t xml:space="preserve"> 는 항상 같은 목록(제목·개수·순서)</a:t>
              </a:r>
              <a:br/>
              <a:r>
                <a:rPr lang="ko-KR" sz="1350" dirty="0">
                  <a:solidFill>
                    <a:schemeClr val="accent5"/>
                  </a:solidFill>
                  <a:latin typeface="+mn-lt"/>
                  <a:ea typeface="+mn-ea"/>
                  <a:cs typeface="+mn-cs"/>
                </a:rPr>
                <a:t>무인 주행 중 세션은 PLAN·STATE 를 쓸 수 없다 — 권한 게이트가 차단하고, PLAN 수정 제안은 findings 로만</a:t>
              </a:r>
            </a:p>
          </p:txBody>
        </p:sp>
      </p:grpSp>
      <p:grpSp>
        <p:nvGrpSpPr>
          <p:cNvPr id="89" name="Group 89"/>
          <p:cNvGrpSpPr/>
          <p:nvPr/>
        </p:nvGrpSpPr>
        <p:grpSpPr>
          <a:xfrm>
            <a:off x="604266" y="6516052"/>
            <a:ext cx="10983468" cy="205359"/>
            <a:chOff x="604266" y="6516052"/>
            <a:chExt cx="10983468" cy="205359"/>
          </a:xfrm>
        </p:grpSpPr>
        <p:sp>
          <p:nvSpPr>
            <p:cNvPr id="87" name="TextBox 87"/>
            <p:cNvSpPr txBox="1"/>
            <p:nvPr/>
          </p:nvSpPr>
          <p:spPr>
            <a:xfrm>
              <a:off x="604266" y="6516052"/>
              <a:ext cx="4788785"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feature-workflow · plugins/feature-workflow/README.md §3 산출물</a:t>
              </a:r>
            </a:p>
          </p:txBody>
        </p:sp>
        <p:sp>
          <p:nvSpPr>
            <p:cNvPr id="88" name="TextBox 88"/>
            <p:cNvSpPr txBox="1"/>
            <p:nvPr/>
          </p:nvSpPr>
          <p:spPr>
            <a:xfrm>
              <a:off x="11103540" y="65160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05 / 19</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609600" y="1905000"/>
            <a:ext cx="10972800" cy="3810000"/>
          </a:xfrm>
          <a:custGeom>
            <a:avLst/>
            <a:gdLst/>
            <a:ahLst/>
            <a:cxnLst/>
            <a:rect l="l" t="t" r="r" b="b"/>
            <a:pathLst>
              <a:path w="10972800" h="3810000">
                <a:moveTo>
                  <a:pt x="152400" y="0"/>
                </a:moveTo>
                <a:lnTo>
                  <a:pt x="152400" y="3810000"/>
                </a:lnTo>
                <a:moveTo>
                  <a:pt x="914400" y="0"/>
                </a:moveTo>
                <a:lnTo>
                  <a:pt x="914400" y="3810000"/>
                </a:lnTo>
                <a:moveTo>
                  <a:pt x="1676400" y="0"/>
                </a:moveTo>
                <a:lnTo>
                  <a:pt x="1676400" y="3810000"/>
                </a:lnTo>
                <a:moveTo>
                  <a:pt x="2438400" y="0"/>
                </a:moveTo>
                <a:lnTo>
                  <a:pt x="2438400" y="3810000"/>
                </a:lnTo>
                <a:moveTo>
                  <a:pt x="3200400" y="0"/>
                </a:moveTo>
                <a:lnTo>
                  <a:pt x="3200400" y="3810000"/>
                </a:lnTo>
                <a:moveTo>
                  <a:pt x="3962400" y="0"/>
                </a:moveTo>
                <a:lnTo>
                  <a:pt x="3962400" y="3810000"/>
                </a:lnTo>
                <a:moveTo>
                  <a:pt x="4724400" y="0"/>
                </a:moveTo>
                <a:lnTo>
                  <a:pt x="4724400" y="3810000"/>
                </a:lnTo>
                <a:moveTo>
                  <a:pt x="5486400" y="0"/>
                </a:moveTo>
                <a:lnTo>
                  <a:pt x="5486400" y="3810000"/>
                </a:lnTo>
                <a:moveTo>
                  <a:pt x="6248400" y="0"/>
                </a:moveTo>
                <a:lnTo>
                  <a:pt x="6248400" y="3810000"/>
                </a:lnTo>
                <a:moveTo>
                  <a:pt x="7010400" y="0"/>
                </a:moveTo>
                <a:lnTo>
                  <a:pt x="7010400" y="3810000"/>
                </a:lnTo>
                <a:moveTo>
                  <a:pt x="7772400" y="0"/>
                </a:moveTo>
                <a:lnTo>
                  <a:pt x="7772400" y="3810000"/>
                </a:lnTo>
                <a:moveTo>
                  <a:pt x="8534400" y="0"/>
                </a:moveTo>
                <a:lnTo>
                  <a:pt x="8534400" y="3810000"/>
                </a:lnTo>
                <a:moveTo>
                  <a:pt x="9296400" y="0"/>
                </a:moveTo>
                <a:lnTo>
                  <a:pt x="9296400" y="3810000"/>
                </a:lnTo>
                <a:moveTo>
                  <a:pt x="10058400" y="0"/>
                </a:moveTo>
                <a:lnTo>
                  <a:pt x="10058400" y="3810000"/>
                </a:lnTo>
                <a:moveTo>
                  <a:pt x="10820400" y="0"/>
                </a:moveTo>
                <a:lnTo>
                  <a:pt x="10820400" y="3810000"/>
                </a:lnTo>
                <a:moveTo>
                  <a:pt x="0" y="381000"/>
                </a:moveTo>
                <a:lnTo>
                  <a:pt x="10972800" y="381000"/>
                </a:lnTo>
                <a:moveTo>
                  <a:pt x="0" y="1143000"/>
                </a:moveTo>
                <a:lnTo>
                  <a:pt x="10972800" y="1143000"/>
                </a:lnTo>
                <a:moveTo>
                  <a:pt x="0" y="1905000"/>
                </a:moveTo>
                <a:lnTo>
                  <a:pt x="10972800" y="1905000"/>
                </a:lnTo>
                <a:moveTo>
                  <a:pt x="0" y="2667000"/>
                </a:moveTo>
                <a:lnTo>
                  <a:pt x="10972800" y="2667000"/>
                </a:lnTo>
                <a:moveTo>
                  <a:pt x="0" y="3429000"/>
                </a:moveTo>
                <a:lnTo>
                  <a:pt x="10972800" y="3429000"/>
                </a:lnTo>
              </a:path>
            </a:pathLst>
          </a:custGeom>
          <a:noFill/>
          <a:ln w="9525">
            <a:solidFill>
              <a:srgbClr val="1B2740"/>
            </a:solidFill>
          </a:ln>
        </p:spPr>
      </p:sp>
      <p:grpSp>
        <p:nvGrpSpPr>
          <p:cNvPr id="4" name="Group 4"/>
          <p:cNvGrpSpPr/>
          <p:nvPr/>
        </p:nvGrpSpPr>
        <p:grpSpPr>
          <a:xfrm>
            <a:off x="601980" y="428625"/>
            <a:ext cx="2244852" cy="293370"/>
            <a:chOff x="601980" y="428625"/>
            <a:chExt cx="2244852" cy="293370"/>
          </a:xfrm>
        </p:grpSpPr>
        <p:sp>
          <p:nvSpPr>
            <p:cNvPr id="3" name="TextBox 3"/>
            <p:cNvSpPr txBox="1"/>
            <p:nvPr/>
          </p:nvSpPr>
          <p:spPr>
            <a:xfrm>
              <a:off x="601980" y="428625"/>
              <a:ext cx="2244852" cy="293370"/>
            </a:xfrm>
            <a:prstGeom prst="rect">
              <a:avLst/>
            </a:prstGeom>
            <a:noFill/>
            <a:ln>
              <a:noFill/>
            </a:ln>
          </p:spPr>
          <p:txBody>
            <a:bodyPr wrap="none" lIns="0" tIns="0" rIns="0" bIns="0" anchor="t" anchorCtr="0">
              <a:spAutoFit/>
            </a:bodyPr>
            <a:lstStyle/>
            <a:p>
              <a:pPr algn="l"/>
              <a:r>
                <a:rPr lang="ko-KR" sz="1500" spc="150" dirty="0">
                  <a:solidFill>
                    <a:schemeClr val="accent5"/>
                  </a:solidFill>
                  <a:latin typeface="Consolas"/>
                  <a:ea typeface="Microsoft YaHei"/>
                  <a:cs typeface="Consolas"/>
                </a:rPr>
                <a:t>PART 02 · 동작 원리</a:t>
              </a:r>
            </a:p>
          </p:txBody>
        </p:sp>
      </p:grpSp>
      <p:grpSp>
        <p:nvGrpSpPr>
          <p:cNvPr id="6" name="Group 6"/>
          <p:cNvGrpSpPr/>
          <p:nvPr/>
        </p:nvGrpSpPr>
        <p:grpSpPr>
          <a:xfrm>
            <a:off x="593598" y="822008"/>
            <a:ext cx="7924990" cy="1111377"/>
            <a:chOff x="593598" y="822008"/>
            <a:chExt cx="7924990" cy="1111377"/>
          </a:xfrm>
        </p:grpSpPr>
        <p:sp>
          <p:nvSpPr>
            <p:cNvPr id="5" name="TextBox 5"/>
            <p:cNvSpPr txBox="1"/>
            <p:nvPr/>
          </p:nvSpPr>
          <p:spPr>
            <a:xfrm>
              <a:off x="593598" y="822008"/>
              <a:ext cx="7924990" cy="1111377"/>
            </a:xfrm>
            <a:prstGeom prst="rect">
              <a:avLst/>
            </a:prstGeom>
            <a:noFill/>
            <a:ln>
              <a:noFill/>
            </a:ln>
          </p:spPr>
          <p:txBody>
            <a:bodyPr wrap="none" lIns="0" tIns="0" rIns="0" bIns="0" anchor="t" anchorCtr="0">
              <a:spAutoFit/>
            </a:bodyPr>
            <a:lstStyle/>
            <a:p>
              <a:pPr algn="l">
                <a:lnSpc>
                  <a:spcPts val="3900"/>
                </a:lnSpc>
              </a:pPr>
              <a:r>
                <a:rPr lang="ko-KR" sz="3150" b="1" dirty="0">
                  <a:solidFill>
                    <a:schemeClr val="dk1"/>
                  </a:solidFill>
                  <a:latin typeface="+mn-lt"/>
                  <a:ea typeface="+mn-ea"/>
                  <a:cs typeface="+mn-cs"/>
                </a:rPr>
                <a:t>시작은 두 갈래 — 사람이 브레인스톰하거나,</a:t>
              </a:r>
              <a:br/>
              <a:r>
                <a:rPr lang="ko-KR" sz="3150" b="1" dirty="0">
                  <a:solidFill>
                    <a:schemeClr val="dk1"/>
                  </a:solidFill>
                  <a:latin typeface="+mn-lt"/>
                  <a:ea typeface="+mn-ea"/>
                  <a:cs typeface="+mn-cs"/>
                </a:rPr>
                <a:t xml:space="preserve">세 에이전트가 </a:t>
              </a:r>
              <a:r>
                <a:rPr lang="ko-KR" sz="3150" b="1" dirty="0">
                  <a:solidFill>
                    <a:schemeClr val="accent1"/>
                  </a:solidFill>
                  <a:latin typeface="+mn-lt"/>
                  <a:ea typeface="+mn-ea"/>
                  <a:cs typeface="+mn-cs"/>
                </a:rPr>
                <a:t>끝까지 캐묻거나</a:t>
              </a:r>
            </a:p>
          </p:txBody>
        </p:sp>
      </p:grpSp>
      <p:grpSp>
        <p:nvGrpSpPr>
          <p:cNvPr id="23" name="Group 23"/>
          <p:cNvGrpSpPr/>
          <p:nvPr/>
        </p:nvGrpSpPr>
        <p:grpSpPr>
          <a:xfrm>
            <a:off x="838200" y="1943100"/>
            <a:ext cx="4495800" cy="3200400"/>
            <a:chOff x="838200" y="1943100"/>
            <a:chExt cx="4495800" cy="3200400"/>
          </a:xfrm>
        </p:grpSpPr>
        <p:sp>
          <p:nvSpPr>
            <p:cNvPr id="7" name="Rectangle 7"/>
            <p:cNvSpPr/>
            <p:nvPr/>
          </p:nvSpPr>
          <p:spPr>
            <a:xfrm>
              <a:off x="838200" y="1943100"/>
              <a:ext cx="4495800" cy="3200400"/>
            </a:xfrm>
            <a:prstGeom prst="roundRect">
              <a:avLst>
                <a:gd name="adj" fmla="val 1786"/>
              </a:avLst>
            </a:prstGeom>
            <a:solidFill>
              <a:schemeClr val="lt2">
                <a:alpha val="60000"/>
              </a:schemeClr>
            </a:solidFill>
            <a:ln w="19050">
              <a:solidFill>
                <a:schemeClr val="accent2"/>
              </a:solidFill>
            </a:ln>
          </p:spPr>
        </p:sp>
        <p:grpSp>
          <p:nvGrpSpPr>
            <p:cNvPr id="10" name="Group 10"/>
            <p:cNvGrpSpPr/>
            <p:nvPr/>
          </p:nvGrpSpPr>
          <p:grpSpPr>
            <a:xfrm>
              <a:off x="1095375" y="2109788"/>
              <a:ext cx="133350" cy="200025"/>
              <a:chOff x="1095375" y="2109788"/>
              <a:chExt cx="133350" cy="200025"/>
            </a:xfrm>
          </p:grpSpPr>
          <p:sp>
            <p:nvSpPr>
              <p:cNvPr id="8" name="Freeform 8"/>
              <p:cNvSpPr/>
              <p:nvPr/>
            </p:nvSpPr>
            <p:spPr>
              <a:xfrm>
                <a:off x="1117600" y="2109788"/>
                <a:ext cx="88900" cy="88900"/>
              </a:xfrm>
              <a:custGeom>
                <a:avLst/>
                <a:gdLst/>
                <a:ahLst/>
                <a:cxnLst/>
                <a:rect l="l" t="t" r="r" b="b"/>
                <a:pathLst>
                  <a:path w="88900" h="88900">
                    <a:moveTo>
                      <a:pt x="0" y="44450"/>
                    </a:moveTo>
                    <a:cubicBezTo>
                      <a:pt x="0" y="68999"/>
                      <a:pt x="19901" y="88900"/>
                      <a:pt x="44450" y="88900"/>
                    </a:cubicBezTo>
                    <a:cubicBezTo>
                      <a:pt x="68999" y="88900"/>
                      <a:pt x="88900" y="68999"/>
                      <a:pt x="88900" y="44450"/>
                    </a:cubicBezTo>
                    <a:cubicBezTo>
                      <a:pt x="88900" y="19901"/>
                      <a:pt x="68999" y="0"/>
                      <a:pt x="44450" y="0"/>
                    </a:cubicBezTo>
                    <a:cubicBezTo>
                      <a:pt x="19901" y="0"/>
                      <a:pt x="0" y="19901"/>
                      <a:pt x="0" y="44450"/>
                    </a:cubicBezTo>
                  </a:path>
                </a:pathLst>
              </a:custGeom>
              <a:noFill/>
              <a:ln w="22225">
                <a:solidFill>
                  <a:schemeClr val="accent2"/>
                </a:solidFill>
              </a:ln>
            </p:spPr>
          </p:sp>
          <p:sp>
            <p:nvSpPr>
              <p:cNvPr id="9" name="Freeform 9"/>
              <p:cNvSpPr/>
              <p:nvPr/>
            </p:nvSpPr>
            <p:spPr>
              <a:xfrm>
                <a:off x="1095375" y="2243138"/>
                <a:ext cx="133350" cy="66675"/>
              </a:xfrm>
              <a:custGeom>
                <a:avLst/>
                <a:gdLst/>
                <a:ahLst/>
                <a:cxnLst/>
                <a:rect l="l" t="t" r="r" b="b"/>
                <a:pathLst>
                  <a:path w="133350" h="66675">
                    <a:moveTo>
                      <a:pt x="0" y="66675"/>
                    </a:moveTo>
                    <a:lnTo>
                      <a:pt x="0" y="44450"/>
                    </a:lnTo>
                    <a:cubicBezTo>
                      <a:pt x="0" y="19901"/>
                      <a:pt x="19901" y="0"/>
                      <a:pt x="44450" y="0"/>
                    </a:cubicBezTo>
                    <a:lnTo>
                      <a:pt x="88900" y="0"/>
                    </a:lnTo>
                    <a:cubicBezTo>
                      <a:pt x="113449" y="0"/>
                      <a:pt x="133350" y="19901"/>
                      <a:pt x="133350" y="44450"/>
                    </a:cubicBezTo>
                    <a:lnTo>
                      <a:pt x="133350" y="66675"/>
                    </a:lnTo>
                  </a:path>
                </a:pathLst>
              </a:custGeom>
              <a:noFill/>
              <a:ln w="22225">
                <a:solidFill>
                  <a:schemeClr val="accent2"/>
                </a:solidFill>
              </a:ln>
            </p:spPr>
          </p:sp>
        </p:grpSp>
        <p:sp>
          <p:nvSpPr>
            <p:cNvPr id="11" name="TextBox 11"/>
            <p:cNvSpPr txBox="1"/>
            <p:nvPr/>
          </p:nvSpPr>
          <p:spPr>
            <a:xfrm>
              <a:off x="1383030" y="2124075"/>
              <a:ext cx="2951117" cy="293370"/>
            </a:xfrm>
            <a:prstGeom prst="rect">
              <a:avLst/>
            </a:prstGeom>
            <a:noFill/>
            <a:ln>
              <a:noFill/>
            </a:ln>
          </p:spPr>
          <p:txBody>
            <a:bodyPr wrap="none" lIns="0" tIns="0" rIns="0" bIns="0" anchor="t" anchorCtr="0">
              <a:spAutoFit/>
            </a:bodyPr>
            <a:lstStyle/>
            <a:p>
              <a:pPr algn="l"/>
              <a:r>
                <a:rPr lang="ko-KR" sz="1500" dirty="0">
                  <a:solidFill>
                    <a:schemeClr val="accent2"/>
                  </a:solidFill>
                  <a:latin typeface="Consolas"/>
                  <a:ea typeface="Consolas"/>
                  <a:cs typeface="Consolas"/>
                </a:rPr>
                <a:t>A · /feature-workflow:start</a:t>
              </a:r>
            </a:p>
          </p:txBody>
        </p:sp>
        <p:sp>
          <p:nvSpPr>
            <p:cNvPr id="12" name="TextBox 12"/>
            <p:cNvSpPr txBox="1"/>
            <p:nvPr/>
          </p:nvSpPr>
          <p:spPr>
            <a:xfrm>
              <a:off x="1021842" y="2464118"/>
              <a:ext cx="3584848"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사람이 옆에 있고 목표가 선명할 때 — 빠르다</a:t>
              </a:r>
            </a:p>
          </p:txBody>
        </p:sp>
        <p:sp>
          <p:nvSpPr>
            <p:cNvPr id="13" name="Freeform 13"/>
            <p:cNvSpPr/>
            <p:nvPr/>
          </p:nvSpPr>
          <p:spPr>
            <a:xfrm>
              <a:off x="952500" y="2857500"/>
              <a:ext cx="1428750" cy="495300"/>
            </a:xfrm>
            <a:prstGeom prst="chevron">
              <a:avLst/>
            </a:prstGeom>
            <a:solidFill>
              <a:srgbClr val="182238"/>
            </a:solidFill>
            <a:ln w="19050">
              <a:solidFill>
                <a:schemeClr val="accent2"/>
              </a:solidFill>
            </a:ln>
          </p:spPr>
        </p:sp>
        <p:sp>
          <p:nvSpPr>
            <p:cNvPr id="14" name="Freeform 14"/>
            <p:cNvSpPr/>
            <p:nvPr/>
          </p:nvSpPr>
          <p:spPr>
            <a:xfrm>
              <a:off x="2266950" y="2857500"/>
              <a:ext cx="1428750" cy="495300"/>
            </a:xfrm>
            <a:prstGeom prst="chevron">
              <a:avLst/>
            </a:prstGeom>
            <a:solidFill>
              <a:srgbClr val="182238"/>
            </a:solidFill>
            <a:ln w="19050">
              <a:solidFill>
                <a:schemeClr val="accent2"/>
              </a:solidFill>
            </a:ln>
          </p:spPr>
        </p:sp>
        <p:sp>
          <p:nvSpPr>
            <p:cNvPr id="15" name="Freeform 15"/>
            <p:cNvSpPr/>
            <p:nvPr/>
          </p:nvSpPr>
          <p:spPr>
            <a:xfrm>
              <a:off x="3581400" y="2857500"/>
              <a:ext cx="1428750" cy="495300"/>
            </a:xfrm>
            <a:prstGeom prst="chevron">
              <a:avLst/>
            </a:prstGeom>
            <a:solidFill>
              <a:srgbClr val="182238"/>
            </a:solidFill>
            <a:ln w="19050">
              <a:solidFill>
                <a:schemeClr val="accent2"/>
              </a:solidFill>
            </a:ln>
          </p:spPr>
        </p:sp>
        <p:sp>
          <p:nvSpPr>
            <p:cNvPr id="16" name="TextBox 16"/>
            <p:cNvSpPr txBox="1"/>
            <p:nvPr/>
          </p:nvSpPr>
          <p:spPr>
            <a:xfrm>
              <a:off x="1657664" y="3016568"/>
              <a:ext cx="113671" cy="264033"/>
            </a:xfrm>
            <a:prstGeom prst="rect">
              <a:avLst/>
            </a:prstGeom>
            <a:noFill/>
            <a:ln>
              <a:noFill/>
            </a:ln>
          </p:spPr>
          <p:txBody>
            <a:bodyPr wrap="none" lIns="0" tIns="0" rIns="0" bIns="0" anchor="t" anchorCtr="0">
              <a:spAutoFit/>
            </a:bodyPr>
            <a:lstStyle/>
            <a:p>
              <a:pPr algn="ctr"/>
              <a:r>
                <a:rPr lang="ko-KR" sz="1350" dirty="0">
                  <a:solidFill>
                    <a:schemeClr val="dk1"/>
                  </a:solidFill>
                  <a:latin typeface="Consolas"/>
                  <a:ea typeface="Consolas"/>
                  <a:cs typeface="Consolas"/>
                </a:rPr>
                <a:t>1</a:t>
              </a:r>
            </a:p>
          </p:txBody>
        </p:sp>
        <p:sp>
          <p:nvSpPr>
            <p:cNvPr id="17" name="TextBox 17"/>
            <p:cNvSpPr txBox="1"/>
            <p:nvPr/>
          </p:nvSpPr>
          <p:spPr>
            <a:xfrm>
              <a:off x="2972114" y="3016568"/>
              <a:ext cx="113671" cy="264033"/>
            </a:xfrm>
            <a:prstGeom prst="rect">
              <a:avLst/>
            </a:prstGeom>
            <a:noFill/>
            <a:ln>
              <a:noFill/>
            </a:ln>
          </p:spPr>
          <p:txBody>
            <a:bodyPr wrap="none" lIns="0" tIns="0" rIns="0" bIns="0" anchor="t" anchorCtr="0">
              <a:spAutoFit/>
            </a:bodyPr>
            <a:lstStyle/>
            <a:p>
              <a:pPr algn="ctr"/>
              <a:r>
                <a:rPr lang="ko-KR" sz="1350" dirty="0">
                  <a:solidFill>
                    <a:schemeClr val="dk1"/>
                  </a:solidFill>
                  <a:latin typeface="Consolas"/>
                  <a:ea typeface="Consolas"/>
                  <a:cs typeface="Consolas"/>
                </a:rPr>
                <a:t>2</a:t>
              </a:r>
            </a:p>
          </p:txBody>
        </p:sp>
        <p:sp>
          <p:nvSpPr>
            <p:cNvPr id="18" name="TextBox 18"/>
            <p:cNvSpPr txBox="1"/>
            <p:nvPr/>
          </p:nvSpPr>
          <p:spPr>
            <a:xfrm>
              <a:off x="4286564" y="3016568"/>
              <a:ext cx="113671" cy="264033"/>
            </a:xfrm>
            <a:prstGeom prst="rect">
              <a:avLst/>
            </a:prstGeom>
            <a:noFill/>
            <a:ln>
              <a:noFill/>
            </a:ln>
          </p:spPr>
          <p:txBody>
            <a:bodyPr wrap="none" lIns="0" tIns="0" rIns="0" bIns="0" anchor="t" anchorCtr="0">
              <a:spAutoFit/>
            </a:bodyPr>
            <a:lstStyle/>
            <a:p>
              <a:pPr algn="ctr"/>
              <a:r>
                <a:rPr lang="ko-KR" sz="1350" dirty="0">
                  <a:solidFill>
                    <a:schemeClr val="dk1"/>
                  </a:solidFill>
                  <a:latin typeface="Consolas"/>
                  <a:ea typeface="Consolas"/>
                  <a:cs typeface="Consolas"/>
                </a:rPr>
                <a:t>3</a:t>
              </a:r>
            </a:p>
          </p:txBody>
        </p:sp>
        <p:sp>
          <p:nvSpPr>
            <p:cNvPr id="19" name="TextBox 19"/>
            <p:cNvSpPr txBox="1"/>
            <p:nvPr/>
          </p:nvSpPr>
          <p:spPr>
            <a:xfrm>
              <a:off x="1203322" y="3454718"/>
              <a:ext cx="1022356" cy="264033"/>
            </a:xfrm>
            <a:prstGeom prst="rect">
              <a:avLst/>
            </a:prstGeom>
            <a:noFill/>
            <a:ln>
              <a:noFill/>
            </a:ln>
          </p:spPr>
          <p:txBody>
            <a:bodyPr wrap="none" lIns="0" tIns="0" rIns="0" bIns="0" anchor="t" anchorCtr="0">
              <a:spAutoFit/>
            </a:bodyPr>
            <a:lstStyle/>
            <a:p>
              <a:pPr algn="ctr"/>
              <a:r>
                <a:rPr lang="ko-KR" sz="1350" dirty="0">
                  <a:solidFill>
                    <a:schemeClr val="accent5"/>
                  </a:solidFill>
                  <a:latin typeface="+mn-lt"/>
                  <a:ea typeface="+mn-ea"/>
                  <a:cs typeface="+mn-cs"/>
                </a:rPr>
                <a:t>앵커링·티켓</a:t>
              </a:r>
            </a:p>
          </p:txBody>
        </p:sp>
        <p:sp>
          <p:nvSpPr>
            <p:cNvPr id="20" name="TextBox 20"/>
            <p:cNvSpPr txBox="1"/>
            <p:nvPr/>
          </p:nvSpPr>
          <p:spPr>
            <a:xfrm>
              <a:off x="2540489" y="3454718"/>
              <a:ext cx="976922" cy="264033"/>
            </a:xfrm>
            <a:prstGeom prst="rect">
              <a:avLst/>
            </a:prstGeom>
            <a:noFill/>
            <a:ln>
              <a:noFill/>
            </a:ln>
          </p:spPr>
          <p:txBody>
            <a:bodyPr wrap="none" lIns="0" tIns="0" rIns="0" bIns="0" anchor="t" anchorCtr="0">
              <a:spAutoFit/>
            </a:bodyPr>
            <a:lstStyle/>
            <a:p>
              <a:pPr algn="ctr"/>
              <a:r>
                <a:rPr lang="ko-KR" sz="1350" dirty="0">
                  <a:solidFill>
                    <a:schemeClr val="accent5"/>
                  </a:solidFill>
                  <a:latin typeface="+mn-lt"/>
                  <a:ea typeface="+mn-ea"/>
                  <a:cs typeface="+mn-cs"/>
                </a:rPr>
                <a:t>브랜치 합의</a:t>
              </a:r>
            </a:p>
          </p:txBody>
        </p:sp>
        <p:sp>
          <p:nvSpPr>
            <p:cNvPr id="21" name="TextBox 21"/>
            <p:cNvSpPr txBox="1"/>
            <p:nvPr/>
          </p:nvSpPr>
          <p:spPr>
            <a:xfrm>
              <a:off x="3700462" y="3454718"/>
              <a:ext cx="1285875" cy="264033"/>
            </a:xfrm>
            <a:prstGeom prst="rect">
              <a:avLst/>
            </a:prstGeom>
            <a:noFill/>
            <a:ln>
              <a:noFill/>
            </a:ln>
          </p:spPr>
          <p:txBody>
            <a:bodyPr wrap="none" lIns="0" tIns="0" rIns="0" bIns="0" anchor="t" anchorCtr="0">
              <a:spAutoFit/>
            </a:bodyPr>
            <a:lstStyle/>
            <a:p>
              <a:pPr algn="ctr"/>
              <a:r>
                <a:rPr lang="ko-KR" sz="1350" dirty="0">
                  <a:solidFill>
                    <a:schemeClr val="accent5"/>
                  </a:solidFill>
                  <a:latin typeface="+mn-lt"/>
                  <a:ea typeface="+mn-ea"/>
                  <a:cs typeface="+mn-cs"/>
                </a:rPr>
                <a:t>질문 → 3종 생성</a:t>
              </a:r>
            </a:p>
          </p:txBody>
        </p:sp>
        <p:sp>
          <p:nvSpPr>
            <p:cNvPr id="22" name="TextBox 22"/>
            <p:cNvSpPr txBox="1"/>
            <p:nvPr/>
          </p:nvSpPr>
          <p:spPr>
            <a:xfrm>
              <a:off x="1022604" y="3870960"/>
              <a:ext cx="3410712" cy="977646"/>
            </a:xfrm>
            <a:prstGeom prst="rect">
              <a:avLst/>
            </a:prstGeom>
            <a:noFill/>
            <a:ln>
              <a:noFill/>
            </a:ln>
          </p:spPr>
          <p:txBody>
            <a:bodyPr wrap="none" lIns="0" tIns="0" rIns="0" bIns="0" anchor="t" anchorCtr="0">
              <a:spAutoFit/>
            </a:bodyPr>
            <a:lstStyle/>
            <a:p>
              <a:pPr algn="l">
                <a:lnSpc>
                  <a:spcPts val="1950"/>
                </a:lnSpc>
              </a:pPr>
              <a:r>
                <a:rPr lang="ko-KR" sz="1200" dirty="0">
                  <a:solidFill>
                    <a:schemeClr val="dk1"/>
                  </a:solidFill>
                  <a:latin typeface="+mn-lt"/>
                  <a:ea typeface="+mn-ea"/>
                  <a:cs typeface="+mn-cs"/>
                </a:rPr>
                <a:t>① CLAUDE.md·기존 PLAN 을 먼저 읽고 시작</a:t>
              </a:r>
              <a:br/>
              <a:r>
                <a:rPr lang="ko-KR" sz="1200" dirty="0">
                  <a:solidFill>
                    <a:schemeClr val="dk1"/>
                  </a:solidFill>
                  <a:latin typeface="+mn-lt"/>
                  <a:ea typeface="+mn-ea"/>
                  <a:cs typeface="+mn-cs"/>
                </a:rPr>
                <a:t>② 어느 브랜치에서 할지 합의 — 추천만, 강제 없음</a:t>
              </a:r>
              <a:br/>
              <a:r>
                <a:rPr lang="ko-KR" sz="1200" dirty="0">
                  <a:solidFill>
                    <a:schemeClr val="dk1"/>
                  </a:solidFill>
                  <a:latin typeface="+mn-lt"/>
                  <a:ea typeface="+mn-ea"/>
                  <a:cs typeface="+mn-cs"/>
                </a:rPr>
                <a:t>③ 목표·애매한 점·검증 명령을 물어 3종 문서 생성</a:t>
              </a:r>
              <a:br/>
              <a:r>
                <a:rPr lang="ko-KR" sz="1200" dirty="0">
                  <a:solidFill>
                    <a:schemeClr val="accent5"/>
                  </a:solidFill>
                  <a:latin typeface="+mn-lt"/>
                  <a:ea typeface="+mn-ea"/>
                  <a:cs typeface="+mn-cs"/>
                </a:rPr>
                <a:t>브랜치 이름 = docs 폴더 이름 (feature/&lt;이름&gt;)</a:t>
              </a:r>
            </a:p>
          </p:txBody>
        </p:sp>
      </p:grpSp>
      <p:grpSp>
        <p:nvGrpSpPr>
          <p:cNvPr id="46" name="Group 46"/>
          <p:cNvGrpSpPr/>
          <p:nvPr/>
        </p:nvGrpSpPr>
        <p:grpSpPr>
          <a:xfrm>
            <a:off x="6324600" y="1943100"/>
            <a:ext cx="4876800" cy="3200400"/>
            <a:chOff x="6324600" y="1943100"/>
            <a:chExt cx="4876800" cy="3200400"/>
          </a:xfrm>
        </p:grpSpPr>
        <p:sp>
          <p:nvSpPr>
            <p:cNvPr id="24" name="Rectangle 24"/>
            <p:cNvSpPr/>
            <p:nvPr/>
          </p:nvSpPr>
          <p:spPr>
            <a:xfrm>
              <a:off x="6324600" y="1943100"/>
              <a:ext cx="4876800" cy="3200400"/>
            </a:xfrm>
            <a:prstGeom prst="roundRect">
              <a:avLst>
                <a:gd name="adj" fmla="val 1786"/>
              </a:avLst>
            </a:prstGeom>
            <a:solidFill>
              <a:schemeClr val="lt2">
                <a:alpha val="60000"/>
              </a:schemeClr>
            </a:solidFill>
            <a:ln w="19050">
              <a:solidFill>
                <a:schemeClr val="accent1"/>
              </a:solidFill>
            </a:ln>
          </p:spPr>
        </p:sp>
        <p:grpSp>
          <p:nvGrpSpPr>
            <p:cNvPr id="30" name="Group 30"/>
            <p:cNvGrpSpPr/>
            <p:nvPr/>
          </p:nvGrpSpPr>
          <p:grpSpPr>
            <a:xfrm>
              <a:off x="6548438" y="2109788"/>
              <a:ext cx="200025" cy="200025"/>
              <a:chOff x="6548438" y="2109788"/>
              <a:chExt cx="200025" cy="200025"/>
            </a:xfrm>
          </p:grpSpPr>
          <p:sp>
            <p:nvSpPr>
              <p:cNvPr id="25" name="Freeform 25"/>
              <p:cNvSpPr/>
              <p:nvPr/>
            </p:nvSpPr>
            <p:spPr>
              <a:xfrm>
                <a:off x="6626225" y="2109788"/>
                <a:ext cx="44450" cy="44450"/>
              </a:xfrm>
              <a:custGeom>
                <a:avLst/>
                <a:gdLst/>
                <a:ahLst/>
                <a:cxnLst/>
                <a:rect l="l" t="t" r="r" b="b"/>
                <a:pathLst>
                  <a:path w="44450" h="44450">
                    <a:moveTo>
                      <a:pt x="0" y="0"/>
                    </a:moveTo>
                    <a:lnTo>
                      <a:pt x="44450" y="0"/>
                    </a:lnTo>
                    <a:lnTo>
                      <a:pt x="44450" y="44450"/>
                    </a:lnTo>
                    <a:lnTo>
                      <a:pt x="0" y="44450"/>
                    </a:lnTo>
                    <a:lnTo>
                      <a:pt x="0" y="0"/>
                    </a:lnTo>
                  </a:path>
                </a:pathLst>
              </a:custGeom>
              <a:noFill/>
              <a:ln w="22225">
                <a:solidFill>
                  <a:schemeClr val="accent1"/>
                </a:solidFill>
              </a:ln>
            </p:spPr>
          </p:sp>
          <p:sp>
            <p:nvSpPr>
              <p:cNvPr id="26" name="Freeform 26"/>
              <p:cNvSpPr/>
              <p:nvPr/>
            </p:nvSpPr>
            <p:spPr>
              <a:xfrm>
                <a:off x="6548438" y="2265363"/>
                <a:ext cx="44450" cy="44450"/>
              </a:xfrm>
              <a:custGeom>
                <a:avLst/>
                <a:gdLst/>
                <a:ahLst/>
                <a:cxnLst/>
                <a:rect l="l" t="t" r="r" b="b"/>
                <a:pathLst>
                  <a:path w="44450" h="44450">
                    <a:moveTo>
                      <a:pt x="0" y="0"/>
                    </a:moveTo>
                    <a:lnTo>
                      <a:pt x="44450" y="0"/>
                    </a:lnTo>
                    <a:lnTo>
                      <a:pt x="44450" y="44450"/>
                    </a:lnTo>
                    <a:lnTo>
                      <a:pt x="0" y="44450"/>
                    </a:lnTo>
                    <a:lnTo>
                      <a:pt x="0" y="0"/>
                    </a:lnTo>
                  </a:path>
                </a:pathLst>
              </a:custGeom>
              <a:noFill/>
              <a:ln w="22225">
                <a:solidFill>
                  <a:schemeClr val="accent1"/>
                </a:solidFill>
              </a:ln>
            </p:spPr>
          </p:sp>
          <p:sp>
            <p:nvSpPr>
              <p:cNvPr id="27" name="Freeform 27"/>
              <p:cNvSpPr/>
              <p:nvPr/>
            </p:nvSpPr>
            <p:spPr>
              <a:xfrm>
                <a:off x="6704013" y="2265363"/>
                <a:ext cx="44450" cy="44450"/>
              </a:xfrm>
              <a:custGeom>
                <a:avLst/>
                <a:gdLst/>
                <a:ahLst/>
                <a:cxnLst/>
                <a:rect l="l" t="t" r="r" b="b"/>
                <a:pathLst>
                  <a:path w="44450" h="44450">
                    <a:moveTo>
                      <a:pt x="0" y="0"/>
                    </a:moveTo>
                    <a:lnTo>
                      <a:pt x="44450" y="0"/>
                    </a:lnTo>
                    <a:lnTo>
                      <a:pt x="44450" y="44450"/>
                    </a:lnTo>
                    <a:lnTo>
                      <a:pt x="0" y="44450"/>
                    </a:lnTo>
                    <a:lnTo>
                      <a:pt x="0" y="0"/>
                    </a:lnTo>
                  </a:path>
                </a:pathLst>
              </a:custGeom>
              <a:noFill/>
              <a:ln w="22225">
                <a:solidFill>
                  <a:schemeClr val="accent1"/>
                </a:solidFill>
              </a:ln>
            </p:spPr>
          </p:sp>
          <p:sp>
            <p:nvSpPr>
              <p:cNvPr id="28" name="Freeform 28"/>
              <p:cNvSpPr/>
              <p:nvPr/>
            </p:nvSpPr>
            <p:spPr>
              <a:xfrm>
                <a:off x="6592888" y="2220913"/>
                <a:ext cx="111125" cy="44450"/>
              </a:xfrm>
              <a:custGeom>
                <a:avLst/>
                <a:gdLst/>
                <a:ahLst/>
                <a:cxnLst/>
                <a:rect l="l" t="t" r="r" b="b"/>
                <a:pathLst>
                  <a:path w="111125" h="44450">
                    <a:moveTo>
                      <a:pt x="0" y="44450"/>
                    </a:moveTo>
                    <a:lnTo>
                      <a:pt x="55563" y="0"/>
                    </a:lnTo>
                    <a:lnTo>
                      <a:pt x="111125" y="44450"/>
                    </a:lnTo>
                  </a:path>
                </a:pathLst>
              </a:custGeom>
              <a:noFill/>
              <a:ln w="22225">
                <a:solidFill>
                  <a:schemeClr val="accent1"/>
                </a:solidFill>
              </a:ln>
            </p:spPr>
          </p:sp>
          <p:sp>
            <p:nvSpPr>
              <p:cNvPr id="29" name="Freeform 29"/>
              <p:cNvSpPr/>
              <p:nvPr/>
            </p:nvSpPr>
            <p:spPr>
              <a:xfrm>
                <a:off x="6648450" y="2154238"/>
                <a:ext cx="9525" cy="66675"/>
              </a:xfrm>
              <a:custGeom>
                <a:avLst/>
                <a:gdLst/>
                <a:ahLst/>
                <a:cxnLst/>
                <a:rect l="l" t="t" r="r" b="b"/>
                <a:pathLst>
                  <a:path w="9525" h="66675">
                    <a:moveTo>
                      <a:pt x="0" y="0"/>
                    </a:moveTo>
                    <a:lnTo>
                      <a:pt x="0" y="66675"/>
                    </a:lnTo>
                  </a:path>
                </a:pathLst>
              </a:custGeom>
              <a:noFill/>
              <a:ln w="22225">
                <a:solidFill>
                  <a:schemeClr val="accent1"/>
                </a:solidFill>
              </a:ln>
            </p:spPr>
          </p:sp>
        </p:grpSp>
        <p:sp>
          <p:nvSpPr>
            <p:cNvPr id="31" name="TextBox 31"/>
            <p:cNvSpPr txBox="1"/>
            <p:nvPr/>
          </p:nvSpPr>
          <p:spPr>
            <a:xfrm>
              <a:off x="6869430" y="2124075"/>
              <a:ext cx="1628156" cy="293370"/>
            </a:xfrm>
            <a:prstGeom prst="rect">
              <a:avLst/>
            </a:prstGeom>
            <a:noFill/>
            <a:ln>
              <a:noFill/>
            </a:ln>
          </p:spPr>
          <p:txBody>
            <a:bodyPr wrap="none" lIns="0" tIns="0" rIns="0" bIns="0" anchor="t" anchorCtr="0">
              <a:spAutoFit/>
            </a:bodyPr>
            <a:lstStyle/>
            <a:p>
              <a:pPr algn="l"/>
              <a:r>
                <a:rPr lang="ko-KR" sz="1500" dirty="0">
                  <a:solidFill>
                    <a:schemeClr val="accent1"/>
                  </a:solidFill>
                  <a:latin typeface="Consolas"/>
                  <a:ea typeface="Consolas"/>
                  <a:cs typeface="Consolas"/>
                </a:rPr>
                <a:t>B · fw interview</a:t>
              </a:r>
            </a:p>
          </p:txBody>
        </p:sp>
        <p:sp>
          <p:nvSpPr>
            <p:cNvPr id="32" name="TextBox 32"/>
            <p:cNvSpPr txBox="1"/>
            <p:nvPr/>
          </p:nvSpPr>
          <p:spPr>
            <a:xfrm>
              <a:off x="6508242" y="2464118"/>
              <a:ext cx="4184580"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목표만 있고 계획이 없을 때 — 세 관점으로 다듬는다</a:t>
              </a:r>
            </a:p>
          </p:txBody>
        </p:sp>
        <p:sp>
          <p:nvSpPr>
            <p:cNvPr id="33" name="Freeform 33"/>
            <p:cNvSpPr/>
            <p:nvPr/>
          </p:nvSpPr>
          <p:spPr>
            <a:xfrm>
              <a:off x="6477000" y="2857500"/>
              <a:ext cx="1181100" cy="495300"/>
            </a:xfrm>
            <a:prstGeom prst="chevron">
              <a:avLst/>
            </a:prstGeom>
            <a:solidFill>
              <a:srgbClr val="182238"/>
            </a:solidFill>
            <a:ln w="19050">
              <a:solidFill>
                <a:schemeClr val="accent1"/>
              </a:solidFill>
            </a:ln>
          </p:spPr>
        </p:sp>
        <p:sp>
          <p:nvSpPr>
            <p:cNvPr id="34" name="Freeform 34"/>
            <p:cNvSpPr/>
            <p:nvPr/>
          </p:nvSpPr>
          <p:spPr>
            <a:xfrm>
              <a:off x="7543800" y="2857500"/>
              <a:ext cx="1181100" cy="495300"/>
            </a:xfrm>
            <a:prstGeom prst="chevron">
              <a:avLst/>
            </a:prstGeom>
            <a:solidFill>
              <a:srgbClr val="182238"/>
            </a:solidFill>
            <a:ln w="19050">
              <a:solidFill>
                <a:schemeClr val="accent1"/>
              </a:solidFill>
            </a:ln>
          </p:spPr>
        </p:sp>
        <p:sp>
          <p:nvSpPr>
            <p:cNvPr id="35" name="Freeform 35"/>
            <p:cNvSpPr/>
            <p:nvPr/>
          </p:nvSpPr>
          <p:spPr>
            <a:xfrm>
              <a:off x="8610600" y="2857500"/>
              <a:ext cx="1181100" cy="495300"/>
            </a:xfrm>
            <a:prstGeom prst="chevron">
              <a:avLst/>
            </a:prstGeom>
            <a:solidFill>
              <a:srgbClr val="182238"/>
            </a:solidFill>
            <a:ln w="19050">
              <a:solidFill>
                <a:schemeClr val="accent1"/>
              </a:solidFill>
            </a:ln>
          </p:spPr>
        </p:sp>
        <p:sp>
          <p:nvSpPr>
            <p:cNvPr id="36" name="Freeform 36"/>
            <p:cNvSpPr/>
            <p:nvPr/>
          </p:nvSpPr>
          <p:spPr>
            <a:xfrm>
              <a:off x="9677400" y="2857500"/>
              <a:ext cx="1181100" cy="495300"/>
            </a:xfrm>
            <a:prstGeom prst="chevron">
              <a:avLst/>
            </a:prstGeom>
            <a:solidFill>
              <a:srgbClr val="182238"/>
            </a:solidFill>
            <a:ln w="19050">
              <a:solidFill>
                <a:schemeClr val="accent2"/>
              </a:solidFill>
            </a:ln>
          </p:spPr>
        </p:sp>
        <p:sp>
          <p:nvSpPr>
            <p:cNvPr id="37" name="TextBox 37"/>
            <p:cNvSpPr txBox="1"/>
            <p:nvPr/>
          </p:nvSpPr>
          <p:spPr>
            <a:xfrm>
              <a:off x="7067864" y="3016568"/>
              <a:ext cx="113671" cy="264033"/>
            </a:xfrm>
            <a:prstGeom prst="rect">
              <a:avLst/>
            </a:prstGeom>
            <a:noFill/>
            <a:ln>
              <a:noFill/>
            </a:ln>
          </p:spPr>
          <p:txBody>
            <a:bodyPr wrap="none" lIns="0" tIns="0" rIns="0" bIns="0" anchor="t" anchorCtr="0">
              <a:spAutoFit/>
            </a:bodyPr>
            <a:lstStyle/>
            <a:p>
              <a:pPr algn="ctr"/>
              <a:r>
                <a:rPr lang="ko-KR" sz="1350" dirty="0">
                  <a:solidFill>
                    <a:schemeClr val="dk1"/>
                  </a:solidFill>
                  <a:latin typeface="Consolas"/>
                  <a:ea typeface="Consolas"/>
                  <a:cs typeface="Consolas"/>
                </a:rPr>
                <a:t>1</a:t>
              </a:r>
            </a:p>
          </p:txBody>
        </p:sp>
        <p:sp>
          <p:nvSpPr>
            <p:cNvPr id="38" name="TextBox 38"/>
            <p:cNvSpPr txBox="1"/>
            <p:nvPr/>
          </p:nvSpPr>
          <p:spPr>
            <a:xfrm>
              <a:off x="8134664" y="3016568"/>
              <a:ext cx="113671" cy="264033"/>
            </a:xfrm>
            <a:prstGeom prst="rect">
              <a:avLst/>
            </a:prstGeom>
            <a:noFill/>
            <a:ln>
              <a:noFill/>
            </a:ln>
          </p:spPr>
          <p:txBody>
            <a:bodyPr wrap="none" lIns="0" tIns="0" rIns="0" bIns="0" anchor="t" anchorCtr="0">
              <a:spAutoFit/>
            </a:bodyPr>
            <a:lstStyle/>
            <a:p>
              <a:pPr algn="ctr"/>
              <a:r>
                <a:rPr lang="ko-KR" sz="1350" dirty="0">
                  <a:solidFill>
                    <a:schemeClr val="dk1"/>
                  </a:solidFill>
                  <a:latin typeface="Consolas"/>
                  <a:ea typeface="Consolas"/>
                  <a:cs typeface="Consolas"/>
                </a:rPr>
                <a:t>2</a:t>
              </a:r>
            </a:p>
          </p:txBody>
        </p:sp>
        <p:sp>
          <p:nvSpPr>
            <p:cNvPr id="39" name="TextBox 39"/>
            <p:cNvSpPr txBox="1"/>
            <p:nvPr/>
          </p:nvSpPr>
          <p:spPr>
            <a:xfrm>
              <a:off x="9201464" y="3016568"/>
              <a:ext cx="113671" cy="264033"/>
            </a:xfrm>
            <a:prstGeom prst="rect">
              <a:avLst/>
            </a:prstGeom>
            <a:noFill/>
            <a:ln>
              <a:noFill/>
            </a:ln>
          </p:spPr>
          <p:txBody>
            <a:bodyPr wrap="none" lIns="0" tIns="0" rIns="0" bIns="0" anchor="t" anchorCtr="0">
              <a:spAutoFit/>
            </a:bodyPr>
            <a:lstStyle/>
            <a:p>
              <a:pPr algn="ctr"/>
              <a:r>
                <a:rPr lang="ko-KR" sz="1350" dirty="0">
                  <a:solidFill>
                    <a:schemeClr val="dk1"/>
                  </a:solidFill>
                  <a:latin typeface="Consolas"/>
                  <a:ea typeface="Consolas"/>
                  <a:cs typeface="Consolas"/>
                </a:rPr>
                <a:t>3</a:t>
              </a:r>
            </a:p>
          </p:txBody>
        </p:sp>
        <p:sp>
          <p:nvSpPr>
            <p:cNvPr id="40" name="TextBox 40"/>
            <p:cNvSpPr txBox="1"/>
            <p:nvPr/>
          </p:nvSpPr>
          <p:spPr>
            <a:xfrm>
              <a:off x="10268264" y="3016568"/>
              <a:ext cx="113671" cy="264033"/>
            </a:xfrm>
            <a:prstGeom prst="rect">
              <a:avLst/>
            </a:prstGeom>
            <a:noFill/>
            <a:ln>
              <a:noFill/>
            </a:ln>
          </p:spPr>
          <p:txBody>
            <a:bodyPr wrap="none" lIns="0" tIns="0" rIns="0" bIns="0" anchor="t" anchorCtr="0">
              <a:spAutoFit/>
            </a:bodyPr>
            <a:lstStyle/>
            <a:p>
              <a:pPr algn="ctr"/>
              <a:r>
                <a:rPr lang="ko-KR" sz="1350" dirty="0">
                  <a:solidFill>
                    <a:schemeClr val="accent2"/>
                  </a:solidFill>
                  <a:latin typeface="Consolas"/>
                  <a:ea typeface="Consolas"/>
                  <a:cs typeface="Consolas"/>
                </a:rPr>
                <a:t>4</a:t>
              </a:r>
            </a:p>
          </p:txBody>
        </p:sp>
        <p:sp>
          <p:nvSpPr>
            <p:cNvPr id="41" name="TextBox 41"/>
            <p:cNvSpPr txBox="1"/>
            <p:nvPr/>
          </p:nvSpPr>
          <p:spPr>
            <a:xfrm>
              <a:off x="6695303" y="3454718"/>
              <a:ext cx="858793" cy="264033"/>
            </a:xfrm>
            <a:prstGeom prst="rect">
              <a:avLst/>
            </a:prstGeom>
            <a:noFill/>
            <a:ln>
              <a:noFill/>
            </a:ln>
          </p:spPr>
          <p:txBody>
            <a:bodyPr wrap="none" lIns="0" tIns="0" rIns="0" bIns="0" anchor="t" anchorCtr="0">
              <a:spAutoFit/>
            </a:bodyPr>
            <a:lstStyle/>
            <a:p>
              <a:pPr algn="ctr"/>
              <a:r>
                <a:rPr lang="ko-KR" sz="1350" dirty="0">
                  <a:solidFill>
                    <a:schemeClr val="accent5"/>
                  </a:solidFill>
                  <a:latin typeface="+mn-lt"/>
                  <a:ea typeface="+mn-ea"/>
                  <a:cs typeface="+mn-cs"/>
                </a:rPr>
                <a:t>interview</a:t>
              </a:r>
            </a:p>
          </p:txBody>
        </p:sp>
        <p:sp>
          <p:nvSpPr>
            <p:cNvPr id="42" name="TextBox 42"/>
            <p:cNvSpPr txBox="1"/>
            <p:nvPr/>
          </p:nvSpPr>
          <p:spPr>
            <a:xfrm>
              <a:off x="7789364" y="3454718"/>
              <a:ext cx="804272" cy="264033"/>
            </a:xfrm>
            <a:prstGeom prst="rect">
              <a:avLst/>
            </a:prstGeom>
            <a:noFill/>
            <a:ln>
              <a:noFill/>
            </a:ln>
          </p:spPr>
          <p:txBody>
            <a:bodyPr wrap="none" lIns="0" tIns="0" rIns="0" bIns="0" anchor="t" anchorCtr="0">
              <a:spAutoFit/>
            </a:bodyPr>
            <a:lstStyle/>
            <a:p>
              <a:pPr algn="ctr"/>
              <a:r>
                <a:rPr lang="ko-KR" sz="1350" dirty="0">
                  <a:solidFill>
                    <a:schemeClr val="accent5"/>
                  </a:solidFill>
                  <a:latin typeface="+mn-lt"/>
                  <a:ea typeface="+mn-ea"/>
                  <a:cs typeface="+mn-cs"/>
                </a:rPr>
                <a:t>answer ↺</a:t>
              </a:r>
            </a:p>
          </p:txBody>
        </p:sp>
        <p:sp>
          <p:nvSpPr>
            <p:cNvPr id="43" name="TextBox 43"/>
            <p:cNvSpPr txBox="1"/>
            <p:nvPr/>
          </p:nvSpPr>
          <p:spPr>
            <a:xfrm>
              <a:off x="8901598" y="3454718"/>
              <a:ext cx="713403" cy="264033"/>
            </a:xfrm>
            <a:prstGeom prst="rect">
              <a:avLst/>
            </a:prstGeom>
            <a:noFill/>
            <a:ln>
              <a:noFill/>
            </a:ln>
          </p:spPr>
          <p:txBody>
            <a:bodyPr wrap="none" lIns="0" tIns="0" rIns="0" bIns="0" anchor="t" anchorCtr="0">
              <a:spAutoFit/>
            </a:bodyPr>
            <a:lstStyle/>
            <a:p>
              <a:pPr algn="ctr"/>
              <a:r>
                <a:rPr lang="ko-KR" sz="1350" dirty="0">
                  <a:solidFill>
                    <a:schemeClr val="accent5"/>
                  </a:solidFill>
                  <a:latin typeface="+mn-lt"/>
                  <a:ea typeface="+mn-ea"/>
                  <a:cs typeface="+mn-cs"/>
                </a:rPr>
                <a:t>approve</a:t>
              </a:r>
            </a:p>
          </p:txBody>
        </p:sp>
        <p:sp>
          <p:nvSpPr>
            <p:cNvPr id="44" name="TextBox 44"/>
            <p:cNvSpPr txBox="1"/>
            <p:nvPr/>
          </p:nvSpPr>
          <p:spPr>
            <a:xfrm>
              <a:off x="9968398" y="3454718"/>
              <a:ext cx="713403" cy="264033"/>
            </a:xfrm>
            <a:prstGeom prst="rect">
              <a:avLst/>
            </a:prstGeom>
            <a:noFill/>
            <a:ln>
              <a:noFill/>
            </a:ln>
          </p:spPr>
          <p:txBody>
            <a:bodyPr wrap="none" lIns="0" tIns="0" rIns="0" bIns="0" anchor="t" anchorCtr="0">
              <a:spAutoFit/>
            </a:bodyPr>
            <a:lstStyle/>
            <a:p>
              <a:pPr algn="ctr"/>
              <a:r>
                <a:rPr lang="ko-KR" sz="1350" dirty="0">
                  <a:solidFill>
                    <a:schemeClr val="accent2"/>
                  </a:solidFill>
                  <a:latin typeface="+mn-lt"/>
                  <a:ea typeface="+mn-ea"/>
                  <a:cs typeface="+mn-cs"/>
                </a:rPr>
                <a:t>표 → init</a:t>
              </a:r>
            </a:p>
          </p:txBody>
        </p:sp>
        <p:sp>
          <p:nvSpPr>
            <p:cNvPr id="45" name="TextBox 45"/>
            <p:cNvSpPr txBox="1"/>
            <p:nvPr/>
          </p:nvSpPr>
          <p:spPr>
            <a:xfrm>
              <a:off x="6509004" y="3870960"/>
              <a:ext cx="3928872" cy="977646"/>
            </a:xfrm>
            <a:prstGeom prst="rect">
              <a:avLst/>
            </a:prstGeom>
            <a:noFill/>
            <a:ln>
              <a:noFill/>
            </a:ln>
          </p:spPr>
          <p:txBody>
            <a:bodyPr wrap="none" lIns="0" tIns="0" rIns="0" bIns="0" anchor="t" anchorCtr="0">
              <a:spAutoFit/>
            </a:bodyPr>
            <a:lstStyle/>
            <a:p>
              <a:pPr algn="l">
                <a:lnSpc>
                  <a:spcPts val="1950"/>
                </a:lnSpc>
              </a:pPr>
              <a:r>
                <a:rPr lang="ko-KR" sz="1200" dirty="0">
                  <a:solidFill>
                    <a:schemeClr val="dk1"/>
                  </a:solidFill>
                  <a:latin typeface="+mn-lt"/>
                  <a:ea typeface="+mn-ea"/>
                  <a:cs typeface="+mn-cs"/>
                </a:rPr>
                <a:t xml:space="preserve">① </a:t>
              </a:r>
              <a:r>
                <a:rPr lang="ko-KR" sz="1200" dirty="0">
                  <a:solidFill>
                    <a:schemeClr val="dk1"/>
                  </a:solidFill>
                  <a:latin typeface="Consolas"/>
                  <a:ea typeface="Microsoft YaHei"/>
                  <a:cs typeface="Consolas"/>
                </a:rPr>
                <a:t>fw interview &lt;이름&gt; --goal "..."</a:t>
              </a:r>
              <a:r>
                <a:rPr lang="ko-KR" sz="1200" dirty="0">
                  <a:solidFill>
                    <a:schemeClr val="dk1"/>
                  </a:solidFill>
                  <a:latin typeface="+mn-lt"/>
                  <a:ea typeface="+mn-ea"/>
                  <a:cs typeface="+mn-cs"/>
                </a:rPr>
                <a:t xml:space="preserve"> (--entry 선택)</a:t>
              </a:r>
              <a:br/>
              <a:r>
                <a:rPr lang="ko-KR" sz="1200" dirty="0">
                  <a:solidFill>
                    <a:schemeClr val="dk1"/>
                  </a:solidFill>
                  <a:latin typeface="+mn-lt"/>
                  <a:ea typeface="+mn-ea"/>
                  <a:cs typeface="+mn-cs"/>
                </a:rPr>
                <a:t>② 질문(P1·D1·E1)에 답하고 재실행 — 이의 라운드는 자동</a:t>
              </a:r>
              <a:br/>
              <a:r>
                <a:rPr lang="ko-KR" sz="1200" dirty="0">
                  <a:solidFill>
                    <a:schemeClr val="dk1"/>
                  </a:solidFill>
                  <a:latin typeface="+mn-lt"/>
                  <a:ea typeface="+mn-ea"/>
                  <a:cs typeface="+mn-cs"/>
                </a:rPr>
                <a:t xml:space="preserve">③ ready → </a:t>
              </a:r>
              <a:r>
                <a:rPr lang="ko-KR" sz="1200" dirty="0">
                  <a:solidFill>
                    <a:schemeClr val="dk1"/>
                  </a:solidFill>
                  <a:latin typeface="Consolas"/>
                  <a:ea typeface="Consolas"/>
                  <a:cs typeface="Consolas"/>
                </a:rPr>
                <a:t>interview-approve</a:t>
              </a:r>
              <a:r>
                <a:rPr lang="ko-KR" sz="1200" dirty="0">
                  <a:solidFill>
                    <a:schemeClr val="dk1"/>
                  </a:solidFill>
                  <a:latin typeface="+mn-lt"/>
                  <a:ea typeface="+mn-ea"/>
                  <a:cs typeface="+mn-cs"/>
                </a:rPr>
                <a:t xml:space="preserve"> (미수렴 시 --force)</a:t>
              </a:r>
              <a:br/>
              <a:r>
                <a:rPr lang="ko-KR" sz="1200" dirty="0">
                  <a:solidFill>
                    <a:schemeClr val="accent2"/>
                  </a:solidFill>
                  <a:latin typeface="+mn-lt"/>
                  <a:ea typeface="+mn-ea"/>
                  <a:cs typeface="+mn-cs"/>
                </a:rPr>
                <a:t xml:space="preserve">④ Phase 표 채움 → </a:t>
              </a:r>
              <a:r>
                <a:rPr lang="ko-KR" sz="1200" dirty="0">
                  <a:solidFill>
                    <a:schemeClr val="accent2"/>
                  </a:solidFill>
                  <a:latin typeface="Consolas"/>
                  <a:ea typeface="Consolas"/>
                  <a:cs typeface="Consolas"/>
                </a:rPr>
                <a:t>fw init</a:t>
              </a:r>
              <a:r>
                <a:rPr lang="ko-KR" sz="1200" dirty="0">
                  <a:solidFill>
                    <a:schemeClr val="accent2"/>
                  </a:solidFill>
                  <a:latin typeface="+mn-lt"/>
                  <a:ea typeface="+mn-ea"/>
                  <a:cs typeface="+mn-cs"/>
                </a:rPr>
                <a:t xml:space="preserve"> → phases 채움 → run</a:t>
              </a:r>
            </a:p>
          </p:txBody>
        </p:sp>
      </p:grpSp>
      <p:grpSp>
        <p:nvGrpSpPr>
          <p:cNvPr id="52" name="Group 52"/>
          <p:cNvGrpSpPr/>
          <p:nvPr/>
        </p:nvGrpSpPr>
        <p:grpSpPr>
          <a:xfrm>
            <a:off x="1520102" y="5219700"/>
            <a:ext cx="9151797" cy="1051751"/>
            <a:chOff x="1520102" y="5219700"/>
            <a:chExt cx="9151797" cy="1051751"/>
          </a:xfrm>
        </p:grpSpPr>
        <p:sp>
          <p:nvSpPr>
            <p:cNvPr id="47" name="Line 47"/>
            <p:cNvSpPr/>
            <p:nvPr/>
          </p:nvSpPr>
          <p:spPr>
            <a:xfrm>
              <a:off x="3086100" y="5219700"/>
              <a:ext cx="9525" cy="266700"/>
            </a:xfrm>
            <a:custGeom>
              <a:avLst/>
              <a:gdLst/>
              <a:ahLst/>
              <a:cxnLst/>
              <a:rect l="l" t="t" r="r" b="b"/>
              <a:pathLst>
                <a:path w="9525" h="266700">
                  <a:moveTo>
                    <a:pt x="0" y="0"/>
                  </a:moveTo>
                  <a:lnTo>
                    <a:pt x="0" y="266700"/>
                  </a:lnTo>
                </a:path>
              </a:pathLst>
            </a:custGeom>
            <a:noFill/>
            <a:ln w="14288">
              <a:solidFill>
                <a:srgbClr val="9AA8BD"/>
              </a:solidFill>
            </a:ln>
          </p:spPr>
        </p:sp>
        <p:sp>
          <p:nvSpPr>
            <p:cNvPr id="48" name="Line 48"/>
            <p:cNvSpPr/>
            <p:nvPr/>
          </p:nvSpPr>
          <p:spPr>
            <a:xfrm>
              <a:off x="8763000" y="5219700"/>
              <a:ext cx="9525" cy="266700"/>
            </a:xfrm>
            <a:custGeom>
              <a:avLst/>
              <a:gdLst/>
              <a:ahLst/>
              <a:cxnLst/>
              <a:rect l="l" t="t" r="r" b="b"/>
              <a:pathLst>
                <a:path w="9525" h="266700">
                  <a:moveTo>
                    <a:pt x="0" y="0"/>
                  </a:moveTo>
                  <a:lnTo>
                    <a:pt x="0" y="266700"/>
                  </a:lnTo>
                </a:path>
              </a:pathLst>
            </a:custGeom>
            <a:noFill/>
            <a:ln w="14288">
              <a:solidFill>
                <a:srgbClr val="9AA8BD"/>
              </a:solidFill>
            </a:ln>
          </p:spPr>
        </p:sp>
        <p:sp>
          <p:nvSpPr>
            <p:cNvPr id="49" name="Line 49"/>
            <p:cNvSpPr/>
            <p:nvPr/>
          </p:nvSpPr>
          <p:spPr>
            <a:xfrm>
              <a:off x="3086100" y="5486400"/>
              <a:ext cx="5676900" cy="9525"/>
            </a:xfrm>
            <a:custGeom>
              <a:avLst/>
              <a:gdLst/>
              <a:ahLst/>
              <a:cxnLst/>
              <a:rect l="l" t="t" r="r" b="b"/>
              <a:pathLst>
                <a:path w="5676900" h="9525">
                  <a:moveTo>
                    <a:pt x="0" y="0"/>
                  </a:moveTo>
                  <a:lnTo>
                    <a:pt x="5676900" y="0"/>
                  </a:lnTo>
                </a:path>
              </a:pathLst>
            </a:custGeom>
            <a:noFill/>
            <a:ln w="14288">
              <a:solidFill>
                <a:srgbClr val="9AA8BD"/>
              </a:solidFill>
            </a:ln>
          </p:spPr>
        </p:sp>
        <p:sp>
          <p:nvSpPr>
            <p:cNvPr id="50" name="Freeform 50"/>
            <p:cNvSpPr/>
            <p:nvPr/>
          </p:nvSpPr>
          <p:spPr>
            <a:xfrm>
              <a:off x="5715000" y="5486400"/>
              <a:ext cx="762000" cy="342900"/>
            </a:xfrm>
            <a:prstGeom prst="flowChartMerge">
              <a:avLst/>
            </a:prstGeom>
            <a:solidFill>
              <a:srgbClr val="182238"/>
            </a:solidFill>
            <a:ln w="19050">
              <a:solidFill>
                <a:srgbClr val="9AA8BD"/>
              </a:solidFill>
            </a:ln>
          </p:spPr>
        </p:sp>
        <p:sp>
          <p:nvSpPr>
            <p:cNvPr id="51" name="TextBox 51"/>
            <p:cNvSpPr txBox="1"/>
            <p:nvPr/>
          </p:nvSpPr>
          <p:spPr>
            <a:xfrm>
              <a:off x="1520102" y="6007418"/>
              <a:ext cx="9151797" cy="264033"/>
            </a:xfrm>
            <a:prstGeom prst="rect">
              <a:avLst/>
            </a:prstGeom>
            <a:noFill/>
            <a:ln>
              <a:noFill/>
            </a:ln>
          </p:spPr>
          <p:txBody>
            <a:bodyPr wrap="none" lIns="0" tIns="0" rIns="0" bIns="0" anchor="t" anchorCtr="0">
              <a:spAutoFit/>
            </a:bodyPr>
            <a:lstStyle/>
            <a:p>
              <a:pPr algn="ctr"/>
              <a:r>
                <a:rPr lang="ko-KR" sz="1350" dirty="0">
                  <a:solidFill>
                    <a:schemeClr val="dk1"/>
                  </a:solidFill>
                  <a:latin typeface="+mn-lt"/>
                  <a:ea typeface="+mn-ea"/>
                  <a:cs typeface="+mn-cs"/>
                </a:rPr>
                <a:t xml:space="preserve">결과물은 같다 — </a:t>
              </a:r>
              <a:r>
                <a:rPr lang="ko-KR" sz="1350" dirty="0">
                  <a:solidFill>
                    <a:schemeClr val="accent1"/>
                  </a:solidFill>
                  <a:latin typeface="Consolas"/>
                  <a:ea typeface="Microsoft YaHei"/>
                  <a:cs typeface="Consolas"/>
                </a:rPr>
                <a:t>docs/&lt;이름&gt;/ PLAN.md · NOTES.md · STATE.json</a:t>
              </a:r>
              <a:r>
                <a:rPr lang="ko-KR" sz="1350" dirty="0">
                  <a:solidFill>
                    <a:schemeClr val="dk1"/>
                  </a:solidFill>
                  <a:latin typeface="+mn-lt"/>
                  <a:ea typeface="+mn-ea"/>
                  <a:cs typeface="+mn-cs"/>
                </a:rPr>
                <a:t xml:space="preserve"> · B 는 Phase 표를 사람이 채운 뒤 fw init</a:t>
              </a:r>
            </a:p>
          </p:txBody>
        </p:sp>
      </p:grpSp>
      <p:grpSp>
        <p:nvGrpSpPr>
          <p:cNvPr id="55" name="Group 55"/>
          <p:cNvGrpSpPr/>
          <p:nvPr/>
        </p:nvGrpSpPr>
        <p:grpSpPr>
          <a:xfrm>
            <a:off x="604266" y="6516052"/>
            <a:ext cx="10983468" cy="205359"/>
            <a:chOff x="604266" y="6516052"/>
            <a:chExt cx="10983468" cy="205359"/>
          </a:xfrm>
        </p:grpSpPr>
        <p:sp>
          <p:nvSpPr>
            <p:cNvPr id="53" name="TextBox 53"/>
            <p:cNvSpPr txBox="1"/>
            <p:nvPr/>
          </p:nvSpPr>
          <p:spPr>
            <a:xfrm>
              <a:off x="604266" y="6516052"/>
              <a:ext cx="4475466"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feature-workflow · plugins/feature-workflow/README.md §4.1</a:t>
              </a:r>
            </a:p>
          </p:txBody>
        </p:sp>
        <p:sp>
          <p:nvSpPr>
            <p:cNvPr id="54" name="TextBox 54"/>
            <p:cNvSpPr txBox="1"/>
            <p:nvPr/>
          </p:nvSpPr>
          <p:spPr>
            <a:xfrm>
              <a:off x="11103540" y="65160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06 / 19</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609600" y="1905000"/>
            <a:ext cx="10972800" cy="3810000"/>
          </a:xfrm>
          <a:custGeom>
            <a:avLst/>
            <a:gdLst/>
            <a:ahLst/>
            <a:cxnLst/>
            <a:rect l="l" t="t" r="r" b="b"/>
            <a:pathLst>
              <a:path w="10972800" h="3810000">
                <a:moveTo>
                  <a:pt x="152400" y="0"/>
                </a:moveTo>
                <a:lnTo>
                  <a:pt x="152400" y="3810000"/>
                </a:lnTo>
                <a:moveTo>
                  <a:pt x="914400" y="0"/>
                </a:moveTo>
                <a:lnTo>
                  <a:pt x="914400" y="3810000"/>
                </a:lnTo>
                <a:moveTo>
                  <a:pt x="1676400" y="0"/>
                </a:moveTo>
                <a:lnTo>
                  <a:pt x="1676400" y="3810000"/>
                </a:lnTo>
                <a:moveTo>
                  <a:pt x="2438400" y="0"/>
                </a:moveTo>
                <a:lnTo>
                  <a:pt x="2438400" y="3810000"/>
                </a:lnTo>
                <a:moveTo>
                  <a:pt x="3200400" y="0"/>
                </a:moveTo>
                <a:lnTo>
                  <a:pt x="3200400" y="3810000"/>
                </a:lnTo>
                <a:moveTo>
                  <a:pt x="3962400" y="0"/>
                </a:moveTo>
                <a:lnTo>
                  <a:pt x="3962400" y="3810000"/>
                </a:lnTo>
                <a:moveTo>
                  <a:pt x="4724400" y="0"/>
                </a:moveTo>
                <a:lnTo>
                  <a:pt x="4724400" y="3810000"/>
                </a:lnTo>
                <a:moveTo>
                  <a:pt x="5486400" y="0"/>
                </a:moveTo>
                <a:lnTo>
                  <a:pt x="5486400" y="3810000"/>
                </a:lnTo>
                <a:moveTo>
                  <a:pt x="6248400" y="0"/>
                </a:moveTo>
                <a:lnTo>
                  <a:pt x="6248400" y="3810000"/>
                </a:lnTo>
                <a:moveTo>
                  <a:pt x="7010400" y="0"/>
                </a:moveTo>
                <a:lnTo>
                  <a:pt x="7010400" y="3810000"/>
                </a:lnTo>
                <a:moveTo>
                  <a:pt x="7772400" y="0"/>
                </a:moveTo>
                <a:lnTo>
                  <a:pt x="7772400" y="3810000"/>
                </a:lnTo>
                <a:moveTo>
                  <a:pt x="8534400" y="0"/>
                </a:moveTo>
                <a:lnTo>
                  <a:pt x="8534400" y="3810000"/>
                </a:lnTo>
                <a:moveTo>
                  <a:pt x="9296400" y="0"/>
                </a:moveTo>
                <a:lnTo>
                  <a:pt x="9296400" y="3810000"/>
                </a:lnTo>
                <a:moveTo>
                  <a:pt x="10058400" y="0"/>
                </a:moveTo>
                <a:lnTo>
                  <a:pt x="10058400" y="3810000"/>
                </a:lnTo>
                <a:moveTo>
                  <a:pt x="10820400" y="0"/>
                </a:moveTo>
                <a:lnTo>
                  <a:pt x="10820400" y="3810000"/>
                </a:lnTo>
                <a:moveTo>
                  <a:pt x="0" y="381000"/>
                </a:moveTo>
                <a:lnTo>
                  <a:pt x="10972800" y="381000"/>
                </a:lnTo>
                <a:moveTo>
                  <a:pt x="0" y="1143000"/>
                </a:moveTo>
                <a:lnTo>
                  <a:pt x="10972800" y="1143000"/>
                </a:lnTo>
                <a:moveTo>
                  <a:pt x="0" y="1905000"/>
                </a:moveTo>
                <a:lnTo>
                  <a:pt x="10972800" y="1905000"/>
                </a:lnTo>
                <a:moveTo>
                  <a:pt x="0" y="2667000"/>
                </a:moveTo>
                <a:lnTo>
                  <a:pt x="10972800" y="2667000"/>
                </a:lnTo>
                <a:moveTo>
                  <a:pt x="0" y="3429000"/>
                </a:moveTo>
                <a:lnTo>
                  <a:pt x="10972800" y="3429000"/>
                </a:lnTo>
              </a:path>
            </a:pathLst>
          </a:custGeom>
          <a:noFill/>
          <a:ln w="9525">
            <a:solidFill>
              <a:srgbClr val="1B2740"/>
            </a:solidFill>
          </a:ln>
        </p:spPr>
      </p:sp>
      <p:grpSp>
        <p:nvGrpSpPr>
          <p:cNvPr id="4" name="Group 4"/>
          <p:cNvGrpSpPr/>
          <p:nvPr/>
        </p:nvGrpSpPr>
        <p:grpSpPr>
          <a:xfrm>
            <a:off x="601980" y="428625"/>
            <a:ext cx="3951732" cy="293370"/>
            <a:chOff x="601980" y="428625"/>
            <a:chExt cx="3951732" cy="293370"/>
          </a:xfrm>
        </p:grpSpPr>
        <p:sp>
          <p:nvSpPr>
            <p:cNvPr id="3" name="TextBox 3"/>
            <p:cNvSpPr txBox="1"/>
            <p:nvPr/>
          </p:nvSpPr>
          <p:spPr>
            <a:xfrm>
              <a:off x="601980" y="428625"/>
              <a:ext cx="3951732" cy="293370"/>
            </a:xfrm>
            <a:prstGeom prst="rect">
              <a:avLst/>
            </a:prstGeom>
            <a:noFill/>
            <a:ln>
              <a:noFill/>
            </a:ln>
          </p:spPr>
          <p:txBody>
            <a:bodyPr wrap="none" lIns="0" tIns="0" rIns="0" bIns="0" anchor="t" anchorCtr="0">
              <a:spAutoFit/>
            </a:bodyPr>
            <a:lstStyle/>
            <a:p>
              <a:pPr algn="l"/>
              <a:r>
                <a:rPr lang="ko-KR" sz="1500" spc="150" dirty="0">
                  <a:solidFill>
                    <a:schemeClr val="accent5"/>
                  </a:solidFill>
                  <a:latin typeface="Consolas"/>
                  <a:ea typeface="Microsoft YaHei"/>
                  <a:cs typeface="Consolas"/>
                </a:rPr>
                <a:t>PART 02 · 동작 원리 — 3역할 인터뷰</a:t>
              </a:r>
            </a:p>
          </p:txBody>
        </p:sp>
      </p:grpSp>
      <p:grpSp>
        <p:nvGrpSpPr>
          <p:cNvPr id="6" name="Group 6"/>
          <p:cNvGrpSpPr/>
          <p:nvPr/>
        </p:nvGrpSpPr>
        <p:grpSpPr>
          <a:xfrm>
            <a:off x="593598" y="822008"/>
            <a:ext cx="8725090" cy="1111377"/>
            <a:chOff x="593598" y="822008"/>
            <a:chExt cx="8725090" cy="1111377"/>
          </a:xfrm>
        </p:grpSpPr>
        <p:sp>
          <p:nvSpPr>
            <p:cNvPr id="5" name="TextBox 5"/>
            <p:cNvSpPr txBox="1"/>
            <p:nvPr/>
          </p:nvSpPr>
          <p:spPr>
            <a:xfrm>
              <a:off x="593598" y="822008"/>
              <a:ext cx="8725090" cy="1111377"/>
            </a:xfrm>
            <a:prstGeom prst="rect">
              <a:avLst/>
            </a:prstGeom>
            <a:noFill/>
            <a:ln>
              <a:noFill/>
            </a:ln>
          </p:spPr>
          <p:txBody>
            <a:bodyPr wrap="none" lIns="0" tIns="0" rIns="0" bIns="0" anchor="t" anchorCtr="0">
              <a:spAutoFit/>
            </a:bodyPr>
            <a:lstStyle/>
            <a:p>
              <a:pPr algn="l">
                <a:lnSpc>
                  <a:spcPts val="3900"/>
                </a:lnSpc>
              </a:pPr>
              <a:r>
                <a:rPr lang="ko-KR" sz="3150" b="1" dirty="0">
                  <a:solidFill>
                    <a:schemeClr val="dk1"/>
                  </a:solidFill>
                  <a:latin typeface="+mn-lt"/>
                  <a:ea typeface="+mn-ea"/>
                  <a:cs typeface="+mn-cs"/>
                </a:rPr>
                <a:t>인터뷰는 "충분한 것 같습니다"로 끝나지 않는다</a:t>
              </a:r>
              <a:br/>
              <a:r>
                <a:rPr lang="ko-KR" sz="3150" b="1" dirty="0">
                  <a:solidFill>
                    <a:schemeClr val="accent1"/>
                  </a:solidFill>
                  <a:latin typeface="+mn-lt"/>
                  <a:ea typeface="+mn-ea"/>
                  <a:cs typeface="+mn-cs"/>
                </a:rPr>
                <a:t>미답 0 · 초안 3 · 이의 0</a:t>
              </a:r>
              <a:r>
                <a:rPr lang="ko-KR" sz="3150" b="1" dirty="0">
                  <a:solidFill>
                    <a:schemeClr val="dk1"/>
                  </a:solidFill>
                  <a:latin typeface="+mn-lt"/>
                  <a:ea typeface="+mn-ea"/>
                  <a:cs typeface="+mn-cs"/>
                </a:rPr>
                <a:t xml:space="preserve"> → ready → </a:t>
              </a:r>
              <a:r>
                <a:rPr lang="ko-KR" sz="3150" b="1" dirty="0">
                  <a:solidFill>
                    <a:schemeClr val="accent2"/>
                  </a:solidFill>
                  <a:latin typeface="+mn-lt"/>
                  <a:ea typeface="+mn-ea"/>
                  <a:cs typeface="+mn-cs"/>
                </a:rPr>
                <a:t>사람이 승인</a:t>
              </a:r>
            </a:p>
          </p:txBody>
        </p:sp>
      </p:grpSp>
      <p:grpSp>
        <p:nvGrpSpPr>
          <p:cNvPr id="63" name="Group 63"/>
          <p:cNvGrpSpPr/>
          <p:nvPr/>
        </p:nvGrpSpPr>
        <p:grpSpPr>
          <a:xfrm>
            <a:off x="766277" y="2038350"/>
            <a:ext cx="10663723" cy="2247900"/>
            <a:chOff x="766277" y="2038350"/>
            <a:chExt cx="10663723" cy="2247900"/>
          </a:xfrm>
        </p:grpSpPr>
        <p:sp>
          <p:nvSpPr>
            <p:cNvPr id="7" name="Freeform 7"/>
            <p:cNvSpPr/>
            <p:nvPr/>
          </p:nvSpPr>
          <p:spPr>
            <a:xfrm>
              <a:off x="838200" y="2857500"/>
              <a:ext cx="1428750" cy="419100"/>
            </a:xfrm>
            <a:prstGeom prst="flowChartTerminator">
              <a:avLst/>
            </a:prstGeom>
            <a:solidFill>
              <a:srgbClr val="182238"/>
            </a:solidFill>
            <a:ln w="19050">
              <a:solidFill>
                <a:schemeClr val="accent2"/>
              </a:solidFill>
            </a:ln>
          </p:spPr>
        </p:sp>
        <p:sp>
          <p:nvSpPr>
            <p:cNvPr id="8" name="TextBox 8"/>
            <p:cNvSpPr txBox="1"/>
            <p:nvPr/>
          </p:nvSpPr>
          <p:spPr>
            <a:xfrm>
              <a:off x="977789" y="2987992"/>
              <a:ext cx="1149572" cy="264033"/>
            </a:xfrm>
            <a:prstGeom prst="rect">
              <a:avLst/>
            </a:prstGeom>
            <a:noFill/>
            <a:ln>
              <a:noFill/>
            </a:ln>
          </p:spPr>
          <p:txBody>
            <a:bodyPr wrap="none" lIns="0" tIns="0" rIns="0" bIns="0" anchor="t" anchorCtr="0">
              <a:spAutoFit/>
            </a:bodyPr>
            <a:lstStyle/>
            <a:p>
              <a:pPr algn="ctr"/>
              <a:r>
                <a:rPr lang="ko-KR" sz="1350" dirty="0">
                  <a:solidFill>
                    <a:schemeClr val="accent2"/>
                  </a:solidFill>
                  <a:latin typeface="Consolas"/>
                  <a:ea typeface="Consolas"/>
                  <a:cs typeface="Consolas"/>
                </a:rPr>
                <a:t>fw interview</a:t>
              </a:r>
            </a:p>
          </p:txBody>
        </p:sp>
        <p:sp>
          <p:nvSpPr>
            <p:cNvPr id="9" name="TextBox 9"/>
            <p:cNvSpPr txBox="1"/>
            <p:nvPr/>
          </p:nvSpPr>
          <p:spPr>
            <a:xfrm>
              <a:off x="766277" y="3391852"/>
              <a:ext cx="1572597" cy="205359"/>
            </a:xfrm>
            <a:prstGeom prst="rect">
              <a:avLst/>
            </a:prstGeom>
            <a:noFill/>
            <a:ln>
              <a:noFill/>
            </a:ln>
          </p:spPr>
          <p:txBody>
            <a:bodyPr wrap="none" lIns="0" tIns="0" rIns="0" bIns="0" anchor="t" anchorCtr="0">
              <a:spAutoFit/>
            </a:bodyPr>
            <a:lstStyle/>
            <a:p>
              <a:pPr algn="ctr"/>
              <a:r>
                <a:rPr lang="ko-KR" sz="1050" dirty="0">
                  <a:solidFill>
                    <a:schemeClr val="accent5"/>
                  </a:solidFill>
                  <a:latin typeface="+mn-lt"/>
                  <a:ea typeface="+mn-ea"/>
                  <a:cs typeface="+mn-cs"/>
                </a:rPr>
                <a:t>--goal "목표 한두 문장"</a:t>
              </a:r>
            </a:p>
          </p:txBody>
        </p:sp>
        <p:sp>
          <p:nvSpPr>
            <p:cNvPr id="10" name="Line 10"/>
            <p:cNvSpPr/>
            <p:nvPr/>
          </p:nvSpPr>
          <p:spPr>
            <a:xfrm>
              <a:off x="2266950" y="3067050"/>
              <a:ext cx="209550" cy="1"/>
            </a:xfrm>
            <a:prstGeom prst="line">
              <a:avLst/>
            </a:prstGeom>
            <a:noFill/>
            <a:ln w="19050">
              <a:solidFill>
                <a:schemeClr val="accent2"/>
              </a:solidFill>
              <a:tailEnd type="triangle" w="med" len="med"/>
            </a:ln>
          </p:spPr>
        </p:sp>
        <p:grpSp>
          <p:nvGrpSpPr>
            <p:cNvPr id="13" name="Group 13"/>
            <p:cNvGrpSpPr/>
            <p:nvPr/>
          </p:nvGrpSpPr>
          <p:grpSpPr>
            <a:xfrm>
              <a:off x="2495550" y="2038350"/>
              <a:ext cx="4076700" cy="2247900"/>
              <a:chOff x="2495550" y="2038350"/>
              <a:chExt cx="4076700" cy="2247900"/>
            </a:xfrm>
          </p:grpSpPr>
          <p:sp>
            <p:nvSpPr>
              <p:cNvPr id="11" name="Rectangle 11"/>
              <p:cNvSpPr/>
              <p:nvPr/>
            </p:nvSpPr>
            <p:spPr>
              <a:xfrm>
                <a:off x="2495550" y="2038350"/>
                <a:ext cx="4076700" cy="2247900"/>
              </a:xfrm>
              <a:prstGeom prst="roundRect">
                <a:avLst>
                  <a:gd name="adj" fmla="val 2542"/>
                </a:avLst>
              </a:prstGeom>
              <a:solidFill>
                <a:schemeClr val="lt2">
                  <a:alpha val="60000"/>
                </a:schemeClr>
              </a:solidFill>
              <a:ln w="19050">
                <a:solidFill>
                  <a:schemeClr val="accent1"/>
                </a:solidFill>
              </a:ln>
            </p:spPr>
          </p:sp>
          <p:sp>
            <p:nvSpPr>
              <p:cNvPr id="12" name="TextBox 12"/>
              <p:cNvSpPr txBox="1"/>
              <p:nvPr/>
            </p:nvSpPr>
            <p:spPr>
              <a:xfrm>
                <a:off x="2623566" y="2115502"/>
                <a:ext cx="1148944" cy="205359"/>
              </a:xfrm>
              <a:prstGeom prst="rect">
                <a:avLst/>
              </a:prstGeom>
              <a:noFill/>
              <a:ln>
                <a:noFill/>
              </a:ln>
            </p:spPr>
            <p:txBody>
              <a:bodyPr wrap="none" lIns="0" tIns="0" rIns="0" bIns="0" anchor="t" anchorCtr="0">
                <a:spAutoFit/>
              </a:bodyPr>
              <a:lstStyle/>
              <a:p>
                <a:pPr algn="l"/>
                <a:r>
                  <a:rPr lang="ko-KR" sz="1050" spc="150" dirty="0">
                    <a:solidFill>
                      <a:schemeClr val="accent1"/>
                    </a:solidFill>
                    <a:latin typeface="Consolas"/>
                    <a:ea typeface="Consolas"/>
                    <a:cs typeface="Consolas"/>
                  </a:rPr>
                  <a:t>INTERVIEWING</a:t>
                </a:r>
              </a:p>
            </p:txBody>
          </p:sp>
        </p:grpSp>
        <p:grpSp>
          <p:nvGrpSpPr>
            <p:cNvPr id="20" name="Group 20"/>
            <p:cNvGrpSpPr/>
            <p:nvPr/>
          </p:nvGrpSpPr>
          <p:grpSpPr>
            <a:xfrm>
              <a:off x="3657600" y="2286000"/>
              <a:ext cx="1752600" cy="381000"/>
              <a:chOff x="3657600" y="2286000"/>
              <a:chExt cx="1752600" cy="381000"/>
            </a:xfrm>
          </p:grpSpPr>
          <p:sp>
            <p:nvSpPr>
              <p:cNvPr id="14" name="Rectangle 14"/>
              <p:cNvSpPr/>
              <p:nvPr/>
            </p:nvSpPr>
            <p:spPr>
              <a:xfrm>
                <a:off x="3657600" y="2286000"/>
                <a:ext cx="1752600" cy="381000"/>
              </a:xfrm>
              <a:prstGeom prst="roundRect">
                <a:avLst>
                  <a:gd name="adj" fmla="val 15000"/>
                </a:avLst>
              </a:prstGeom>
              <a:solidFill>
                <a:srgbClr val="182238"/>
              </a:solidFill>
              <a:ln w="19050">
                <a:solidFill>
                  <a:schemeClr val="accent2"/>
                </a:solidFill>
              </a:ln>
            </p:spPr>
          </p:sp>
          <p:grpSp>
            <p:nvGrpSpPr>
              <p:cNvPr id="18" name="Group 18"/>
              <p:cNvGrpSpPr/>
              <p:nvPr/>
            </p:nvGrpSpPr>
            <p:grpSpPr>
              <a:xfrm>
                <a:off x="3771671" y="2392918"/>
                <a:ext cx="182703" cy="188357"/>
                <a:chOff x="3771671" y="2392918"/>
                <a:chExt cx="182703" cy="188357"/>
              </a:xfrm>
            </p:grpSpPr>
            <p:sp>
              <p:nvSpPr>
                <p:cNvPr id="15" name="Freeform 15"/>
                <p:cNvSpPr/>
                <p:nvPr/>
              </p:nvSpPr>
              <p:spPr>
                <a:xfrm>
                  <a:off x="3771671" y="2392918"/>
                  <a:ext cx="181080" cy="162220"/>
                </a:xfrm>
                <a:custGeom>
                  <a:avLst/>
                  <a:gdLst/>
                  <a:ahLst/>
                  <a:cxnLst/>
                  <a:rect l="l" t="t" r="r" b="b"/>
                  <a:pathLst>
                    <a:path w="181080" h="162220">
                      <a:moveTo>
                        <a:pt x="124244" y="155210"/>
                      </a:moveTo>
                      <a:cubicBezTo>
                        <a:pt x="101946" y="162220"/>
                        <a:pt x="76619" y="160982"/>
                        <a:pt x="54521" y="150257"/>
                      </a:cubicBezTo>
                      <a:lnTo>
                        <a:pt x="9754" y="159782"/>
                      </a:lnTo>
                      <a:lnTo>
                        <a:pt x="22136" y="122634"/>
                      </a:lnTo>
                      <a:cubicBezTo>
                        <a:pt x="0" y="89897"/>
                        <a:pt x="8553" y="47654"/>
                        <a:pt x="42139" y="23822"/>
                      </a:cubicBezTo>
                      <a:cubicBezTo>
                        <a:pt x="75724" y="0"/>
                        <a:pt x="123958" y="1953"/>
                        <a:pt x="154962" y="28394"/>
                      </a:cubicBezTo>
                      <a:cubicBezTo>
                        <a:pt x="170669" y="41796"/>
                        <a:pt x="179489" y="59379"/>
                        <a:pt x="181080" y="77467"/>
                      </a:cubicBezTo>
                    </a:path>
                  </a:pathLst>
                </a:custGeom>
                <a:noFill/>
                <a:ln w="19050">
                  <a:solidFill>
                    <a:schemeClr val="accent2"/>
                  </a:solidFill>
                </a:ln>
              </p:spPr>
            </p:sp>
            <p:sp>
              <p:nvSpPr>
                <p:cNvPr id="16" name="Freeform 16"/>
                <p:cNvSpPr/>
                <p:nvPr/>
              </p:nvSpPr>
              <p:spPr>
                <a:xfrm>
                  <a:off x="3933825" y="2571750"/>
                  <a:ext cx="9525" cy="9525"/>
                </a:xfrm>
                <a:custGeom>
                  <a:avLst/>
                  <a:gdLst/>
                  <a:ahLst/>
                  <a:cxnLst/>
                  <a:rect l="l" t="t" r="r" b="b"/>
                  <a:pathLst>
                    <a:path w="9525" h="9525">
                      <a:moveTo>
                        <a:pt x="0" y="0"/>
                      </a:moveTo>
                      <a:lnTo>
                        <a:pt x="0" y="95"/>
                      </a:lnTo>
                    </a:path>
                  </a:pathLst>
                </a:custGeom>
                <a:noFill/>
                <a:ln w="19050">
                  <a:solidFill>
                    <a:schemeClr val="accent2"/>
                  </a:solidFill>
                </a:ln>
              </p:spPr>
            </p:sp>
            <p:sp>
              <p:nvSpPr>
                <p:cNvPr id="17" name="Freeform 17"/>
                <p:cNvSpPr/>
                <p:nvPr/>
              </p:nvSpPr>
              <p:spPr>
                <a:xfrm>
                  <a:off x="3919538" y="2503155"/>
                  <a:ext cx="34836" cy="40020"/>
                </a:xfrm>
                <a:custGeom>
                  <a:avLst/>
                  <a:gdLst/>
                  <a:ahLst/>
                  <a:cxnLst/>
                  <a:rect l="l" t="t" r="r" b="b"/>
                  <a:pathLst>
                    <a:path w="34836" h="40020">
                      <a:moveTo>
                        <a:pt x="14288" y="40020"/>
                      </a:moveTo>
                      <a:cubicBezTo>
                        <a:pt x="23075" y="39992"/>
                        <a:pt x="30707" y="33965"/>
                        <a:pt x="32771" y="25424"/>
                      </a:cubicBezTo>
                      <a:cubicBezTo>
                        <a:pt x="34836" y="16882"/>
                        <a:pt x="30798" y="8035"/>
                        <a:pt x="22993" y="3997"/>
                      </a:cubicBezTo>
                      <a:cubicBezTo>
                        <a:pt x="15191" y="0"/>
                        <a:pt x="5664" y="1906"/>
                        <a:pt x="0" y="8597"/>
                      </a:cubicBezTo>
                    </a:path>
                  </a:pathLst>
                </a:custGeom>
                <a:noFill/>
                <a:ln w="19050">
                  <a:solidFill>
                    <a:schemeClr val="accent2"/>
                  </a:solidFill>
                </a:ln>
              </p:spPr>
            </p:sp>
          </p:grpSp>
          <p:sp>
            <p:nvSpPr>
              <p:cNvPr id="19" name="TextBox 19"/>
              <p:cNvSpPr txBox="1"/>
              <p:nvPr/>
            </p:nvSpPr>
            <p:spPr>
              <a:xfrm>
                <a:off x="4050792" y="2387918"/>
                <a:ext cx="1185920" cy="264033"/>
              </a:xfrm>
              <a:prstGeom prst="rect">
                <a:avLst/>
              </a:prstGeom>
              <a:noFill/>
              <a:ln>
                <a:noFill/>
              </a:ln>
            </p:spPr>
            <p:txBody>
              <a:bodyPr wrap="none" lIns="0" tIns="0" rIns="0" bIns="0" anchor="t" anchorCtr="0">
                <a:spAutoFit/>
              </a:bodyPr>
              <a:lstStyle/>
              <a:p>
                <a:pPr algn="l"/>
                <a:r>
                  <a:rPr lang="ko-KR" sz="1350" dirty="0">
                    <a:solidFill>
                      <a:schemeClr val="dk1"/>
                    </a:solidFill>
                    <a:latin typeface="+mn-lt"/>
                    <a:ea typeface="+mn-ea"/>
                    <a:cs typeface="+mn-cs"/>
                  </a:rPr>
                  <a:t>사람 차례 · 답</a:t>
                </a:r>
              </a:p>
            </p:txBody>
          </p:sp>
        </p:grpSp>
        <p:grpSp>
          <p:nvGrpSpPr>
            <p:cNvPr id="24" name="Group 24"/>
            <p:cNvGrpSpPr/>
            <p:nvPr/>
          </p:nvGrpSpPr>
          <p:grpSpPr>
            <a:xfrm>
              <a:off x="2686050" y="3143250"/>
              <a:ext cx="1143000" cy="482537"/>
              <a:chOff x="2686050" y="3143250"/>
              <a:chExt cx="1143000" cy="482537"/>
            </a:xfrm>
          </p:grpSpPr>
          <p:sp>
            <p:nvSpPr>
              <p:cNvPr id="21" name="Rectangle 21"/>
              <p:cNvSpPr/>
              <p:nvPr/>
            </p:nvSpPr>
            <p:spPr>
              <a:xfrm>
                <a:off x="2686050" y="3143250"/>
                <a:ext cx="1143000" cy="476250"/>
              </a:xfrm>
              <a:prstGeom prst="roundRect">
                <a:avLst>
                  <a:gd name="adj" fmla="val 12000"/>
                </a:avLst>
              </a:prstGeom>
              <a:solidFill>
                <a:srgbClr val="182238"/>
              </a:solidFill>
              <a:ln w="19050">
                <a:solidFill>
                  <a:schemeClr val="accent1"/>
                </a:solidFill>
              </a:ln>
            </p:spPr>
          </p:sp>
          <p:sp>
            <p:nvSpPr>
              <p:cNvPr id="22" name="TextBox 22"/>
              <p:cNvSpPr txBox="1"/>
              <p:nvPr/>
            </p:nvSpPr>
            <p:spPr>
              <a:xfrm>
                <a:off x="3068955" y="3197542"/>
                <a:ext cx="377190" cy="264033"/>
              </a:xfrm>
              <a:prstGeom prst="rect">
                <a:avLst/>
              </a:prstGeom>
              <a:noFill/>
              <a:ln>
                <a:noFill/>
              </a:ln>
            </p:spPr>
            <p:txBody>
              <a:bodyPr wrap="none" lIns="0" tIns="0" rIns="0" bIns="0" anchor="t" anchorCtr="0">
                <a:spAutoFit/>
              </a:bodyPr>
              <a:lstStyle/>
              <a:p>
                <a:pPr algn="ctr"/>
                <a:r>
                  <a:rPr lang="ko-KR" sz="1350" b="1" dirty="0">
                    <a:solidFill>
                      <a:schemeClr val="dk1"/>
                    </a:solidFill>
                    <a:latin typeface="+mn-lt"/>
                    <a:ea typeface="+mn-ea"/>
                    <a:cs typeface="+mn-cs"/>
                  </a:rPr>
                  <a:t>기획</a:t>
                </a:r>
              </a:p>
            </p:txBody>
          </p:sp>
          <p:sp>
            <p:nvSpPr>
              <p:cNvPr id="23" name="TextBox 23"/>
              <p:cNvSpPr txBox="1"/>
              <p:nvPr/>
            </p:nvSpPr>
            <p:spPr>
              <a:xfrm>
                <a:off x="2888237" y="3420428"/>
                <a:ext cx="738626" cy="205359"/>
              </a:xfrm>
              <a:prstGeom prst="rect">
                <a:avLst/>
              </a:prstGeom>
              <a:noFill/>
              <a:ln>
                <a:noFill/>
              </a:ln>
            </p:spPr>
            <p:txBody>
              <a:bodyPr wrap="none" lIns="0" tIns="0" rIns="0" bIns="0" anchor="t" anchorCtr="0">
                <a:spAutoFit/>
              </a:bodyPr>
              <a:lstStyle/>
              <a:p>
                <a:pPr algn="ctr"/>
                <a:r>
                  <a:rPr lang="ko-KR" sz="1050" dirty="0">
                    <a:solidFill>
                      <a:schemeClr val="accent5"/>
                    </a:solidFill>
                    <a:latin typeface="+mn-lt"/>
                    <a:ea typeface="+mn-ea"/>
                    <a:cs typeface="+mn-cs"/>
                  </a:rPr>
                  <a:t>결정 · 용어</a:t>
                </a:r>
              </a:p>
            </p:txBody>
          </p:sp>
        </p:grpSp>
        <p:grpSp>
          <p:nvGrpSpPr>
            <p:cNvPr id="28" name="Group 28"/>
            <p:cNvGrpSpPr/>
            <p:nvPr/>
          </p:nvGrpSpPr>
          <p:grpSpPr>
            <a:xfrm>
              <a:off x="3820430" y="3143250"/>
              <a:ext cx="1388840" cy="482537"/>
              <a:chOff x="3820430" y="3143250"/>
              <a:chExt cx="1388840" cy="482537"/>
            </a:xfrm>
          </p:grpSpPr>
          <p:sp>
            <p:nvSpPr>
              <p:cNvPr id="25" name="Rectangle 25"/>
              <p:cNvSpPr/>
              <p:nvPr/>
            </p:nvSpPr>
            <p:spPr>
              <a:xfrm>
                <a:off x="3943350" y="3143250"/>
                <a:ext cx="1143000" cy="476250"/>
              </a:xfrm>
              <a:prstGeom prst="roundRect">
                <a:avLst>
                  <a:gd name="adj" fmla="val 12000"/>
                </a:avLst>
              </a:prstGeom>
              <a:solidFill>
                <a:srgbClr val="182238"/>
              </a:solidFill>
              <a:ln w="19050">
                <a:solidFill>
                  <a:schemeClr val="accent1"/>
                </a:solidFill>
              </a:ln>
            </p:spPr>
          </p:sp>
          <p:sp>
            <p:nvSpPr>
              <p:cNvPr id="26" name="TextBox 26"/>
              <p:cNvSpPr txBox="1"/>
              <p:nvPr/>
            </p:nvSpPr>
            <p:spPr>
              <a:xfrm>
                <a:off x="4326255" y="3197542"/>
                <a:ext cx="377190" cy="264033"/>
              </a:xfrm>
              <a:prstGeom prst="rect">
                <a:avLst/>
              </a:prstGeom>
              <a:noFill/>
              <a:ln>
                <a:noFill/>
              </a:ln>
            </p:spPr>
            <p:txBody>
              <a:bodyPr wrap="none" lIns="0" tIns="0" rIns="0" bIns="0" anchor="t" anchorCtr="0">
                <a:spAutoFit/>
              </a:bodyPr>
              <a:lstStyle/>
              <a:p>
                <a:pPr algn="ctr"/>
                <a:r>
                  <a:rPr lang="ko-KR" sz="1350" b="1" dirty="0">
                    <a:solidFill>
                      <a:schemeClr val="dk1"/>
                    </a:solidFill>
                    <a:latin typeface="+mn-lt"/>
                    <a:ea typeface="+mn-ea"/>
                    <a:cs typeface="+mn-cs"/>
                  </a:rPr>
                  <a:t>개발</a:t>
                </a:r>
              </a:p>
            </p:txBody>
          </p:sp>
          <p:sp>
            <p:nvSpPr>
              <p:cNvPr id="27" name="TextBox 27"/>
              <p:cNvSpPr txBox="1"/>
              <p:nvPr/>
            </p:nvSpPr>
            <p:spPr>
              <a:xfrm>
                <a:off x="3820430" y="3420428"/>
                <a:ext cx="1388840" cy="205359"/>
              </a:xfrm>
              <a:prstGeom prst="rect">
                <a:avLst/>
              </a:prstGeom>
              <a:noFill/>
              <a:ln>
                <a:noFill/>
              </a:ln>
            </p:spPr>
            <p:txBody>
              <a:bodyPr wrap="none" lIns="0" tIns="0" rIns="0" bIns="0" anchor="t" anchorCtr="0">
                <a:spAutoFit/>
              </a:bodyPr>
              <a:lstStyle/>
              <a:p>
                <a:pPr algn="ctr"/>
                <a:r>
                  <a:rPr lang="ko-KR" sz="1050" dirty="0">
                    <a:solidFill>
                      <a:schemeClr val="accent5"/>
                    </a:solidFill>
                    <a:latin typeface="+mn-lt"/>
                    <a:ea typeface="+mn-ea"/>
                    <a:cs typeface="+mn-cs"/>
                  </a:rPr>
                  <a:t>개발 방향 · 진입 경로</a:t>
                </a:r>
              </a:p>
            </p:txBody>
          </p:sp>
        </p:grpSp>
        <p:grpSp>
          <p:nvGrpSpPr>
            <p:cNvPr id="32" name="Group 32"/>
            <p:cNvGrpSpPr/>
            <p:nvPr/>
          </p:nvGrpSpPr>
          <p:grpSpPr>
            <a:xfrm>
              <a:off x="5200650" y="3143250"/>
              <a:ext cx="1143000" cy="482537"/>
              <a:chOff x="5200650" y="3143250"/>
              <a:chExt cx="1143000" cy="482537"/>
            </a:xfrm>
          </p:grpSpPr>
          <p:sp>
            <p:nvSpPr>
              <p:cNvPr id="29" name="Rectangle 29"/>
              <p:cNvSpPr/>
              <p:nvPr/>
            </p:nvSpPr>
            <p:spPr>
              <a:xfrm>
                <a:off x="5200650" y="3143250"/>
                <a:ext cx="1143000" cy="476250"/>
              </a:xfrm>
              <a:prstGeom prst="roundRect">
                <a:avLst>
                  <a:gd name="adj" fmla="val 12000"/>
                </a:avLst>
              </a:prstGeom>
              <a:solidFill>
                <a:srgbClr val="182238"/>
              </a:solidFill>
              <a:ln w="19050">
                <a:solidFill>
                  <a:schemeClr val="accent1"/>
                </a:solidFill>
              </a:ln>
            </p:spPr>
          </p:sp>
          <p:sp>
            <p:nvSpPr>
              <p:cNvPr id="30" name="TextBox 30"/>
              <p:cNvSpPr txBox="1"/>
              <p:nvPr/>
            </p:nvSpPr>
            <p:spPr>
              <a:xfrm>
                <a:off x="5583555" y="3197542"/>
                <a:ext cx="377190" cy="264033"/>
              </a:xfrm>
              <a:prstGeom prst="rect">
                <a:avLst/>
              </a:prstGeom>
              <a:noFill/>
              <a:ln>
                <a:noFill/>
              </a:ln>
            </p:spPr>
            <p:txBody>
              <a:bodyPr wrap="none" lIns="0" tIns="0" rIns="0" bIns="0" anchor="t" anchorCtr="0">
                <a:spAutoFit/>
              </a:bodyPr>
              <a:lstStyle/>
              <a:p>
                <a:pPr algn="ctr"/>
                <a:r>
                  <a:rPr lang="ko-KR" sz="1350" b="1" dirty="0">
                    <a:solidFill>
                      <a:schemeClr val="dk1"/>
                    </a:solidFill>
                    <a:latin typeface="+mn-lt"/>
                    <a:ea typeface="+mn-ea"/>
                    <a:cs typeface="+mn-cs"/>
                  </a:rPr>
                  <a:t>평가</a:t>
                </a:r>
              </a:p>
            </p:txBody>
          </p:sp>
          <p:sp>
            <p:nvSpPr>
              <p:cNvPr id="31" name="TextBox 31"/>
              <p:cNvSpPr txBox="1"/>
              <p:nvPr/>
            </p:nvSpPr>
            <p:spPr>
              <a:xfrm>
                <a:off x="5462911" y="3420428"/>
                <a:ext cx="618477" cy="205359"/>
              </a:xfrm>
              <a:prstGeom prst="rect">
                <a:avLst/>
              </a:prstGeom>
              <a:noFill/>
              <a:ln>
                <a:noFill/>
              </a:ln>
            </p:spPr>
            <p:txBody>
              <a:bodyPr wrap="none" lIns="0" tIns="0" rIns="0" bIns="0" anchor="t" anchorCtr="0">
                <a:spAutoFit/>
              </a:bodyPr>
              <a:lstStyle/>
              <a:p>
                <a:pPr algn="ctr"/>
                <a:r>
                  <a:rPr lang="ko-KR" sz="1050" dirty="0">
                    <a:solidFill>
                      <a:schemeClr val="accent5"/>
                    </a:solidFill>
                    <a:latin typeface="+mn-lt"/>
                    <a:ea typeface="+mn-ea"/>
                    <a:cs typeface="+mn-cs"/>
                  </a:rPr>
                  <a:t>검증 기준</a:t>
                </a:r>
              </a:p>
            </p:txBody>
          </p:sp>
        </p:grpSp>
        <p:grpSp>
          <p:nvGrpSpPr>
            <p:cNvPr id="35" name="Group 35"/>
            <p:cNvGrpSpPr/>
            <p:nvPr/>
          </p:nvGrpSpPr>
          <p:grpSpPr>
            <a:xfrm>
              <a:off x="3657600" y="3810000"/>
              <a:ext cx="1752600" cy="381000"/>
              <a:chOff x="3657600" y="3810000"/>
              <a:chExt cx="1752600" cy="381000"/>
            </a:xfrm>
          </p:grpSpPr>
          <p:sp>
            <p:nvSpPr>
              <p:cNvPr id="33" name="Rectangle 33"/>
              <p:cNvSpPr/>
              <p:nvPr/>
            </p:nvSpPr>
            <p:spPr>
              <a:xfrm>
                <a:off x="3657600" y="3810000"/>
                <a:ext cx="1752600" cy="381000"/>
              </a:xfrm>
              <a:prstGeom prst="roundRect">
                <a:avLst>
                  <a:gd name="adj" fmla="val 15000"/>
                </a:avLst>
              </a:prstGeom>
              <a:solidFill>
                <a:srgbClr val="182238"/>
              </a:solidFill>
              <a:ln w="19050">
                <a:solidFill>
                  <a:schemeClr val="accent3"/>
                </a:solidFill>
              </a:ln>
            </p:spPr>
          </p:sp>
          <p:sp>
            <p:nvSpPr>
              <p:cNvPr id="34" name="TextBox 34"/>
              <p:cNvSpPr txBox="1"/>
              <p:nvPr/>
            </p:nvSpPr>
            <p:spPr>
              <a:xfrm>
                <a:off x="3836441" y="3911918"/>
                <a:ext cx="1394917" cy="264033"/>
              </a:xfrm>
              <a:prstGeom prst="rect">
                <a:avLst/>
              </a:prstGeom>
              <a:noFill/>
              <a:ln>
                <a:noFill/>
              </a:ln>
            </p:spPr>
            <p:txBody>
              <a:bodyPr wrap="none" lIns="0" tIns="0" rIns="0" bIns="0" anchor="t" anchorCtr="0">
                <a:spAutoFit/>
              </a:bodyPr>
              <a:lstStyle/>
              <a:p>
                <a:pPr algn="ctr"/>
                <a:r>
                  <a:rPr lang="ko-KR" sz="1350" dirty="0">
                    <a:solidFill>
                      <a:schemeClr val="dk1"/>
                    </a:solidFill>
                    <a:latin typeface="+mn-lt"/>
                    <a:ea typeface="+mn-ea"/>
                    <a:cs typeface="+mn-cs"/>
                  </a:rPr>
                  <a:t>상호 이의 라운드</a:t>
                </a:r>
              </a:p>
            </p:txBody>
          </p:sp>
        </p:grpSp>
        <p:grpSp>
          <p:nvGrpSpPr>
            <p:cNvPr id="48" name="Group 48"/>
            <p:cNvGrpSpPr/>
            <p:nvPr/>
          </p:nvGrpSpPr>
          <p:grpSpPr>
            <a:xfrm>
              <a:off x="2431161" y="2686050"/>
              <a:ext cx="3985774" cy="1596961"/>
              <a:chOff x="2431161" y="2686050"/>
              <a:chExt cx="3985774" cy="1596961"/>
            </a:xfrm>
          </p:grpSpPr>
          <p:sp>
            <p:nvSpPr>
              <p:cNvPr id="36" name="Line 36"/>
              <p:cNvSpPr/>
              <p:nvPr/>
            </p:nvSpPr>
            <p:spPr>
              <a:xfrm>
                <a:off x="3829050" y="3381375"/>
                <a:ext cx="95250" cy="1"/>
              </a:xfrm>
              <a:prstGeom prst="line">
                <a:avLst/>
              </a:prstGeom>
              <a:noFill/>
              <a:ln w="19050">
                <a:solidFill>
                  <a:schemeClr val="accent1"/>
                </a:solidFill>
                <a:tailEnd type="triangle" w="med" len="med"/>
              </a:ln>
            </p:spPr>
          </p:sp>
          <p:sp>
            <p:nvSpPr>
              <p:cNvPr id="37" name="Line 37"/>
              <p:cNvSpPr/>
              <p:nvPr/>
            </p:nvSpPr>
            <p:spPr>
              <a:xfrm>
                <a:off x="5086350" y="3381375"/>
                <a:ext cx="95250" cy="1"/>
              </a:xfrm>
              <a:prstGeom prst="line">
                <a:avLst/>
              </a:prstGeom>
              <a:noFill/>
              <a:ln w="19050">
                <a:solidFill>
                  <a:schemeClr val="accent1"/>
                </a:solidFill>
                <a:tailEnd type="triangle" w="med" len="med"/>
              </a:ln>
            </p:spPr>
          </p:sp>
          <p:sp>
            <p:nvSpPr>
              <p:cNvPr id="38" name="Line 38"/>
              <p:cNvSpPr/>
              <p:nvPr/>
            </p:nvSpPr>
            <p:spPr>
              <a:xfrm flipV="1">
                <a:off x="3257550" y="2686050"/>
                <a:ext cx="1" cy="457200"/>
              </a:xfrm>
              <a:prstGeom prst="line">
                <a:avLst/>
              </a:prstGeom>
              <a:noFill/>
              <a:ln w="14288">
                <a:solidFill>
                  <a:schemeClr val="accent1"/>
                </a:solidFill>
                <a:prstDash val="dash"/>
                <a:tailEnd type="triangle" w="med" len="med"/>
              </a:ln>
            </p:spPr>
          </p:sp>
          <p:sp>
            <p:nvSpPr>
              <p:cNvPr id="39" name="Line 39"/>
              <p:cNvSpPr/>
              <p:nvPr/>
            </p:nvSpPr>
            <p:spPr>
              <a:xfrm flipV="1">
                <a:off x="4514850" y="2686050"/>
                <a:ext cx="1" cy="457200"/>
              </a:xfrm>
              <a:prstGeom prst="line">
                <a:avLst/>
              </a:prstGeom>
              <a:noFill/>
              <a:ln w="14288">
                <a:solidFill>
                  <a:schemeClr val="accent1"/>
                </a:solidFill>
                <a:prstDash val="dash"/>
                <a:tailEnd type="triangle" w="med" len="med"/>
              </a:ln>
            </p:spPr>
          </p:sp>
          <p:sp>
            <p:nvSpPr>
              <p:cNvPr id="40" name="Line 40"/>
              <p:cNvSpPr/>
              <p:nvPr/>
            </p:nvSpPr>
            <p:spPr>
              <a:xfrm flipV="1">
                <a:off x="5772150" y="2686050"/>
                <a:ext cx="1" cy="457200"/>
              </a:xfrm>
              <a:prstGeom prst="line">
                <a:avLst/>
              </a:prstGeom>
              <a:noFill/>
              <a:ln w="14288">
                <a:solidFill>
                  <a:schemeClr val="accent1"/>
                </a:solidFill>
                <a:prstDash val="dash"/>
                <a:tailEnd type="triangle" w="med" len="med"/>
              </a:ln>
            </p:spPr>
          </p:sp>
          <p:sp>
            <p:nvSpPr>
              <p:cNvPr id="41" name="TextBox 41"/>
              <p:cNvSpPr txBox="1"/>
              <p:nvPr/>
            </p:nvSpPr>
            <p:spPr>
              <a:xfrm>
                <a:off x="2431161" y="2744152"/>
                <a:ext cx="717423"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질문 ↑ 답 ↓</a:t>
                </a:r>
              </a:p>
            </p:txBody>
          </p:sp>
          <p:sp>
            <p:nvSpPr>
              <p:cNvPr id="42" name="Line 42"/>
              <p:cNvSpPr/>
              <p:nvPr/>
            </p:nvSpPr>
            <p:spPr>
              <a:xfrm>
                <a:off x="5772150" y="3619500"/>
                <a:ext cx="9525" cy="381000"/>
              </a:xfrm>
              <a:custGeom>
                <a:avLst/>
                <a:gdLst/>
                <a:ahLst/>
                <a:cxnLst/>
                <a:rect l="l" t="t" r="r" b="b"/>
                <a:pathLst>
                  <a:path w="9525" h="381000">
                    <a:moveTo>
                      <a:pt x="0" y="0"/>
                    </a:moveTo>
                    <a:lnTo>
                      <a:pt x="0" y="381000"/>
                    </a:lnTo>
                  </a:path>
                </a:pathLst>
              </a:custGeom>
              <a:noFill/>
              <a:ln w="19050">
                <a:solidFill>
                  <a:schemeClr val="accent3"/>
                </a:solidFill>
              </a:ln>
            </p:spPr>
          </p:sp>
          <p:sp>
            <p:nvSpPr>
              <p:cNvPr id="43" name="Line 43"/>
              <p:cNvSpPr/>
              <p:nvPr/>
            </p:nvSpPr>
            <p:spPr>
              <a:xfrm flipH="1">
                <a:off x="5429250" y="4000500"/>
                <a:ext cx="342900" cy="1"/>
              </a:xfrm>
              <a:prstGeom prst="line">
                <a:avLst/>
              </a:prstGeom>
              <a:noFill/>
              <a:ln w="19050">
                <a:solidFill>
                  <a:schemeClr val="accent3"/>
                </a:solidFill>
                <a:tailEnd type="triangle" w="med" len="med"/>
              </a:ln>
            </p:spPr>
          </p:sp>
          <p:sp>
            <p:nvSpPr>
              <p:cNvPr id="44" name="TextBox 44"/>
              <p:cNvSpPr txBox="1"/>
              <p:nvPr/>
            </p:nvSpPr>
            <p:spPr>
              <a:xfrm>
                <a:off x="5862066" y="4077652"/>
                <a:ext cx="554869"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초안 3개</a:t>
                </a:r>
              </a:p>
            </p:txBody>
          </p:sp>
          <p:sp>
            <p:nvSpPr>
              <p:cNvPr id="45" name="Line 45"/>
              <p:cNvSpPr/>
              <p:nvPr/>
            </p:nvSpPr>
            <p:spPr>
              <a:xfrm>
                <a:off x="3257550" y="4000500"/>
                <a:ext cx="400050" cy="9525"/>
              </a:xfrm>
              <a:custGeom>
                <a:avLst/>
                <a:gdLst/>
                <a:ahLst/>
                <a:cxnLst/>
                <a:rect l="l" t="t" r="r" b="b"/>
                <a:pathLst>
                  <a:path w="400050" h="9525">
                    <a:moveTo>
                      <a:pt x="400050" y="0"/>
                    </a:moveTo>
                    <a:lnTo>
                      <a:pt x="0" y="0"/>
                    </a:lnTo>
                  </a:path>
                </a:pathLst>
              </a:custGeom>
              <a:noFill/>
              <a:ln w="14288">
                <a:solidFill>
                  <a:schemeClr val="accent3"/>
                </a:solidFill>
                <a:prstDash val="dash"/>
              </a:ln>
            </p:spPr>
          </p:sp>
          <p:sp>
            <p:nvSpPr>
              <p:cNvPr id="46" name="Line 46"/>
              <p:cNvSpPr/>
              <p:nvPr/>
            </p:nvSpPr>
            <p:spPr>
              <a:xfrm flipV="1">
                <a:off x="3257550" y="3638550"/>
                <a:ext cx="1" cy="361950"/>
              </a:xfrm>
              <a:prstGeom prst="line">
                <a:avLst/>
              </a:prstGeom>
              <a:noFill/>
              <a:ln w="14288">
                <a:solidFill>
                  <a:schemeClr val="accent3"/>
                </a:solidFill>
                <a:prstDash val="dash"/>
                <a:tailEnd type="triangle" w="med" len="med"/>
              </a:ln>
            </p:spPr>
          </p:sp>
          <p:sp>
            <p:nvSpPr>
              <p:cNvPr id="47" name="TextBox 47"/>
              <p:cNvSpPr txBox="1"/>
              <p:nvPr/>
            </p:nvSpPr>
            <p:spPr>
              <a:xfrm>
                <a:off x="2623566" y="4077652"/>
                <a:ext cx="879977" cy="205359"/>
              </a:xfrm>
              <a:prstGeom prst="rect">
                <a:avLst/>
              </a:prstGeom>
              <a:noFill/>
              <a:ln>
                <a:noFill/>
              </a:ln>
            </p:spPr>
            <p:txBody>
              <a:bodyPr wrap="none" lIns="0" tIns="0" rIns="0" bIns="0" anchor="t" anchorCtr="0">
                <a:spAutoFit/>
              </a:bodyPr>
              <a:lstStyle/>
              <a:p>
                <a:pPr algn="l"/>
                <a:r>
                  <a:rPr lang="ko-KR" sz="1050" dirty="0">
                    <a:solidFill>
                      <a:schemeClr val="accent3"/>
                    </a:solidFill>
                    <a:latin typeface="+mn-lt"/>
                    <a:ea typeface="+mn-ea"/>
                    <a:cs typeface="+mn-cs"/>
                  </a:rPr>
                  <a:t>이의 → 재작성</a:t>
                </a:r>
              </a:p>
            </p:txBody>
          </p:sp>
        </p:grpSp>
        <p:sp>
          <p:nvSpPr>
            <p:cNvPr id="49" name="Line 49"/>
            <p:cNvSpPr/>
            <p:nvPr/>
          </p:nvSpPr>
          <p:spPr>
            <a:xfrm>
              <a:off x="6572250" y="2933700"/>
              <a:ext cx="190500" cy="1"/>
            </a:xfrm>
            <a:prstGeom prst="line">
              <a:avLst/>
            </a:prstGeom>
            <a:noFill/>
            <a:ln w="19050">
              <a:solidFill>
                <a:schemeClr val="accent1"/>
              </a:solidFill>
              <a:tailEnd type="triangle" w="med" len="med"/>
            </a:ln>
          </p:spPr>
        </p:sp>
        <p:sp>
          <p:nvSpPr>
            <p:cNvPr id="50" name="Freeform 50"/>
            <p:cNvSpPr/>
            <p:nvPr/>
          </p:nvSpPr>
          <p:spPr>
            <a:xfrm>
              <a:off x="6781800" y="2552700"/>
              <a:ext cx="1428750" cy="762000"/>
            </a:xfrm>
            <a:prstGeom prst="flowChartDecision">
              <a:avLst/>
            </a:prstGeom>
            <a:solidFill>
              <a:srgbClr val="182238"/>
            </a:solidFill>
            <a:ln w="19050">
              <a:solidFill>
                <a:schemeClr val="accent1"/>
              </a:solidFill>
            </a:ln>
          </p:spPr>
        </p:sp>
        <p:sp>
          <p:nvSpPr>
            <p:cNvPr id="51" name="TextBox 51"/>
            <p:cNvSpPr txBox="1"/>
            <p:nvPr/>
          </p:nvSpPr>
          <p:spPr>
            <a:xfrm>
              <a:off x="7006714" y="2782252"/>
              <a:ext cx="978922" cy="205359"/>
            </a:xfrm>
            <a:prstGeom prst="rect">
              <a:avLst/>
            </a:prstGeom>
            <a:noFill/>
            <a:ln>
              <a:noFill/>
            </a:ln>
          </p:spPr>
          <p:txBody>
            <a:bodyPr wrap="none" lIns="0" tIns="0" rIns="0" bIns="0" anchor="t" anchorCtr="0">
              <a:spAutoFit/>
            </a:bodyPr>
            <a:lstStyle/>
            <a:p>
              <a:pPr algn="ctr"/>
              <a:r>
                <a:rPr lang="ko-KR" sz="1050" dirty="0">
                  <a:solidFill>
                    <a:schemeClr val="dk1"/>
                  </a:solidFill>
                  <a:latin typeface="+mn-lt"/>
                  <a:ea typeface="+mn-ea"/>
                  <a:cs typeface="+mn-cs"/>
                </a:rPr>
                <a:t>미답 0 · 초안 3</a:t>
              </a:r>
            </a:p>
          </p:txBody>
        </p:sp>
        <p:sp>
          <p:nvSpPr>
            <p:cNvPr id="52" name="TextBox 52"/>
            <p:cNvSpPr txBox="1"/>
            <p:nvPr/>
          </p:nvSpPr>
          <p:spPr>
            <a:xfrm>
              <a:off x="7229342" y="2953702"/>
              <a:ext cx="533667" cy="205359"/>
            </a:xfrm>
            <a:prstGeom prst="rect">
              <a:avLst/>
            </a:prstGeom>
            <a:noFill/>
            <a:ln>
              <a:noFill/>
            </a:ln>
          </p:spPr>
          <p:txBody>
            <a:bodyPr wrap="none" lIns="0" tIns="0" rIns="0" bIns="0" anchor="t" anchorCtr="0">
              <a:spAutoFit/>
            </a:bodyPr>
            <a:lstStyle/>
            <a:p>
              <a:pPr algn="ctr"/>
              <a:r>
                <a:rPr lang="ko-KR" sz="1050" dirty="0">
                  <a:solidFill>
                    <a:schemeClr val="dk1"/>
                  </a:solidFill>
                  <a:latin typeface="+mn-lt"/>
                  <a:ea typeface="+mn-ea"/>
                  <a:cs typeface="+mn-cs"/>
                </a:rPr>
                <a:t>이의 0 ?</a:t>
              </a:r>
            </a:p>
          </p:txBody>
        </p:sp>
        <p:sp>
          <p:nvSpPr>
            <p:cNvPr id="53" name="Line 53"/>
            <p:cNvSpPr/>
            <p:nvPr/>
          </p:nvSpPr>
          <p:spPr>
            <a:xfrm>
              <a:off x="8210550" y="2933700"/>
              <a:ext cx="1771650" cy="1"/>
            </a:xfrm>
            <a:prstGeom prst="line">
              <a:avLst/>
            </a:prstGeom>
            <a:noFill/>
            <a:ln w="19050">
              <a:solidFill>
                <a:schemeClr val="accent1"/>
              </a:solidFill>
              <a:tailEnd type="triangle" w="med" len="med"/>
            </a:ln>
          </p:spPr>
        </p:sp>
        <p:sp>
          <p:nvSpPr>
            <p:cNvPr id="54" name="TextBox 54"/>
            <p:cNvSpPr txBox="1"/>
            <p:nvPr/>
          </p:nvSpPr>
          <p:spPr>
            <a:xfrm>
              <a:off x="8896683" y="2725102"/>
              <a:ext cx="399383" cy="205359"/>
            </a:xfrm>
            <a:prstGeom prst="rect">
              <a:avLst/>
            </a:prstGeom>
            <a:noFill/>
            <a:ln>
              <a:noFill/>
            </a:ln>
          </p:spPr>
          <p:txBody>
            <a:bodyPr wrap="none" lIns="0" tIns="0" rIns="0" bIns="0" anchor="t" anchorCtr="0">
              <a:spAutoFit/>
            </a:bodyPr>
            <a:lstStyle/>
            <a:p>
              <a:pPr algn="ctr"/>
              <a:r>
                <a:rPr lang="ko-KR" sz="1050" dirty="0">
                  <a:solidFill>
                    <a:srgbClr val="4ADE80"/>
                  </a:solidFill>
                  <a:latin typeface="+mn-lt"/>
                  <a:ea typeface="+mn-ea"/>
                  <a:cs typeface="+mn-cs"/>
                </a:rPr>
                <a:t>ready</a:t>
              </a:r>
            </a:p>
          </p:txBody>
        </p:sp>
        <p:sp>
          <p:nvSpPr>
            <p:cNvPr id="55" name="TextBox 55"/>
            <p:cNvSpPr txBox="1"/>
            <p:nvPr/>
          </p:nvSpPr>
          <p:spPr>
            <a:xfrm>
              <a:off x="8338347" y="3106102"/>
              <a:ext cx="1516056" cy="205359"/>
            </a:xfrm>
            <a:prstGeom prst="rect">
              <a:avLst/>
            </a:prstGeom>
            <a:noFill/>
            <a:ln>
              <a:noFill/>
            </a:ln>
          </p:spPr>
          <p:txBody>
            <a:bodyPr wrap="none" lIns="0" tIns="0" rIns="0" bIns="0" anchor="t" anchorCtr="0">
              <a:spAutoFit/>
            </a:bodyPr>
            <a:lstStyle/>
            <a:p>
              <a:pPr algn="ctr"/>
              <a:r>
                <a:rPr lang="ko-KR" sz="1050" dirty="0">
                  <a:solidFill>
                    <a:schemeClr val="accent2"/>
                  </a:solidFill>
                  <a:latin typeface="Consolas"/>
                  <a:ea typeface="Consolas"/>
                  <a:cs typeface="Consolas"/>
                </a:rPr>
                <a:t>fw interview-approve</a:t>
              </a:r>
            </a:p>
          </p:txBody>
        </p:sp>
        <p:sp>
          <p:nvSpPr>
            <p:cNvPr id="56" name="Line 56"/>
            <p:cNvSpPr/>
            <p:nvPr/>
          </p:nvSpPr>
          <p:spPr>
            <a:xfrm>
              <a:off x="7496175" y="3314700"/>
              <a:ext cx="9525" cy="590550"/>
            </a:xfrm>
            <a:custGeom>
              <a:avLst/>
              <a:gdLst/>
              <a:ahLst/>
              <a:cxnLst/>
              <a:rect l="l" t="t" r="r" b="b"/>
              <a:pathLst>
                <a:path w="9525" h="590550">
                  <a:moveTo>
                    <a:pt x="0" y="0"/>
                  </a:moveTo>
                  <a:lnTo>
                    <a:pt x="0" y="590550"/>
                  </a:lnTo>
                </a:path>
              </a:pathLst>
            </a:custGeom>
            <a:noFill/>
            <a:ln w="14288">
              <a:solidFill>
                <a:schemeClr val="accent2"/>
              </a:solidFill>
              <a:prstDash val="lgDash"/>
            </a:ln>
          </p:spPr>
        </p:sp>
        <p:sp>
          <p:nvSpPr>
            <p:cNvPr id="57" name="Line 57"/>
            <p:cNvSpPr/>
            <p:nvPr/>
          </p:nvSpPr>
          <p:spPr>
            <a:xfrm>
              <a:off x="7496175" y="3905250"/>
              <a:ext cx="3219450" cy="9525"/>
            </a:xfrm>
            <a:custGeom>
              <a:avLst/>
              <a:gdLst/>
              <a:ahLst/>
              <a:cxnLst/>
              <a:rect l="l" t="t" r="r" b="b"/>
              <a:pathLst>
                <a:path w="3219450" h="9525">
                  <a:moveTo>
                    <a:pt x="0" y="0"/>
                  </a:moveTo>
                  <a:lnTo>
                    <a:pt x="3219450" y="0"/>
                  </a:lnTo>
                </a:path>
              </a:pathLst>
            </a:custGeom>
            <a:noFill/>
            <a:ln w="14288">
              <a:solidFill>
                <a:schemeClr val="accent2"/>
              </a:solidFill>
              <a:prstDash val="lgDash"/>
            </a:ln>
          </p:spPr>
        </p:sp>
        <p:sp>
          <p:nvSpPr>
            <p:cNvPr id="58" name="Line 58"/>
            <p:cNvSpPr/>
            <p:nvPr/>
          </p:nvSpPr>
          <p:spPr>
            <a:xfrm flipV="1">
              <a:off x="10715625" y="3162300"/>
              <a:ext cx="1" cy="742950"/>
            </a:xfrm>
            <a:prstGeom prst="line">
              <a:avLst/>
            </a:prstGeom>
            <a:noFill/>
            <a:ln w="14288">
              <a:solidFill>
                <a:schemeClr val="accent2"/>
              </a:solidFill>
              <a:prstDash val="lgDash"/>
              <a:tailEnd type="triangle" w="med" len="med"/>
            </a:ln>
          </p:spPr>
        </p:sp>
        <p:sp>
          <p:nvSpPr>
            <p:cNvPr id="59" name="TextBox 59"/>
            <p:cNvSpPr txBox="1"/>
            <p:nvPr/>
          </p:nvSpPr>
          <p:spPr>
            <a:xfrm>
              <a:off x="7962690" y="3715702"/>
              <a:ext cx="2286419" cy="205359"/>
            </a:xfrm>
            <a:prstGeom prst="rect">
              <a:avLst/>
            </a:prstGeom>
            <a:noFill/>
            <a:ln>
              <a:noFill/>
            </a:ln>
          </p:spPr>
          <p:txBody>
            <a:bodyPr wrap="none" lIns="0" tIns="0" rIns="0" bIns="0" anchor="t" anchorCtr="0">
              <a:spAutoFit/>
            </a:bodyPr>
            <a:lstStyle/>
            <a:p>
              <a:pPr algn="ctr"/>
              <a:r>
                <a:rPr lang="ko-KR" sz="1050" dirty="0">
                  <a:solidFill>
                    <a:schemeClr val="accent2"/>
                  </a:solidFill>
                  <a:latin typeface="+mn-lt"/>
                  <a:ea typeface="+mn-ea"/>
                  <a:cs typeface="+mn-cs"/>
                </a:rPr>
                <a:t>3라운드 · 66세션 넘으면 → --force</a:t>
              </a:r>
            </a:p>
          </p:txBody>
        </p:sp>
        <p:sp>
          <p:nvSpPr>
            <p:cNvPr id="60" name="Freeform 60"/>
            <p:cNvSpPr/>
            <p:nvPr/>
          </p:nvSpPr>
          <p:spPr>
            <a:xfrm>
              <a:off x="10001250" y="2724150"/>
              <a:ext cx="1428750" cy="419100"/>
            </a:xfrm>
            <a:prstGeom prst="flowChartTerminator">
              <a:avLst/>
            </a:prstGeom>
            <a:solidFill>
              <a:srgbClr val="182238"/>
            </a:solidFill>
            <a:ln w="19050">
              <a:solidFill>
                <a:schemeClr val="accent2"/>
              </a:solidFill>
            </a:ln>
          </p:spPr>
        </p:sp>
        <p:sp>
          <p:nvSpPr>
            <p:cNvPr id="61" name="TextBox 61"/>
            <p:cNvSpPr txBox="1"/>
            <p:nvPr/>
          </p:nvSpPr>
          <p:spPr>
            <a:xfrm>
              <a:off x="10288955" y="2845118"/>
              <a:ext cx="853341" cy="264033"/>
            </a:xfrm>
            <a:prstGeom prst="rect">
              <a:avLst/>
            </a:prstGeom>
            <a:noFill/>
            <a:ln>
              <a:noFill/>
            </a:ln>
          </p:spPr>
          <p:txBody>
            <a:bodyPr wrap="none" lIns="0" tIns="0" rIns="0" bIns="0" anchor="t" anchorCtr="0">
              <a:spAutoFit/>
            </a:bodyPr>
            <a:lstStyle/>
            <a:p>
              <a:pPr algn="ctr"/>
              <a:r>
                <a:rPr lang="ko-KR" sz="1350" b="1" dirty="0">
                  <a:solidFill>
                    <a:schemeClr val="accent2"/>
                  </a:solidFill>
                  <a:latin typeface="+mn-lt"/>
                  <a:ea typeface="+mn-ea"/>
                  <a:cs typeface="+mn-cs"/>
                </a:rPr>
                <a:t>approved</a:t>
              </a:r>
            </a:p>
          </p:txBody>
        </p:sp>
        <p:sp>
          <p:nvSpPr>
            <p:cNvPr id="62" name="TextBox 62"/>
            <p:cNvSpPr txBox="1"/>
            <p:nvPr/>
          </p:nvSpPr>
          <p:spPr>
            <a:xfrm>
              <a:off x="10075878" y="2325052"/>
              <a:ext cx="1279493" cy="205359"/>
            </a:xfrm>
            <a:prstGeom prst="rect">
              <a:avLst/>
            </a:prstGeom>
            <a:noFill/>
            <a:ln>
              <a:noFill/>
            </a:ln>
          </p:spPr>
          <p:txBody>
            <a:bodyPr wrap="none" lIns="0" tIns="0" rIns="0" bIns="0" anchor="t" anchorCtr="0">
              <a:spAutoFit/>
            </a:bodyPr>
            <a:lstStyle/>
            <a:p>
              <a:pPr algn="ctr"/>
              <a:r>
                <a:rPr lang="ko-KR" sz="1050" dirty="0">
                  <a:solidFill>
                    <a:schemeClr val="accent5"/>
                  </a:solidFill>
                  <a:latin typeface="+mn-lt"/>
                  <a:ea typeface="+mn-ea"/>
                  <a:cs typeface="+mn-cs"/>
                </a:rPr>
                <a:t>PLAN.md 초안 조립</a:t>
              </a:r>
            </a:p>
          </p:txBody>
        </p:sp>
      </p:grpSp>
      <p:grpSp>
        <p:nvGrpSpPr>
          <p:cNvPr id="67" name="Group 67"/>
          <p:cNvGrpSpPr/>
          <p:nvPr/>
        </p:nvGrpSpPr>
        <p:grpSpPr>
          <a:xfrm>
            <a:off x="602742" y="4458652"/>
            <a:ext cx="10384536" cy="1298449"/>
            <a:chOff x="602742" y="4458652"/>
            <a:chExt cx="10384536" cy="1298449"/>
          </a:xfrm>
        </p:grpSpPr>
        <p:sp>
          <p:nvSpPr>
            <p:cNvPr id="64" name="TextBox 64"/>
            <p:cNvSpPr txBox="1"/>
            <p:nvPr/>
          </p:nvSpPr>
          <p:spPr>
            <a:xfrm>
              <a:off x="604266" y="4458652"/>
              <a:ext cx="860793" cy="205359"/>
            </a:xfrm>
            <a:prstGeom prst="rect">
              <a:avLst/>
            </a:prstGeom>
            <a:noFill/>
            <a:ln>
              <a:noFill/>
            </a:ln>
          </p:spPr>
          <p:txBody>
            <a:bodyPr wrap="none" lIns="0" tIns="0" rIns="0" bIns="0" anchor="t" anchorCtr="0">
              <a:spAutoFit/>
            </a:bodyPr>
            <a:lstStyle/>
            <a:p>
              <a:pPr algn="l"/>
              <a:r>
                <a:rPr lang="ko-KR" sz="1050" spc="150" dirty="0">
                  <a:solidFill>
                    <a:schemeClr val="accent5"/>
                  </a:solidFill>
                  <a:latin typeface="Consolas"/>
                  <a:ea typeface="Microsoft YaHei"/>
                  <a:cs typeface="Consolas"/>
                </a:rPr>
                <a:t>설계 포인트</a:t>
              </a:r>
            </a:p>
          </p:txBody>
        </p:sp>
        <p:sp>
          <p:nvSpPr>
            <p:cNvPr id="65" name="TextBox 65"/>
            <p:cNvSpPr txBox="1"/>
            <p:nvPr/>
          </p:nvSpPr>
          <p:spPr>
            <a:xfrm>
              <a:off x="602742" y="4692968"/>
              <a:ext cx="5088636" cy="1064133"/>
            </a:xfrm>
            <a:prstGeom prst="rect">
              <a:avLst/>
            </a:prstGeom>
            <a:noFill/>
            <a:ln>
              <a:noFill/>
            </a:ln>
          </p:spPr>
          <p:txBody>
            <a:bodyPr wrap="none" lIns="0" tIns="0" rIns="0" bIns="0" anchor="t" anchorCtr="0">
              <a:spAutoFit/>
            </a:bodyPr>
            <a:lstStyle/>
            <a:p>
              <a:pPr algn="l">
                <a:lnSpc>
                  <a:spcPts val="2100"/>
                </a:lnSpc>
              </a:pPr>
              <a:r>
                <a:rPr lang="ko-KR" sz="1350" dirty="0">
                  <a:solidFill>
                    <a:schemeClr val="dk1"/>
                  </a:solidFill>
                  <a:latin typeface="+mn-lt"/>
                  <a:ea typeface="+mn-ea"/>
                  <a:cs typeface="+mn-cs"/>
                </a:rPr>
                <a:t>순서 고정 · 기획 → 개발 → 평가 — 뒤 역할은 앞의 Q&amp;A 를 받는다</a:t>
              </a:r>
              <a:br/>
              <a:r>
                <a:rPr lang="ko-KR" sz="1350" dirty="0">
                  <a:solidFill>
                    <a:schemeClr val="dk1"/>
                  </a:solidFill>
                  <a:latin typeface="+mn-lt"/>
                  <a:ea typeface="+mn-ea"/>
                  <a:cs typeface="+mn-cs"/>
                </a:rPr>
                <a:t>질문 우선 · 질문이 하나라도 있으면 초안은 무시된다</a:t>
              </a:r>
              <a:br/>
              <a:r>
                <a:rPr lang="ko-KR" sz="1350" dirty="0">
                  <a:solidFill>
                    <a:schemeClr val="dk1"/>
                  </a:solidFill>
                  <a:latin typeface="+mn-lt"/>
                  <a:ea typeface="+mn-ea"/>
                  <a:cs typeface="+mn-cs"/>
                </a:rPr>
                <a:t>진입 경로는 개발 고수의 산출물 — "어디부터 읽을까"가 첫 질문</a:t>
              </a:r>
              <a:br/>
              <a:r>
                <a:rPr lang="ko-KR" sz="1350" dirty="0">
                  <a:solidFill>
                    <a:schemeClr val="dk1"/>
                  </a:solidFill>
                  <a:latin typeface="+mn-lt"/>
                  <a:ea typeface="+mn-ea"/>
                  <a:cs typeface="+mn-cs"/>
                </a:rPr>
                <a:t>용어 glossary 는 기획 고수의 산출물 → PLAN §용어 → 전 세션 주입</a:t>
              </a:r>
            </a:p>
          </p:txBody>
        </p:sp>
        <p:sp>
          <p:nvSpPr>
            <p:cNvPr id="66" name="TextBox 66"/>
            <p:cNvSpPr txBox="1"/>
            <p:nvPr/>
          </p:nvSpPr>
          <p:spPr>
            <a:xfrm>
              <a:off x="6241542" y="4692968"/>
              <a:ext cx="4745736" cy="1064133"/>
            </a:xfrm>
            <a:prstGeom prst="rect">
              <a:avLst/>
            </a:prstGeom>
            <a:noFill/>
            <a:ln>
              <a:noFill/>
            </a:ln>
          </p:spPr>
          <p:txBody>
            <a:bodyPr wrap="none" lIns="0" tIns="0" rIns="0" bIns="0" anchor="t" anchorCtr="0">
              <a:spAutoFit/>
            </a:bodyPr>
            <a:lstStyle/>
            <a:p>
              <a:pPr algn="l">
                <a:lnSpc>
                  <a:spcPts val="2100"/>
                </a:lnSpc>
              </a:pPr>
              <a:r>
                <a:rPr lang="ko-KR" sz="1350" dirty="0">
                  <a:solidFill>
                    <a:schemeClr val="dk1"/>
                  </a:solidFill>
                  <a:latin typeface="+mn-lt"/>
                  <a:ea typeface="+mn-ea"/>
                  <a:cs typeface="+mn-cs"/>
                </a:rPr>
                <a:t>이의 라운드 · 지적받은 초안은 다시 쓴다</a:t>
              </a:r>
              <a:br/>
              <a:r>
                <a:rPr lang="ko-KR" sz="1350" dirty="0">
                  <a:solidFill>
                    <a:schemeClr val="dk1"/>
                  </a:solidFill>
                  <a:latin typeface="+mn-lt"/>
                  <a:ea typeface="+mn-ea"/>
                  <a:cs typeface="+mn-cs"/>
                </a:rPr>
                <a:t>상한 · 이의 3라운드 · 세션 66회면 사람이 --force 로 마무리</a:t>
              </a:r>
              <a:br/>
              <a:r>
                <a:rPr lang="ko-KR" sz="1350" dirty="0">
                  <a:solidFill>
                    <a:schemeClr val="dk1"/>
                  </a:solidFill>
                  <a:latin typeface="+mn-lt"/>
                  <a:ea typeface="+mn-ea"/>
                  <a:cs typeface="+mn-cs"/>
                </a:rPr>
                <a:t>남은 이의는 PLAN 에 기록돼 나중에 검증 단계가 대조</a:t>
              </a:r>
              <a:br/>
              <a:r>
                <a:rPr lang="ko-KR" sz="1350" dirty="0">
                  <a:solidFill>
                    <a:schemeClr val="dk1"/>
                  </a:solidFill>
                  <a:latin typeface="+mn-lt"/>
                  <a:ea typeface="+mn-ea"/>
                  <a:cs typeface="+mn-cs"/>
                </a:rPr>
                <a:t>내가 한 답 하나가 PLAN 결정 표의 행 하나가 된다</a:t>
              </a:r>
            </a:p>
          </p:txBody>
        </p:sp>
      </p:grpSp>
      <p:grpSp>
        <p:nvGrpSpPr>
          <p:cNvPr id="70" name="Group 70"/>
          <p:cNvGrpSpPr/>
          <p:nvPr/>
        </p:nvGrpSpPr>
        <p:grpSpPr>
          <a:xfrm>
            <a:off x="604266" y="6516052"/>
            <a:ext cx="10983468" cy="205359"/>
            <a:chOff x="604266" y="6516052"/>
            <a:chExt cx="10983468" cy="205359"/>
          </a:xfrm>
        </p:grpSpPr>
        <p:sp>
          <p:nvSpPr>
            <p:cNvPr id="68" name="TextBox 68"/>
            <p:cNvSpPr txBox="1"/>
            <p:nvPr/>
          </p:nvSpPr>
          <p:spPr>
            <a:xfrm>
              <a:off x="604266" y="6516052"/>
              <a:ext cx="4475466"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feature-workflow · plugins/feature-workflow/README.md §4.2</a:t>
              </a:r>
            </a:p>
          </p:txBody>
        </p:sp>
        <p:sp>
          <p:nvSpPr>
            <p:cNvPr id="69" name="TextBox 69"/>
            <p:cNvSpPr txBox="1"/>
            <p:nvPr/>
          </p:nvSpPr>
          <p:spPr>
            <a:xfrm>
              <a:off x="11103540" y="65160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07 / 19</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609600" y="1905000"/>
            <a:ext cx="10972800" cy="4381500"/>
          </a:xfrm>
          <a:custGeom>
            <a:avLst/>
            <a:gdLst/>
            <a:ahLst/>
            <a:cxnLst/>
            <a:rect l="l" t="t" r="r" b="b"/>
            <a:pathLst>
              <a:path w="10972800" h="4381500">
                <a:moveTo>
                  <a:pt x="152400" y="0"/>
                </a:moveTo>
                <a:lnTo>
                  <a:pt x="152400" y="4381500"/>
                </a:lnTo>
                <a:moveTo>
                  <a:pt x="914400" y="0"/>
                </a:moveTo>
                <a:lnTo>
                  <a:pt x="914400" y="4381500"/>
                </a:lnTo>
                <a:moveTo>
                  <a:pt x="1676400" y="0"/>
                </a:moveTo>
                <a:lnTo>
                  <a:pt x="1676400" y="4381500"/>
                </a:lnTo>
                <a:moveTo>
                  <a:pt x="2438400" y="0"/>
                </a:moveTo>
                <a:lnTo>
                  <a:pt x="2438400" y="4381500"/>
                </a:lnTo>
                <a:moveTo>
                  <a:pt x="3200400" y="0"/>
                </a:moveTo>
                <a:lnTo>
                  <a:pt x="3200400" y="4381500"/>
                </a:lnTo>
                <a:moveTo>
                  <a:pt x="3962400" y="0"/>
                </a:moveTo>
                <a:lnTo>
                  <a:pt x="3962400" y="4381500"/>
                </a:lnTo>
                <a:moveTo>
                  <a:pt x="4724400" y="0"/>
                </a:moveTo>
                <a:lnTo>
                  <a:pt x="4724400" y="4381500"/>
                </a:lnTo>
                <a:moveTo>
                  <a:pt x="5486400" y="0"/>
                </a:moveTo>
                <a:lnTo>
                  <a:pt x="5486400" y="4381500"/>
                </a:lnTo>
                <a:moveTo>
                  <a:pt x="6248400" y="0"/>
                </a:moveTo>
                <a:lnTo>
                  <a:pt x="6248400" y="4381500"/>
                </a:lnTo>
                <a:moveTo>
                  <a:pt x="7010400" y="0"/>
                </a:moveTo>
                <a:lnTo>
                  <a:pt x="7010400" y="4381500"/>
                </a:lnTo>
                <a:moveTo>
                  <a:pt x="7772400" y="0"/>
                </a:moveTo>
                <a:lnTo>
                  <a:pt x="7772400" y="4381500"/>
                </a:lnTo>
                <a:moveTo>
                  <a:pt x="8534400" y="0"/>
                </a:moveTo>
                <a:lnTo>
                  <a:pt x="8534400" y="4381500"/>
                </a:lnTo>
                <a:moveTo>
                  <a:pt x="9296400" y="0"/>
                </a:moveTo>
                <a:lnTo>
                  <a:pt x="9296400" y="4381500"/>
                </a:lnTo>
                <a:moveTo>
                  <a:pt x="10058400" y="0"/>
                </a:moveTo>
                <a:lnTo>
                  <a:pt x="10058400" y="4381500"/>
                </a:lnTo>
                <a:moveTo>
                  <a:pt x="10820400" y="0"/>
                </a:moveTo>
                <a:lnTo>
                  <a:pt x="10820400" y="4381500"/>
                </a:lnTo>
                <a:moveTo>
                  <a:pt x="0" y="381000"/>
                </a:moveTo>
                <a:lnTo>
                  <a:pt x="10972800" y="381000"/>
                </a:lnTo>
                <a:moveTo>
                  <a:pt x="0" y="1143000"/>
                </a:moveTo>
                <a:lnTo>
                  <a:pt x="10972800" y="1143000"/>
                </a:lnTo>
                <a:moveTo>
                  <a:pt x="0" y="1905000"/>
                </a:moveTo>
                <a:lnTo>
                  <a:pt x="10972800" y="1905000"/>
                </a:lnTo>
                <a:moveTo>
                  <a:pt x="0" y="2667000"/>
                </a:moveTo>
                <a:lnTo>
                  <a:pt x="10972800" y="2667000"/>
                </a:lnTo>
                <a:moveTo>
                  <a:pt x="0" y="3429000"/>
                </a:moveTo>
                <a:lnTo>
                  <a:pt x="10972800" y="3429000"/>
                </a:lnTo>
                <a:moveTo>
                  <a:pt x="0" y="4191000"/>
                </a:moveTo>
                <a:lnTo>
                  <a:pt x="10972800" y="4191000"/>
                </a:lnTo>
              </a:path>
            </a:pathLst>
          </a:custGeom>
          <a:noFill/>
          <a:ln w="9525">
            <a:solidFill>
              <a:srgbClr val="1B2740"/>
            </a:solidFill>
          </a:ln>
        </p:spPr>
      </p:sp>
      <p:grpSp>
        <p:nvGrpSpPr>
          <p:cNvPr id="4" name="Group 4"/>
          <p:cNvGrpSpPr/>
          <p:nvPr/>
        </p:nvGrpSpPr>
        <p:grpSpPr>
          <a:xfrm>
            <a:off x="601980" y="428625"/>
            <a:ext cx="4124389" cy="293370"/>
            <a:chOff x="601980" y="428625"/>
            <a:chExt cx="4124389" cy="293370"/>
          </a:xfrm>
        </p:grpSpPr>
        <p:sp>
          <p:nvSpPr>
            <p:cNvPr id="3" name="TextBox 3"/>
            <p:cNvSpPr txBox="1"/>
            <p:nvPr/>
          </p:nvSpPr>
          <p:spPr>
            <a:xfrm>
              <a:off x="601980" y="428625"/>
              <a:ext cx="4124389" cy="293370"/>
            </a:xfrm>
            <a:prstGeom prst="rect">
              <a:avLst/>
            </a:prstGeom>
            <a:noFill/>
            <a:ln>
              <a:noFill/>
            </a:ln>
          </p:spPr>
          <p:txBody>
            <a:bodyPr wrap="none" lIns="0" tIns="0" rIns="0" bIns="0" anchor="t" anchorCtr="0">
              <a:spAutoFit/>
            </a:bodyPr>
            <a:lstStyle/>
            <a:p>
              <a:pPr algn="l"/>
              <a:r>
                <a:rPr lang="ko-KR" sz="1500" spc="150" dirty="0">
                  <a:solidFill>
                    <a:schemeClr val="accent5"/>
                  </a:solidFill>
                  <a:latin typeface="Consolas"/>
                  <a:ea typeface="Microsoft YaHei"/>
                  <a:cs typeface="Consolas"/>
                </a:rPr>
                <a:t>PART 02 · 동작 원리 — fw run 한 바퀴</a:t>
              </a:r>
            </a:p>
          </p:txBody>
        </p:sp>
      </p:grpSp>
      <p:grpSp>
        <p:nvGrpSpPr>
          <p:cNvPr id="6" name="Group 6"/>
          <p:cNvGrpSpPr/>
          <p:nvPr/>
        </p:nvGrpSpPr>
        <p:grpSpPr>
          <a:xfrm>
            <a:off x="593598" y="822008"/>
            <a:ext cx="7017877" cy="1111377"/>
            <a:chOff x="593598" y="822008"/>
            <a:chExt cx="7017877" cy="1111377"/>
          </a:xfrm>
        </p:grpSpPr>
        <p:sp>
          <p:nvSpPr>
            <p:cNvPr id="5" name="TextBox 5"/>
            <p:cNvSpPr txBox="1"/>
            <p:nvPr/>
          </p:nvSpPr>
          <p:spPr>
            <a:xfrm>
              <a:off x="593598" y="822008"/>
              <a:ext cx="7017877" cy="1111377"/>
            </a:xfrm>
            <a:prstGeom prst="rect">
              <a:avLst/>
            </a:prstGeom>
            <a:noFill/>
            <a:ln>
              <a:noFill/>
            </a:ln>
          </p:spPr>
          <p:txBody>
            <a:bodyPr wrap="none" lIns="0" tIns="0" rIns="0" bIns="0" anchor="t" anchorCtr="0">
              <a:spAutoFit/>
            </a:bodyPr>
            <a:lstStyle/>
            <a:p>
              <a:pPr algn="l">
                <a:lnSpc>
                  <a:spcPts val="3900"/>
                </a:lnSpc>
              </a:pPr>
              <a:r>
                <a:rPr lang="ko-KR" sz="3150" b="1" dirty="0">
                  <a:solidFill>
                    <a:schemeClr val="dk1"/>
                  </a:solidFill>
                  <a:latin typeface="+mn-lt"/>
                  <a:ea typeface="+mn-ea"/>
                  <a:cs typeface="+mn-cs"/>
                </a:rPr>
                <a:t xml:space="preserve">AI 가 </a:t>
              </a:r>
              <a:r>
                <a:rPr lang="ko-KR" sz="3150" b="1" dirty="0">
                  <a:solidFill>
                    <a:schemeClr val="accent1"/>
                  </a:solidFill>
                  <a:latin typeface="Consolas"/>
                  <a:ea typeface="Consolas"/>
                  <a:cs typeface="Consolas"/>
                </a:rPr>
                <a:t>done</a:t>
              </a:r>
              <a:r>
                <a:rPr lang="ko-KR" sz="3150" b="1" dirty="0">
                  <a:solidFill>
                    <a:schemeClr val="dk1"/>
                  </a:solidFill>
                  <a:latin typeface="+mn-lt"/>
                  <a:ea typeface="+mn-ea"/>
                  <a:cs typeface="+mn-cs"/>
                </a:rPr>
                <a:t xml:space="preserve"> 이라고 해도</a:t>
              </a:r>
              <a:br/>
              <a:r>
                <a:rPr lang="ko-KR" sz="3150" b="1" dirty="0">
                  <a:solidFill>
                    <a:schemeClr val="accent2"/>
                  </a:solidFill>
                  <a:latin typeface="+mn-lt"/>
                  <a:ea typeface="+mn-ea"/>
                  <a:cs typeface="+mn-cs"/>
                </a:rPr>
                <a:t>다섯 관문</a:t>
              </a:r>
              <a:r>
                <a:rPr lang="ko-KR" sz="3150" b="1" dirty="0">
                  <a:solidFill>
                    <a:schemeClr val="dk1"/>
                  </a:solidFill>
                  <a:latin typeface="+mn-lt"/>
                  <a:ea typeface="+mn-ea"/>
                  <a:cs typeface="+mn-cs"/>
                </a:rPr>
                <a:t>을 통과해야 phase 가 끝난다</a:t>
              </a:r>
            </a:p>
          </p:txBody>
        </p:sp>
      </p:grpSp>
      <p:grpSp>
        <p:nvGrpSpPr>
          <p:cNvPr id="68" name="Group 68"/>
          <p:cNvGrpSpPr/>
          <p:nvPr/>
        </p:nvGrpSpPr>
        <p:grpSpPr>
          <a:xfrm>
            <a:off x="755904" y="1905000"/>
            <a:ext cx="7366711" cy="4435411"/>
            <a:chOff x="755904" y="1905000"/>
            <a:chExt cx="7366711" cy="4435411"/>
          </a:xfrm>
        </p:grpSpPr>
        <p:sp>
          <p:nvSpPr>
            <p:cNvPr id="7" name="Freeform 7"/>
            <p:cNvSpPr/>
            <p:nvPr/>
          </p:nvSpPr>
          <p:spPr>
            <a:xfrm>
              <a:off x="3238500" y="1905000"/>
              <a:ext cx="2286000" cy="381000"/>
            </a:xfrm>
            <a:prstGeom prst="flowChartTerminator">
              <a:avLst/>
            </a:prstGeom>
            <a:solidFill>
              <a:srgbClr val="182238"/>
            </a:solidFill>
            <a:ln w="19050">
              <a:solidFill>
                <a:schemeClr val="accent2"/>
              </a:solidFill>
            </a:ln>
          </p:spPr>
        </p:sp>
        <p:sp>
          <p:nvSpPr>
            <p:cNvPr id="8" name="TextBox 8"/>
            <p:cNvSpPr txBox="1"/>
            <p:nvPr/>
          </p:nvSpPr>
          <p:spPr>
            <a:xfrm>
              <a:off x="3824888" y="2006918"/>
              <a:ext cx="1113225" cy="264033"/>
            </a:xfrm>
            <a:prstGeom prst="rect">
              <a:avLst/>
            </a:prstGeom>
            <a:noFill/>
            <a:ln>
              <a:noFill/>
            </a:ln>
          </p:spPr>
          <p:txBody>
            <a:bodyPr wrap="none" lIns="0" tIns="0" rIns="0" bIns="0" anchor="t" anchorCtr="0">
              <a:spAutoFit/>
            </a:bodyPr>
            <a:lstStyle/>
            <a:p>
              <a:pPr algn="ctr"/>
              <a:r>
                <a:rPr lang="ko-KR" sz="1350" dirty="0">
                  <a:solidFill>
                    <a:schemeClr val="accent2"/>
                  </a:solidFill>
                  <a:latin typeface="Consolas"/>
                  <a:ea typeface="Consolas"/>
                  <a:cs typeface="Consolas"/>
                </a:rPr>
                <a:t>fw run &lt;dir&gt;</a:t>
              </a:r>
            </a:p>
          </p:txBody>
        </p:sp>
        <p:sp>
          <p:nvSpPr>
            <p:cNvPr id="9" name="Line 9"/>
            <p:cNvSpPr/>
            <p:nvPr/>
          </p:nvSpPr>
          <p:spPr>
            <a:xfrm>
              <a:off x="4381500" y="2286000"/>
              <a:ext cx="1" cy="95250"/>
            </a:xfrm>
            <a:prstGeom prst="line">
              <a:avLst/>
            </a:prstGeom>
            <a:noFill/>
            <a:ln w="19050">
              <a:solidFill>
                <a:schemeClr val="accent1"/>
              </a:solidFill>
              <a:tailEnd type="triangle" w="med" len="med"/>
            </a:ln>
          </p:spPr>
        </p:sp>
        <p:grpSp>
          <p:nvGrpSpPr>
            <p:cNvPr id="12" name="Group 12"/>
            <p:cNvGrpSpPr/>
            <p:nvPr/>
          </p:nvGrpSpPr>
          <p:grpSpPr>
            <a:xfrm>
              <a:off x="3238500" y="2400300"/>
              <a:ext cx="2286000" cy="327851"/>
              <a:chOff x="3238500" y="2400300"/>
              <a:chExt cx="2286000" cy="327851"/>
            </a:xfrm>
          </p:grpSpPr>
          <p:sp>
            <p:nvSpPr>
              <p:cNvPr id="10" name="Rectangle 10"/>
              <p:cNvSpPr/>
              <p:nvPr/>
            </p:nvSpPr>
            <p:spPr>
              <a:xfrm>
                <a:off x="3238500" y="2400300"/>
                <a:ext cx="2286000" cy="304800"/>
              </a:xfrm>
              <a:prstGeom prst="roundRect">
                <a:avLst>
                  <a:gd name="adj" fmla="val 12500"/>
                </a:avLst>
              </a:prstGeom>
              <a:solidFill>
                <a:srgbClr val="182238"/>
              </a:solidFill>
              <a:ln w="19050">
                <a:solidFill>
                  <a:schemeClr val="accent1"/>
                </a:solidFill>
              </a:ln>
            </p:spPr>
          </p:sp>
          <p:sp>
            <p:nvSpPr>
              <p:cNvPr id="11" name="TextBox 11"/>
              <p:cNvSpPr txBox="1"/>
              <p:nvPr/>
            </p:nvSpPr>
            <p:spPr>
              <a:xfrm>
                <a:off x="3279677" y="2464118"/>
                <a:ext cx="2203647" cy="264033"/>
              </a:xfrm>
              <a:prstGeom prst="rect">
                <a:avLst/>
              </a:prstGeom>
              <a:noFill/>
              <a:ln>
                <a:noFill/>
              </a:ln>
            </p:spPr>
            <p:txBody>
              <a:bodyPr wrap="none" lIns="0" tIns="0" rIns="0" bIns="0" anchor="t" anchorCtr="0">
                <a:spAutoFit/>
              </a:bodyPr>
              <a:lstStyle/>
              <a:p>
                <a:pPr algn="ctr"/>
                <a:r>
                  <a:rPr lang="ko-KR" sz="1350" dirty="0">
                    <a:solidFill>
                      <a:schemeClr val="dk1"/>
                    </a:solidFill>
                    <a:latin typeface="+mn-lt"/>
                    <a:ea typeface="+mn-ea"/>
                    <a:cs typeface="+mn-cs"/>
                  </a:rPr>
                  <a:t>시작 전 점검 · 브랜치 격리</a:t>
                </a:r>
              </a:p>
            </p:txBody>
          </p:sp>
        </p:grpSp>
        <p:sp>
          <p:nvSpPr>
            <p:cNvPr id="13" name="Line 13"/>
            <p:cNvSpPr/>
            <p:nvPr/>
          </p:nvSpPr>
          <p:spPr>
            <a:xfrm>
              <a:off x="4381500" y="2705100"/>
              <a:ext cx="1" cy="95250"/>
            </a:xfrm>
            <a:prstGeom prst="line">
              <a:avLst/>
            </a:prstGeom>
            <a:noFill/>
            <a:ln w="19050">
              <a:solidFill>
                <a:schemeClr val="accent1"/>
              </a:solidFill>
              <a:tailEnd type="triangle" w="med" len="med"/>
            </a:ln>
          </p:spPr>
        </p:sp>
        <p:grpSp>
          <p:nvGrpSpPr>
            <p:cNvPr id="16" name="Group 16"/>
            <p:cNvGrpSpPr/>
            <p:nvPr/>
          </p:nvGrpSpPr>
          <p:grpSpPr>
            <a:xfrm>
              <a:off x="3211525" y="2819400"/>
              <a:ext cx="2339950" cy="327851"/>
              <a:chOff x="3211525" y="2819400"/>
              <a:chExt cx="2339950" cy="327851"/>
            </a:xfrm>
          </p:grpSpPr>
          <p:sp>
            <p:nvSpPr>
              <p:cNvPr id="14" name="Rectangle 14"/>
              <p:cNvSpPr/>
              <p:nvPr/>
            </p:nvSpPr>
            <p:spPr>
              <a:xfrm>
                <a:off x="3238500" y="2819400"/>
                <a:ext cx="2286000" cy="304800"/>
              </a:xfrm>
              <a:prstGeom prst="roundRect">
                <a:avLst>
                  <a:gd name="adj" fmla="val 12500"/>
                </a:avLst>
              </a:prstGeom>
              <a:solidFill>
                <a:srgbClr val="182238"/>
              </a:solidFill>
              <a:ln w="19050">
                <a:solidFill>
                  <a:schemeClr val="accent1"/>
                </a:solidFill>
              </a:ln>
            </p:spPr>
          </p:sp>
          <p:sp>
            <p:nvSpPr>
              <p:cNvPr id="15" name="TextBox 15"/>
              <p:cNvSpPr txBox="1"/>
              <p:nvPr/>
            </p:nvSpPr>
            <p:spPr>
              <a:xfrm>
                <a:off x="3211525" y="2883218"/>
                <a:ext cx="2339950" cy="264033"/>
              </a:xfrm>
              <a:prstGeom prst="rect">
                <a:avLst/>
              </a:prstGeom>
              <a:noFill/>
              <a:ln>
                <a:noFill/>
              </a:ln>
            </p:spPr>
            <p:txBody>
              <a:bodyPr wrap="none" lIns="0" tIns="0" rIns="0" bIns="0" anchor="t" anchorCtr="0">
                <a:spAutoFit/>
              </a:bodyPr>
              <a:lstStyle/>
              <a:p>
                <a:pPr algn="ctr"/>
                <a:r>
                  <a:rPr lang="ko-KR" sz="1350" dirty="0">
                    <a:solidFill>
                      <a:schemeClr val="dk1"/>
                    </a:solidFill>
                    <a:latin typeface="+mn-lt"/>
                    <a:ea typeface="+mn-ea"/>
                    <a:cs typeface="+mn-cs"/>
                  </a:rPr>
                  <a:t>다음 phase 선택 · 상한 확인</a:t>
                </a:r>
              </a:p>
            </p:txBody>
          </p:sp>
        </p:grpSp>
        <p:sp>
          <p:nvSpPr>
            <p:cNvPr id="17" name="Line 17"/>
            <p:cNvSpPr/>
            <p:nvPr/>
          </p:nvSpPr>
          <p:spPr>
            <a:xfrm>
              <a:off x="4381500" y="3124200"/>
              <a:ext cx="1" cy="95250"/>
            </a:xfrm>
            <a:prstGeom prst="line">
              <a:avLst/>
            </a:prstGeom>
            <a:noFill/>
            <a:ln w="19050">
              <a:solidFill>
                <a:schemeClr val="accent1"/>
              </a:solidFill>
              <a:tailEnd type="triangle" w="med" len="med"/>
            </a:ln>
          </p:spPr>
        </p:sp>
        <p:grpSp>
          <p:nvGrpSpPr>
            <p:cNvPr id="20" name="Group 20"/>
            <p:cNvGrpSpPr/>
            <p:nvPr/>
          </p:nvGrpSpPr>
          <p:grpSpPr>
            <a:xfrm>
              <a:off x="3107284" y="3238500"/>
              <a:ext cx="2548433" cy="327851"/>
              <a:chOff x="3107284" y="3238500"/>
              <a:chExt cx="2548433" cy="327851"/>
            </a:xfrm>
          </p:grpSpPr>
          <p:sp>
            <p:nvSpPr>
              <p:cNvPr id="18" name="Rectangle 18"/>
              <p:cNvSpPr/>
              <p:nvPr/>
            </p:nvSpPr>
            <p:spPr>
              <a:xfrm>
                <a:off x="3238500" y="3238500"/>
                <a:ext cx="2286000" cy="304800"/>
              </a:xfrm>
              <a:prstGeom prst="roundRect">
                <a:avLst>
                  <a:gd name="adj" fmla="val 12500"/>
                </a:avLst>
              </a:prstGeom>
              <a:solidFill>
                <a:srgbClr val="182238"/>
              </a:solidFill>
              <a:ln w="19050">
                <a:solidFill>
                  <a:schemeClr val="accent1"/>
                </a:solidFill>
              </a:ln>
            </p:spPr>
          </p:sp>
          <p:sp>
            <p:nvSpPr>
              <p:cNvPr id="19" name="TextBox 19"/>
              <p:cNvSpPr txBox="1"/>
              <p:nvPr/>
            </p:nvSpPr>
            <p:spPr>
              <a:xfrm>
                <a:off x="3107284" y="3302318"/>
                <a:ext cx="2548433" cy="264033"/>
              </a:xfrm>
              <a:prstGeom prst="rect">
                <a:avLst/>
              </a:prstGeom>
              <a:noFill/>
              <a:ln>
                <a:noFill/>
              </a:ln>
            </p:spPr>
            <p:txBody>
              <a:bodyPr wrap="none" lIns="0" tIns="0" rIns="0" bIns="0" anchor="t" anchorCtr="0">
                <a:spAutoFit/>
              </a:bodyPr>
              <a:lstStyle/>
              <a:p>
                <a:pPr algn="ctr"/>
                <a:r>
                  <a:rPr lang="ko-KR" sz="1350" dirty="0">
                    <a:solidFill>
                      <a:schemeClr val="dk1"/>
                    </a:solidFill>
                    <a:latin typeface="+mn-lt"/>
                    <a:ea typeface="+mn-ea"/>
                    <a:cs typeface="+mn-cs"/>
                  </a:rPr>
                  <a:t>커밋 위치 기록 · AI 세션 시작</a:t>
                </a:r>
              </a:p>
            </p:txBody>
          </p:sp>
        </p:grpSp>
        <p:sp>
          <p:nvSpPr>
            <p:cNvPr id="21" name="Line 21"/>
            <p:cNvSpPr/>
            <p:nvPr/>
          </p:nvSpPr>
          <p:spPr>
            <a:xfrm>
              <a:off x="4381500" y="3543300"/>
              <a:ext cx="1" cy="95250"/>
            </a:xfrm>
            <a:prstGeom prst="line">
              <a:avLst/>
            </a:prstGeom>
            <a:noFill/>
            <a:ln w="19050">
              <a:solidFill>
                <a:schemeClr val="accent1"/>
              </a:solidFill>
              <a:tailEnd type="triangle" w="med" len="med"/>
            </a:ln>
          </p:spPr>
        </p:sp>
        <p:sp>
          <p:nvSpPr>
            <p:cNvPr id="22" name="Freeform 22"/>
            <p:cNvSpPr/>
            <p:nvPr/>
          </p:nvSpPr>
          <p:spPr>
            <a:xfrm>
              <a:off x="3238500" y="3657600"/>
              <a:ext cx="2286000" cy="609600"/>
            </a:xfrm>
            <a:prstGeom prst="flowChartDecision">
              <a:avLst/>
            </a:prstGeom>
            <a:solidFill>
              <a:srgbClr val="182238"/>
            </a:solidFill>
            <a:ln w="19050">
              <a:solidFill>
                <a:schemeClr val="accent1"/>
              </a:solidFill>
            </a:ln>
          </p:spPr>
        </p:sp>
        <p:sp>
          <p:nvSpPr>
            <p:cNvPr id="23" name="TextBox 23"/>
            <p:cNvSpPr txBox="1"/>
            <p:nvPr/>
          </p:nvSpPr>
          <p:spPr>
            <a:xfrm>
              <a:off x="3863340" y="3880485"/>
              <a:ext cx="1036320" cy="234696"/>
            </a:xfrm>
            <a:prstGeom prst="rect">
              <a:avLst/>
            </a:prstGeom>
            <a:noFill/>
            <a:ln>
              <a:noFill/>
            </a:ln>
          </p:spPr>
          <p:txBody>
            <a:bodyPr wrap="none" lIns="0" tIns="0" rIns="0" bIns="0" anchor="t" anchorCtr="0">
              <a:spAutoFit/>
            </a:bodyPr>
            <a:lstStyle/>
            <a:p>
              <a:pPr algn="ctr"/>
              <a:r>
                <a:rPr lang="ko-KR" sz="1200" dirty="0">
                  <a:solidFill>
                    <a:schemeClr val="dk1"/>
                  </a:solidFill>
                  <a:latin typeface="+mn-lt"/>
                  <a:ea typeface="+mn-ea"/>
                  <a:cs typeface="+mn-cs"/>
                </a:rPr>
                <a:t>AI 의 보고는?</a:t>
              </a:r>
            </a:p>
          </p:txBody>
        </p:sp>
        <p:sp>
          <p:nvSpPr>
            <p:cNvPr id="24" name="Line 24"/>
            <p:cNvSpPr/>
            <p:nvPr/>
          </p:nvSpPr>
          <p:spPr>
            <a:xfrm>
              <a:off x="4381500" y="4267200"/>
              <a:ext cx="1" cy="95250"/>
            </a:xfrm>
            <a:prstGeom prst="line">
              <a:avLst/>
            </a:prstGeom>
            <a:noFill/>
            <a:ln w="19050">
              <a:solidFill>
                <a:schemeClr val="accent1"/>
              </a:solidFill>
              <a:tailEnd type="triangle" w="med" len="med"/>
            </a:ln>
          </p:spPr>
        </p:sp>
        <p:sp>
          <p:nvSpPr>
            <p:cNvPr id="25" name="TextBox 25"/>
            <p:cNvSpPr txBox="1"/>
            <p:nvPr/>
          </p:nvSpPr>
          <p:spPr>
            <a:xfrm>
              <a:off x="4509516" y="4249102"/>
              <a:ext cx="590207" cy="205359"/>
            </a:xfrm>
            <a:prstGeom prst="rect">
              <a:avLst/>
            </a:prstGeom>
            <a:noFill/>
            <a:ln>
              <a:noFill/>
            </a:ln>
          </p:spPr>
          <p:txBody>
            <a:bodyPr wrap="none" lIns="0" tIns="0" rIns="0" bIns="0" anchor="t" anchorCtr="0">
              <a:spAutoFit/>
            </a:bodyPr>
            <a:lstStyle/>
            <a:p>
              <a:pPr algn="l"/>
              <a:r>
                <a:rPr lang="ko-KR" sz="1050" dirty="0">
                  <a:solidFill>
                    <a:srgbClr val="4ADE80"/>
                  </a:solidFill>
                  <a:latin typeface="+mn-lt"/>
                  <a:ea typeface="+mn-ea"/>
                  <a:cs typeface="+mn-cs"/>
                </a:rPr>
                <a:t>"끝났다"</a:t>
              </a:r>
            </a:p>
          </p:txBody>
        </p:sp>
        <p:grpSp>
          <p:nvGrpSpPr>
            <p:cNvPr id="28" name="Group 28"/>
            <p:cNvGrpSpPr/>
            <p:nvPr/>
          </p:nvGrpSpPr>
          <p:grpSpPr>
            <a:xfrm>
              <a:off x="3238500" y="4381500"/>
              <a:ext cx="2286000" cy="327851"/>
              <a:chOff x="3238500" y="4381500"/>
              <a:chExt cx="2286000" cy="327851"/>
            </a:xfrm>
          </p:grpSpPr>
          <p:sp>
            <p:nvSpPr>
              <p:cNvPr id="26" name="Rectangle 26"/>
              <p:cNvSpPr/>
              <p:nvPr/>
            </p:nvSpPr>
            <p:spPr>
              <a:xfrm>
                <a:off x="3238500" y="4381500"/>
                <a:ext cx="2286000" cy="304800"/>
              </a:xfrm>
              <a:prstGeom prst="roundRect">
                <a:avLst>
                  <a:gd name="adj" fmla="val 12500"/>
                </a:avLst>
              </a:prstGeom>
              <a:solidFill>
                <a:srgbClr val="182238"/>
              </a:solidFill>
              <a:ln w="19050">
                <a:solidFill>
                  <a:schemeClr val="accent1"/>
                </a:solidFill>
              </a:ln>
            </p:spPr>
          </p:sp>
          <p:sp>
            <p:nvSpPr>
              <p:cNvPr id="27" name="TextBox 27"/>
              <p:cNvSpPr txBox="1"/>
              <p:nvPr/>
            </p:nvSpPr>
            <p:spPr>
              <a:xfrm>
                <a:off x="3347828" y="4445318"/>
                <a:ext cx="2067344" cy="264033"/>
              </a:xfrm>
              <a:prstGeom prst="rect">
                <a:avLst/>
              </a:prstGeom>
              <a:noFill/>
              <a:ln>
                <a:noFill/>
              </a:ln>
            </p:spPr>
            <p:txBody>
              <a:bodyPr wrap="none" lIns="0" tIns="0" rIns="0" bIns="0" anchor="t" anchorCtr="0">
                <a:spAutoFit/>
              </a:bodyPr>
              <a:lstStyle/>
              <a:p>
                <a:pPr algn="ctr"/>
                <a:r>
                  <a:rPr lang="ko-KR" sz="1350" dirty="0">
                    <a:solidFill>
                      <a:schemeClr val="dk1"/>
                    </a:solidFill>
                    <a:latin typeface="+mn-lt"/>
                    <a:ea typeface="+mn-ea"/>
                    <a:cs typeface="+mn-cs"/>
                  </a:rPr>
                  <a:t>① 브랜치 ② 스크립트 확인</a:t>
                </a:r>
              </a:p>
            </p:txBody>
          </p:sp>
        </p:grpSp>
        <p:sp>
          <p:nvSpPr>
            <p:cNvPr id="29" name="Line 29"/>
            <p:cNvSpPr/>
            <p:nvPr/>
          </p:nvSpPr>
          <p:spPr>
            <a:xfrm>
              <a:off x="4381500" y="4686300"/>
              <a:ext cx="1" cy="95250"/>
            </a:xfrm>
            <a:prstGeom prst="line">
              <a:avLst/>
            </a:prstGeom>
            <a:noFill/>
            <a:ln w="19050">
              <a:solidFill>
                <a:schemeClr val="accent1"/>
              </a:solidFill>
              <a:tailEnd type="triangle" w="med" len="med"/>
            </a:ln>
          </p:spPr>
        </p:sp>
        <p:sp>
          <p:nvSpPr>
            <p:cNvPr id="30" name="Freeform 30"/>
            <p:cNvSpPr/>
            <p:nvPr/>
          </p:nvSpPr>
          <p:spPr>
            <a:xfrm>
              <a:off x="3238500" y="4800600"/>
              <a:ext cx="2286000" cy="609600"/>
            </a:xfrm>
            <a:prstGeom prst="flowChartDecision">
              <a:avLst/>
            </a:prstGeom>
            <a:solidFill>
              <a:srgbClr val="182238"/>
            </a:solidFill>
            <a:ln w="19050">
              <a:solidFill>
                <a:schemeClr val="accent1"/>
              </a:solidFill>
            </a:ln>
          </p:spPr>
        </p:sp>
        <p:sp>
          <p:nvSpPr>
            <p:cNvPr id="31" name="TextBox 31"/>
            <p:cNvSpPr txBox="1"/>
            <p:nvPr/>
          </p:nvSpPr>
          <p:spPr>
            <a:xfrm>
              <a:off x="3729228" y="5023485"/>
              <a:ext cx="1304544" cy="234696"/>
            </a:xfrm>
            <a:prstGeom prst="rect">
              <a:avLst/>
            </a:prstGeom>
            <a:noFill/>
            <a:ln>
              <a:noFill/>
            </a:ln>
          </p:spPr>
          <p:txBody>
            <a:bodyPr wrap="none" lIns="0" tIns="0" rIns="0" bIns="0" anchor="t" anchorCtr="0">
              <a:spAutoFit/>
            </a:bodyPr>
            <a:lstStyle/>
            <a:p>
              <a:pPr algn="ctr"/>
              <a:r>
                <a:rPr lang="ko-KR" sz="1200" dirty="0">
                  <a:solidFill>
                    <a:schemeClr val="dk1"/>
                  </a:solidFill>
                  <a:latin typeface="+mn-lt"/>
                  <a:ea typeface="+mn-ea"/>
                  <a:cs typeface="+mn-cs"/>
                </a:rPr>
                <a:t>③ 검증 명령 통과?</a:t>
              </a:r>
            </a:p>
          </p:txBody>
        </p:sp>
        <p:sp>
          <p:nvSpPr>
            <p:cNvPr id="32" name="Line 32"/>
            <p:cNvSpPr/>
            <p:nvPr/>
          </p:nvSpPr>
          <p:spPr>
            <a:xfrm>
              <a:off x="4381500" y="5410200"/>
              <a:ext cx="1" cy="95250"/>
            </a:xfrm>
            <a:prstGeom prst="line">
              <a:avLst/>
            </a:prstGeom>
            <a:noFill/>
            <a:ln w="19050">
              <a:solidFill>
                <a:schemeClr val="accent1"/>
              </a:solidFill>
              <a:tailEnd type="triangle" w="med" len="med"/>
            </a:ln>
          </p:spPr>
        </p:sp>
        <p:grpSp>
          <p:nvGrpSpPr>
            <p:cNvPr id="35" name="Group 35"/>
            <p:cNvGrpSpPr/>
            <p:nvPr/>
          </p:nvGrpSpPr>
          <p:grpSpPr>
            <a:xfrm>
              <a:off x="3238500" y="5524500"/>
              <a:ext cx="2286000" cy="327851"/>
              <a:chOff x="3238500" y="5524500"/>
              <a:chExt cx="2286000" cy="327851"/>
            </a:xfrm>
          </p:grpSpPr>
          <p:sp>
            <p:nvSpPr>
              <p:cNvPr id="33" name="Rectangle 33"/>
              <p:cNvSpPr/>
              <p:nvPr/>
            </p:nvSpPr>
            <p:spPr>
              <a:xfrm>
                <a:off x="3238500" y="5524500"/>
                <a:ext cx="2286000" cy="304800"/>
              </a:xfrm>
              <a:prstGeom prst="roundRect">
                <a:avLst>
                  <a:gd name="adj" fmla="val 12500"/>
                </a:avLst>
              </a:prstGeom>
              <a:solidFill>
                <a:srgbClr val="182238"/>
              </a:solidFill>
              <a:ln w="19050">
                <a:solidFill>
                  <a:schemeClr val="accent1"/>
                </a:solidFill>
              </a:ln>
            </p:spPr>
          </p:sp>
          <p:sp>
            <p:nvSpPr>
              <p:cNvPr id="34" name="TextBox 34"/>
              <p:cNvSpPr txBox="1"/>
              <p:nvPr/>
            </p:nvSpPr>
            <p:spPr>
              <a:xfrm>
                <a:off x="3334198" y="5588318"/>
                <a:ext cx="2094605" cy="264033"/>
              </a:xfrm>
              <a:prstGeom prst="rect">
                <a:avLst/>
              </a:prstGeom>
              <a:noFill/>
              <a:ln>
                <a:noFill/>
              </a:ln>
            </p:spPr>
            <p:txBody>
              <a:bodyPr wrap="none" lIns="0" tIns="0" rIns="0" bIns="0" anchor="t" anchorCtr="0">
                <a:spAutoFit/>
              </a:bodyPr>
              <a:lstStyle/>
              <a:p>
                <a:pPr algn="ctr"/>
                <a:r>
                  <a:rPr lang="ko-KR" sz="1350" dirty="0">
                    <a:solidFill>
                      <a:schemeClr val="dk1"/>
                    </a:solidFill>
                    <a:latin typeface="+mn-lt"/>
                    <a:ea typeface="+mn-ea"/>
                    <a:cs typeface="+mn-cs"/>
                  </a:rPr>
                  <a:t>④ 커밋 확인 → ⑤ 통과 확정</a:t>
                </a:r>
              </a:p>
            </p:txBody>
          </p:sp>
        </p:grpSp>
        <p:sp>
          <p:nvSpPr>
            <p:cNvPr id="36" name="Line 36"/>
            <p:cNvSpPr/>
            <p:nvPr/>
          </p:nvSpPr>
          <p:spPr>
            <a:xfrm>
              <a:off x="4381500" y="5829300"/>
              <a:ext cx="1" cy="95250"/>
            </a:xfrm>
            <a:prstGeom prst="line">
              <a:avLst/>
            </a:prstGeom>
            <a:noFill/>
            <a:ln w="19050">
              <a:solidFill>
                <a:srgbClr val="4ADE80"/>
              </a:solidFill>
              <a:tailEnd type="triangle" w="med" len="med"/>
            </a:ln>
          </p:spPr>
        </p:sp>
        <p:sp>
          <p:nvSpPr>
            <p:cNvPr id="37" name="Freeform 37"/>
            <p:cNvSpPr/>
            <p:nvPr/>
          </p:nvSpPr>
          <p:spPr>
            <a:xfrm>
              <a:off x="3238500" y="5943600"/>
              <a:ext cx="2286000" cy="342900"/>
            </a:xfrm>
            <a:prstGeom prst="flowChartTerminator">
              <a:avLst/>
            </a:prstGeom>
            <a:solidFill>
              <a:srgbClr val="182238"/>
            </a:solidFill>
            <a:ln w="19050">
              <a:solidFill>
                <a:srgbClr val="4ADE80"/>
              </a:solidFill>
            </a:ln>
          </p:spPr>
        </p:sp>
        <p:sp>
          <p:nvSpPr>
            <p:cNvPr id="38" name="TextBox 38"/>
            <p:cNvSpPr txBox="1"/>
            <p:nvPr/>
          </p:nvSpPr>
          <p:spPr>
            <a:xfrm>
              <a:off x="3352371" y="6026468"/>
              <a:ext cx="2058257" cy="264033"/>
            </a:xfrm>
            <a:prstGeom prst="rect">
              <a:avLst/>
            </a:prstGeom>
            <a:noFill/>
            <a:ln>
              <a:noFill/>
            </a:ln>
          </p:spPr>
          <p:txBody>
            <a:bodyPr wrap="none" lIns="0" tIns="0" rIns="0" bIns="0" anchor="t" anchorCtr="0">
              <a:spAutoFit/>
            </a:bodyPr>
            <a:lstStyle/>
            <a:p>
              <a:pPr algn="ctr"/>
              <a:r>
                <a:rPr lang="ko-KR" sz="1350" dirty="0">
                  <a:solidFill>
                    <a:srgbClr val="4ADE80"/>
                  </a:solidFill>
                  <a:latin typeface="+mn-lt"/>
                  <a:ea typeface="+mn-ea"/>
                  <a:cs typeface="+mn-cs"/>
                </a:rPr>
                <a:t>phase 완료 → 다음 phase</a:t>
              </a:r>
            </a:p>
          </p:txBody>
        </p:sp>
        <p:grpSp>
          <p:nvGrpSpPr>
            <p:cNvPr id="42" name="Group 42"/>
            <p:cNvGrpSpPr/>
            <p:nvPr/>
          </p:nvGrpSpPr>
          <p:grpSpPr>
            <a:xfrm>
              <a:off x="5524500" y="2819400"/>
              <a:ext cx="2571750" cy="314706"/>
              <a:chOff x="5524500" y="2819400"/>
              <a:chExt cx="2571750" cy="314706"/>
            </a:xfrm>
          </p:grpSpPr>
          <p:sp>
            <p:nvSpPr>
              <p:cNvPr id="39" name="Line 39"/>
              <p:cNvSpPr/>
              <p:nvPr/>
            </p:nvSpPr>
            <p:spPr>
              <a:xfrm>
                <a:off x="5524500" y="2971800"/>
                <a:ext cx="361950" cy="1"/>
              </a:xfrm>
              <a:prstGeom prst="line">
                <a:avLst/>
              </a:prstGeom>
              <a:noFill/>
              <a:ln w="14288">
                <a:solidFill>
                  <a:schemeClr val="accent2"/>
                </a:solidFill>
                <a:prstDash val="dash"/>
                <a:tailEnd type="triangle" w="med" len="med"/>
              </a:ln>
            </p:spPr>
          </p:sp>
          <p:sp>
            <p:nvSpPr>
              <p:cNvPr id="40" name="Rectangle 40"/>
              <p:cNvSpPr/>
              <p:nvPr/>
            </p:nvSpPr>
            <p:spPr>
              <a:xfrm>
                <a:off x="5905500" y="2819400"/>
                <a:ext cx="2190750" cy="304800"/>
              </a:xfrm>
              <a:prstGeom prst="roundRect">
                <a:avLst>
                  <a:gd name="adj" fmla="val 12500"/>
                </a:avLst>
              </a:prstGeom>
              <a:solidFill>
                <a:srgbClr val="182238"/>
              </a:solidFill>
              <a:ln w="14288">
                <a:solidFill>
                  <a:schemeClr val="accent2"/>
                </a:solidFill>
              </a:ln>
            </p:spPr>
          </p:sp>
          <p:sp>
            <p:nvSpPr>
              <p:cNvPr id="41" name="TextBox 41"/>
              <p:cNvSpPr txBox="1"/>
              <p:nvPr/>
            </p:nvSpPr>
            <p:spPr>
              <a:xfrm>
                <a:off x="5983453" y="2899410"/>
                <a:ext cx="2034845" cy="234696"/>
              </a:xfrm>
              <a:prstGeom prst="rect">
                <a:avLst/>
              </a:prstGeom>
              <a:noFill/>
              <a:ln>
                <a:noFill/>
              </a:ln>
            </p:spPr>
            <p:txBody>
              <a:bodyPr wrap="none" lIns="0" tIns="0" rIns="0" bIns="0" anchor="t" anchorCtr="0">
                <a:spAutoFit/>
              </a:bodyPr>
              <a:lstStyle/>
              <a:p>
                <a:pPr algn="ctr"/>
                <a:r>
                  <a:rPr lang="ko-KR" sz="1200" dirty="0">
                    <a:solidFill>
                      <a:schemeClr val="accent2"/>
                    </a:solidFill>
                    <a:latin typeface="+mn-lt"/>
                    <a:ea typeface="+mn-ea"/>
                    <a:cs typeface="+mn-cs"/>
                  </a:rPr>
                  <a:t>⏸ 멈춤 — STOP 파일 · 상한</a:t>
                </a:r>
              </a:p>
            </p:txBody>
          </p:sp>
        </p:grpSp>
        <p:grpSp>
          <p:nvGrpSpPr>
            <p:cNvPr id="47" name="Group 47"/>
            <p:cNvGrpSpPr/>
            <p:nvPr/>
          </p:nvGrpSpPr>
          <p:grpSpPr>
            <a:xfrm>
              <a:off x="5524500" y="3733800"/>
              <a:ext cx="2571750" cy="473011"/>
              <a:chOff x="5524500" y="3733800"/>
              <a:chExt cx="2571750" cy="473011"/>
            </a:xfrm>
          </p:grpSpPr>
          <p:sp>
            <p:nvSpPr>
              <p:cNvPr id="43" name="Line 43"/>
              <p:cNvSpPr/>
              <p:nvPr/>
            </p:nvSpPr>
            <p:spPr>
              <a:xfrm>
                <a:off x="5524500" y="3962400"/>
                <a:ext cx="361950" cy="1"/>
              </a:xfrm>
              <a:prstGeom prst="line">
                <a:avLst/>
              </a:prstGeom>
              <a:noFill/>
              <a:ln w="19050">
                <a:solidFill>
                  <a:schemeClr val="accent2"/>
                </a:solidFill>
                <a:tailEnd type="triangle" w="med" len="med"/>
              </a:ln>
            </p:spPr>
          </p:sp>
          <p:sp>
            <p:nvSpPr>
              <p:cNvPr id="44" name="Rectangle 44"/>
              <p:cNvSpPr/>
              <p:nvPr/>
            </p:nvSpPr>
            <p:spPr>
              <a:xfrm>
                <a:off x="5905500" y="3733800"/>
                <a:ext cx="2190750" cy="457200"/>
              </a:xfrm>
              <a:prstGeom prst="roundRect">
                <a:avLst>
                  <a:gd name="adj" fmla="val 8333"/>
                </a:avLst>
              </a:prstGeom>
              <a:solidFill>
                <a:srgbClr val="182238"/>
              </a:solidFill>
              <a:ln w="19050">
                <a:solidFill>
                  <a:schemeClr val="accent2"/>
                </a:solidFill>
              </a:ln>
            </p:spPr>
          </p:sp>
          <p:sp>
            <p:nvSpPr>
              <p:cNvPr id="45" name="TextBox 45"/>
              <p:cNvSpPr txBox="1"/>
              <p:nvPr/>
            </p:nvSpPr>
            <p:spPr>
              <a:xfrm>
                <a:off x="5945349" y="3794760"/>
                <a:ext cx="2111052" cy="234696"/>
              </a:xfrm>
              <a:prstGeom prst="rect">
                <a:avLst/>
              </a:prstGeom>
              <a:noFill/>
              <a:ln>
                <a:noFill/>
              </a:ln>
            </p:spPr>
            <p:txBody>
              <a:bodyPr wrap="none" lIns="0" tIns="0" rIns="0" bIns="0" anchor="t" anchorCtr="0">
                <a:spAutoFit/>
              </a:bodyPr>
              <a:lstStyle/>
              <a:p>
                <a:pPr algn="ctr"/>
                <a:r>
                  <a:rPr lang="ko-KR" sz="1200" b="1" dirty="0">
                    <a:solidFill>
                      <a:schemeClr val="accent2"/>
                    </a:solidFill>
                    <a:latin typeface="+mn-lt"/>
                    <a:ea typeface="+mn-ea"/>
                    <a:cs typeface="+mn-cs"/>
                  </a:rPr>
                  <a:t>"질문 있어요" → 멈추고 알림</a:t>
                </a:r>
              </a:p>
            </p:txBody>
          </p:sp>
          <p:sp>
            <p:nvSpPr>
              <p:cNvPr id="46" name="TextBox 46"/>
              <p:cNvSpPr txBox="1"/>
              <p:nvPr/>
            </p:nvSpPr>
            <p:spPr>
              <a:xfrm>
                <a:off x="6225178" y="4001452"/>
                <a:ext cx="1551394" cy="205359"/>
              </a:xfrm>
              <a:prstGeom prst="rect">
                <a:avLst/>
              </a:prstGeom>
              <a:noFill/>
              <a:ln>
                <a:noFill/>
              </a:ln>
            </p:spPr>
            <p:txBody>
              <a:bodyPr wrap="none" lIns="0" tIns="0" rIns="0" bIns="0" anchor="t" anchorCtr="0">
                <a:spAutoFit/>
              </a:bodyPr>
              <a:lstStyle/>
              <a:p>
                <a:pPr algn="ctr"/>
                <a:r>
                  <a:rPr lang="ko-KR" sz="1050" dirty="0">
                    <a:solidFill>
                      <a:schemeClr val="accent5"/>
                    </a:solidFill>
                    <a:latin typeface="+mn-lt"/>
                    <a:ea typeface="+mn-ea"/>
                    <a:cs typeface="+mn-cs"/>
                  </a:rPr>
                  <a:t>시도 횟수는 깎지 않는다</a:t>
                </a:r>
              </a:p>
            </p:txBody>
          </p:sp>
        </p:grpSp>
        <p:grpSp>
          <p:nvGrpSpPr>
            <p:cNvPr id="52" name="Group 52"/>
            <p:cNvGrpSpPr/>
            <p:nvPr/>
          </p:nvGrpSpPr>
          <p:grpSpPr>
            <a:xfrm>
              <a:off x="5524500" y="4876800"/>
              <a:ext cx="2598115" cy="473011"/>
              <a:chOff x="5524500" y="4876800"/>
              <a:chExt cx="2598115" cy="473011"/>
            </a:xfrm>
          </p:grpSpPr>
          <p:sp>
            <p:nvSpPr>
              <p:cNvPr id="48" name="Line 48"/>
              <p:cNvSpPr/>
              <p:nvPr/>
            </p:nvSpPr>
            <p:spPr>
              <a:xfrm>
                <a:off x="5524500" y="5105400"/>
                <a:ext cx="361950" cy="1"/>
              </a:xfrm>
              <a:prstGeom prst="line">
                <a:avLst/>
              </a:prstGeom>
              <a:noFill/>
              <a:ln w="19050">
                <a:solidFill>
                  <a:srgbClr val="FF6B6B"/>
                </a:solidFill>
                <a:tailEnd type="triangle" w="med" len="med"/>
              </a:ln>
            </p:spPr>
          </p:sp>
          <p:sp>
            <p:nvSpPr>
              <p:cNvPr id="49" name="Rectangle 49"/>
              <p:cNvSpPr/>
              <p:nvPr/>
            </p:nvSpPr>
            <p:spPr>
              <a:xfrm>
                <a:off x="5905500" y="4876800"/>
                <a:ext cx="2190750" cy="457200"/>
              </a:xfrm>
              <a:prstGeom prst="roundRect">
                <a:avLst>
                  <a:gd name="adj" fmla="val 8333"/>
                </a:avLst>
              </a:prstGeom>
              <a:solidFill>
                <a:srgbClr val="182238"/>
              </a:solidFill>
              <a:ln w="19050">
                <a:solidFill>
                  <a:srgbClr val="FF6B6B"/>
                </a:solidFill>
              </a:ln>
            </p:spPr>
          </p:sp>
          <p:sp>
            <p:nvSpPr>
              <p:cNvPr id="50" name="TextBox 50"/>
              <p:cNvSpPr txBox="1"/>
              <p:nvPr/>
            </p:nvSpPr>
            <p:spPr>
              <a:xfrm>
                <a:off x="6191501" y="4937760"/>
                <a:ext cx="1618747" cy="234696"/>
              </a:xfrm>
              <a:prstGeom prst="rect">
                <a:avLst/>
              </a:prstGeom>
              <a:noFill/>
              <a:ln>
                <a:noFill/>
              </a:ln>
            </p:spPr>
            <p:txBody>
              <a:bodyPr wrap="none" lIns="0" tIns="0" rIns="0" bIns="0" anchor="t" anchorCtr="0">
                <a:spAutoFit/>
              </a:bodyPr>
              <a:lstStyle/>
              <a:p>
                <a:pPr algn="ctr"/>
                <a:r>
                  <a:rPr lang="ko-KR" sz="1200" b="1" dirty="0">
                    <a:solidFill>
                      <a:srgbClr val="FF6B6B"/>
                    </a:solidFill>
                    <a:latin typeface="+mn-lt"/>
                    <a:ea typeface="+mn-ea"/>
                    <a:cs typeface="+mn-cs"/>
                  </a:rPr>
                  <a:t>검증 명령 자체가 깨짐</a:t>
                </a:r>
              </a:p>
            </p:txBody>
          </p:sp>
          <p:sp>
            <p:nvSpPr>
              <p:cNvPr id="51" name="TextBox 51"/>
              <p:cNvSpPr txBox="1"/>
              <p:nvPr/>
            </p:nvSpPr>
            <p:spPr>
              <a:xfrm>
                <a:off x="5879135" y="5144452"/>
                <a:ext cx="2243480" cy="205359"/>
              </a:xfrm>
              <a:prstGeom prst="rect">
                <a:avLst/>
              </a:prstGeom>
              <a:noFill/>
              <a:ln>
                <a:noFill/>
              </a:ln>
            </p:spPr>
            <p:txBody>
              <a:bodyPr wrap="none" lIns="0" tIns="0" rIns="0" bIns="0" anchor="t" anchorCtr="0">
                <a:spAutoFit/>
              </a:bodyPr>
              <a:lstStyle/>
              <a:p>
                <a:pPr algn="ctr"/>
                <a:r>
                  <a:rPr lang="ko-KR" sz="1050" dirty="0">
                    <a:solidFill>
                      <a:schemeClr val="accent5"/>
                    </a:solidFill>
                    <a:latin typeface="+mn-lt"/>
                    <a:ea typeface="+mn-ea"/>
                    <a:cs typeface="+mn-cs"/>
                  </a:rPr>
                  <a:t>재시도 의미 없음 → FAILED · 알림</a:t>
                </a:r>
              </a:p>
            </p:txBody>
          </p:sp>
        </p:grpSp>
        <p:grpSp>
          <p:nvGrpSpPr>
            <p:cNvPr id="67" name="Group 67"/>
            <p:cNvGrpSpPr/>
            <p:nvPr/>
          </p:nvGrpSpPr>
          <p:grpSpPr>
            <a:xfrm>
              <a:off x="755904" y="2899410"/>
              <a:ext cx="2482596" cy="3441001"/>
              <a:chOff x="755904" y="2899410"/>
              <a:chExt cx="2482596" cy="3441001"/>
            </a:xfrm>
          </p:grpSpPr>
          <p:sp>
            <p:nvSpPr>
              <p:cNvPr id="53" name="Line 53"/>
              <p:cNvSpPr/>
              <p:nvPr/>
            </p:nvSpPr>
            <p:spPr>
              <a:xfrm>
                <a:off x="2857500" y="3962400"/>
                <a:ext cx="381000" cy="9525"/>
              </a:xfrm>
              <a:custGeom>
                <a:avLst/>
                <a:gdLst/>
                <a:ahLst/>
                <a:cxnLst/>
                <a:rect l="l" t="t" r="r" b="b"/>
                <a:pathLst>
                  <a:path w="381000" h="9525">
                    <a:moveTo>
                      <a:pt x="381000" y="0"/>
                    </a:moveTo>
                    <a:lnTo>
                      <a:pt x="0" y="0"/>
                    </a:lnTo>
                  </a:path>
                </a:pathLst>
              </a:custGeom>
              <a:noFill/>
              <a:ln w="14288">
                <a:solidFill>
                  <a:schemeClr val="accent2"/>
                </a:solidFill>
                <a:prstDash val="lgDash"/>
              </a:ln>
            </p:spPr>
          </p:sp>
          <p:sp>
            <p:nvSpPr>
              <p:cNvPr id="54" name="Line 54"/>
              <p:cNvSpPr/>
              <p:nvPr/>
            </p:nvSpPr>
            <p:spPr>
              <a:xfrm>
                <a:off x="2857500" y="4533900"/>
                <a:ext cx="381000" cy="9525"/>
              </a:xfrm>
              <a:custGeom>
                <a:avLst/>
                <a:gdLst/>
                <a:ahLst/>
                <a:cxnLst/>
                <a:rect l="l" t="t" r="r" b="b"/>
                <a:pathLst>
                  <a:path w="381000" h="9525">
                    <a:moveTo>
                      <a:pt x="381000" y="0"/>
                    </a:moveTo>
                    <a:lnTo>
                      <a:pt x="0" y="0"/>
                    </a:lnTo>
                  </a:path>
                </a:pathLst>
              </a:custGeom>
              <a:noFill/>
              <a:ln w="14288">
                <a:solidFill>
                  <a:schemeClr val="accent2"/>
                </a:solidFill>
                <a:prstDash val="lgDash"/>
              </a:ln>
            </p:spPr>
          </p:sp>
          <p:sp>
            <p:nvSpPr>
              <p:cNvPr id="55" name="Line 55"/>
              <p:cNvSpPr/>
              <p:nvPr/>
            </p:nvSpPr>
            <p:spPr>
              <a:xfrm>
                <a:off x="2857500" y="5105400"/>
                <a:ext cx="381000" cy="9525"/>
              </a:xfrm>
              <a:custGeom>
                <a:avLst/>
                <a:gdLst/>
                <a:ahLst/>
                <a:cxnLst/>
                <a:rect l="l" t="t" r="r" b="b"/>
                <a:pathLst>
                  <a:path w="381000" h="9525">
                    <a:moveTo>
                      <a:pt x="381000" y="0"/>
                    </a:moveTo>
                    <a:lnTo>
                      <a:pt x="0" y="0"/>
                    </a:lnTo>
                  </a:path>
                </a:pathLst>
              </a:custGeom>
              <a:noFill/>
              <a:ln w="14288">
                <a:solidFill>
                  <a:schemeClr val="accent2"/>
                </a:solidFill>
                <a:prstDash val="lgDash"/>
              </a:ln>
            </p:spPr>
          </p:sp>
          <p:sp>
            <p:nvSpPr>
              <p:cNvPr id="56" name="Line 56"/>
              <p:cNvSpPr/>
              <p:nvPr/>
            </p:nvSpPr>
            <p:spPr>
              <a:xfrm>
                <a:off x="2857500" y="5676900"/>
                <a:ext cx="381000" cy="9525"/>
              </a:xfrm>
              <a:custGeom>
                <a:avLst/>
                <a:gdLst/>
                <a:ahLst/>
                <a:cxnLst/>
                <a:rect l="l" t="t" r="r" b="b"/>
                <a:pathLst>
                  <a:path w="381000" h="9525">
                    <a:moveTo>
                      <a:pt x="381000" y="0"/>
                    </a:moveTo>
                    <a:lnTo>
                      <a:pt x="0" y="0"/>
                    </a:lnTo>
                  </a:path>
                </a:pathLst>
              </a:custGeom>
              <a:noFill/>
              <a:ln w="14288">
                <a:solidFill>
                  <a:schemeClr val="accent2"/>
                </a:solidFill>
                <a:prstDash val="lgDash"/>
              </a:ln>
            </p:spPr>
          </p:sp>
          <p:sp>
            <p:nvSpPr>
              <p:cNvPr id="57" name="Line 57"/>
              <p:cNvSpPr/>
              <p:nvPr/>
            </p:nvSpPr>
            <p:spPr>
              <a:xfrm>
                <a:off x="2857500" y="2971800"/>
                <a:ext cx="9525" cy="2705100"/>
              </a:xfrm>
              <a:custGeom>
                <a:avLst/>
                <a:gdLst/>
                <a:ahLst/>
                <a:cxnLst/>
                <a:rect l="l" t="t" r="r" b="b"/>
                <a:pathLst>
                  <a:path w="9525" h="2705100">
                    <a:moveTo>
                      <a:pt x="0" y="2705100"/>
                    </a:moveTo>
                    <a:lnTo>
                      <a:pt x="0" y="0"/>
                    </a:lnTo>
                  </a:path>
                </a:pathLst>
              </a:custGeom>
              <a:noFill/>
              <a:ln w="14288">
                <a:solidFill>
                  <a:schemeClr val="accent2"/>
                </a:solidFill>
                <a:prstDash val="lgDash"/>
              </a:ln>
            </p:spPr>
          </p:sp>
          <p:sp>
            <p:nvSpPr>
              <p:cNvPr id="58" name="Line 58"/>
              <p:cNvSpPr/>
              <p:nvPr/>
            </p:nvSpPr>
            <p:spPr>
              <a:xfrm>
                <a:off x="2857500" y="2971800"/>
                <a:ext cx="361950" cy="1"/>
              </a:xfrm>
              <a:prstGeom prst="line">
                <a:avLst/>
              </a:prstGeom>
              <a:noFill/>
              <a:ln w="14288">
                <a:solidFill>
                  <a:schemeClr val="accent2"/>
                </a:solidFill>
                <a:prstDash val="lgDash"/>
                <a:tailEnd type="triangle" w="med" len="med"/>
              </a:ln>
            </p:spPr>
          </p:sp>
          <p:sp>
            <p:nvSpPr>
              <p:cNvPr id="59" name="TextBox 59"/>
              <p:cNvSpPr txBox="1"/>
              <p:nvPr/>
            </p:nvSpPr>
            <p:spPr>
              <a:xfrm>
                <a:off x="1894675" y="3734752"/>
                <a:ext cx="872909" cy="205359"/>
              </a:xfrm>
              <a:prstGeom prst="rect">
                <a:avLst/>
              </a:prstGeom>
              <a:noFill/>
              <a:ln>
                <a:noFill/>
              </a:ln>
            </p:spPr>
            <p:txBody>
              <a:bodyPr wrap="none" lIns="0" tIns="0" rIns="0" bIns="0" anchor="t" anchorCtr="0">
                <a:spAutoFit/>
              </a:bodyPr>
              <a:lstStyle/>
              <a:p>
                <a:pPr algn="r"/>
                <a:r>
                  <a:rPr lang="ko-KR" sz="1050" dirty="0">
                    <a:solidFill>
                      <a:schemeClr val="accent2"/>
                    </a:solidFill>
                    <a:latin typeface="+mn-lt"/>
                    <a:ea typeface="+mn-ea"/>
                    <a:cs typeface="+mn-cs"/>
                  </a:rPr>
                  <a:t>"실패했어요"</a:t>
                </a:r>
              </a:p>
            </p:txBody>
          </p:sp>
          <p:sp>
            <p:nvSpPr>
              <p:cNvPr id="60" name="TextBox 60"/>
              <p:cNvSpPr txBox="1"/>
              <p:nvPr/>
            </p:nvSpPr>
            <p:spPr>
              <a:xfrm>
                <a:off x="1562500" y="4306252"/>
                <a:ext cx="1205084" cy="205359"/>
              </a:xfrm>
              <a:prstGeom prst="rect">
                <a:avLst/>
              </a:prstGeom>
              <a:noFill/>
              <a:ln>
                <a:noFill/>
              </a:ln>
            </p:spPr>
            <p:txBody>
              <a:bodyPr wrap="none" lIns="0" tIns="0" rIns="0" bIns="0" anchor="t" anchorCtr="0">
                <a:spAutoFit/>
              </a:bodyPr>
              <a:lstStyle/>
              <a:p>
                <a:pPr algn="r"/>
                <a:r>
                  <a:rPr lang="ko-KR" sz="1050" dirty="0">
                    <a:solidFill>
                      <a:schemeClr val="accent2"/>
                    </a:solidFill>
                    <a:latin typeface="+mn-lt"/>
                    <a:ea typeface="+mn-ea"/>
                    <a:cs typeface="+mn-cs"/>
                  </a:rPr>
                  <a:t>브랜치 이탈 · 변조</a:t>
                </a:r>
              </a:p>
            </p:txBody>
          </p:sp>
          <p:sp>
            <p:nvSpPr>
              <p:cNvPr id="61" name="TextBox 61"/>
              <p:cNvSpPr txBox="1"/>
              <p:nvPr/>
            </p:nvSpPr>
            <p:spPr>
              <a:xfrm>
                <a:off x="1343406" y="4877752"/>
                <a:ext cx="1424178" cy="205359"/>
              </a:xfrm>
              <a:prstGeom prst="rect">
                <a:avLst/>
              </a:prstGeom>
              <a:noFill/>
              <a:ln>
                <a:noFill/>
              </a:ln>
            </p:spPr>
            <p:txBody>
              <a:bodyPr wrap="none" lIns="0" tIns="0" rIns="0" bIns="0" anchor="t" anchorCtr="0">
                <a:spAutoFit/>
              </a:bodyPr>
              <a:lstStyle/>
              <a:p>
                <a:pPr algn="r"/>
                <a:r>
                  <a:rPr lang="ko-KR" sz="1050" dirty="0">
                    <a:solidFill>
                      <a:schemeClr val="accent2"/>
                    </a:solidFill>
                    <a:latin typeface="+mn-lt"/>
                    <a:ea typeface="+mn-ea"/>
                    <a:cs typeface="+mn-cs"/>
                  </a:rPr>
                  <a:t>검증 실패 (로그 전달)</a:t>
                </a:r>
              </a:p>
            </p:txBody>
          </p:sp>
          <p:sp>
            <p:nvSpPr>
              <p:cNvPr id="62" name="TextBox 62"/>
              <p:cNvSpPr txBox="1"/>
              <p:nvPr/>
            </p:nvSpPr>
            <p:spPr>
              <a:xfrm>
                <a:off x="2007756" y="5449252"/>
                <a:ext cx="759828" cy="205359"/>
              </a:xfrm>
              <a:prstGeom prst="rect">
                <a:avLst/>
              </a:prstGeom>
              <a:noFill/>
              <a:ln>
                <a:noFill/>
              </a:ln>
            </p:spPr>
            <p:txBody>
              <a:bodyPr wrap="none" lIns="0" tIns="0" rIns="0" bIns="0" anchor="t" anchorCtr="0">
                <a:spAutoFit/>
              </a:bodyPr>
              <a:lstStyle/>
              <a:p>
                <a:pPr algn="r"/>
                <a:r>
                  <a:rPr lang="ko-KR" sz="1050" dirty="0">
                    <a:solidFill>
                      <a:schemeClr val="accent2"/>
                    </a:solidFill>
                    <a:latin typeface="+mn-lt"/>
                    <a:ea typeface="+mn-ea"/>
                    <a:cs typeface="+mn-cs"/>
                  </a:rPr>
                  <a:t>커밋이 없음</a:t>
                </a:r>
              </a:p>
            </p:txBody>
          </p:sp>
          <p:sp>
            <p:nvSpPr>
              <p:cNvPr id="63" name="TextBox 63"/>
              <p:cNvSpPr txBox="1"/>
              <p:nvPr/>
            </p:nvSpPr>
            <p:spPr>
              <a:xfrm>
                <a:off x="755904" y="2899410"/>
                <a:ext cx="1762925" cy="234696"/>
              </a:xfrm>
              <a:prstGeom prst="rect">
                <a:avLst/>
              </a:prstGeom>
              <a:noFill/>
              <a:ln>
                <a:noFill/>
              </a:ln>
            </p:spPr>
            <p:txBody>
              <a:bodyPr wrap="none" lIns="0" tIns="0" rIns="0" bIns="0" anchor="t" anchorCtr="0">
                <a:spAutoFit/>
              </a:bodyPr>
              <a:lstStyle/>
              <a:p>
                <a:pPr algn="l"/>
                <a:r>
                  <a:rPr lang="ko-KR" sz="1200" b="1" dirty="0">
                    <a:solidFill>
                      <a:schemeClr val="accent2"/>
                    </a:solidFill>
                    <a:latin typeface="+mn-lt"/>
                    <a:ea typeface="+mn-ea"/>
                    <a:cs typeface="+mn-cs"/>
                  </a:rPr>
                  <a:t>다시 시도 — 실패 이유를</a:t>
                </a:r>
              </a:p>
            </p:txBody>
          </p:sp>
          <p:sp>
            <p:nvSpPr>
              <p:cNvPr id="64" name="TextBox 64"/>
              <p:cNvSpPr txBox="1"/>
              <p:nvPr/>
            </p:nvSpPr>
            <p:spPr>
              <a:xfrm>
                <a:off x="755904" y="3108960"/>
                <a:ext cx="1773022" cy="234696"/>
              </a:xfrm>
              <a:prstGeom prst="rect">
                <a:avLst/>
              </a:prstGeom>
              <a:noFill/>
              <a:ln>
                <a:noFill/>
              </a:ln>
            </p:spPr>
            <p:txBody>
              <a:bodyPr wrap="none" lIns="0" tIns="0" rIns="0" bIns="0" anchor="t" anchorCtr="0">
                <a:spAutoFit/>
              </a:bodyPr>
              <a:lstStyle/>
              <a:p>
                <a:pPr algn="l"/>
                <a:r>
                  <a:rPr lang="ko-KR" sz="1200" dirty="0">
                    <a:solidFill>
                      <a:schemeClr val="accent2"/>
                    </a:solidFill>
                    <a:latin typeface="+mn-lt"/>
                    <a:ea typeface="+mn-ea"/>
                    <a:cs typeface="+mn-cs"/>
                  </a:rPr>
                  <a:t>다음 세션에 그대로 전달</a:t>
                </a:r>
              </a:p>
            </p:txBody>
          </p:sp>
          <p:sp>
            <p:nvSpPr>
              <p:cNvPr id="65" name="TextBox 65"/>
              <p:cNvSpPr txBox="1"/>
              <p:nvPr/>
            </p:nvSpPr>
            <p:spPr>
              <a:xfrm>
                <a:off x="756666" y="5944552"/>
                <a:ext cx="2041855" cy="205359"/>
              </a:xfrm>
              <a:prstGeom prst="rect">
                <a:avLst/>
              </a:prstGeom>
              <a:noFill/>
              <a:ln>
                <a:noFill/>
              </a:ln>
            </p:spPr>
            <p:txBody>
              <a:bodyPr wrap="none" lIns="0" tIns="0" rIns="0" bIns="0" anchor="t" anchorCtr="0">
                <a:spAutoFit/>
              </a:bodyPr>
              <a:lstStyle/>
              <a:p>
                <a:pPr algn="l"/>
                <a:r>
                  <a:rPr lang="ko-KR" sz="1050" dirty="0">
                    <a:solidFill>
                      <a:srgbClr val="FF6B6B"/>
                    </a:solidFill>
                    <a:latin typeface="+mn-lt"/>
                    <a:ea typeface="+mn-ea"/>
                    <a:cs typeface="+mn-cs"/>
                  </a:rPr>
                  <a:t>2번(기본) 다 실패하면 FAILED</a:t>
                </a:r>
              </a:p>
            </p:txBody>
          </p:sp>
          <p:sp>
            <p:nvSpPr>
              <p:cNvPr id="66" name="TextBox 66"/>
              <p:cNvSpPr txBox="1"/>
              <p:nvPr/>
            </p:nvSpPr>
            <p:spPr>
              <a:xfrm>
                <a:off x="756666" y="6135052"/>
                <a:ext cx="1961312"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fw retry 로 되살린 뒤 fw run</a:t>
                </a:r>
              </a:p>
            </p:txBody>
          </p:sp>
        </p:grpSp>
      </p:grpSp>
      <p:grpSp>
        <p:nvGrpSpPr>
          <p:cNvPr id="93" name="Group 93"/>
          <p:cNvGrpSpPr/>
          <p:nvPr/>
        </p:nvGrpSpPr>
        <p:grpSpPr>
          <a:xfrm>
            <a:off x="8382000" y="1905000"/>
            <a:ext cx="3200400" cy="4419600"/>
            <a:chOff x="8382000" y="1905000"/>
            <a:chExt cx="3200400" cy="4419600"/>
          </a:xfrm>
        </p:grpSpPr>
        <p:sp>
          <p:nvSpPr>
            <p:cNvPr id="69" name="Rectangle 69"/>
            <p:cNvSpPr/>
            <p:nvPr/>
          </p:nvSpPr>
          <p:spPr>
            <a:xfrm>
              <a:off x="8382000" y="1905000"/>
              <a:ext cx="3200400" cy="4419600"/>
            </a:xfrm>
            <a:prstGeom prst="roundRect">
              <a:avLst>
                <a:gd name="adj" fmla="val 1786"/>
              </a:avLst>
            </a:prstGeom>
            <a:solidFill>
              <a:schemeClr val="lt2">
                <a:alpha val="60000"/>
              </a:schemeClr>
            </a:solidFill>
            <a:ln w="19050">
              <a:solidFill>
                <a:schemeClr val="accent6"/>
              </a:solidFill>
            </a:ln>
          </p:spPr>
        </p:sp>
        <p:sp>
          <p:nvSpPr>
            <p:cNvPr id="70" name="TextBox 70"/>
            <p:cNvSpPr txBox="1"/>
            <p:nvPr/>
          </p:nvSpPr>
          <p:spPr>
            <a:xfrm>
              <a:off x="8529066" y="2039302"/>
              <a:ext cx="1408024" cy="205359"/>
            </a:xfrm>
            <a:prstGeom prst="rect">
              <a:avLst/>
            </a:prstGeom>
            <a:noFill/>
            <a:ln>
              <a:noFill/>
            </a:ln>
          </p:spPr>
          <p:txBody>
            <a:bodyPr wrap="none" lIns="0" tIns="0" rIns="0" bIns="0" anchor="t" anchorCtr="0">
              <a:spAutoFit/>
            </a:bodyPr>
            <a:lstStyle/>
            <a:p>
              <a:pPr algn="l"/>
              <a:r>
                <a:rPr lang="ko-KR" sz="1050" spc="150" dirty="0">
                  <a:solidFill>
                    <a:schemeClr val="accent5"/>
                  </a:solidFill>
                  <a:latin typeface="Consolas"/>
                  <a:ea typeface="Microsoft YaHei"/>
                  <a:cs typeface="Consolas"/>
                </a:rPr>
                <a:t>알아두면 좋은 성질</a:t>
              </a:r>
            </a:p>
          </p:txBody>
        </p:sp>
        <p:grpSp>
          <p:nvGrpSpPr>
            <p:cNvPr id="73" name="Group 73"/>
            <p:cNvGrpSpPr/>
            <p:nvPr/>
          </p:nvGrpSpPr>
          <p:grpSpPr>
            <a:xfrm>
              <a:off x="8572500" y="2396625"/>
              <a:ext cx="152400" cy="159750"/>
              <a:chOff x="8572500" y="2396625"/>
              <a:chExt cx="152400" cy="159750"/>
            </a:xfrm>
          </p:grpSpPr>
          <p:sp>
            <p:nvSpPr>
              <p:cNvPr id="71" name="Freeform 71"/>
              <p:cNvSpPr/>
              <p:nvPr/>
            </p:nvSpPr>
            <p:spPr>
              <a:xfrm>
                <a:off x="8572500" y="2396625"/>
                <a:ext cx="152400" cy="70350"/>
              </a:xfrm>
              <a:custGeom>
                <a:avLst/>
                <a:gdLst/>
                <a:ahLst/>
                <a:cxnLst/>
                <a:rect l="l" t="t" r="r" b="b"/>
                <a:pathLst>
                  <a:path w="152400" h="70350">
                    <a:moveTo>
                      <a:pt x="152400" y="70350"/>
                    </a:moveTo>
                    <a:cubicBezTo>
                      <a:pt x="147612" y="35894"/>
                      <a:pt x="120357" y="8904"/>
                      <a:pt x="85855" y="4452"/>
                    </a:cubicBezTo>
                    <a:cubicBezTo>
                      <a:pt x="51354" y="0"/>
                      <a:pt x="18140" y="19188"/>
                      <a:pt x="4762" y="51300"/>
                    </a:cubicBezTo>
                    <a:moveTo>
                      <a:pt x="0" y="13200"/>
                    </a:moveTo>
                    <a:lnTo>
                      <a:pt x="0" y="51300"/>
                    </a:lnTo>
                    <a:lnTo>
                      <a:pt x="38100" y="51300"/>
                    </a:lnTo>
                  </a:path>
                </a:pathLst>
              </a:custGeom>
              <a:noFill/>
              <a:ln w="19050">
                <a:solidFill>
                  <a:schemeClr val="accent1"/>
                </a:solidFill>
              </a:ln>
            </p:spPr>
          </p:sp>
          <p:sp>
            <p:nvSpPr>
              <p:cNvPr id="72" name="Freeform 72"/>
              <p:cNvSpPr/>
              <p:nvPr/>
            </p:nvSpPr>
            <p:spPr>
              <a:xfrm>
                <a:off x="8572500" y="2486025"/>
                <a:ext cx="152400" cy="70350"/>
              </a:xfrm>
              <a:custGeom>
                <a:avLst/>
                <a:gdLst/>
                <a:ahLst/>
                <a:cxnLst/>
                <a:rect l="l" t="t" r="r" b="b"/>
                <a:pathLst>
                  <a:path w="152400" h="70350">
                    <a:moveTo>
                      <a:pt x="0" y="0"/>
                    </a:moveTo>
                    <a:cubicBezTo>
                      <a:pt x="4788" y="34456"/>
                      <a:pt x="32043" y="61446"/>
                      <a:pt x="66545" y="65898"/>
                    </a:cubicBezTo>
                    <a:cubicBezTo>
                      <a:pt x="101046" y="70350"/>
                      <a:pt x="134260" y="51162"/>
                      <a:pt x="147638" y="19050"/>
                    </a:cubicBezTo>
                    <a:moveTo>
                      <a:pt x="152400" y="57150"/>
                    </a:moveTo>
                    <a:lnTo>
                      <a:pt x="152400" y="19050"/>
                    </a:lnTo>
                    <a:lnTo>
                      <a:pt x="114300" y="19050"/>
                    </a:lnTo>
                  </a:path>
                </a:pathLst>
              </a:custGeom>
              <a:noFill/>
              <a:ln w="19050">
                <a:solidFill>
                  <a:schemeClr val="accent1"/>
                </a:solidFill>
              </a:ln>
            </p:spPr>
          </p:sp>
        </p:grpSp>
        <p:sp>
          <p:nvSpPr>
            <p:cNvPr id="74" name="TextBox 74"/>
            <p:cNvSpPr txBox="1"/>
            <p:nvPr/>
          </p:nvSpPr>
          <p:spPr>
            <a:xfrm>
              <a:off x="8870442" y="2397442"/>
              <a:ext cx="2241812" cy="264033"/>
            </a:xfrm>
            <a:prstGeom prst="rect">
              <a:avLst/>
            </a:prstGeom>
            <a:noFill/>
            <a:ln>
              <a:noFill/>
            </a:ln>
          </p:spPr>
          <p:txBody>
            <a:bodyPr wrap="none" lIns="0" tIns="0" rIns="0" bIns="0" anchor="t" anchorCtr="0">
              <a:spAutoFit/>
            </a:bodyPr>
            <a:lstStyle/>
            <a:p>
              <a:pPr algn="l"/>
              <a:r>
                <a:rPr lang="ko-KR" sz="1350" b="1" dirty="0">
                  <a:solidFill>
                    <a:schemeClr val="dk1"/>
                  </a:solidFill>
                  <a:latin typeface="+mn-lt"/>
                  <a:ea typeface="+mn-ea"/>
                  <a:cs typeface="+mn-cs"/>
                </a:rPr>
                <a:t>실패 이유를 들고 다시 시도</a:t>
              </a:r>
            </a:p>
          </p:txBody>
        </p:sp>
        <p:sp>
          <p:nvSpPr>
            <p:cNvPr id="75" name="TextBox 75"/>
            <p:cNvSpPr txBox="1"/>
            <p:nvPr/>
          </p:nvSpPr>
          <p:spPr>
            <a:xfrm>
              <a:off x="8528304" y="2689860"/>
              <a:ext cx="2481072" cy="444246"/>
            </a:xfrm>
            <a:prstGeom prst="rect">
              <a:avLst/>
            </a:prstGeom>
            <a:noFill/>
            <a:ln>
              <a:noFill/>
            </a:ln>
          </p:spPr>
          <p:txBody>
            <a:bodyPr wrap="none" lIns="0" tIns="0" rIns="0" bIns="0" anchor="t" anchorCtr="0">
              <a:spAutoFit/>
            </a:bodyPr>
            <a:lstStyle/>
            <a:p>
              <a:pPr algn="l">
                <a:lnSpc>
                  <a:spcPts val="1650"/>
                </a:lnSpc>
              </a:pPr>
              <a:r>
                <a:rPr lang="ko-KR" sz="1200" dirty="0">
                  <a:solidFill>
                    <a:schemeClr val="accent5"/>
                  </a:solidFill>
                  <a:latin typeface="+mn-lt"/>
                  <a:ea typeface="+mn-ea"/>
                  <a:cs typeface="+mn-cs"/>
                </a:rPr>
                <a:t>검증 출력 끝부분과 로그 위치를</a:t>
              </a:r>
              <a:br/>
              <a:r>
                <a:rPr lang="ko-KR" sz="1200" dirty="0">
                  <a:solidFill>
                    <a:schemeClr val="accent5"/>
                  </a:solidFill>
                  <a:latin typeface="+mn-lt"/>
                  <a:ea typeface="+mn-ea"/>
                  <a:cs typeface="+mn-cs"/>
                </a:rPr>
                <a:t>다음 세션 프롬프트에 그대로 넘긴다</a:t>
              </a:r>
            </a:p>
          </p:txBody>
        </p:sp>
        <p:grpSp>
          <p:nvGrpSpPr>
            <p:cNvPr id="80" name="Group 80"/>
            <p:cNvGrpSpPr/>
            <p:nvPr/>
          </p:nvGrpSpPr>
          <p:grpSpPr>
            <a:xfrm>
              <a:off x="8565982" y="3257550"/>
              <a:ext cx="158918" cy="190503"/>
              <a:chOff x="8565982" y="3257550"/>
              <a:chExt cx="158918" cy="190503"/>
            </a:xfrm>
          </p:grpSpPr>
          <p:sp>
            <p:nvSpPr>
              <p:cNvPr id="76" name="Freeform 76"/>
              <p:cNvSpPr/>
              <p:nvPr/>
            </p:nvSpPr>
            <p:spPr>
              <a:xfrm>
                <a:off x="8610600" y="3276600"/>
                <a:ext cx="28575" cy="85725"/>
              </a:xfrm>
              <a:custGeom>
                <a:avLst/>
                <a:gdLst/>
                <a:ahLst/>
                <a:cxnLst/>
                <a:rect l="l" t="t" r="r" b="b"/>
                <a:pathLst>
                  <a:path w="28575" h="85725">
                    <a:moveTo>
                      <a:pt x="0" y="85725"/>
                    </a:moveTo>
                    <a:lnTo>
                      <a:pt x="0" y="14288"/>
                    </a:lnTo>
                    <a:cubicBezTo>
                      <a:pt x="0" y="6397"/>
                      <a:pt x="6397" y="0"/>
                      <a:pt x="14288" y="0"/>
                    </a:cubicBezTo>
                    <a:cubicBezTo>
                      <a:pt x="22178" y="0"/>
                      <a:pt x="28575" y="6397"/>
                      <a:pt x="28575" y="14288"/>
                    </a:cubicBezTo>
                    <a:lnTo>
                      <a:pt x="28575" y="76200"/>
                    </a:lnTo>
                  </a:path>
                </a:pathLst>
              </a:custGeom>
              <a:noFill/>
              <a:ln w="19050">
                <a:solidFill>
                  <a:schemeClr val="accent2"/>
                </a:solidFill>
              </a:ln>
            </p:spPr>
          </p:sp>
          <p:sp>
            <p:nvSpPr>
              <p:cNvPr id="77" name="Freeform 77"/>
              <p:cNvSpPr/>
              <p:nvPr/>
            </p:nvSpPr>
            <p:spPr>
              <a:xfrm>
                <a:off x="8639175" y="3257550"/>
                <a:ext cx="28575" cy="95250"/>
              </a:xfrm>
              <a:custGeom>
                <a:avLst/>
                <a:gdLst/>
                <a:ahLst/>
                <a:cxnLst/>
                <a:rect l="l" t="t" r="r" b="b"/>
                <a:pathLst>
                  <a:path w="28575" h="95250">
                    <a:moveTo>
                      <a:pt x="0" y="33338"/>
                    </a:moveTo>
                    <a:lnTo>
                      <a:pt x="0" y="14288"/>
                    </a:lnTo>
                    <a:cubicBezTo>
                      <a:pt x="0" y="6397"/>
                      <a:pt x="6397" y="0"/>
                      <a:pt x="14288" y="0"/>
                    </a:cubicBezTo>
                    <a:cubicBezTo>
                      <a:pt x="22178" y="0"/>
                      <a:pt x="28575" y="6397"/>
                      <a:pt x="28575" y="14288"/>
                    </a:cubicBezTo>
                    <a:lnTo>
                      <a:pt x="28575" y="95250"/>
                    </a:lnTo>
                  </a:path>
                </a:pathLst>
              </a:custGeom>
              <a:noFill/>
              <a:ln w="19050">
                <a:solidFill>
                  <a:schemeClr val="accent2"/>
                </a:solidFill>
              </a:ln>
            </p:spPr>
          </p:sp>
          <p:sp>
            <p:nvSpPr>
              <p:cNvPr id="78" name="Freeform 78"/>
              <p:cNvSpPr/>
              <p:nvPr/>
            </p:nvSpPr>
            <p:spPr>
              <a:xfrm>
                <a:off x="8667750" y="3276600"/>
                <a:ext cx="28575" cy="76200"/>
              </a:xfrm>
              <a:custGeom>
                <a:avLst/>
                <a:gdLst/>
                <a:ahLst/>
                <a:cxnLst/>
                <a:rect l="l" t="t" r="r" b="b"/>
                <a:pathLst>
                  <a:path w="28575" h="76200">
                    <a:moveTo>
                      <a:pt x="0" y="14288"/>
                    </a:moveTo>
                    <a:cubicBezTo>
                      <a:pt x="0" y="6397"/>
                      <a:pt x="6397" y="0"/>
                      <a:pt x="14288" y="0"/>
                    </a:cubicBezTo>
                    <a:cubicBezTo>
                      <a:pt x="22178" y="0"/>
                      <a:pt x="28575" y="6397"/>
                      <a:pt x="28575" y="14288"/>
                    </a:cubicBezTo>
                    <a:lnTo>
                      <a:pt x="28575" y="76200"/>
                    </a:lnTo>
                  </a:path>
                </a:pathLst>
              </a:custGeom>
              <a:noFill/>
              <a:ln w="19050">
                <a:solidFill>
                  <a:schemeClr val="accent2"/>
                </a:solidFill>
              </a:ln>
            </p:spPr>
          </p:sp>
          <p:sp>
            <p:nvSpPr>
              <p:cNvPr id="79" name="Freeform 79"/>
              <p:cNvSpPr/>
              <p:nvPr/>
            </p:nvSpPr>
            <p:spPr>
              <a:xfrm>
                <a:off x="8565982" y="3295650"/>
                <a:ext cx="158918" cy="152403"/>
              </a:xfrm>
              <a:custGeom>
                <a:avLst/>
                <a:gdLst/>
                <a:ahLst/>
                <a:cxnLst/>
                <a:rect l="l" t="t" r="r" b="b"/>
                <a:pathLst>
                  <a:path w="158918" h="152403">
                    <a:moveTo>
                      <a:pt x="130343" y="14288"/>
                    </a:moveTo>
                    <a:cubicBezTo>
                      <a:pt x="130343" y="6397"/>
                      <a:pt x="136740" y="0"/>
                      <a:pt x="144630" y="0"/>
                    </a:cubicBezTo>
                    <a:cubicBezTo>
                      <a:pt x="152521" y="0"/>
                      <a:pt x="158918" y="6397"/>
                      <a:pt x="158918" y="14288"/>
                    </a:cubicBezTo>
                    <a:lnTo>
                      <a:pt x="158918" y="95250"/>
                    </a:lnTo>
                    <a:cubicBezTo>
                      <a:pt x="158918" y="126813"/>
                      <a:pt x="133331" y="152400"/>
                      <a:pt x="101768" y="152400"/>
                    </a:cubicBezTo>
                    <a:lnTo>
                      <a:pt x="82718" y="152400"/>
                    </a:lnTo>
                    <a:lnTo>
                      <a:pt x="84699" y="152400"/>
                    </a:lnTo>
                    <a:cubicBezTo>
                      <a:pt x="65473" y="152403"/>
                      <a:pt x="47534" y="142739"/>
                      <a:pt x="36960" y="126683"/>
                    </a:cubicBezTo>
                    <a:cubicBezTo>
                      <a:pt x="36335" y="125732"/>
                      <a:pt x="35713" y="124779"/>
                      <a:pt x="35093" y="123825"/>
                    </a:cubicBezTo>
                    <a:cubicBezTo>
                      <a:pt x="32121" y="119263"/>
                      <a:pt x="21691" y="101079"/>
                      <a:pt x="3794" y="69266"/>
                    </a:cubicBezTo>
                    <a:cubicBezTo>
                      <a:pt x="0" y="62523"/>
                      <a:pt x="2263" y="53985"/>
                      <a:pt x="8899" y="50006"/>
                    </a:cubicBezTo>
                    <a:cubicBezTo>
                      <a:pt x="15893" y="45810"/>
                      <a:pt x="24845" y="46909"/>
                      <a:pt x="30616" y="52673"/>
                    </a:cubicBezTo>
                    <a:lnTo>
                      <a:pt x="44618" y="66675"/>
                    </a:lnTo>
                  </a:path>
                </a:pathLst>
              </a:custGeom>
              <a:noFill/>
              <a:ln w="19050">
                <a:solidFill>
                  <a:schemeClr val="accent2"/>
                </a:solidFill>
              </a:ln>
            </p:spPr>
          </p:sp>
        </p:grpSp>
        <p:sp>
          <p:nvSpPr>
            <p:cNvPr id="81" name="TextBox 81"/>
            <p:cNvSpPr txBox="1"/>
            <p:nvPr/>
          </p:nvSpPr>
          <p:spPr>
            <a:xfrm>
              <a:off x="8870442" y="3273742"/>
              <a:ext cx="1763843" cy="264033"/>
            </a:xfrm>
            <a:prstGeom prst="rect">
              <a:avLst/>
            </a:prstGeom>
            <a:noFill/>
            <a:ln>
              <a:noFill/>
            </a:ln>
          </p:spPr>
          <p:txBody>
            <a:bodyPr wrap="none" lIns="0" tIns="0" rIns="0" bIns="0" anchor="t" anchorCtr="0">
              <a:spAutoFit/>
            </a:bodyPr>
            <a:lstStyle/>
            <a:p>
              <a:pPr algn="l"/>
              <a:r>
                <a:rPr lang="ko-KR" sz="1350" b="1" dirty="0">
                  <a:solidFill>
                    <a:schemeClr val="dk1"/>
                  </a:solidFill>
                  <a:latin typeface="+mn-lt"/>
                  <a:ea typeface="+mn-ea"/>
                  <a:cs typeface="+mn-cs"/>
                </a:rPr>
                <a:t>질문은 실패가 아니다</a:t>
              </a:r>
            </a:p>
          </p:txBody>
        </p:sp>
        <p:sp>
          <p:nvSpPr>
            <p:cNvPr id="82" name="TextBox 82"/>
            <p:cNvSpPr txBox="1"/>
            <p:nvPr/>
          </p:nvSpPr>
          <p:spPr>
            <a:xfrm>
              <a:off x="8528304" y="3566160"/>
              <a:ext cx="2374392" cy="444246"/>
            </a:xfrm>
            <a:prstGeom prst="rect">
              <a:avLst/>
            </a:prstGeom>
            <a:noFill/>
            <a:ln>
              <a:noFill/>
            </a:ln>
          </p:spPr>
          <p:txBody>
            <a:bodyPr wrap="none" lIns="0" tIns="0" rIns="0" bIns="0" anchor="t" anchorCtr="0">
              <a:spAutoFit/>
            </a:bodyPr>
            <a:lstStyle/>
            <a:p>
              <a:pPr algn="l">
                <a:lnSpc>
                  <a:spcPts val="1650"/>
                </a:lnSpc>
              </a:pPr>
              <a:r>
                <a:rPr lang="ko-KR" sz="1200" dirty="0">
                  <a:solidFill>
                    <a:schemeClr val="accent5"/>
                  </a:solidFill>
                  <a:latin typeface="+mn-lt"/>
                  <a:ea typeface="+mn-ea"/>
                  <a:cs typeface="+mn-cs"/>
                </a:rPr>
                <a:t>시도 횟수를 깎지 않고 멈춘다.</a:t>
              </a:r>
              <a:br/>
              <a:r>
                <a:rPr lang="ko-KR" sz="1200" dirty="0">
                  <a:solidFill>
                    <a:schemeClr val="accent5"/>
                  </a:solidFill>
                  <a:latin typeface="+mn-lt"/>
                  <a:ea typeface="+mn-ea"/>
                  <a:cs typeface="+mn-cs"/>
                </a:rPr>
                <a:t>사람의 답은 이후 세션 전부에 전달</a:t>
              </a:r>
            </a:p>
          </p:txBody>
        </p:sp>
        <p:grpSp>
          <p:nvGrpSpPr>
            <p:cNvPr id="87" name="Group 87"/>
            <p:cNvGrpSpPr/>
            <p:nvPr/>
          </p:nvGrpSpPr>
          <p:grpSpPr>
            <a:xfrm>
              <a:off x="8543925" y="4191000"/>
              <a:ext cx="209550" cy="76200"/>
              <a:chOff x="8543925" y="4191000"/>
              <a:chExt cx="209550" cy="76200"/>
            </a:xfrm>
          </p:grpSpPr>
          <p:sp>
            <p:nvSpPr>
              <p:cNvPr id="83" name="Freeform 83"/>
              <p:cNvSpPr/>
              <p:nvPr/>
            </p:nvSpPr>
            <p:spPr>
              <a:xfrm>
                <a:off x="8724900" y="4191000"/>
                <a:ext cx="28575" cy="76200"/>
              </a:xfrm>
              <a:custGeom>
                <a:avLst/>
                <a:gdLst/>
                <a:ahLst/>
                <a:cxnLst/>
                <a:rect l="l" t="t" r="r" b="b"/>
                <a:pathLst>
                  <a:path w="28575" h="76200">
                    <a:moveTo>
                      <a:pt x="0" y="76200"/>
                    </a:moveTo>
                    <a:lnTo>
                      <a:pt x="0" y="0"/>
                    </a:lnTo>
                    <a:lnTo>
                      <a:pt x="28575" y="76200"/>
                    </a:lnTo>
                    <a:lnTo>
                      <a:pt x="28575" y="0"/>
                    </a:lnTo>
                  </a:path>
                </a:pathLst>
              </a:custGeom>
              <a:noFill/>
              <a:ln w="19050">
                <a:solidFill>
                  <a:schemeClr val="accent1"/>
                </a:solidFill>
              </a:ln>
            </p:spPr>
          </p:sp>
          <p:sp>
            <p:nvSpPr>
              <p:cNvPr id="84" name="Freeform 84"/>
              <p:cNvSpPr/>
              <p:nvPr/>
            </p:nvSpPr>
            <p:spPr>
              <a:xfrm>
                <a:off x="8658225" y="4191000"/>
                <a:ext cx="38100" cy="76200"/>
              </a:xfrm>
              <a:custGeom>
                <a:avLst/>
                <a:gdLst/>
                <a:ahLst/>
                <a:cxnLst/>
                <a:rect l="l" t="t" r="r" b="b"/>
                <a:pathLst>
                  <a:path w="38100" h="76200">
                    <a:moveTo>
                      <a:pt x="19050" y="0"/>
                    </a:moveTo>
                    <a:cubicBezTo>
                      <a:pt x="29571" y="0"/>
                      <a:pt x="38100" y="8529"/>
                      <a:pt x="38100" y="19050"/>
                    </a:cubicBezTo>
                    <a:lnTo>
                      <a:pt x="38100" y="57150"/>
                    </a:lnTo>
                    <a:cubicBezTo>
                      <a:pt x="38100" y="67671"/>
                      <a:pt x="29571" y="76200"/>
                      <a:pt x="19050" y="76200"/>
                    </a:cubicBezTo>
                    <a:cubicBezTo>
                      <a:pt x="8529" y="76200"/>
                      <a:pt x="0" y="67671"/>
                      <a:pt x="0" y="57150"/>
                    </a:cubicBezTo>
                    <a:lnTo>
                      <a:pt x="0" y="19050"/>
                    </a:lnTo>
                    <a:cubicBezTo>
                      <a:pt x="0" y="8529"/>
                      <a:pt x="8529" y="0"/>
                      <a:pt x="19050" y="0"/>
                    </a:cubicBezTo>
                  </a:path>
                </a:pathLst>
              </a:custGeom>
              <a:noFill/>
              <a:ln w="19050">
                <a:solidFill>
                  <a:schemeClr val="accent1"/>
                </a:solidFill>
              </a:ln>
            </p:spPr>
          </p:sp>
          <p:sp>
            <p:nvSpPr>
              <p:cNvPr id="85" name="Freeform 85"/>
              <p:cNvSpPr/>
              <p:nvPr/>
            </p:nvSpPr>
            <p:spPr>
              <a:xfrm>
                <a:off x="8543925" y="4191000"/>
                <a:ext cx="28575" cy="76200"/>
              </a:xfrm>
              <a:custGeom>
                <a:avLst/>
                <a:gdLst/>
                <a:ahLst/>
                <a:cxnLst/>
                <a:rect l="l" t="t" r="r" b="b"/>
                <a:pathLst>
                  <a:path w="28575" h="76200">
                    <a:moveTo>
                      <a:pt x="0" y="0"/>
                    </a:moveTo>
                    <a:lnTo>
                      <a:pt x="28575" y="0"/>
                    </a:lnTo>
                    <a:lnTo>
                      <a:pt x="28575" y="61912"/>
                    </a:lnTo>
                    <a:cubicBezTo>
                      <a:pt x="28575" y="69803"/>
                      <a:pt x="22178" y="76200"/>
                      <a:pt x="14288" y="76200"/>
                    </a:cubicBezTo>
                    <a:cubicBezTo>
                      <a:pt x="6397" y="76200"/>
                      <a:pt x="0" y="69803"/>
                      <a:pt x="0" y="61912"/>
                    </a:cubicBezTo>
                    <a:lnTo>
                      <a:pt x="0" y="57150"/>
                    </a:lnTo>
                  </a:path>
                </a:pathLst>
              </a:custGeom>
              <a:noFill/>
              <a:ln w="19050">
                <a:solidFill>
                  <a:schemeClr val="accent1"/>
                </a:solidFill>
              </a:ln>
            </p:spPr>
          </p:sp>
          <p:sp>
            <p:nvSpPr>
              <p:cNvPr id="86" name="Freeform 86"/>
              <p:cNvSpPr/>
              <p:nvPr/>
            </p:nvSpPr>
            <p:spPr>
              <a:xfrm>
                <a:off x="8601075" y="4191000"/>
                <a:ext cx="28575" cy="76200"/>
              </a:xfrm>
              <a:custGeom>
                <a:avLst/>
                <a:gdLst/>
                <a:ahLst/>
                <a:cxnLst/>
                <a:rect l="l" t="t" r="r" b="b"/>
                <a:pathLst>
                  <a:path w="28575" h="76200">
                    <a:moveTo>
                      <a:pt x="0" y="66675"/>
                    </a:moveTo>
                    <a:cubicBezTo>
                      <a:pt x="0" y="71936"/>
                      <a:pt x="4264" y="76200"/>
                      <a:pt x="9525" y="76200"/>
                    </a:cubicBezTo>
                    <a:lnTo>
                      <a:pt x="19050" y="76200"/>
                    </a:lnTo>
                    <a:cubicBezTo>
                      <a:pt x="24311" y="76200"/>
                      <a:pt x="28575" y="71936"/>
                      <a:pt x="28575" y="66675"/>
                    </a:cubicBezTo>
                    <a:lnTo>
                      <a:pt x="28575" y="47625"/>
                    </a:lnTo>
                    <a:cubicBezTo>
                      <a:pt x="28575" y="42364"/>
                      <a:pt x="24311" y="38100"/>
                      <a:pt x="19050" y="38100"/>
                    </a:cubicBezTo>
                    <a:lnTo>
                      <a:pt x="9525" y="38100"/>
                    </a:lnTo>
                    <a:cubicBezTo>
                      <a:pt x="4264" y="38100"/>
                      <a:pt x="0" y="33836"/>
                      <a:pt x="0" y="28575"/>
                    </a:cubicBezTo>
                    <a:lnTo>
                      <a:pt x="0" y="9525"/>
                    </a:lnTo>
                    <a:cubicBezTo>
                      <a:pt x="0" y="4264"/>
                      <a:pt x="4264" y="0"/>
                      <a:pt x="9525" y="0"/>
                    </a:cubicBezTo>
                    <a:lnTo>
                      <a:pt x="19050" y="0"/>
                    </a:lnTo>
                    <a:cubicBezTo>
                      <a:pt x="24311" y="0"/>
                      <a:pt x="28575" y="4264"/>
                      <a:pt x="28575" y="9525"/>
                    </a:cubicBezTo>
                  </a:path>
                </a:pathLst>
              </a:custGeom>
              <a:noFill/>
              <a:ln w="19050">
                <a:solidFill>
                  <a:schemeClr val="accent1"/>
                </a:solidFill>
              </a:ln>
            </p:spPr>
          </p:sp>
        </p:grpSp>
        <p:sp>
          <p:nvSpPr>
            <p:cNvPr id="88" name="TextBox 88"/>
            <p:cNvSpPr txBox="1"/>
            <p:nvPr/>
          </p:nvSpPr>
          <p:spPr>
            <a:xfrm>
              <a:off x="8870442" y="4150042"/>
              <a:ext cx="2536351" cy="264033"/>
            </a:xfrm>
            <a:prstGeom prst="rect">
              <a:avLst/>
            </a:prstGeom>
            <a:noFill/>
            <a:ln>
              <a:noFill/>
            </a:ln>
          </p:spPr>
          <p:txBody>
            <a:bodyPr wrap="none" lIns="0" tIns="0" rIns="0" bIns="0" anchor="t" anchorCtr="0">
              <a:spAutoFit/>
            </a:bodyPr>
            <a:lstStyle/>
            <a:p>
              <a:pPr algn="l"/>
              <a:r>
                <a:rPr lang="ko-KR" sz="1350" b="1" dirty="0">
                  <a:solidFill>
                    <a:schemeClr val="dk1"/>
                  </a:solidFill>
                  <a:latin typeface="+mn-lt"/>
                  <a:ea typeface="+mn-ea"/>
                  <a:cs typeface="+mn-cs"/>
                </a:rPr>
                <a:t>판정은 STATE.json 에 남는다</a:t>
              </a:r>
            </a:p>
          </p:txBody>
        </p:sp>
        <p:sp>
          <p:nvSpPr>
            <p:cNvPr id="89" name="TextBox 89"/>
            <p:cNvSpPr txBox="1"/>
            <p:nvPr/>
          </p:nvSpPr>
          <p:spPr>
            <a:xfrm>
              <a:off x="8528304" y="4442460"/>
              <a:ext cx="2039112" cy="444246"/>
            </a:xfrm>
            <a:prstGeom prst="rect">
              <a:avLst/>
            </a:prstGeom>
            <a:noFill/>
            <a:ln>
              <a:noFill/>
            </a:ln>
          </p:spPr>
          <p:txBody>
            <a:bodyPr wrap="none" lIns="0" tIns="0" rIns="0" bIns="0" anchor="t" anchorCtr="0">
              <a:spAutoFit/>
            </a:bodyPr>
            <a:lstStyle/>
            <a:p>
              <a:pPr algn="l">
                <a:lnSpc>
                  <a:spcPts val="1650"/>
                </a:lnSpc>
              </a:pPr>
              <a:r>
                <a:rPr lang="ko-KR" sz="1200" dirty="0">
                  <a:solidFill>
                    <a:schemeClr val="accent5"/>
                  </a:solidFill>
                  <a:latin typeface="+mn-lt"/>
                  <a:ea typeface="+mn-ea"/>
                  <a:cs typeface="+mn-cs"/>
                </a:rPr>
                <a:t>통과 · 재시도 · 실패 · 질문 —</a:t>
              </a:r>
              <a:br/>
              <a:r>
                <a:rPr lang="ko-KR" sz="1200" dirty="0">
                  <a:solidFill>
                    <a:schemeClr val="accent5"/>
                  </a:solidFill>
                  <a:latin typeface="+mn-lt"/>
                  <a:ea typeface="+mn-ea"/>
                  <a:cs typeface="+mn-cs"/>
                </a:rPr>
                <a:t>아침에 fw report 로 한눈에</a:t>
              </a:r>
            </a:p>
          </p:txBody>
        </p:sp>
        <p:sp>
          <p:nvSpPr>
            <p:cNvPr id="90" name="Freeform 90"/>
            <p:cNvSpPr/>
            <p:nvPr/>
          </p:nvSpPr>
          <p:spPr>
            <a:xfrm>
              <a:off x="8582025" y="5038725"/>
              <a:ext cx="133350" cy="133350"/>
            </a:xfrm>
            <a:custGeom>
              <a:avLst/>
              <a:gdLst/>
              <a:ahLst/>
              <a:cxnLst/>
              <a:rect l="l" t="t" r="r" b="b"/>
              <a:pathLst>
                <a:path w="133350" h="133350">
                  <a:moveTo>
                    <a:pt x="0" y="19050"/>
                  </a:moveTo>
                  <a:cubicBezTo>
                    <a:pt x="0" y="8529"/>
                    <a:pt x="8529" y="0"/>
                    <a:pt x="19050" y="0"/>
                  </a:cubicBezTo>
                  <a:lnTo>
                    <a:pt x="114300" y="0"/>
                  </a:lnTo>
                  <a:cubicBezTo>
                    <a:pt x="124821" y="0"/>
                    <a:pt x="133350" y="8529"/>
                    <a:pt x="133350" y="19050"/>
                  </a:cubicBezTo>
                  <a:lnTo>
                    <a:pt x="133350" y="114300"/>
                  </a:lnTo>
                  <a:cubicBezTo>
                    <a:pt x="133350" y="124821"/>
                    <a:pt x="124821" y="133350"/>
                    <a:pt x="114300" y="133350"/>
                  </a:cubicBezTo>
                  <a:lnTo>
                    <a:pt x="19050" y="133350"/>
                  </a:lnTo>
                  <a:cubicBezTo>
                    <a:pt x="8529" y="133350"/>
                    <a:pt x="0" y="124821"/>
                    <a:pt x="0" y="114300"/>
                  </a:cubicBezTo>
                  <a:lnTo>
                    <a:pt x="0" y="19050"/>
                  </a:lnTo>
                </a:path>
              </a:pathLst>
            </a:custGeom>
            <a:noFill/>
            <a:ln w="19050">
              <a:solidFill>
                <a:schemeClr val="accent2"/>
              </a:solidFill>
            </a:ln>
          </p:spPr>
        </p:sp>
        <p:sp>
          <p:nvSpPr>
            <p:cNvPr id="91" name="TextBox 91"/>
            <p:cNvSpPr txBox="1"/>
            <p:nvPr/>
          </p:nvSpPr>
          <p:spPr>
            <a:xfrm>
              <a:off x="8870442" y="5026342"/>
              <a:ext cx="1945580" cy="264033"/>
            </a:xfrm>
            <a:prstGeom prst="rect">
              <a:avLst/>
            </a:prstGeom>
            <a:noFill/>
            <a:ln>
              <a:noFill/>
            </a:ln>
          </p:spPr>
          <p:txBody>
            <a:bodyPr wrap="none" lIns="0" tIns="0" rIns="0" bIns="0" anchor="t" anchorCtr="0">
              <a:spAutoFit/>
            </a:bodyPr>
            <a:lstStyle/>
            <a:p>
              <a:pPr algn="l"/>
              <a:r>
                <a:rPr lang="ko-KR" sz="1350" b="1" dirty="0">
                  <a:solidFill>
                    <a:schemeClr val="dk1"/>
                  </a:solidFill>
                  <a:latin typeface="+mn-lt"/>
                  <a:ea typeface="+mn-ea"/>
                  <a:cs typeface="+mn-cs"/>
                </a:rPr>
                <a:t>멈춤은 세션 사이에서만</a:t>
              </a:r>
            </a:p>
          </p:txBody>
        </p:sp>
        <p:sp>
          <p:nvSpPr>
            <p:cNvPr id="92" name="TextBox 92"/>
            <p:cNvSpPr txBox="1"/>
            <p:nvPr/>
          </p:nvSpPr>
          <p:spPr>
            <a:xfrm>
              <a:off x="8528304" y="5318760"/>
              <a:ext cx="2542032" cy="653796"/>
            </a:xfrm>
            <a:prstGeom prst="rect">
              <a:avLst/>
            </a:prstGeom>
            <a:noFill/>
            <a:ln>
              <a:noFill/>
            </a:ln>
          </p:spPr>
          <p:txBody>
            <a:bodyPr wrap="none" lIns="0" tIns="0" rIns="0" bIns="0" anchor="t" anchorCtr="0">
              <a:spAutoFit/>
            </a:bodyPr>
            <a:lstStyle/>
            <a:p>
              <a:pPr algn="l">
                <a:lnSpc>
                  <a:spcPts val="1650"/>
                </a:lnSpc>
              </a:pPr>
              <a:r>
                <a:rPr lang="ko-KR" sz="1200" dirty="0">
                  <a:solidFill>
                    <a:schemeClr val="accent5"/>
                  </a:solidFill>
                  <a:latin typeface="+mn-lt"/>
                  <a:ea typeface="+mn-ea"/>
                  <a:cs typeface="+mn-cs"/>
                </a:rPr>
                <a:t>돌고 있는 세션은 죽이지 않는다</a:t>
              </a:r>
              <a:br/>
              <a:r>
                <a:rPr lang="ko-KR" sz="1200" dirty="0">
                  <a:solidFill>
                    <a:schemeClr val="accent5"/>
                  </a:solidFill>
                  <a:latin typeface="+mn-lt"/>
                  <a:ea typeface="+mn-ea"/>
                  <a:cs typeface="+mn-cs"/>
                </a:rPr>
                <a:t>(커밋이 반쯤 된 상태를 안 남기려고)</a:t>
              </a:r>
              <a:br/>
              <a:r>
                <a:rPr lang="ko-KR" sz="1200" dirty="0">
                  <a:solidFill>
                    <a:schemeClr val="accent5"/>
                  </a:solidFill>
                  <a:latin typeface="+mn-lt"/>
                  <a:ea typeface="+mn-ea"/>
                  <a:cs typeface="+mn-cs"/>
                </a:rPr>
                <a:t>20분 무응답이면 알아서 재시도</a:t>
              </a:r>
            </a:p>
          </p:txBody>
        </p:sp>
      </p:grpSp>
      <p:grpSp>
        <p:nvGrpSpPr>
          <p:cNvPr id="96" name="Group 96"/>
          <p:cNvGrpSpPr/>
          <p:nvPr/>
        </p:nvGrpSpPr>
        <p:grpSpPr>
          <a:xfrm>
            <a:off x="604266" y="6516052"/>
            <a:ext cx="10983468" cy="205359"/>
            <a:chOff x="604266" y="6516052"/>
            <a:chExt cx="10983468" cy="205359"/>
          </a:xfrm>
        </p:grpSpPr>
        <p:sp>
          <p:nvSpPr>
            <p:cNvPr id="94" name="TextBox 94"/>
            <p:cNvSpPr txBox="1"/>
            <p:nvPr/>
          </p:nvSpPr>
          <p:spPr>
            <a:xfrm>
              <a:off x="604266" y="6516052"/>
              <a:ext cx="4475466"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feature-workflow · plugins/feature-workflow/README.md §4.3</a:t>
              </a:r>
            </a:p>
          </p:txBody>
        </p:sp>
        <p:sp>
          <p:nvSpPr>
            <p:cNvPr id="95" name="TextBox 95"/>
            <p:cNvSpPr txBox="1"/>
            <p:nvPr/>
          </p:nvSpPr>
          <p:spPr>
            <a:xfrm>
              <a:off x="11103540" y="65160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08 / 19</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609600" y="1905000"/>
            <a:ext cx="10972800" cy="2286000"/>
          </a:xfrm>
          <a:custGeom>
            <a:avLst/>
            <a:gdLst/>
            <a:ahLst/>
            <a:cxnLst/>
            <a:rect l="l" t="t" r="r" b="b"/>
            <a:pathLst>
              <a:path w="10972800" h="2286000">
                <a:moveTo>
                  <a:pt x="152400" y="0"/>
                </a:moveTo>
                <a:lnTo>
                  <a:pt x="152400" y="2286000"/>
                </a:lnTo>
                <a:moveTo>
                  <a:pt x="914400" y="0"/>
                </a:moveTo>
                <a:lnTo>
                  <a:pt x="914400" y="2286000"/>
                </a:lnTo>
                <a:moveTo>
                  <a:pt x="1676400" y="0"/>
                </a:moveTo>
                <a:lnTo>
                  <a:pt x="1676400" y="2286000"/>
                </a:lnTo>
                <a:moveTo>
                  <a:pt x="2438400" y="0"/>
                </a:moveTo>
                <a:lnTo>
                  <a:pt x="2438400" y="2286000"/>
                </a:lnTo>
                <a:moveTo>
                  <a:pt x="3200400" y="0"/>
                </a:moveTo>
                <a:lnTo>
                  <a:pt x="3200400" y="2286000"/>
                </a:lnTo>
                <a:moveTo>
                  <a:pt x="3962400" y="0"/>
                </a:moveTo>
                <a:lnTo>
                  <a:pt x="3962400" y="2286000"/>
                </a:lnTo>
                <a:moveTo>
                  <a:pt x="4724400" y="0"/>
                </a:moveTo>
                <a:lnTo>
                  <a:pt x="4724400" y="2286000"/>
                </a:lnTo>
                <a:moveTo>
                  <a:pt x="5486400" y="0"/>
                </a:moveTo>
                <a:lnTo>
                  <a:pt x="5486400" y="2286000"/>
                </a:lnTo>
                <a:moveTo>
                  <a:pt x="6248400" y="0"/>
                </a:moveTo>
                <a:lnTo>
                  <a:pt x="6248400" y="2286000"/>
                </a:lnTo>
                <a:moveTo>
                  <a:pt x="7010400" y="0"/>
                </a:moveTo>
                <a:lnTo>
                  <a:pt x="7010400" y="2286000"/>
                </a:lnTo>
                <a:moveTo>
                  <a:pt x="7772400" y="0"/>
                </a:moveTo>
                <a:lnTo>
                  <a:pt x="7772400" y="2286000"/>
                </a:lnTo>
                <a:moveTo>
                  <a:pt x="8534400" y="0"/>
                </a:moveTo>
                <a:lnTo>
                  <a:pt x="8534400" y="2286000"/>
                </a:lnTo>
                <a:moveTo>
                  <a:pt x="9296400" y="0"/>
                </a:moveTo>
                <a:lnTo>
                  <a:pt x="9296400" y="2286000"/>
                </a:lnTo>
                <a:moveTo>
                  <a:pt x="10058400" y="0"/>
                </a:moveTo>
                <a:lnTo>
                  <a:pt x="10058400" y="2286000"/>
                </a:lnTo>
                <a:moveTo>
                  <a:pt x="10820400" y="0"/>
                </a:moveTo>
                <a:lnTo>
                  <a:pt x="10820400" y="2286000"/>
                </a:lnTo>
                <a:moveTo>
                  <a:pt x="0" y="381000"/>
                </a:moveTo>
                <a:lnTo>
                  <a:pt x="10972800" y="381000"/>
                </a:lnTo>
                <a:moveTo>
                  <a:pt x="0" y="1143000"/>
                </a:moveTo>
                <a:lnTo>
                  <a:pt x="10972800" y="1143000"/>
                </a:lnTo>
                <a:moveTo>
                  <a:pt x="0" y="1905000"/>
                </a:moveTo>
                <a:lnTo>
                  <a:pt x="10972800" y="1905000"/>
                </a:lnTo>
              </a:path>
            </a:pathLst>
          </a:custGeom>
          <a:noFill/>
          <a:ln w="9525">
            <a:solidFill>
              <a:srgbClr val="1B2740"/>
            </a:solidFill>
          </a:ln>
        </p:spPr>
      </p:sp>
      <p:grpSp>
        <p:nvGrpSpPr>
          <p:cNvPr id="4" name="Group 4"/>
          <p:cNvGrpSpPr/>
          <p:nvPr/>
        </p:nvGrpSpPr>
        <p:grpSpPr>
          <a:xfrm>
            <a:off x="601980" y="428625"/>
            <a:ext cx="4357116" cy="293370"/>
            <a:chOff x="601980" y="428625"/>
            <a:chExt cx="4357116" cy="293370"/>
          </a:xfrm>
        </p:grpSpPr>
        <p:sp>
          <p:nvSpPr>
            <p:cNvPr id="3" name="TextBox 3"/>
            <p:cNvSpPr txBox="1"/>
            <p:nvPr/>
          </p:nvSpPr>
          <p:spPr>
            <a:xfrm>
              <a:off x="601980" y="428625"/>
              <a:ext cx="4357116" cy="293370"/>
            </a:xfrm>
            <a:prstGeom prst="rect">
              <a:avLst/>
            </a:prstGeom>
            <a:noFill/>
            <a:ln>
              <a:noFill/>
            </a:ln>
          </p:spPr>
          <p:txBody>
            <a:bodyPr wrap="none" lIns="0" tIns="0" rIns="0" bIns="0" anchor="t" anchorCtr="0">
              <a:spAutoFit/>
            </a:bodyPr>
            <a:lstStyle/>
            <a:p>
              <a:pPr algn="l"/>
              <a:r>
                <a:rPr lang="ko-KR" sz="1500" spc="150" dirty="0">
                  <a:solidFill>
                    <a:schemeClr val="accent5"/>
                  </a:solidFill>
                  <a:latin typeface="Consolas"/>
                  <a:ea typeface="Microsoft YaHei"/>
                  <a:cs typeface="Consolas"/>
                </a:rPr>
                <a:t>PART 02 · 동작 원리 — AI 세션과의 약속</a:t>
              </a:r>
            </a:p>
          </p:txBody>
        </p:sp>
      </p:grpSp>
      <p:grpSp>
        <p:nvGrpSpPr>
          <p:cNvPr id="6" name="Group 6"/>
          <p:cNvGrpSpPr/>
          <p:nvPr/>
        </p:nvGrpSpPr>
        <p:grpSpPr>
          <a:xfrm>
            <a:off x="593598" y="822008"/>
            <a:ext cx="7124890" cy="1111377"/>
            <a:chOff x="593598" y="822008"/>
            <a:chExt cx="7124890" cy="1111377"/>
          </a:xfrm>
        </p:grpSpPr>
        <p:sp>
          <p:nvSpPr>
            <p:cNvPr id="5" name="TextBox 5"/>
            <p:cNvSpPr txBox="1"/>
            <p:nvPr/>
          </p:nvSpPr>
          <p:spPr>
            <a:xfrm>
              <a:off x="593598" y="822008"/>
              <a:ext cx="7124890" cy="1111377"/>
            </a:xfrm>
            <a:prstGeom prst="rect">
              <a:avLst/>
            </a:prstGeom>
            <a:noFill/>
            <a:ln>
              <a:noFill/>
            </a:ln>
          </p:spPr>
          <p:txBody>
            <a:bodyPr wrap="none" lIns="0" tIns="0" rIns="0" bIns="0" anchor="t" anchorCtr="0">
              <a:spAutoFit/>
            </a:bodyPr>
            <a:lstStyle/>
            <a:p>
              <a:pPr algn="l">
                <a:lnSpc>
                  <a:spcPts val="3900"/>
                </a:lnSpc>
              </a:pPr>
              <a:r>
                <a:rPr lang="ko-KR" sz="3150" b="1" dirty="0">
                  <a:solidFill>
                    <a:schemeClr val="dk1"/>
                  </a:solidFill>
                  <a:latin typeface="+mn-lt"/>
                  <a:ea typeface="+mn-ea"/>
                  <a:cs typeface="+mn-cs"/>
                </a:rPr>
                <a:t xml:space="preserve">AI 세션은 </a:t>
              </a:r>
              <a:r>
                <a:rPr lang="ko-KR" sz="3150" b="1" dirty="0">
                  <a:solidFill>
                    <a:schemeClr val="accent1"/>
                  </a:solidFill>
                  <a:latin typeface="+mn-lt"/>
                  <a:ea typeface="+mn-ea"/>
                  <a:cs typeface="+mn-cs"/>
                </a:rPr>
                <a:t>정해진 형식</a:t>
              </a:r>
              <a:r>
                <a:rPr lang="ko-KR" sz="3150" b="1" dirty="0">
                  <a:solidFill>
                    <a:schemeClr val="dk1"/>
                  </a:solidFill>
                  <a:latin typeface="+mn-lt"/>
                  <a:ea typeface="+mn-ea"/>
                  <a:cs typeface="+mn-cs"/>
                </a:rPr>
                <a:t>으로만 보고하고,</a:t>
              </a:r>
              <a:br/>
              <a:r>
                <a:rPr lang="ko-KR" sz="3150" b="1" dirty="0">
                  <a:solidFill>
                    <a:schemeClr val="dk1"/>
                  </a:solidFill>
                  <a:latin typeface="+mn-lt"/>
                  <a:ea typeface="+mn-ea"/>
                  <a:cs typeface="+mn-cs"/>
                </a:rPr>
                <a:t xml:space="preserve">하네스는 그 보고를 </a:t>
              </a:r>
              <a:r>
                <a:rPr lang="ko-KR" sz="3150" b="1" dirty="0">
                  <a:solidFill>
                    <a:schemeClr val="accent2"/>
                  </a:solidFill>
                  <a:latin typeface="+mn-lt"/>
                  <a:ea typeface="+mn-ea"/>
                  <a:cs typeface="+mn-cs"/>
                </a:rPr>
                <a:t>git 으로 확인</a:t>
              </a:r>
              <a:r>
                <a:rPr lang="ko-KR" sz="3150" b="1" dirty="0">
                  <a:solidFill>
                    <a:schemeClr val="dk1"/>
                  </a:solidFill>
                  <a:latin typeface="+mn-lt"/>
                  <a:ea typeface="+mn-ea"/>
                  <a:cs typeface="+mn-cs"/>
                </a:rPr>
                <a:t>한다</a:t>
              </a:r>
            </a:p>
          </p:txBody>
        </p:sp>
      </p:grpSp>
      <p:grpSp>
        <p:nvGrpSpPr>
          <p:cNvPr id="32" name="Group 32"/>
          <p:cNvGrpSpPr/>
          <p:nvPr/>
        </p:nvGrpSpPr>
        <p:grpSpPr>
          <a:xfrm>
            <a:off x="1143000" y="1943100"/>
            <a:ext cx="10287000" cy="2152650"/>
            <a:chOff x="1143000" y="1943100"/>
            <a:chExt cx="10287000" cy="2152650"/>
          </a:xfrm>
        </p:grpSpPr>
        <p:grpSp>
          <p:nvGrpSpPr>
            <p:cNvPr id="10" name="Group 10"/>
            <p:cNvGrpSpPr/>
            <p:nvPr/>
          </p:nvGrpSpPr>
          <p:grpSpPr>
            <a:xfrm>
              <a:off x="1143000" y="1943100"/>
              <a:ext cx="1524000" cy="2152650"/>
              <a:chOff x="1143000" y="1943100"/>
              <a:chExt cx="1524000" cy="2152650"/>
            </a:xfrm>
          </p:grpSpPr>
          <p:sp>
            <p:nvSpPr>
              <p:cNvPr id="7" name="Rectangle 7"/>
              <p:cNvSpPr/>
              <p:nvPr/>
            </p:nvSpPr>
            <p:spPr>
              <a:xfrm>
                <a:off x="1143000" y="1943100"/>
                <a:ext cx="1524000" cy="342900"/>
              </a:xfrm>
              <a:prstGeom prst="roundRect">
                <a:avLst>
                  <a:gd name="adj" fmla="val 16667"/>
                </a:avLst>
              </a:prstGeom>
              <a:solidFill>
                <a:srgbClr val="182238"/>
              </a:solidFill>
              <a:ln w="19050">
                <a:solidFill>
                  <a:schemeClr val="accent1"/>
                </a:solidFill>
              </a:ln>
            </p:spPr>
          </p:sp>
          <p:sp>
            <p:nvSpPr>
              <p:cNvPr id="8" name="TextBox 8"/>
              <p:cNvSpPr txBox="1"/>
              <p:nvPr/>
            </p:nvSpPr>
            <p:spPr>
              <a:xfrm>
                <a:off x="1472877" y="2035492"/>
                <a:ext cx="864245" cy="264033"/>
              </a:xfrm>
              <a:prstGeom prst="rect">
                <a:avLst/>
              </a:prstGeom>
              <a:noFill/>
              <a:ln>
                <a:noFill/>
              </a:ln>
            </p:spPr>
            <p:txBody>
              <a:bodyPr wrap="none" lIns="0" tIns="0" rIns="0" bIns="0" anchor="t" anchorCtr="0">
                <a:spAutoFit/>
              </a:bodyPr>
              <a:lstStyle/>
              <a:p>
                <a:pPr algn="ctr"/>
                <a:r>
                  <a:rPr lang="ko-KR" sz="1350" b="1" dirty="0">
                    <a:solidFill>
                      <a:schemeClr val="accent1"/>
                    </a:solidFill>
                    <a:latin typeface="+mn-lt"/>
                    <a:ea typeface="+mn-ea"/>
                    <a:cs typeface="+mn-cs"/>
                  </a:rPr>
                  <a:t>fw 하네스</a:t>
                </a:r>
              </a:p>
            </p:txBody>
          </p:sp>
          <p:sp>
            <p:nvSpPr>
              <p:cNvPr id="9" name="Line 9"/>
              <p:cNvSpPr/>
              <p:nvPr/>
            </p:nvSpPr>
            <p:spPr>
              <a:xfrm>
                <a:off x="1905000" y="2286000"/>
                <a:ext cx="9525" cy="1809750"/>
              </a:xfrm>
              <a:custGeom>
                <a:avLst/>
                <a:gdLst/>
                <a:ahLst/>
                <a:cxnLst/>
                <a:rect l="l" t="t" r="r" b="b"/>
                <a:pathLst>
                  <a:path w="9525" h="1809750">
                    <a:moveTo>
                      <a:pt x="0" y="0"/>
                    </a:moveTo>
                    <a:lnTo>
                      <a:pt x="0" y="1809750"/>
                    </a:lnTo>
                  </a:path>
                </a:pathLst>
              </a:custGeom>
              <a:noFill/>
              <a:ln w="19050">
                <a:solidFill>
                  <a:schemeClr val="accent6"/>
                </a:solidFill>
                <a:prstDash val="dash"/>
              </a:ln>
            </p:spPr>
          </p:sp>
        </p:grpSp>
        <p:grpSp>
          <p:nvGrpSpPr>
            <p:cNvPr id="14" name="Group 14"/>
            <p:cNvGrpSpPr/>
            <p:nvPr/>
          </p:nvGrpSpPr>
          <p:grpSpPr>
            <a:xfrm>
              <a:off x="5524500" y="1943100"/>
              <a:ext cx="1524000" cy="2152650"/>
              <a:chOff x="5524500" y="1943100"/>
              <a:chExt cx="1524000" cy="2152650"/>
            </a:xfrm>
          </p:grpSpPr>
          <p:sp>
            <p:nvSpPr>
              <p:cNvPr id="11" name="Rectangle 11"/>
              <p:cNvSpPr/>
              <p:nvPr/>
            </p:nvSpPr>
            <p:spPr>
              <a:xfrm>
                <a:off x="5524500" y="1943100"/>
                <a:ext cx="1524000" cy="342900"/>
              </a:xfrm>
              <a:prstGeom prst="roundRect">
                <a:avLst>
                  <a:gd name="adj" fmla="val 16667"/>
                </a:avLst>
              </a:prstGeom>
              <a:solidFill>
                <a:srgbClr val="182238"/>
              </a:solidFill>
              <a:ln w="19050">
                <a:solidFill>
                  <a:srgbClr val="9AA8BD"/>
                </a:solidFill>
              </a:ln>
            </p:spPr>
          </p:sp>
          <p:sp>
            <p:nvSpPr>
              <p:cNvPr id="12" name="TextBox 12"/>
              <p:cNvSpPr txBox="1"/>
              <p:nvPr/>
            </p:nvSpPr>
            <p:spPr>
              <a:xfrm>
                <a:off x="5971684" y="2035492"/>
                <a:ext cx="629633" cy="264033"/>
              </a:xfrm>
              <a:prstGeom prst="rect">
                <a:avLst/>
              </a:prstGeom>
              <a:noFill/>
              <a:ln>
                <a:noFill/>
              </a:ln>
            </p:spPr>
            <p:txBody>
              <a:bodyPr wrap="none" lIns="0" tIns="0" rIns="0" bIns="0" anchor="t" anchorCtr="0">
                <a:spAutoFit/>
              </a:bodyPr>
              <a:lstStyle/>
              <a:p>
                <a:pPr algn="ctr"/>
                <a:r>
                  <a:rPr lang="ko-KR" sz="1350" b="1" dirty="0">
                    <a:solidFill>
                      <a:schemeClr val="dk1"/>
                    </a:solidFill>
                    <a:latin typeface="+mn-lt"/>
                    <a:ea typeface="+mn-ea"/>
                    <a:cs typeface="+mn-cs"/>
                  </a:rPr>
                  <a:t>AI 세션</a:t>
                </a:r>
              </a:p>
            </p:txBody>
          </p:sp>
          <p:sp>
            <p:nvSpPr>
              <p:cNvPr id="13" name="Line 13"/>
              <p:cNvSpPr/>
              <p:nvPr/>
            </p:nvSpPr>
            <p:spPr>
              <a:xfrm>
                <a:off x="6286500" y="2286000"/>
                <a:ext cx="9525" cy="1809750"/>
              </a:xfrm>
              <a:custGeom>
                <a:avLst/>
                <a:gdLst/>
                <a:ahLst/>
                <a:cxnLst/>
                <a:rect l="l" t="t" r="r" b="b"/>
                <a:pathLst>
                  <a:path w="9525" h="1809750">
                    <a:moveTo>
                      <a:pt x="0" y="0"/>
                    </a:moveTo>
                    <a:lnTo>
                      <a:pt x="0" y="1809750"/>
                    </a:lnTo>
                  </a:path>
                </a:pathLst>
              </a:custGeom>
              <a:noFill/>
              <a:ln w="19050">
                <a:solidFill>
                  <a:schemeClr val="accent6"/>
                </a:solidFill>
                <a:prstDash val="dash"/>
              </a:ln>
            </p:spPr>
          </p:sp>
        </p:grpSp>
        <p:grpSp>
          <p:nvGrpSpPr>
            <p:cNvPr id="18" name="Group 18"/>
            <p:cNvGrpSpPr/>
            <p:nvPr/>
          </p:nvGrpSpPr>
          <p:grpSpPr>
            <a:xfrm>
              <a:off x="9906000" y="1943100"/>
              <a:ext cx="1524000" cy="2152650"/>
              <a:chOff x="9906000" y="1943100"/>
              <a:chExt cx="1524000" cy="2152650"/>
            </a:xfrm>
          </p:grpSpPr>
          <p:sp>
            <p:nvSpPr>
              <p:cNvPr id="15" name="Rectangle 15"/>
              <p:cNvSpPr/>
              <p:nvPr/>
            </p:nvSpPr>
            <p:spPr>
              <a:xfrm>
                <a:off x="9906000" y="1943100"/>
                <a:ext cx="1524000" cy="342900"/>
              </a:xfrm>
              <a:prstGeom prst="roundRect">
                <a:avLst>
                  <a:gd name="adj" fmla="val 16667"/>
                </a:avLst>
              </a:prstGeom>
              <a:solidFill>
                <a:srgbClr val="182238"/>
              </a:solidFill>
              <a:ln w="19050">
                <a:solidFill>
                  <a:srgbClr val="9AA8BD"/>
                </a:solidFill>
              </a:ln>
            </p:spPr>
          </p:sp>
          <p:sp>
            <p:nvSpPr>
              <p:cNvPr id="16" name="TextBox 16"/>
              <p:cNvSpPr txBox="1"/>
              <p:nvPr/>
            </p:nvSpPr>
            <p:spPr>
              <a:xfrm>
                <a:off x="10092760" y="2035492"/>
                <a:ext cx="1150481" cy="264033"/>
              </a:xfrm>
              <a:prstGeom prst="rect">
                <a:avLst/>
              </a:prstGeom>
              <a:noFill/>
              <a:ln>
                <a:noFill/>
              </a:ln>
            </p:spPr>
            <p:txBody>
              <a:bodyPr wrap="none" lIns="0" tIns="0" rIns="0" bIns="0" anchor="t" anchorCtr="0">
                <a:spAutoFit/>
              </a:bodyPr>
              <a:lstStyle/>
              <a:p>
                <a:pPr algn="ctr"/>
                <a:r>
                  <a:rPr lang="ko-KR" sz="1350" b="1" dirty="0">
                    <a:solidFill>
                      <a:schemeClr val="dk1"/>
                    </a:solidFill>
                    <a:latin typeface="+mn-lt"/>
                    <a:ea typeface="+mn-ea"/>
                    <a:cs typeface="+mn-cs"/>
                  </a:rPr>
                  <a:t>내 리포 (git)</a:t>
                </a:r>
              </a:p>
            </p:txBody>
          </p:sp>
          <p:sp>
            <p:nvSpPr>
              <p:cNvPr id="17" name="Line 17"/>
              <p:cNvSpPr/>
              <p:nvPr/>
            </p:nvSpPr>
            <p:spPr>
              <a:xfrm>
                <a:off x="10668000" y="2286000"/>
                <a:ext cx="9525" cy="1809750"/>
              </a:xfrm>
              <a:custGeom>
                <a:avLst/>
                <a:gdLst/>
                <a:ahLst/>
                <a:cxnLst/>
                <a:rect l="l" t="t" r="r" b="b"/>
                <a:pathLst>
                  <a:path w="9525" h="1809750">
                    <a:moveTo>
                      <a:pt x="0" y="0"/>
                    </a:moveTo>
                    <a:lnTo>
                      <a:pt x="0" y="1809750"/>
                    </a:lnTo>
                  </a:path>
                </a:pathLst>
              </a:custGeom>
              <a:noFill/>
              <a:ln w="19050">
                <a:solidFill>
                  <a:schemeClr val="accent6"/>
                </a:solidFill>
                <a:prstDash val="dash"/>
              </a:ln>
            </p:spPr>
          </p:sp>
        </p:grpSp>
        <p:grpSp>
          <p:nvGrpSpPr>
            <p:cNvPr id="31" name="Group 31"/>
            <p:cNvGrpSpPr/>
            <p:nvPr/>
          </p:nvGrpSpPr>
          <p:grpSpPr>
            <a:xfrm>
              <a:off x="2006956" y="2363152"/>
              <a:ext cx="8866632" cy="1576959"/>
              <a:chOff x="2006956" y="2363152"/>
              <a:chExt cx="8866632" cy="1576959"/>
            </a:xfrm>
          </p:grpSpPr>
          <p:sp>
            <p:nvSpPr>
              <p:cNvPr id="19" name="Line 19"/>
              <p:cNvSpPr/>
              <p:nvPr/>
            </p:nvSpPr>
            <p:spPr>
              <a:xfrm>
                <a:off x="2667000" y="2552700"/>
                <a:ext cx="2838450" cy="1"/>
              </a:xfrm>
              <a:prstGeom prst="line">
                <a:avLst/>
              </a:prstGeom>
              <a:noFill/>
              <a:ln w="19050">
                <a:solidFill>
                  <a:schemeClr val="accent1"/>
                </a:solidFill>
                <a:tailEnd type="triangle" w="med" len="med"/>
              </a:ln>
            </p:spPr>
          </p:sp>
          <p:sp>
            <p:nvSpPr>
              <p:cNvPr id="20" name="TextBox 20"/>
              <p:cNvSpPr txBox="1"/>
              <p:nvPr/>
            </p:nvSpPr>
            <p:spPr>
              <a:xfrm>
                <a:off x="2006956" y="2363152"/>
                <a:ext cx="4177589" cy="205359"/>
              </a:xfrm>
              <a:prstGeom prst="rect">
                <a:avLst/>
              </a:prstGeom>
              <a:noFill/>
              <a:ln>
                <a:noFill/>
              </a:ln>
            </p:spPr>
            <p:txBody>
              <a:bodyPr wrap="none" lIns="0" tIns="0" rIns="0" bIns="0" anchor="t" anchorCtr="0">
                <a:spAutoFit/>
              </a:bodyPr>
              <a:lstStyle/>
              <a:p>
                <a:pPr algn="ctr"/>
                <a:r>
                  <a:rPr lang="ko-KR" sz="1050" dirty="0">
                    <a:solidFill>
                      <a:schemeClr val="dk1"/>
                    </a:solidFill>
                    <a:latin typeface="+mn-lt"/>
                    <a:ea typeface="+mn-ea"/>
                    <a:cs typeface="+mn-cs"/>
                  </a:rPr>
                  <a:t>할 일 · PLAN 의 결정 · 사람의 답 + 도구 권한 검사 + 보고 형식</a:t>
                </a:r>
              </a:p>
            </p:txBody>
          </p:sp>
          <p:sp>
            <p:nvSpPr>
              <p:cNvPr id="21" name="TextBox 21"/>
              <p:cNvSpPr txBox="1"/>
              <p:nvPr/>
            </p:nvSpPr>
            <p:spPr>
              <a:xfrm>
                <a:off x="7233666" y="2382202"/>
                <a:ext cx="3639922" cy="205359"/>
              </a:xfrm>
              <a:prstGeom prst="rect">
                <a:avLst/>
              </a:prstGeom>
              <a:noFill/>
              <a:ln>
                <a:noFill/>
              </a:ln>
            </p:spPr>
            <p:txBody>
              <a:bodyPr wrap="none" lIns="0" tIns="0" rIns="0" bIns="0" anchor="t" anchorCtr="0">
                <a:spAutoFit/>
              </a:bodyPr>
              <a:lstStyle/>
              <a:p>
                <a:pPr algn="l"/>
                <a:r>
                  <a:rPr lang="ko-KR" sz="1050" dirty="0">
                    <a:solidFill>
                      <a:schemeClr val="accent2"/>
                    </a:solidFill>
                    <a:latin typeface="+mn-lt"/>
                    <a:ea typeface="+mn-ea"/>
                    <a:cs typeface="+mn-cs"/>
                  </a:rPr>
                  <a:t>시작 전에 PLAN 결정과 충돌하면 바로 질문으로 멈춘다</a:t>
                </a:r>
              </a:p>
            </p:txBody>
          </p:sp>
          <p:sp>
            <p:nvSpPr>
              <p:cNvPr id="22" name="Line 22"/>
              <p:cNvSpPr/>
              <p:nvPr/>
            </p:nvSpPr>
            <p:spPr>
              <a:xfrm>
                <a:off x="7048500" y="2857500"/>
                <a:ext cx="2838450" cy="1"/>
              </a:xfrm>
              <a:prstGeom prst="line">
                <a:avLst/>
              </a:prstGeom>
              <a:noFill/>
              <a:ln w="14288">
                <a:solidFill>
                  <a:srgbClr val="9AA8BD"/>
                </a:solidFill>
                <a:tailEnd type="triangle" w="med" len="med"/>
              </a:ln>
            </p:spPr>
          </p:sp>
          <p:sp>
            <p:nvSpPr>
              <p:cNvPr id="23" name="TextBox 23"/>
              <p:cNvSpPr txBox="1"/>
              <p:nvPr/>
            </p:nvSpPr>
            <p:spPr>
              <a:xfrm>
                <a:off x="7104345" y="2667952"/>
                <a:ext cx="2745810" cy="205359"/>
              </a:xfrm>
              <a:prstGeom prst="rect">
                <a:avLst/>
              </a:prstGeom>
              <a:noFill/>
              <a:ln>
                <a:noFill/>
              </a:ln>
            </p:spPr>
            <p:txBody>
              <a:bodyPr wrap="none" lIns="0" tIns="0" rIns="0" bIns="0" anchor="t" anchorCtr="0">
                <a:spAutoFit/>
              </a:bodyPr>
              <a:lstStyle/>
              <a:p>
                <a:pPr algn="ctr"/>
                <a:r>
                  <a:rPr lang="ko-KR" sz="1050" dirty="0">
                    <a:solidFill>
                      <a:schemeClr val="dk1"/>
                    </a:solidFill>
                    <a:latin typeface="+mn-lt"/>
                    <a:ea typeface="+mn-ea"/>
                    <a:cs typeface="+mn-cs"/>
                  </a:rPr>
                  <a:t>파일 읽기 · 수정 · 명령 실행 — 하나씩 허가</a:t>
                </a:r>
              </a:p>
            </p:txBody>
          </p:sp>
          <p:sp>
            <p:nvSpPr>
              <p:cNvPr id="24" name="Line 24"/>
              <p:cNvSpPr/>
              <p:nvPr/>
            </p:nvSpPr>
            <p:spPr>
              <a:xfrm>
                <a:off x="7048500" y="3162300"/>
                <a:ext cx="2838450" cy="1"/>
              </a:xfrm>
              <a:prstGeom prst="line">
                <a:avLst/>
              </a:prstGeom>
              <a:noFill/>
              <a:ln w="14288">
                <a:solidFill>
                  <a:srgbClr val="9AA8BD"/>
                </a:solidFill>
                <a:tailEnd type="triangle" w="med" len="med"/>
              </a:ln>
            </p:spPr>
          </p:sp>
          <p:sp>
            <p:nvSpPr>
              <p:cNvPr id="25" name="TextBox 25"/>
              <p:cNvSpPr txBox="1"/>
              <p:nvPr/>
            </p:nvSpPr>
            <p:spPr>
              <a:xfrm>
                <a:off x="7418851" y="2972752"/>
                <a:ext cx="2116798" cy="205359"/>
              </a:xfrm>
              <a:prstGeom prst="rect">
                <a:avLst/>
              </a:prstGeom>
              <a:noFill/>
              <a:ln>
                <a:noFill/>
              </a:ln>
            </p:spPr>
            <p:txBody>
              <a:bodyPr wrap="none" lIns="0" tIns="0" rIns="0" bIns="0" anchor="t" anchorCtr="0">
                <a:spAutoFit/>
              </a:bodyPr>
              <a:lstStyle/>
              <a:p>
                <a:pPr algn="ctr"/>
                <a:r>
                  <a:rPr lang="ko-KR" sz="1050" dirty="0">
                    <a:solidFill>
                      <a:schemeClr val="dk1"/>
                    </a:solidFill>
                    <a:latin typeface="+mn-lt"/>
                    <a:ea typeface="+mn-ea"/>
                    <a:cs typeface="+mn-cs"/>
                  </a:rPr>
                  <a:t>git commit — 의미 단위로 나눠서</a:t>
                </a:r>
              </a:p>
            </p:txBody>
          </p:sp>
          <p:sp>
            <p:nvSpPr>
              <p:cNvPr id="26" name="Line 26"/>
              <p:cNvSpPr/>
              <p:nvPr/>
            </p:nvSpPr>
            <p:spPr>
              <a:xfrm flipH="1">
                <a:off x="2686050" y="3467100"/>
                <a:ext cx="2838450" cy="1"/>
              </a:xfrm>
              <a:prstGeom prst="line">
                <a:avLst/>
              </a:prstGeom>
              <a:noFill/>
              <a:ln w="19050">
                <a:solidFill>
                  <a:schemeClr val="accent1"/>
                </a:solidFill>
                <a:tailEnd type="triangle" w="med" len="med"/>
              </a:ln>
            </p:spPr>
          </p:sp>
          <p:sp>
            <p:nvSpPr>
              <p:cNvPr id="27" name="TextBox 27"/>
              <p:cNvSpPr txBox="1"/>
              <p:nvPr/>
            </p:nvSpPr>
            <p:spPr>
              <a:xfrm>
                <a:off x="3411931" y="3277552"/>
                <a:ext cx="1367638" cy="205359"/>
              </a:xfrm>
              <a:prstGeom prst="rect">
                <a:avLst/>
              </a:prstGeom>
              <a:noFill/>
              <a:ln>
                <a:noFill/>
              </a:ln>
            </p:spPr>
            <p:txBody>
              <a:bodyPr wrap="none" lIns="0" tIns="0" rIns="0" bIns="0" anchor="t" anchorCtr="0">
                <a:spAutoFit/>
              </a:bodyPr>
              <a:lstStyle/>
              <a:p>
                <a:pPr algn="ctr"/>
                <a:r>
                  <a:rPr lang="ko-KR" sz="1050" dirty="0">
                    <a:solidFill>
                      <a:schemeClr val="dk1"/>
                    </a:solidFill>
                    <a:latin typeface="+mn-lt"/>
                    <a:ea typeface="+mn-ea"/>
                    <a:cs typeface="+mn-cs"/>
                  </a:rPr>
                  <a:t>정해진 형식으로 보고</a:t>
                </a:r>
              </a:p>
            </p:txBody>
          </p:sp>
          <p:sp>
            <p:nvSpPr>
              <p:cNvPr id="28" name="TextBox 28"/>
              <p:cNvSpPr txBox="1"/>
              <p:nvPr/>
            </p:nvSpPr>
            <p:spPr>
              <a:xfrm>
                <a:off x="2574427" y="3525202"/>
                <a:ext cx="3042647" cy="205359"/>
              </a:xfrm>
              <a:prstGeom prst="rect">
                <a:avLst/>
              </a:prstGeom>
              <a:noFill/>
              <a:ln>
                <a:noFill/>
              </a:ln>
            </p:spPr>
            <p:txBody>
              <a:bodyPr wrap="none" lIns="0" tIns="0" rIns="0" bIns="0" anchor="t" anchorCtr="0">
                <a:spAutoFit/>
              </a:bodyPr>
              <a:lstStyle/>
              <a:p>
                <a:pPr algn="ctr"/>
                <a:r>
                  <a:rPr lang="ko-KR" sz="1050" dirty="0">
                    <a:solidFill>
                      <a:schemeClr val="accent1"/>
                    </a:solidFill>
                    <a:latin typeface="Consolas"/>
                    <a:ea typeface="Microsoft YaHei"/>
                    <a:cs typeface="Consolas"/>
                  </a:rPr>
                  <a:t>{ 상태 · 요약 · 질문? · 커밋 목록 · 발견 사항 }</a:t>
                </a:r>
              </a:p>
            </p:txBody>
          </p:sp>
          <p:sp>
            <p:nvSpPr>
              <p:cNvPr id="29" name="Line 29"/>
              <p:cNvSpPr/>
              <p:nvPr/>
            </p:nvSpPr>
            <p:spPr>
              <a:xfrm>
                <a:off x="2667000" y="3924300"/>
                <a:ext cx="7219950" cy="1"/>
              </a:xfrm>
              <a:prstGeom prst="line">
                <a:avLst/>
              </a:prstGeom>
              <a:noFill/>
              <a:ln w="19050">
                <a:solidFill>
                  <a:schemeClr val="accent2"/>
                </a:solidFill>
                <a:tailEnd type="triangle" w="med" len="med"/>
              </a:ln>
            </p:spPr>
          </p:sp>
          <p:sp>
            <p:nvSpPr>
              <p:cNvPr id="30" name="TextBox 30"/>
              <p:cNvSpPr txBox="1"/>
              <p:nvPr/>
            </p:nvSpPr>
            <p:spPr>
              <a:xfrm>
                <a:off x="4111428" y="3734752"/>
                <a:ext cx="4350144" cy="205359"/>
              </a:xfrm>
              <a:prstGeom prst="rect">
                <a:avLst/>
              </a:prstGeom>
              <a:noFill/>
              <a:ln>
                <a:noFill/>
              </a:ln>
            </p:spPr>
            <p:txBody>
              <a:bodyPr wrap="none" lIns="0" tIns="0" rIns="0" bIns="0" anchor="t" anchorCtr="0">
                <a:spAutoFit/>
              </a:bodyPr>
              <a:lstStyle/>
              <a:p>
                <a:pPr algn="ctr"/>
                <a:r>
                  <a:rPr lang="ko-KR" sz="1050" dirty="0">
                    <a:solidFill>
                      <a:schemeClr val="accent2"/>
                    </a:solidFill>
                    <a:latin typeface="+mn-lt"/>
                    <a:ea typeface="+mn-ea"/>
                    <a:cs typeface="+mn-cs"/>
                  </a:rPr>
                  <a:t>커밋이 정말 새로 생겼나 확인 → 검증 명령을 직접 실행 → 판정을 기록</a:t>
                </a:r>
              </a:p>
            </p:txBody>
          </p:sp>
        </p:grpSp>
      </p:grpSp>
      <p:grpSp>
        <p:nvGrpSpPr>
          <p:cNvPr id="42" name="Group 42"/>
          <p:cNvGrpSpPr/>
          <p:nvPr/>
        </p:nvGrpSpPr>
        <p:grpSpPr>
          <a:xfrm>
            <a:off x="603504" y="4331018"/>
            <a:ext cx="4447032" cy="1451038"/>
            <a:chOff x="603504" y="4331018"/>
            <a:chExt cx="4447032" cy="1451038"/>
          </a:xfrm>
        </p:grpSpPr>
        <p:grpSp>
          <p:nvGrpSpPr>
            <p:cNvPr id="39" name="Group 39"/>
            <p:cNvGrpSpPr/>
            <p:nvPr/>
          </p:nvGrpSpPr>
          <p:grpSpPr>
            <a:xfrm>
              <a:off x="642938" y="4348162"/>
              <a:ext cx="157162" cy="138113"/>
              <a:chOff x="642938" y="4348162"/>
              <a:chExt cx="157162" cy="138113"/>
            </a:xfrm>
          </p:grpSpPr>
          <p:sp>
            <p:nvSpPr>
              <p:cNvPr id="33" name="Freeform 33"/>
              <p:cNvSpPr/>
              <p:nvPr/>
            </p:nvSpPr>
            <p:spPr>
              <a:xfrm>
                <a:off x="642938" y="4348162"/>
                <a:ext cx="38100" cy="23812"/>
              </a:xfrm>
              <a:custGeom>
                <a:avLst/>
                <a:gdLst/>
                <a:ahLst/>
                <a:cxnLst/>
                <a:rect l="l" t="t" r="r" b="b"/>
                <a:pathLst>
                  <a:path w="38100" h="23812">
                    <a:moveTo>
                      <a:pt x="0" y="9525"/>
                    </a:moveTo>
                    <a:lnTo>
                      <a:pt x="14288" y="23812"/>
                    </a:lnTo>
                    <a:lnTo>
                      <a:pt x="38100" y="0"/>
                    </a:lnTo>
                  </a:path>
                </a:pathLst>
              </a:custGeom>
              <a:noFill/>
              <a:ln w="19050">
                <a:solidFill>
                  <a:schemeClr val="accent1"/>
                </a:solidFill>
              </a:ln>
            </p:spPr>
          </p:sp>
          <p:sp>
            <p:nvSpPr>
              <p:cNvPr id="34" name="Freeform 34"/>
              <p:cNvSpPr/>
              <p:nvPr/>
            </p:nvSpPr>
            <p:spPr>
              <a:xfrm>
                <a:off x="642938" y="4405312"/>
                <a:ext cx="38100" cy="23812"/>
              </a:xfrm>
              <a:custGeom>
                <a:avLst/>
                <a:gdLst/>
                <a:ahLst/>
                <a:cxnLst/>
                <a:rect l="l" t="t" r="r" b="b"/>
                <a:pathLst>
                  <a:path w="38100" h="23812">
                    <a:moveTo>
                      <a:pt x="0" y="9525"/>
                    </a:moveTo>
                    <a:lnTo>
                      <a:pt x="14288" y="23812"/>
                    </a:lnTo>
                    <a:lnTo>
                      <a:pt x="38100" y="0"/>
                    </a:lnTo>
                  </a:path>
                </a:pathLst>
              </a:custGeom>
              <a:noFill/>
              <a:ln w="19050">
                <a:solidFill>
                  <a:schemeClr val="accent1"/>
                </a:solidFill>
              </a:ln>
            </p:spPr>
          </p:sp>
          <p:sp>
            <p:nvSpPr>
              <p:cNvPr id="35" name="Freeform 35"/>
              <p:cNvSpPr/>
              <p:nvPr/>
            </p:nvSpPr>
            <p:spPr>
              <a:xfrm>
                <a:off x="642938" y="4462462"/>
                <a:ext cx="38100" cy="23812"/>
              </a:xfrm>
              <a:custGeom>
                <a:avLst/>
                <a:gdLst/>
                <a:ahLst/>
                <a:cxnLst/>
                <a:rect l="l" t="t" r="r" b="b"/>
                <a:pathLst>
                  <a:path w="38100" h="23812">
                    <a:moveTo>
                      <a:pt x="0" y="9525"/>
                    </a:moveTo>
                    <a:lnTo>
                      <a:pt x="14288" y="23812"/>
                    </a:lnTo>
                    <a:lnTo>
                      <a:pt x="38100" y="0"/>
                    </a:lnTo>
                  </a:path>
                </a:pathLst>
              </a:custGeom>
              <a:noFill/>
              <a:ln w="19050">
                <a:solidFill>
                  <a:schemeClr val="accent1"/>
                </a:solidFill>
              </a:ln>
            </p:spPr>
          </p:sp>
          <p:sp>
            <p:nvSpPr>
              <p:cNvPr id="36" name="Freeform 36"/>
              <p:cNvSpPr/>
              <p:nvPr/>
            </p:nvSpPr>
            <p:spPr>
              <a:xfrm>
                <a:off x="714375" y="4362450"/>
                <a:ext cx="85725" cy="9525"/>
              </a:xfrm>
              <a:custGeom>
                <a:avLst/>
                <a:gdLst/>
                <a:ahLst/>
                <a:cxnLst/>
                <a:rect l="l" t="t" r="r" b="b"/>
                <a:pathLst>
                  <a:path w="85725" h="9525">
                    <a:moveTo>
                      <a:pt x="0" y="0"/>
                    </a:moveTo>
                    <a:lnTo>
                      <a:pt x="85725" y="0"/>
                    </a:lnTo>
                  </a:path>
                </a:pathLst>
              </a:custGeom>
              <a:noFill/>
              <a:ln w="19050">
                <a:solidFill>
                  <a:schemeClr val="accent1"/>
                </a:solidFill>
              </a:ln>
            </p:spPr>
          </p:sp>
          <p:sp>
            <p:nvSpPr>
              <p:cNvPr id="37" name="Freeform 37"/>
              <p:cNvSpPr/>
              <p:nvPr/>
            </p:nvSpPr>
            <p:spPr>
              <a:xfrm>
                <a:off x="714375" y="4419600"/>
                <a:ext cx="85725" cy="9525"/>
              </a:xfrm>
              <a:custGeom>
                <a:avLst/>
                <a:gdLst/>
                <a:ahLst/>
                <a:cxnLst/>
                <a:rect l="l" t="t" r="r" b="b"/>
                <a:pathLst>
                  <a:path w="85725" h="9525">
                    <a:moveTo>
                      <a:pt x="0" y="0"/>
                    </a:moveTo>
                    <a:lnTo>
                      <a:pt x="85725" y="0"/>
                    </a:lnTo>
                  </a:path>
                </a:pathLst>
              </a:custGeom>
              <a:noFill/>
              <a:ln w="19050">
                <a:solidFill>
                  <a:schemeClr val="accent1"/>
                </a:solidFill>
              </a:ln>
            </p:spPr>
          </p:sp>
          <p:sp>
            <p:nvSpPr>
              <p:cNvPr id="38" name="Freeform 38"/>
              <p:cNvSpPr/>
              <p:nvPr/>
            </p:nvSpPr>
            <p:spPr>
              <a:xfrm>
                <a:off x="714375" y="4476750"/>
                <a:ext cx="85725" cy="9525"/>
              </a:xfrm>
              <a:custGeom>
                <a:avLst/>
                <a:gdLst/>
                <a:ahLst/>
                <a:cxnLst/>
                <a:rect l="l" t="t" r="r" b="b"/>
                <a:pathLst>
                  <a:path w="85725" h="9525">
                    <a:moveTo>
                      <a:pt x="0" y="0"/>
                    </a:moveTo>
                    <a:lnTo>
                      <a:pt x="85725" y="0"/>
                    </a:lnTo>
                  </a:path>
                </a:pathLst>
              </a:custGeom>
              <a:noFill/>
              <a:ln w="19050">
                <a:solidFill>
                  <a:schemeClr val="accent1"/>
                </a:solidFill>
              </a:ln>
            </p:spPr>
          </p:sp>
        </p:grpSp>
        <p:sp>
          <p:nvSpPr>
            <p:cNvPr id="40" name="TextBox 40"/>
            <p:cNvSpPr txBox="1"/>
            <p:nvPr/>
          </p:nvSpPr>
          <p:spPr>
            <a:xfrm>
              <a:off x="907542" y="4331018"/>
              <a:ext cx="1218632" cy="264033"/>
            </a:xfrm>
            <a:prstGeom prst="rect">
              <a:avLst/>
            </a:prstGeom>
            <a:noFill/>
            <a:ln>
              <a:noFill/>
            </a:ln>
          </p:spPr>
          <p:txBody>
            <a:bodyPr wrap="none" lIns="0" tIns="0" rIns="0" bIns="0" anchor="t" anchorCtr="0">
              <a:spAutoFit/>
            </a:bodyPr>
            <a:lstStyle/>
            <a:p>
              <a:pPr algn="l"/>
              <a:r>
                <a:rPr lang="ko-KR" sz="1350" b="1" dirty="0">
                  <a:solidFill>
                    <a:schemeClr val="accent1"/>
                  </a:solidFill>
                  <a:latin typeface="+mn-lt"/>
                  <a:ea typeface="+mn-ea"/>
                  <a:cs typeface="+mn-cs"/>
                </a:rPr>
                <a:t>세션이 받는 것</a:t>
              </a:r>
            </a:p>
          </p:txBody>
        </p:sp>
        <p:sp>
          <p:nvSpPr>
            <p:cNvPr id="41" name="TextBox 41"/>
            <p:cNvSpPr txBox="1"/>
            <p:nvPr/>
          </p:nvSpPr>
          <p:spPr>
            <a:xfrm>
              <a:off x="603504" y="4632960"/>
              <a:ext cx="4447032" cy="1149096"/>
            </a:xfrm>
            <a:prstGeom prst="rect">
              <a:avLst/>
            </a:prstGeom>
            <a:noFill/>
            <a:ln>
              <a:noFill/>
            </a:ln>
          </p:spPr>
          <p:txBody>
            <a:bodyPr wrap="none" lIns="0" tIns="0" rIns="0" bIns="0" anchor="t" anchorCtr="0">
              <a:spAutoFit/>
            </a:bodyPr>
            <a:lstStyle/>
            <a:p>
              <a:pPr algn="l">
                <a:lnSpc>
                  <a:spcPts val="1800"/>
                </a:lnSpc>
              </a:pPr>
              <a:r>
                <a:rPr lang="ko-KR" sz="1200" dirty="0">
                  <a:solidFill>
                    <a:schemeClr val="dk1"/>
                  </a:solidFill>
                  <a:latin typeface="+mn-lt"/>
                  <a:ea typeface="+mn-ea"/>
                  <a:cs typeface="+mn-cs"/>
                </a:rPr>
                <a:t xml:space="preserve">이번 phase 에서 할 일 (STATE 의 </a:t>
              </a:r>
              <a:r>
                <a:rPr lang="ko-KR" sz="1200" dirty="0">
                  <a:solidFill>
                    <a:schemeClr val="dk1"/>
                  </a:solidFill>
                  <a:latin typeface="Consolas"/>
                  <a:ea typeface="Consolas"/>
                  <a:cs typeface="Consolas"/>
                </a:rPr>
                <a:t>next_steps</a:t>
              </a:r>
              <a:r>
                <a:rPr lang="ko-KR" sz="1200" dirty="0">
                  <a:solidFill>
                    <a:schemeClr val="dk1"/>
                  </a:solidFill>
                  <a:latin typeface="+mn-lt"/>
                  <a:ea typeface="+mn-ea"/>
                  <a:cs typeface="+mn-cs"/>
                </a:rPr>
                <a:t>)</a:t>
              </a:r>
              <a:br/>
              <a:r>
                <a:rPr lang="ko-KR" sz="1200" dirty="0">
                  <a:solidFill>
                    <a:schemeClr val="dk1"/>
                  </a:solidFill>
                  <a:latin typeface="+mn-lt"/>
                  <a:ea typeface="+mn-ea"/>
                  <a:cs typeface="+mn-cs"/>
                </a:rPr>
                <a:t>사람이 지금까지 해준 답 (BLOCKED 질문에 답한 것 전부)</a:t>
              </a:r>
              <a:br/>
              <a:r>
                <a:rPr lang="ko-KR" sz="1200" dirty="0">
                  <a:solidFill>
                    <a:schemeClr val="dk1"/>
                  </a:solidFill>
                  <a:latin typeface="+mn-lt"/>
                  <a:ea typeface="+mn-ea"/>
                  <a:cs typeface="+mn-cs"/>
                </a:rPr>
                <a:t>직전에 왜 실패했는지 (다시 시도할 때만)</a:t>
              </a:r>
              <a:br/>
              <a:r>
                <a:rPr lang="ko-KR" sz="1200" dirty="0">
                  <a:solidFill>
                    <a:schemeClr val="dk1"/>
                  </a:solidFill>
                  <a:latin typeface="+mn-lt"/>
                  <a:ea typeface="+mn-ea"/>
                  <a:cs typeface="+mn-cs"/>
                </a:rPr>
                <a:t>리포 규칙 CLAUDE.md — 읽을 수만 있다</a:t>
              </a:r>
              <a:br/>
              <a:r>
                <a:rPr lang="ko-KR" sz="1200" dirty="0">
                  <a:solidFill>
                    <a:schemeClr val="dk1"/>
                  </a:solidFill>
                  <a:latin typeface="+mn-lt"/>
                  <a:ea typeface="+mn-ea"/>
                  <a:cs typeface="+mn-cs"/>
                </a:rPr>
                <a:t>PLAN 의 결정·용어·개발 방향·검증 기준 — 표로 쓴 것만 들어간다</a:t>
              </a:r>
            </a:p>
          </p:txBody>
        </p:sp>
      </p:grpSp>
      <p:grpSp>
        <p:nvGrpSpPr>
          <p:cNvPr id="50" name="Group 50"/>
          <p:cNvGrpSpPr/>
          <p:nvPr/>
        </p:nvGrpSpPr>
        <p:grpSpPr>
          <a:xfrm>
            <a:off x="6242304" y="4331018"/>
            <a:ext cx="4397350" cy="1451038"/>
            <a:chOff x="6242304" y="4331018"/>
            <a:chExt cx="4397350" cy="1451038"/>
          </a:xfrm>
        </p:grpSpPr>
        <p:sp>
          <p:nvSpPr>
            <p:cNvPr id="43" name="Freeform 43"/>
            <p:cNvSpPr/>
            <p:nvPr/>
          </p:nvSpPr>
          <p:spPr>
            <a:xfrm>
              <a:off x="6296025" y="4371975"/>
              <a:ext cx="142875" cy="95250"/>
            </a:xfrm>
            <a:custGeom>
              <a:avLst/>
              <a:gdLst/>
              <a:ahLst/>
              <a:cxnLst/>
              <a:rect l="l" t="t" r="r" b="b"/>
              <a:pathLst>
                <a:path w="142875" h="95250">
                  <a:moveTo>
                    <a:pt x="0" y="47625"/>
                  </a:moveTo>
                  <a:lnTo>
                    <a:pt x="47625" y="95250"/>
                  </a:lnTo>
                  <a:lnTo>
                    <a:pt x="142875" y="0"/>
                  </a:lnTo>
                </a:path>
              </a:pathLst>
            </a:custGeom>
            <a:noFill/>
            <a:ln w="19050">
              <a:solidFill>
                <a:schemeClr val="accent2"/>
              </a:solidFill>
            </a:ln>
          </p:spPr>
        </p:sp>
        <p:sp>
          <p:nvSpPr>
            <p:cNvPr id="44" name="TextBox 44"/>
            <p:cNvSpPr txBox="1"/>
            <p:nvPr/>
          </p:nvSpPr>
          <p:spPr>
            <a:xfrm>
              <a:off x="6546342" y="4331018"/>
              <a:ext cx="1582106" cy="264033"/>
            </a:xfrm>
            <a:prstGeom prst="rect">
              <a:avLst/>
            </a:prstGeom>
            <a:noFill/>
            <a:ln>
              <a:noFill/>
            </a:ln>
          </p:spPr>
          <p:txBody>
            <a:bodyPr wrap="none" lIns="0" tIns="0" rIns="0" bIns="0" anchor="t" anchorCtr="0">
              <a:spAutoFit/>
            </a:bodyPr>
            <a:lstStyle/>
            <a:p>
              <a:pPr algn="l"/>
              <a:r>
                <a:rPr lang="ko-KR" sz="1350" b="1" dirty="0">
                  <a:solidFill>
                    <a:schemeClr val="accent2"/>
                  </a:solidFill>
                  <a:latin typeface="+mn-lt"/>
                  <a:ea typeface="+mn-ea"/>
                  <a:cs typeface="+mn-cs"/>
                </a:rPr>
                <a:t>세션이 돌려주는 것</a:t>
              </a:r>
            </a:p>
          </p:txBody>
        </p:sp>
        <p:sp>
          <p:nvSpPr>
            <p:cNvPr id="45" name="TextBox 45"/>
            <p:cNvSpPr txBox="1"/>
            <p:nvPr/>
          </p:nvSpPr>
          <p:spPr>
            <a:xfrm>
              <a:off x="6242304" y="4632960"/>
              <a:ext cx="3226918" cy="234696"/>
            </a:xfrm>
            <a:prstGeom prst="rect">
              <a:avLst/>
            </a:prstGeom>
            <a:noFill/>
            <a:ln>
              <a:noFill/>
            </a:ln>
          </p:spPr>
          <p:txBody>
            <a:bodyPr wrap="none" lIns="0" tIns="0" rIns="0" bIns="0" anchor="t" anchorCtr="0">
              <a:spAutoFit/>
            </a:bodyPr>
            <a:lstStyle/>
            <a:p>
              <a:pPr algn="l"/>
              <a:r>
                <a:rPr lang="ko-KR" sz="1200" dirty="0">
                  <a:solidFill>
                    <a:srgbClr val="4ADE80"/>
                  </a:solidFill>
                  <a:latin typeface="Consolas"/>
                  <a:ea typeface="Consolas"/>
                  <a:cs typeface="Consolas"/>
                </a:rPr>
                <a:t>done</a:t>
              </a:r>
              <a:r>
                <a:rPr lang="ko-KR" sz="1200" dirty="0">
                  <a:solidFill>
                    <a:schemeClr val="dk1"/>
                  </a:solidFill>
                  <a:latin typeface="+mn-lt"/>
                  <a:ea typeface="+mn-ea"/>
                  <a:cs typeface="+mn-cs"/>
                </a:rPr>
                <a:t xml:space="preserve"> — "끝났다"는 주장. 하네스가 확인한다</a:t>
              </a:r>
            </a:p>
          </p:txBody>
        </p:sp>
        <p:sp>
          <p:nvSpPr>
            <p:cNvPr id="46" name="TextBox 46"/>
            <p:cNvSpPr txBox="1"/>
            <p:nvPr/>
          </p:nvSpPr>
          <p:spPr>
            <a:xfrm>
              <a:off x="6242304" y="4861560"/>
              <a:ext cx="2839212" cy="234696"/>
            </a:xfrm>
            <a:prstGeom prst="rect">
              <a:avLst/>
            </a:prstGeom>
            <a:noFill/>
            <a:ln>
              <a:noFill/>
            </a:ln>
          </p:spPr>
          <p:txBody>
            <a:bodyPr wrap="none" lIns="0" tIns="0" rIns="0" bIns="0" anchor="t" anchorCtr="0">
              <a:spAutoFit/>
            </a:bodyPr>
            <a:lstStyle/>
            <a:p>
              <a:pPr algn="l"/>
              <a:r>
                <a:rPr lang="ko-KR" sz="1200" dirty="0">
                  <a:solidFill>
                    <a:schemeClr val="accent2"/>
                  </a:solidFill>
                  <a:latin typeface="Consolas"/>
                  <a:ea typeface="Consolas"/>
                  <a:cs typeface="Consolas"/>
                </a:rPr>
                <a:t>blocked</a:t>
              </a:r>
              <a:r>
                <a:rPr lang="ko-KR" sz="1200" dirty="0">
                  <a:solidFill>
                    <a:schemeClr val="dk1"/>
                  </a:solidFill>
                  <a:latin typeface="+mn-lt"/>
                  <a:ea typeface="+mn-ea"/>
                  <a:cs typeface="+mn-cs"/>
                </a:rPr>
                <a:t xml:space="preserve"> + 질문 — 결정이 필요해서 멈춤</a:t>
              </a:r>
            </a:p>
          </p:txBody>
        </p:sp>
        <p:sp>
          <p:nvSpPr>
            <p:cNvPr id="47" name="TextBox 47"/>
            <p:cNvSpPr txBox="1"/>
            <p:nvPr/>
          </p:nvSpPr>
          <p:spPr>
            <a:xfrm>
              <a:off x="6242304" y="5090160"/>
              <a:ext cx="2548433" cy="234696"/>
            </a:xfrm>
            <a:prstGeom prst="rect">
              <a:avLst/>
            </a:prstGeom>
            <a:noFill/>
            <a:ln>
              <a:noFill/>
            </a:ln>
          </p:spPr>
          <p:txBody>
            <a:bodyPr wrap="none" lIns="0" tIns="0" rIns="0" bIns="0" anchor="t" anchorCtr="0">
              <a:spAutoFit/>
            </a:bodyPr>
            <a:lstStyle/>
            <a:p>
              <a:pPr algn="l"/>
              <a:r>
                <a:rPr lang="ko-KR" sz="1200" dirty="0">
                  <a:solidFill>
                    <a:srgbClr val="FF6B6B"/>
                  </a:solidFill>
                  <a:latin typeface="Consolas"/>
                  <a:ea typeface="Consolas"/>
                  <a:cs typeface="Consolas"/>
                </a:rPr>
                <a:t>failed</a:t>
              </a:r>
              <a:r>
                <a:rPr lang="ko-KR" sz="1200" dirty="0">
                  <a:solidFill>
                    <a:schemeClr val="dk1"/>
                  </a:solidFill>
                  <a:latin typeface="+mn-lt"/>
                  <a:ea typeface="+mn-ea"/>
                  <a:cs typeface="+mn-cs"/>
                </a:rPr>
                <a:t xml:space="preserve"> + 요약 — 스스로 실패를 인정</a:t>
              </a:r>
            </a:p>
          </p:txBody>
        </p:sp>
        <p:sp>
          <p:nvSpPr>
            <p:cNvPr id="48" name="TextBox 48"/>
            <p:cNvSpPr txBox="1"/>
            <p:nvPr/>
          </p:nvSpPr>
          <p:spPr>
            <a:xfrm>
              <a:off x="6242304" y="5318760"/>
              <a:ext cx="2877312" cy="234696"/>
            </a:xfrm>
            <a:prstGeom prst="rect">
              <a:avLst/>
            </a:prstGeom>
            <a:noFill/>
            <a:ln>
              <a:noFill/>
            </a:ln>
          </p:spPr>
          <p:txBody>
            <a:bodyPr wrap="none" lIns="0" tIns="0" rIns="0" bIns="0" anchor="t" anchorCtr="0">
              <a:spAutoFit/>
            </a:bodyPr>
            <a:lstStyle/>
            <a:p>
              <a:pPr algn="l"/>
              <a:r>
                <a:rPr lang="ko-KR" sz="1200" dirty="0">
                  <a:solidFill>
                    <a:schemeClr val="dk1"/>
                  </a:solidFill>
                  <a:latin typeface="Consolas"/>
                  <a:ea typeface="Consolas"/>
                  <a:cs typeface="Consolas"/>
                </a:rPr>
                <a:t>commits</a:t>
              </a:r>
              <a:r>
                <a:rPr lang="ko-KR" sz="1200" dirty="0">
                  <a:solidFill>
                    <a:schemeClr val="dk1"/>
                  </a:solidFill>
                  <a:latin typeface="+mn-lt"/>
                  <a:ea typeface="+mn-ea"/>
                  <a:cs typeface="+mn-cs"/>
                </a:rPr>
                <a:t xml:space="preserve"> — 이번에 만든 커밋 SHA 목록</a:t>
              </a:r>
            </a:p>
          </p:txBody>
        </p:sp>
        <p:sp>
          <p:nvSpPr>
            <p:cNvPr id="49" name="TextBox 49"/>
            <p:cNvSpPr txBox="1"/>
            <p:nvPr/>
          </p:nvSpPr>
          <p:spPr>
            <a:xfrm>
              <a:off x="6242304" y="5547360"/>
              <a:ext cx="4397350" cy="234696"/>
            </a:xfrm>
            <a:prstGeom prst="rect">
              <a:avLst/>
            </a:prstGeom>
            <a:noFill/>
            <a:ln>
              <a:noFill/>
            </a:ln>
          </p:spPr>
          <p:txBody>
            <a:bodyPr wrap="none" lIns="0" tIns="0" rIns="0" bIns="0" anchor="t" anchorCtr="0">
              <a:spAutoFit/>
            </a:bodyPr>
            <a:lstStyle/>
            <a:p>
              <a:pPr algn="l"/>
              <a:r>
                <a:rPr lang="ko-KR" sz="1200" dirty="0">
                  <a:solidFill>
                    <a:schemeClr val="dk1"/>
                  </a:solidFill>
                  <a:latin typeface="Consolas"/>
                  <a:ea typeface="Consolas"/>
                  <a:cs typeface="Consolas"/>
                </a:rPr>
                <a:t>findings</a:t>
              </a:r>
              <a:r>
                <a:rPr lang="ko-KR" sz="1200" dirty="0">
                  <a:solidFill>
                    <a:schemeClr val="dk1"/>
                  </a:solidFill>
                  <a:latin typeface="+mn-lt"/>
                  <a:ea typeface="+mn-ea"/>
                  <a:cs typeface="+mn-cs"/>
                </a:rPr>
                <a:t xml:space="preserve"> — 범위 밖 발견: 버그 · 배운 것 · PLAN 수정 제안</a:t>
              </a:r>
            </a:p>
          </p:txBody>
        </p:sp>
      </p:grpSp>
      <p:grpSp>
        <p:nvGrpSpPr>
          <p:cNvPr id="57" name="Group 57"/>
          <p:cNvGrpSpPr/>
          <p:nvPr/>
        </p:nvGrpSpPr>
        <p:grpSpPr>
          <a:xfrm>
            <a:off x="638175" y="5943600"/>
            <a:ext cx="7851267" cy="448056"/>
            <a:chOff x="638175" y="5943600"/>
            <a:chExt cx="7851267" cy="448056"/>
          </a:xfrm>
        </p:grpSpPr>
        <p:grpSp>
          <p:nvGrpSpPr>
            <p:cNvPr id="55" name="Group 55"/>
            <p:cNvGrpSpPr/>
            <p:nvPr/>
          </p:nvGrpSpPr>
          <p:grpSpPr>
            <a:xfrm>
              <a:off x="638175" y="5943600"/>
              <a:ext cx="171450" cy="152400"/>
              <a:chOff x="638175" y="5943600"/>
              <a:chExt cx="171450" cy="152400"/>
            </a:xfrm>
          </p:grpSpPr>
          <p:sp>
            <p:nvSpPr>
              <p:cNvPr id="51" name="Freeform 51"/>
              <p:cNvSpPr/>
              <p:nvPr/>
            </p:nvSpPr>
            <p:spPr>
              <a:xfrm>
                <a:off x="638175" y="6019800"/>
                <a:ext cx="171450" cy="47625"/>
              </a:xfrm>
              <a:custGeom>
                <a:avLst/>
                <a:gdLst/>
                <a:ahLst/>
                <a:cxnLst/>
                <a:rect l="l" t="t" r="r" b="b"/>
                <a:pathLst>
                  <a:path w="171450" h="47625">
                    <a:moveTo>
                      <a:pt x="171450" y="47625"/>
                    </a:moveTo>
                    <a:lnTo>
                      <a:pt x="95250" y="47625"/>
                    </a:lnTo>
                    <a:lnTo>
                      <a:pt x="61912" y="0"/>
                    </a:lnTo>
                    <a:lnTo>
                      <a:pt x="0" y="0"/>
                    </a:lnTo>
                  </a:path>
                </a:pathLst>
              </a:custGeom>
              <a:noFill/>
              <a:ln w="19050">
                <a:solidFill>
                  <a:srgbClr val="9AA8BD"/>
                </a:solidFill>
              </a:ln>
            </p:spPr>
          </p:sp>
          <p:sp>
            <p:nvSpPr>
              <p:cNvPr id="52" name="Freeform 52"/>
              <p:cNvSpPr/>
              <p:nvPr/>
            </p:nvSpPr>
            <p:spPr>
              <a:xfrm>
                <a:off x="700135" y="5972175"/>
                <a:ext cx="109490" cy="47625"/>
              </a:xfrm>
              <a:custGeom>
                <a:avLst/>
                <a:gdLst/>
                <a:ahLst/>
                <a:cxnLst/>
                <a:rect l="l" t="t" r="r" b="b"/>
                <a:pathLst>
                  <a:path w="109490" h="47625">
                    <a:moveTo>
                      <a:pt x="109490" y="0"/>
                    </a:moveTo>
                    <a:lnTo>
                      <a:pt x="33290" y="0"/>
                    </a:lnTo>
                    <a:lnTo>
                      <a:pt x="0" y="47625"/>
                    </a:lnTo>
                  </a:path>
                </a:pathLst>
              </a:custGeom>
              <a:noFill/>
              <a:ln w="19050">
                <a:solidFill>
                  <a:srgbClr val="9AA8BD"/>
                </a:solidFill>
              </a:ln>
            </p:spPr>
          </p:sp>
          <p:sp>
            <p:nvSpPr>
              <p:cNvPr id="53" name="Freeform 53"/>
              <p:cNvSpPr/>
              <p:nvPr/>
            </p:nvSpPr>
            <p:spPr>
              <a:xfrm>
                <a:off x="781050" y="5943600"/>
                <a:ext cx="28575" cy="57150"/>
              </a:xfrm>
              <a:custGeom>
                <a:avLst/>
                <a:gdLst/>
                <a:ahLst/>
                <a:cxnLst/>
                <a:rect l="l" t="t" r="r" b="b"/>
                <a:pathLst>
                  <a:path w="28575" h="57150">
                    <a:moveTo>
                      <a:pt x="0" y="57150"/>
                    </a:moveTo>
                    <a:lnTo>
                      <a:pt x="28575" y="28575"/>
                    </a:lnTo>
                    <a:lnTo>
                      <a:pt x="0" y="0"/>
                    </a:lnTo>
                  </a:path>
                </a:pathLst>
              </a:custGeom>
              <a:noFill/>
              <a:ln w="19050">
                <a:solidFill>
                  <a:srgbClr val="9AA8BD"/>
                </a:solidFill>
              </a:ln>
            </p:spPr>
          </p:sp>
          <p:sp>
            <p:nvSpPr>
              <p:cNvPr id="54" name="Freeform 54"/>
              <p:cNvSpPr/>
              <p:nvPr/>
            </p:nvSpPr>
            <p:spPr>
              <a:xfrm>
                <a:off x="781050" y="6038850"/>
                <a:ext cx="28575" cy="57150"/>
              </a:xfrm>
              <a:custGeom>
                <a:avLst/>
                <a:gdLst/>
                <a:ahLst/>
                <a:cxnLst/>
                <a:rect l="l" t="t" r="r" b="b"/>
                <a:pathLst>
                  <a:path w="28575" h="57150">
                    <a:moveTo>
                      <a:pt x="0" y="57150"/>
                    </a:moveTo>
                    <a:lnTo>
                      <a:pt x="28575" y="28575"/>
                    </a:lnTo>
                    <a:lnTo>
                      <a:pt x="0" y="0"/>
                    </a:lnTo>
                  </a:path>
                </a:pathLst>
              </a:custGeom>
              <a:noFill/>
              <a:ln w="19050">
                <a:solidFill>
                  <a:srgbClr val="9AA8BD"/>
                </a:solidFill>
              </a:ln>
            </p:spPr>
          </p:sp>
        </p:grpSp>
        <p:sp>
          <p:nvSpPr>
            <p:cNvPr id="56" name="TextBox 56"/>
            <p:cNvSpPr txBox="1"/>
            <p:nvPr/>
          </p:nvSpPr>
          <p:spPr>
            <a:xfrm>
              <a:off x="908304" y="5947410"/>
              <a:ext cx="7581138" cy="444246"/>
            </a:xfrm>
            <a:prstGeom prst="rect">
              <a:avLst/>
            </a:prstGeom>
            <a:noFill/>
            <a:ln>
              <a:noFill/>
            </a:ln>
          </p:spPr>
          <p:txBody>
            <a:bodyPr wrap="none" lIns="0" tIns="0" rIns="0" bIns="0" anchor="t" anchorCtr="0">
              <a:spAutoFit/>
            </a:bodyPr>
            <a:lstStyle/>
            <a:p>
              <a:pPr algn="l">
                <a:lnSpc>
                  <a:spcPts val="1650"/>
                </a:lnSpc>
              </a:pPr>
              <a:r>
                <a:rPr lang="ko-KR" sz="1200" dirty="0">
                  <a:solidFill>
                    <a:schemeClr val="accent5"/>
                  </a:solidFill>
                  <a:latin typeface="+mn-lt"/>
                  <a:ea typeface="+mn-ea"/>
                  <a:cs typeface="+mn-cs"/>
                </a:rPr>
                <a:t xml:space="preserve">멈춰야 할까? · 결정이 없으면 못 끝낸다 → </a:t>
              </a:r>
              <a:r>
                <a:rPr lang="ko-KR" sz="1200" b="1" dirty="0">
                  <a:solidFill>
                    <a:schemeClr val="accent2"/>
                  </a:solidFill>
                  <a:latin typeface="+mn-lt"/>
                  <a:ea typeface="+mn-ea"/>
                  <a:cs typeface="+mn-cs"/>
                </a:rPr>
                <a:t>blocked (멈춤)</a:t>
              </a:r>
              <a:r>
                <a:rPr lang="ko-KR" sz="1200" dirty="0">
                  <a:solidFill>
                    <a:schemeClr val="accent5"/>
                  </a:solidFill>
                  <a:latin typeface="+mn-lt"/>
                  <a:ea typeface="+mn-ea"/>
                  <a:cs typeface="+mn-cs"/>
                </a:rPr>
                <a:t xml:space="preserve"> / 끝낼 수는 있는데 알릴 게 있다 → </a:t>
              </a:r>
              <a:r>
                <a:rPr lang="ko-KR" sz="1200" b="1" dirty="0">
                  <a:solidFill>
                    <a:schemeClr val="accent1"/>
                  </a:solidFill>
                  <a:latin typeface="+mn-lt"/>
                  <a:ea typeface="+mn-ea"/>
                  <a:cs typeface="+mn-cs"/>
                </a:rPr>
                <a:t>findings (계속)</a:t>
              </a:r>
              <a:br/>
              <a:r>
                <a:rPr lang="ko-KR" sz="1200" dirty="0">
                  <a:solidFill>
                    <a:schemeClr val="accent5"/>
                  </a:solidFill>
                  <a:latin typeface="+mn-lt"/>
                  <a:ea typeface="+mn-ea"/>
                  <a:cs typeface="+mn-cs"/>
                </a:rPr>
                <a:t>PLAN 은 AI 가 직접 고치지 않고 제안만 남긴다 — 아침에 fw report 로 모아 본다</a:t>
              </a:r>
            </a:p>
          </p:txBody>
        </p:sp>
      </p:grpSp>
      <p:grpSp>
        <p:nvGrpSpPr>
          <p:cNvPr id="60" name="Group 60"/>
          <p:cNvGrpSpPr/>
          <p:nvPr/>
        </p:nvGrpSpPr>
        <p:grpSpPr>
          <a:xfrm>
            <a:off x="604266" y="6516052"/>
            <a:ext cx="10983468" cy="205359"/>
            <a:chOff x="604266" y="6516052"/>
            <a:chExt cx="10983468" cy="205359"/>
          </a:xfrm>
        </p:grpSpPr>
        <p:sp>
          <p:nvSpPr>
            <p:cNvPr id="58" name="TextBox 58"/>
            <p:cNvSpPr txBox="1"/>
            <p:nvPr/>
          </p:nvSpPr>
          <p:spPr>
            <a:xfrm>
              <a:off x="604266" y="6516052"/>
              <a:ext cx="4475466"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feature-workflow · plugins/feature-workflow/README.md §4.4</a:t>
              </a:r>
            </a:p>
          </p:txBody>
        </p:sp>
        <p:sp>
          <p:nvSpPr>
            <p:cNvPr id="59" name="TextBox 59"/>
            <p:cNvSpPr txBox="1"/>
            <p:nvPr/>
          </p:nvSpPr>
          <p:spPr>
            <a:xfrm>
              <a:off x="11103540" y="65160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09 / 19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609600" y="1905000"/>
            <a:ext cx="7391400" cy="4000500"/>
          </a:xfrm>
          <a:custGeom>
            <a:avLst/>
            <a:gdLst/>
            <a:ahLst/>
            <a:cxnLst/>
            <a:rect l="l" t="t" r="r" b="b"/>
            <a:pathLst>
              <a:path w="7391400" h="4000500">
                <a:moveTo>
                  <a:pt x="152400" y="0"/>
                </a:moveTo>
                <a:lnTo>
                  <a:pt x="152400" y="4000500"/>
                </a:lnTo>
                <a:moveTo>
                  <a:pt x="914400" y="0"/>
                </a:moveTo>
                <a:lnTo>
                  <a:pt x="914400" y="4000500"/>
                </a:lnTo>
                <a:moveTo>
                  <a:pt x="1676400" y="0"/>
                </a:moveTo>
                <a:lnTo>
                  <a:pt x="1676400" y="4000500"/>
                </a:lnTo>
                <a:moveTo>
                  <a:pt x="2438400" y="0"/>
                </a:moveTo>
                <a:lnTo>
                  <a:pt x="2438400" y="4000500"/>
                </a:lnTo>
                <a:moveTo>
                  <a:pt x="3200400" y="0"/>
                </a:moveTo>
                <a:lnTo>
                  <a:pt x="3200400" y="4000500"/>
                </a:lnTo>
                <a:moveTo>
                  <a:pt x="3962400" y="0"/>
                </a:moveTo>
                <a:lnTo>
                  <a:pt x="3962400" y="4000500"/>
                </a:lnTo>
                <a:moveTo>
                  <a:pt x="4724400" y="0"/>
                </a:moveTo>
                <a:lnTo>
                  <a:pt x="4724400" y="4000500"/>
                </a:lnTo>
                <a:moveTo>
                  <a:pt x="5486400" y="0"/>
                </a:moveTo>
                <a:lnTo>
                  <a:pt x="5486400" y="4000500"/>
                </a:lnTo>
                <a:moveTo>
                  <a:pt x="6248400" y="0"/>
                </a:moveTo>
                <a:lnTo>
                  <a:pt x="6248400" y="4000500"/>
                </a:lnTo>
                <a:moveTo>
                  <a:pt x="7010400" y="0"/>
                </a:moveTo>
                <a:lnTo>
                  <a:pt x="7010400" y="4000500"/>
                </a:lnTo>
                <a:moveTo>
                  <a:pt x="0" y="381000"/>
                </a:moveTo>
                <a:lnTo>
                  <a:pt x="7391400" y="381000"/>
                </a:lnTo>
                <a:moveTo>
                  <a:pt x="0" y="1143000"/>
                </a:moveTo>
                <a:lnTo>
                  <a:pt x="7391400" y="1143000"/>
                </a:lnTo>
                <a:moveTo>
                  <a:pt x="0" y="1905000"/>
                </a:moveTo>
                <a:lnTo>
                  <a:pt x="7391400" y="1905000"/>
                </a:lnTo>
                <a:moveTo>
                  <a:pt x="0" y="2667000"/>
                </a:moveTo>
                <a:lnTo>
                  <a:pt x="7391400" y="2667000"/>
                </a:lnTo>
                <a:moveTo>
                  <a:pt x="0" y="3429000"/>
                </a:moveTo>
                <a:lnTo>
                  <a:pt x="7391400" y="3429000"/>
                </a:lnTo>
              </a:path>
            </a:pathLst>
          </a:custGeom>
          <a:noFill/>
          <a:ln w="9525">
            <a:solidFill>
              <a:srgbClr val="1B2740"/>
            </a:solidFill>
          </a:ln>
        </p:spPr>
      </p:sp>
      <p:grpSp>
        <p:nvGrpSpPr>
          <p:cNvPr id="4" name="Group 4"/>
          <p:cNvGrpSpPr/>
          <p:nvPr/>
        </p:nvGrpSpPr>
        <p:grpSpPr>
          <a:xfrm>
            <a:off x="601980" y="428625"/>
            <a:ext cx="4122420" cy="293370"/>
            <a:chOff x="601980" y="428625"/>
            <a:chExt cx="4122420" cy="293370"/>
          </a:xfrm>
        </p:grpSpPr>
        <p:sp>
          <p:nvSpPr>
            <p:cNvPr id="3" name="TextBox 3"/>
            <p:cNvSpPr txBox="1"/>
            <p:nvPr/>
          </p:nvSpPr>
          <p:spPr>
            <a:xfrm>
              <a:off x="601980" y="428625"/>
              <a:ext cx="4122420" cy="293370"/>
            </a:xfrm>
            <a:prstGeom prst="rect">
              <a:avLst/>
            </a:prstGeom>
            <a:noFill/>
            <a:ln>
              <a:noFill/>
            </a:ln>
          </p:spPr>
          <p:txBody>
            <a:bodyPr wrap="none" lIns="0" tIns="0" rIns="0" bIns="0" anchor="t" anchorCtr="0">
              <a:spAutoFit/>
            </a:bodyPr>
            <a:lstStyle/>
            <a:p>
              <a:pPr algn="l"/>
              <a:r>
                <a:rPr lang="ko-KR" sz="1500" spc="150" dirty="0">
                  <a:solidFill>
                    <a:schemeClr val="accent5"/>
                  </a:solidFill>
                  <a:latin typeface="Consolas"/>
                  <a:ea typeface="Microsoft YaHei"/>
                  <a:cs typeface="Consolas"/>
                </a:rPr>
                <a:t>PART 02 · 동작 원리 — BLOCKED 왕복</a:t>
              </a:r>
            </a:p>
          </p:txBody>
        </p:sp>
      </p:grpSp>
      <p:grpSp>
        <p:nvGrpSpPr>
          <p:cNvPr id="6" name="Group 6"/>
          <p:cNvGrpSpPr/>
          <p:nvPr/>
        </p:nvGrpSpPr>
        <p:grpSpPr>
          <a:xfrm>
            <a:off x="593598" y="822008"/>
            <a:ext cx="5610701" cy="1111377"/>
            <a:chOff x="593598" y="822008"/>
            <a:chExt cx="5610701" cy="1111377"/>
          </a:xfrm>
        </p:grpSpPr>
        <p:sp>
          <p:nvSpPr>
            <p:cNvPr id="5" name="TextBox 5"/>
            <p:cNvSpPr txBox="1"/>
            <p:nvPr/>
          </p:nvSpPr>
          <p:spPr>
            <a:xfrm>
              <a:off x="593598" y="822008"/>
              <a:ext cx="5610701" cy="1111377"/>
            </a:xfrm>
            <a:prstGeom prst="rect">
              <a:avLst/>
            </a:prstGeom>
            <a:noFill/>
            <a:ln>
              <a:noFill/>
            </a:ln>
          </p:spPr>
          <p:txBody>
            <a:bodyPr wrap="none" lIns="0" tIns="0" rIns="0" bIns="0" anchor="t" anchorCtr="0">
              <a:spAutoFit/>
            </a:bodyPr>
            <a:lstStyle/>
            <a:p>
              <a:pPr algn="l">
                <a:lnSpc>
                  <a:spcPts val="3900"/>
                </a:lnSpc>
              </a:pPr>
              <a:r>
                <a:rPr lang="ko-KR" sz="3150" b="1" dirty="0">
                  <a:solidFill>
                    <a:schemeClr val="dk1"/>
                  </a:solidFill>
                  <a:latin typeface="+mn-lt"/>
                  <a:ea typeface="+mn-ea"/>
                  <a:cs typeface="+mn-cs"/>
                </a:rPr>
                <a:t xml:space="preserve">모호하면 절충하지 않고 </a:t>
              </a:r>
              <a:r>
                <a:rPr lang="ko-KR" sz="3150" b="1" dirty="0">
                  <a:solidFill>
                    <a:schemeClr val="accent2"/>
                  </a:solidFill>
                  <a:latin typeface="+mn-lt"/>
                  <a:ea typeface="+mn-ea"/>
                  <a:cs typeface="+mn-cs"/>
                </a:rPr>
                <a:t>멈춘다</a:t>
              </a:r>
              <a:br/>
              <a:r>
                <a:rPr lang="ko-KR" sz="3150" b="1" dirty="0">
                  <a:solidFill>
                    <a:schemeClr val="dk1"/>
                  </a:solidFill>
                  <a:latin typeface="+mn-lt"/>
                  <a:ea typeface="+mn-ea"/>
                  <a:cs typeface="+mn-cs"/>
                </a:rPr>
                <a:t xml:space="preserve">답은 PLAN 에 </a:t>
              </a:r>
              <a:r>
                <a:rPr lang="ko-KR" sz="3150" b="1" dirty="0">
                  <a:solidFill>
                    <a:schemeClr val="accent1"/>
                  </a:solidFill>
                  <a:latin typeface="+mn-lt"/>
                  <a:ea typeface="+mn-ea"/>
                  <a:cs typeface="+mn-cs"/>
                </a:rPr>
                <a:t>결정</a:t>
              </a:r>
              <a:r>
                <a:rPr lang="ko-KR" sz="3150" b="1" dirty="0">
                  <a:solidFill>
                    <a:schemeClr val="dk1"/>
                  </a:solidFill>
                  <a:latin typeface="+mn-lt"/>
                  <a:ea typeface="+mn-ea"/>
                  <a:cs typeface="+mn-cs"/>
                </a:rPr>
                <a:t>으로 남는다</a:t>
              </a:r>
            </a:p>
          </p:txBody>
        </p:sp>
      </p:grpSp>
      <p:grpSp>
        <p:nvGrpSpPr>
          <p:cNvPr id="46" name="Group 46"/>
          <p:cNvGrpSpPr/>
          <p:nvPr/>
        </p:nvGrpSpPr>
        <p:grpSpPr>
          <a:xfrm>
            <a:off x="666750" y="1943100"/>
            <a:ext cx="7339584" cy="3924300"/>
            <a:chOff x="666750" y="1943100"/>
            <a:chExt cx="7339584" cy="3924300"/>
          </a:xfrm>
        </p:grpSpPr>
        <p:grpSp>
          <p:nvGrpSpPr>
            <p:cNvPr id="10" name="Group 10"/>
            <p:cNvGrpSpPr/>
            <p:nvPr/>
          </p:nvGrpSpPr>
          <p:grpSpPr>
            <a:xfrm>
              <a:off x="666750" y="1943100"/>
              <a:ext cx="1143000" cy="3924300"/>
              <a:chOff x="666750" y="1943100"/>
              <a:chExt cx="1143000" cy="3924300"/>
            </a:xfrm>
          </p:grpSpPr>
          <p:sp>
            <p:nvSpPr>
              <p:cNvPr id="7" name="Rectangle 7"/>
              <p:cNvSpPr/>
              <p:nvPr/>
            </p:nvSpPr>
            <p:spPr>
              <a:xfrm>
                <a:off x="666750" y="1943100"/>
                <a:ext cx="1143000" cy="304800"/>
              </a:xfrm>
              <a:prstGeom prst="roundRect">
                <a:avLst>
                  <a:gd name="adj" fmla="val 18750"/>
                </a:avLst>
              </a:prstGeom>
              <a:solidFill>
                <a:srgbClr val="182238"/>
              </a:solidFill>
              <a:ln w="19050">
                <a:solidFill>
                  <a:schemeClr val="accent2"/>
                </a:solidFill>
              </a:ln>
            </p:spPr>
          </p:sp>
          <p:sp>
            <p:nvSpPr>
              <p:cNvPr id="8" name="TextBox 8"/>
              <p:cNvSpPr txBox="1"/>
              <p:nvPr/>
            </p:nvSpPr>
            <p:spPr>
              <a:xfrm>
                <a:off x="1070610" y="2032635"/>
                <a:ext cx="335280" cy="234696"/>
              </a:xfrm>
              <a:prstGeom prst="rect">
                <a:avLst/>
              </a:prstGeom>
              <a:noFill/>
              <a:ln>
                <a:noFill/>
              </a:ln>
            </p:spPr>
            <p:txBody>
              <a:bodyPr wrap="none" lIns="0" tIns="0" rIns="0" bIns="0" anchor="t" anchorCtr="0">
                <a:spAutoFit/>
              </a:bodyPr>
              <a:lstStyle/>
              <a:p>
                <a:pPr algn="ctr"/>
                <a:r>
                  <a:rPr lang="ko-KR" sz="1200" b="1" dirty="0">
                    <a:solidFill>
                      <a:schemeClr val="accent2"/>
                    </a:solidFill>
                    <a:latin typeface="+mn-lt"/>
                    <a:ea typeface="+mn-ea"/>
                    <a:cs typeface="+mn-cs"/>
                  </a:rPr>
                  <a:t>사람</a:t>
                </a:r>
              </a:p>
            </p:txBody>
          </p:sp>
          <p:sp>
            <p:nvSpPr>
              <p:cNvPr id="9" name="Line 9"/>
              <p:cNvSpPr/>
              <p:nvPr/>
            </p:nvSpPr>
            <p:spPr>
              <a:xfrm>
                <a:off x="1238250" y="2247900"/>
                <a:ext cx="9525" cy="3619500"/>
              </a:xfrm>
              <a:custGeom>
                <a:avLst/>
                <a:gdLst/>
                <a:ahLst/>
                <a:cxnLst/>
                <a:rect l="l" t="t" r="r" b="b"/>
                <a:pathLst>
                  <a:path w="9525" h="3619500">
                    <a:moveTo>
                      <a:pt x="0" y="0"/>
                    </a:moveTo>
                    <a:lnTo>
                      <a:pt x="0" y="3619500"/>
                    </a:lnTo>
                  </a:path>
                </a:pathLst>
              </a:custGeom>
              <a:noFill/>
              <a:ln w="19050">
                <a:solidFill>
                  <a:schemeClr val="accent6"/>
                </a:solidFill>
                <a:prstDash val="dash"/>
              </a:ln>
            </p:spPr>
          </p:sp>
        </p:grpSp>
        <p:grpSp>
          <p:nvGrpSpPr>
            <p:cNvPr id="14" name="Group 14"/>
            <p:cNvGrpSpPr/>
            <p:nvPr/>
          </p:nvGrpSpPr>
          <p:grpSpPr>
            <a:xfrm>
              <a:off x="2762250" y="1943100"/>
              <a:ext cx="1143000" cy="3924300"/>
              <a:chOff x="2762250" y="1943100"/>
              <a:chExt cx="1143000" cy="3924300"/>
            </a:xfrm>
          </p:grpSpPr>
          <p:sp>
            <p:nvSpPr>
              <p:cNvPr id="11" name="Rectangle 11"/>
              <p:cNvSpPr/>
              <p:nvPr/>
            </p:nvSpPr>
            <p:spPr>
              <a:xfrm>
                <a:off x="2762250" y="1943100"/>
                <a:ext cx="1143000" cy="304800"/>
              </a:xfrm>
              <a:prstGeom prst="roundRect">
                <a:avLst>
                  <a:gd name="adj" fmla="val 18750"/>
                </a:avLst>
              </a:prstGeom>
              <a:solidFill>
                <a:srgbClr val="182238"/>
              </a:solidFill>
              <a:ln w="19050">
                <a:solidFill>
                  <a:schemeClr val="accent1"/>
                </a:solidFill>
              </a:ln>
            </p:spPr>
          </p:sp>
          <p:sp>
            <p:nvSpPr>
              <p:cNvPr id="12" name="TextBox 12"/>
              <p:cNvSpPr txBox="1"/>
              <p:nvPr/>
            </p:nvSpPr>
            <p:spPr>
              <a:xfrm>
                <a:off x="3052020" y="2032635"/>
                <a:ext cx="563461" cy="234696"/>
              </a:xfrm>
              <a:prstGeom prst="rect">
                <a:avLst/>
              </a:prstGeom>
              <a:noFill/>
              <a:ln>
                <a:noFill/>
              </a:ln>
            </p:spPr>
            <p:txBody>
              <a:bodyPr wrap="none" lIns="0" tIns="0" rIns="0" bIns="0" anchor="t" anchorCtr="0">
                <a:spAutoFit/>
              </a:bodyPr>
              <a:lstStyle/>
              <a:p>
                <a:pPr algn="ctr"/>
                <a:r>
                  <a:rPr lang="ko-KR" sz="1200" b="1" dirty="0">
                    <a:solidFill>
                      <a:schemeClr val="accent1"/>
                    </a:solidFill>
                    <a:latin typeface="Consolas"/>
                    <a:ea typeface="Consolas"/>
                    <a:cs typeface="Consolas"/>
                  </a:rPr>
                  <a:t>fw run</a:t>
                </a:r>
              </a:p>
            </p:txBody>
          </p:sp>
          <p:sp>
            <p:nvSpPr>
              <p:cNvPr id="13" name="Line 13"/>
              <p:cNvSpPr/>
              <p:nvPr/>
            </p:nvSpPr>
            <p:spPr>
              <a:xfrm>
                <a:off x="3333750" y="2247900"/>
                <a:ext cx="9525" cy="3619500"/>
              </a:xfrm>
              <a:custGeom>
                <a:avLst/>
                <a:gdLst/>
                <a:ahLst/>
                <a:cxnLst/>
                <a:rect l="l" t="t" r="r" b="b"/>
                <a:pathLst>
                  <a:path w="9525" h="3619500">
                    <a:moveTo>
                      <a:pt x="0" y="0"/>
                    </a:moveTo>
                    <a:lnTo>
                      <a:pt x="0" y="3619500"/>
                    </a:lnTo>
                  </a:path>
                </a:pathLst>
              </a:custGeom>
              <a:noFill/>
              <a:ln w="19050">
                <a:solidFill>
                  <a:schemeClr val="accent6"/>
                </a:solidFill>
                <a:prstDash val="dash"/>
              </a:ln>
            </p:spPr>
          </p:sp>
        </p:grpSp>
        <p:grpSp>
          <p:nvGrpSpPr>
            <p:cNvPr id="18" name="Group 18"/>
            <p:cNvGrpSpPr/>
            <p:nvPr/>
          </p:nvGrpSpPr>
          <p:grpSpPr>
            <a:xfrm>
              <a:off x="4857750" y="1943100"/>
              <a:ext cx="1143000" cy="3924300"/>
              <a:chOff x="4857750" y="1943100"/>
              <a:chExt cx="1143000" cy="3924300"/>
            </a:xfrm>
          </p:grpSpPr>
          <p:sp>
            <p:nvSpPr>
              <p:cNvPr id="15" name="Rectangle 15"/>
              <p:cNvSpPr/>
              <p:nvPr/>
            </p:nvSpPr>
            <p:spPr>
              <a:xfrm>
                <a:off x="4857750" y="1943100"/>
                <a:ext cx="1143000" cy="304800"/>
              </a:xfrm>
              <a:prstGeom prst="roundRect">
                <a:avLst>
                  <a:gd name="adj" fmla="val 18750"/>
                </a:avLst>
              </a:prstGeom>
              <a:solidFill>
                <a:srgbClr val="182238"/>
              </a:solidFill>
              <a:ln w="19050">
                <a:solidFill>
                  <a:srgbClr val="9AA8BD"/>
                </a:solidFill>
              </a:ln>
            </p:spPr>
          </p:sp>
          <p:sp>
            <p:nvSpPr>
              <p:cNvPr id="16" name="TextBox 16"/>
              <p:cNvSpPr txBox="1"/>
              <p:nvPr/>
            </p:nvSpPr>
            <p:spPr>
              <a:xfrm>
                <a:off x="5261610" y="2032635"/>
                <a:ext cx="335280" cy="234696"/>
              </a:xfrm>
              <a:prstGeom prst="rect">
                <a:avLst/>
              </a:prstGeom>
              <a:noFill/>
              <a:ln>
                <a:noFill/>
              </a:ln>
            </p:spPr>
            <p:txBody>
              <a:bodyPr wrap="none" lIns="0" tIns="0" rIns="0" bIns="0" anchor="t" anchorCtr="0">
                <a:spAutoFit/>
              </a:bodyPr>
              <a:lstStyle/>
              <a:p>
                <a:pPr algn="ctr"/>
                <a:r>
                  <a:rPr lang="ko-KR" sz="1200" b="1" dirty="0">
                    <a:solidFill>
                      <a:schemeClr val="dk1"/>
                    </a:solidFill>
                    <a:latin typeface="+mn-lt"/>
                    <a:ea typeface="+mn-ea"/>
                    <a:cs typeface="+mn-cs"/>
                  </a:rPr>
                  <a:t>세션</a:t>
                </a:r>
              </a:p>
            </p:txBody>
          </p:sp>
          <p:sp>
            <p:nvSpPr>
              <p:cNvPr id="17" name="Line 17"/>
              <p:cNvSpPr/>
              <p:nvPr/>
            </p:nvSpPr>
            <p:spPr>
              <a:xfrm>
                <a:off x="5429250" y="2247900"/>
                <a:ext cx="9525" cy="3619500"/>
              </a:xfrm>
              <a:custGeom>
                <a:avLst/>
                <a:gdLst/>
                <a:ahLst/>
                <a:cxnLst/>
                <a:rect l="l" t="t" r="r" b="b"/>
                <a:pathLst>
                  <a:path w="9525" h="3619500">
                    <a:moveTo>
                      <a:pt x="0" y="0"/>
                    </a:moveTo>
                    <a:lnTo>
                      <a:pt x="0" y="3619500"/>
                    </a:lnTo>
                  </a:path>
                </a:pathLst>
              </a:custGeom>
              <a:noFill/>
              <a:ln w="19050">
                <a:solidFill>
                  <a:schemeClr val="accent6"/>
                </a:solidFill>
                <a:prstDash val="dash"/>
              </a:ln>
            </p:spPr>
          </p:sp>
        </p:grpSp>
        <p:grpSp>
          <p:nvGrpSpPr>
            <p:cNvPr id="22" name="Group 22"/>
            <p:cNvGrpSpPr/>
            <p:nvPr/>
          </p:nvGrpSpPr>
          <p:grpSpPr>
            <a:xfrm>
              <a:off x="6762750" y="1943100"/>
              <a:ext cx="1143000" cy="3924300"/>
              <a:chOff x="6762750" y="1943100"/>
              <a:chExt cx="1143000" cy="3924300"/>
            </a:xfrm>
          </p:grpSpPr>
          <p:sp>
            <p:nvSpPr>
              <p:cNvPr id="19" name="Rectangle 19"/>
              <p:cNvSpPr/>
              <p:nvPr/>
            </p:nvSpPr>
            <p:spPr>
              <a:xfrm>
                <a:off x="6762750" y="1943100"/>
                <a:ext cx="1143000" cy="304800"/>
              </a:xfrm>
              <a:prstGeom prst="roundRect">
                <a:avLst>
                  <a:gd name="adj" fmla="val 18750"/>
                </a:avLst>
              </a:prstGeom>
              <a:solidFill>
                <a:srgbClr val="182238"/>
              </a:solidFill>
              <a:ln w="19050">
                <a:solidFill>
                  <a:srgbClr val="9AA8BD"/>
                </a:solidFill>
              </a:ln>
            </p:spPr>
          </p:sp>
          <p:sp>
            <p:nvSpPr>
              <p:cNvPr id="20" name="TextBox 20"/>
              <p:cNvSpPr txBox="1"/>
              <p:nvPr/>
            </p:nvSpPr>
            <p:spPr>
              <a:xfrm>
                <a:off x="6971709" y="2032635"/>
                <a:ext cx="725081" cy="234696"/>
              </a:xfrm>
              <a:prstGeom prst="rect">
                <a:avLst/>
              </a:prstGeom>
              <a:noFill/>
              <a:ln>
                <a:noFill/>
              </a:ln>
            </p:spPr>
            <p:txBody>
              <a:bodyPr wrap="none" lIns="0" tIns="0" rIns="0" bIns="0" anchor="t" anchorCtr="0">
                <a:spAutoFit/>
              </a:bodyPr>
              <a:lstStyle/>
              <a:p>
                <a:pPr algn="ctr"/>
                <a:r>
                  <a:rPr lang="ko-KR" sz="1200" b="1" dirty="0">
                    <a:solidFill>
                      <a:schemeClr val="dk1"/>
                    </a:solidFill>
                    <a:latin typeface="Consolas"/>
                    <a:ea typeface="Consolas"/>
                    <a:cs typeface="Consolas"/>
                  </a:rPr>
                  <a:t>PLAN.md</a:t>
                </a:r>
              </a:p>
            </p:txBody>
          </p:sp>
          <p:sp>
            <p:nvSpPr>
              <p:cNvPr id="21" name="Line 21"/>
              <p:cNvSpPr/>
              <p:nvPr/>
            </p:nvSpPr>
            <p:spPr>
              <a:xfrm>
                <a:off x="7334250" y="2247900"/>
                <a:ext cx="9525" cy="3619500"/>
              </a:xfrm>
              <a:custGeom>
                <a:avLst/>
                <a:gdLst/>
                <a:ahLst/>
                <a:cxnLst/>
                <a:rect l="l" t="t" r="r" b="b"/>
                <a:pathLst>
                  <a:path w="9525" h="3619500">
                    <a:moveTo>
                      <a:pt x="0" y="0"/>
                    </a:moveTo>
                    <a:lnTo>
                      <a:pt x="0" y="3619500"/>
                    </a:lnTo>
                  </a:path>
                </a:pathLst>
              </a:custGeom>
              <a:noFill/>
              <a:ln w="19050">
                <a:solidFill>
                  <a:schemeClr val="accent6"/>
                </a:solidFill>
                <a:prstDash val="dash"/>
              </a:ln>
            </p:spPr>
          </p:sp>
        </p:grpSp>
        <p:grpSp>
          <p:nvGrpSpPr>
            <p:cNvPr id="45" name="Group 45"/>
            <p:cNvGrpSpPr/>
            <p:nvPr/>
          </p:nvGrpSpPr>
          <p:grpSpPr>
            <a:xfrm>
              <a:off x="666750" y="2306002"/>
              <a:ext cx="7339584" cy="3424809"/>
              <a:chOff x="666750" y="2306002"/>
              <a:chExt cx="7339584" cy="3424809"/>
            </a:xfrm>
          </p:grpSpPr>
          <p:sp>
            <p:nvSpPr>
              <p:cNvPr id="23" name="Line 23"/>
              <p:cNvSpPr/>
              <p:nvPr/>
            </p:nvSpPr>
            <p:spPr>
              <a:xfrm>
                <a:off x="3333750" y="2495550"/>
                <a:ext cx="2076450" cy="1"/>
              </a:xfrm>
              <a:prstGeom prst="line">
                <a:avLst/>
              </a:prstGeom>
              <a:noFill/>
              <a:ln w="19050">
                <a:solidFill>
                  <a:schemeClr val="accent1"/>
                </a:solidFill>
                <a:tailEnd type="triangle" w="med" len="med"/>
              </a:ln>
            </p:spPr>
          </p:sp>
          <p:sp>
            <p:nvSpPr>
              <p:cNvPr id="24" name="TextBox 24"/>
              <p:cNvSpPr txBox="1"/>
              <p:nvPr/>
            </p:nvSpPr>
            <p:spPr>
              <a:xfrm>
                <a:off x="3954460" y="2306002"/>
                <a:ext cx="854080" cy="205359"/>
              </a:xfrm>
              <a:prstGeom prst="rect">
                <a:avLst/>
              </a:prstGeom>
              <a:noFill/>
              <a:ln>
                <a:noFill/>
              </a:ln>
            </p:spPr>
            <p:txBody>
              <a:bodyPr wrap="none" lIns="0" tIns="0" rIns="0" bIns="0" anchor="t" anchorCtr="0">
                <a:spAutoFit/>
              </a:bodyPr>
              <a:lstStyle/>
              <a:p>
                <a:pPr algn="ctr"/>
                <a:r>
                  <a:rPr lang="ko-KR" sz="1050" dirty="0">
                    <a:solidFill>
                      <a:schemeClr val="dk1"/>
                    </a:solidFill>
                    <a:latin typeface="+mn-lt"/>
                    <a:ea typeface="+mn-ea"/>
                    <a:cs typeface="+mn-cs"/>
                  </a:rPr>
                  <a:t>Phase 2 실행</a:t>
                </a:r>
              </a:p>
            </p:txBody>
          </p:sp>
          <p:sp>
            <p:nvSpPr>
              <p:cNvPr id="25" name="Line 25"/>
              <p:cNvSpPr/>
              <p:nvPr/>
            </p:nvSpPr>
            <p:spPr>
              <a:xfrm flipH="1">
                <a:off x="3352800" y="2800350"/>
                <a:ext cx="2076450" cy="1"/>
              </a:xfrm>
              <a:prstGeom prst="line">
                <a:avLst/>
              </a:prstGeom>
              <a:noFill/>
              <a:ln w="19050">
                <a:solidFill>
                  <a:srgbClr val="9AA8BD"/>
                </a:solidFill>
                <a:tailEnd type="triangle" w="med" len="med"/>
              </a:ln>
            </p:spPr>
          </p:sp>
          <p:sp>
            <p:nvSpPr>
              <p:cNvPr id="26" name="TextBox 26"/>
              <p:cNvSpPr txBox="1"/>
              <p:nvPr/>
            </p:nvSpPr>
            <p:spPr>
              <a:xfrm>
                <a:off x="3475053" y="2610802"/>
                <a:ext cx="1812893" cy="205359"/>
              </a:xfrm>
              <a:prstGeom prst="rect">
                <a:avLst/>
              </a:prstGeom>
              <a:noFill/>
              <a:ln>
                <a:noFill/>
              </a:ln>
            </p:spPr>
            <p:txBody>
              <a:bodyPr wrap="none" lIns="0" tIns="0" rIns="0" bIns="0" anchor="t" anchorCtr="0">
                <a:spAutoFit/>
              </a:bodyPr>
              <a:lstStyle/>
              <a:p>
                <a:pPr algn="ctr"/>
                <a:r>
                  <a:rPr lang="ko-KR" sz="1050" dirty="0">
                    <a:solidFill>
                      <a:schemeClr val="dk1"/>
                    </a:solidFill>
                    <a:latin typeface="+mn-lt"/>
                    <a:ea typeface="+mn-ea"/>
                    <a:cs typeface="+mn-cs"/>
                  </a:rPr>
                  <a:t>status=blocked + question</a:t>
                </a:r>
              </a:p>
            </p:txBody>
          </p:sp>
          <p:sp>
            <p:nvSpPr>
              <p:cNvPr id="27" name="Rectangle 27"/>
              <p:cNvSpPr/>
              <p:nvPr/>
            </p:nvSpPr>
            <p:spPr>
              <a:xfrm>
                <a:off x="2286000" y="2933700"/>
                <a:ext cx="2095500" cy="285750"/>
              </a:xfrm>
              <a:prstGeom prst="roundRect">
                <a:avLst>
                  <a:gd name="adj" fmla="val 13333"/>
                </a:avLst>
              </a:prstGeom>
              <a:solidFill>
                <a:schemeClr val="lt2"/>
              </a:solidFill>
              <a:ln w="9525">
                <a:solidFill>
                  <a:schemeClr val="accent1"/>
                </a:solidFill>
              </a:ln>
            </p:spPr>
          </p:sp>
          <p:sp>
            <p:nvSpPr>
              <p:cNvPr id="28" name="TextBox 28"/>
              <p:cNvSpPr txBox="1"/>
              <p:nvPr/>
            </p:nvSpPr>
            <p:spPr>
              <a:xfrm>
                <a:off x="2010318" y="3010852"/>
                <a:ext cx="2646864" cy="205359"/>
              </a:xfrm>
              <a:prstGeom prst="rect">
                <a:avLst/>
              </a:prstGeom>
              <a:noFill/>
              <a:ln>
                <a:noFill/>
              </a:ln>
            </p:spPr>
            <p:txBody>
              <a:bodyPr wrap="none" lIns="0" tIns="0" rIns="0" bIns="0" anchor="t" anchorCtr="0">
                <a:spAutoFit/>
              </a:bodyPr>
              <a:lstStyle/>
              <a:p>
                <a:pPr algn="ctr"/>
                <a:r>
                  <a:rPr lang="ko-KR" sz="1050" dirty="0">
                    <a:solidFill>
                      <a:schemeClr val="accent1"/>
                    </a:solidFill>
                    <a:latin typeface="+mn-lt"/>
                    <a:ea typeface="+mn-ea"/>
                    <a:cs typeface="+mn-cs"/>
                  </a:rPr>
                  <a:t>attempts 환불 · pending_question 기록</a:t>
                </a:r>
              </a:p>
            </p:txBody>
          </p:sp>
          <p:sp>
            <p:nvSpPr>
              <p:cNvPr id="29" name="Line 29"/>
              <p:cNvSpPr/>
              <p:nvPr/>
            </p:nvSpPr>
            <p:spPr>
              <a:xfrm flipH="1">
                <a:off x="1257300" y="3543300"/>
                <a:ext cx="2076450" cy="1"/>
              </a:xfrm>
              <a:prstGeom prst="line">
                <a:avLst/>
              </a:prstGeom>
              <a:noFill/>
              <a:ln w="19050">
                <a:solidFill>
                  <a:schemeClr val="accent2"/>
                </a:solidFill>
                <a:tailEnd type="triangle" w="med" len="med"/>
              </a:ln>
            </p:spPr>
          </p:sp>
          <p:sp>
            <p:nvSpPr>
              <p:cNvPr id="30" name="TextBox 30"/>
              <p:cNvSpPr txBox="1"/>
              <p:nvPr/>
            </p:nvSpPr>
            <p:spPr>
              <a:xfrm>
                <a:off x="1182529" y="3353752"/>
                <a:ext cx="2206942" cy="205359"/>
              </a:xfrm>
              <a:prstGeom prst="rect">
                <a:avLst/>
              </a:prstGeom>
              <a:noFill/>
              <a:ln>
                <a:noFill/>
              </a:ln>
            </p:spPr>
            <p:txBody>
              <a:bodyPr wrap="none" lIns="0" tIns="0" rIns="0" bIns="0" anchor="t" anchorCtr="0">
                <a:spAutoFit/>
              </a:bodyPr>
              <a:lstStyle/>
              <a:p>
                <a:pPr algn="ctr"/>
                <a:r>
                  <a:rPr lang="ko-KR" sz="1050" dirty="0">
                    <a:solidFill>
                      <a:schemeClr val="accent2"/>
                    </a:solidFill>
                    <a:latin typeface="+mn-lt"/>
                    <a:ea typeface="+mn-ea"/>
                    <a:cs typeface="+mn-cs"/>
                  </a:rPr>
                  <a:t>🔔 fw BLOCKED — 배너 + OS 알림</a:t>
                </a:r>
              </a:p>
            </p:txBody>
          </p:sp>
          <p:sp>
            <p:nvSpPr>
              <p:cNvPr id="31" name="Line 31"/>
              <p:cNvSpPr/>
              <p:nvPr/>
            </p:nvSpPr>
            <p:spPr>
              <a:xfrm>
                <a:off x="666750" y="3810000"/>
                <a:ext cx="7334250" cy="9525"/>
              </a:xfrm>
              <a:custGeom>
                <a:avLst/>
                <a:gdLst/>
                <a:ahLst/>
                <a:cxnLst/>
                <a:rect l="l" t="t" r="r" b="b"/>
                <a:pathLst>
                  <a:path w="7334250" h="9525">
                    <a:moveTo>
                      <a:pt x="0" y="0"/>
                    </a:moveTo>
                    <a:lnTo>
                      <a:pt x="7334250" y="0"/>
                    </a:lnTo>
                  </a:path>
                </a:pathLst>
              </a:custGeom>
              <a:noFill/>
              <a:ln w="9525">
                <a:solidFill>
                  <a:srgbClr val="9AA8BD"/>
                </a:solidFill>
                <a:prstDash val="lgDash"/>
              </a:ln>
            </p:spPr>
          </p:sp>
          <p:sp>
            <p:nvSpPr>
              <p:cNvPr id="32" name="TextBox 32"/>
              <p:cNvSpPr txBox="1"/>
              <p:nvPr/>
            </p:nvSpPr>
            <p:spPr>
              <a:xfrm>
                <a:off x="5741118" y="3639502"/>
                <a:ext cx="2265216"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프로세스 종료 (exit 1) — 사람 차례</a:t>
                </a:r>
              </a:p>
            </p:txBody>
          </p:sp>
          <p:sp>
            <p:nvSpPr>
              <p:cNvPr id="33" name="Line 33"/>
              <p:cNvSpPr/>
              <p:nvPr/>
            </p:nvSpPr>
            <p:spPr>
              <a:xfrm>
                <a:off x="1238250" y="4152900"/>
                <a:ext cx="2076450" cy="1"/>
              </a:xfrm>
              <a:prstGeom prst="line">
                <a:avLst/>
              </a:prstGeom>
              <a:noFill/>
              <a:ln w="19050">
                <a:solidFill>
                  <a:schemeClr val="accent2"/>
                </a:solidFill>
                <a:tailEnd type="triangle" w="med" len="med"/>
              </a:ln>
            </p:spPr>
          </p:sp>
          <p:sp>
            <p:nvSpPr>
              <p:cNvPr id="34" name="TextBox 34"/>
              <p:cNvSpPr txBox="1"/>
              <p:nvPr/>
            </p:nvSpPr>
            <p:spPr>
              <a:xfrm>
                <a:off x="1549175" y="3963352"/>
                <a:ext cx="1473651" cy="205359"/>
              </a:xfrm>
              <a:prstGeom prst="rect">
                <a:avLst/>
              </a:prstGeom>
              <a:noFill/>
              <a:ln>
                <a:noFill/>
              </a:ln>
            </p:spPr>
            <p:txBody>
              <a:bodyPr wrap="none" lIns="0" tIns="0" rIns="0" bIns="0" anchor="t" anchorCtr="0">
                <a:spAutoFit/>
              </a:bodyPr>
              <a:lstStyle/>
              <a:p>
                <a:pPr algn="ctr"/>
                <a:r>
                  <a:rPr lang="ko-KR" sz="1050" dirty="0">
                    <a:solidFill>
                      <a:schemeClr val="accent2"/>
                    </a:solidFill>
                    <a:latin typeface="Consolas"/>
                    <a:ea typeface="Microsoft YaHei"/>
                    <a:cs typeface="Consolas"/>
                  </a:rPr>
                  <a:t>fw status → 질문 확인</a:t>
                </a:r>
              </a:p>
            </p:txBody>
          </p:sp>
          <p:sp>
            <p:nvSpPr>
              <p:cNvPr id="35" name="Line 35"/>
              <p:cNvSpPr/>
              <p:nvPr/>
            </p:nvSpPr>
            <p:spPr>
              <a:xfrm>
                <a:off x="1238250" y="4457700"/>
                <a:ext cx="2076450" cy="1"/>
              </a:xfrm>
              <a:prstGeom prst="line">
                <a:avLst/>
              </a:prstGeom>
              <a:noFill/>
              <a:ln w="19050">
                <a:solidFill>
                  <a:schemeClr val="accent2"/>
                </a:solidFill>
                <a:tailEnd type="triangle" w="med" len="med"/>
              </a:ln>
            </p:spPr>
          </p:sp>
          <p:sp>
            <p:nvSpPr>
              <p:cNvPr id="36" name="TextBox 36"/>
              <p:cNvSpPr txBox="1"/>
              <p:nvPr/>
            </p:nvSpPr>
            <p:spPr>
              <a:xfrm>
                <a:off x="1413002" y="4268152"/>
                <a:ext cx="1745996" cy="205359"/>
              </a:xfrm>
              <a:prstGeom prst="rect">
                <a:avLst/>
              </a:prstGeom>
              <a:noFill/>
              <a:ln>
                <a:noFill/>
              </a:ln>
            </p:spPr>
            <p:txBody>
              <a:bodyPr wrap="none" lIns="0" tIns="0" rIns="0" bIns="0" anchor="t" anchorCtr="0">
                <a:spAutoFit/>
              </a:bodyPr>
              <a:lstStyle/>
              <a:p>
                <a:pPr algn="ctr"/>
                <a:r>
                  <a:rPr lang="ko-KR" sz="1050" dirty="0">
                    <a:solidFill>
                      <a:schemeClr val="accent2"/>
                    </a:solidFill>
                    <a:latin typeface="Consolas"/>
                    <a:ea typeface="Microsoft YaHei"/>
                    <a:cs typeface="Consolas"/>
                  </a:rPr>
                  <a:t>fw answer "D3 를 따른다"</a:t>
                </a:r>
              </a:p>
            </p:txBody>
          </p:sp>
          <p:sp>
            <p:nvSpPr>
              <p:cNvPr id="37" name="Line 37"/>
              <p:cNvSpPr/>
              <p:nvPr/>
            </p:nvSpPr>
            <p:spPr>
              <a:xfrm>
                <a:off x="3333750" y="4762500"/>
                <a:ext cx="3981450" cy="1"/>
              </a:xfrm>
              <a:prstGeom prst="line">
                <a:avLst/>
              </a:prstGeom>
              <a:noFill/>
              <a:ln w="19050">
                <a:solidFill>
                  <a:schemeClr val="accent1"/>
                </a:solidFill>
                <a:tailEnd type="triangle" w="med" len="med"/>
              </a:ln>
            </p:spPr>
          </p:sp>
          <p:sp>
            <p:nvSpPr>
              <p:cNvPr id="38" name="TextBox 38"/>
              <p:cNvSpPr txBox="1"/>
              <p:nvPr/>
            </p:nvSpPr>
            <p:spPr>
              <a:xfrm>
                <a:off x="3466367" y="4572952"/>
                <a:ext cx="3735267" cy="205359"/>
              </a:xfrm>
              <a:prstGeom prst="rect">
                <a:avLst/>
              </a:prstGeom>
              <a:noFill/>
              <a:ln>
                <a:noFill/>
              </a:ln>
            </p:spPr>
            <p:txBody>
              <a:bodyPr wrap="none" lIns="0" tIns="0" rIns="0" bIns="0" anchor="t" anchorCtr="0">
                <a:spAutoFit/>
              </a:bodyPr>
              <a:lstStyle/>
              <a:p>
                <a:pPr algn="ctr"/>
                <a:r>
                  <a:rPr lang="ko-KR" sz="1050" dirty="0">
                    <a:solidFill>
                      <a:schemeClr val="dk1"/>
                    </a:solidFill>
                    <a:latin typeface="+mn-lt"/>
                    <a:ea typeface="+mn-ea"/>
                    <a:cs typeface="+mn-cs"/>
                  </a:rPr>
                  <a:t>§핵심 결정 표에 새 행 append (--no-plan 으로 생략 가능)</a:t>
                </a:r>
              </a:p>
            </p:txBody>
          </p:sp>
          <p:sp>
            <p:nvSpPr>
              <p:cNvPr id="39" name="Rectangle 39"/>
              <p:cNvSpPr/>
              <p:nvPr/>
            </p:nvSpPr>
            <p:spPr>
              <a:xfrm>
                <a:off x="2286000" y="4895850"/>
                <a:ext cx="2095500" cy="285750"/>
              </a:xfrm>
              <a:prstGeom prst="roundRect">
                <a:avLst>
                  <a:gd name="adj" fmla="val 13333"/>
                </a:avLst>
              </a:prstGeom>
              <a:solidFill>
                <a:schemeClr val="lt2"/>
              </a:solidFill>
              <a:ln w="9525">
                <a:solidFill>
                  <a:schemeClr val="accent1"/>
                </a:solidFill>
              </a:ln>
            </p:spPr>
          </p:sp>
          <p:sp>
            <p:nvSpPr>
              <p:cNvPr id="40" name="TextBox 40"/>
              <p:cNvSpPr txBox="1"/>
              <p:nvPr/>
            </p:nvSpPr>
            <p:spPr>
              <a:xfrm>
                <a:off x="2194074" y="4973002"/>
                <a:ext cx="2279352" cy="205359"/>
              </a:xfrm>
              <a:prstGeom prst="rect">
                <a:avLst/>
              </a:prstGeom>
              <a:noFill/>
              <a:ln>
                <a:noFill/>
              </a:ln>
            </p:spPr>
            <p:txBody>
              <a:bodyPr wrap="none" lIns="0" tIns="0" rIns="0" bIns="0" anchor="t" anchorCtr="0">
                <a:spAutoFit/>
              </a:bodyPr>
              <a:lstStyle/>
              <a:p>
                <a:pPr algn="ctr"/>
                <a:r>
                  <a:rPr lang="ko-KR" sz="1050" dirty="0">
                    <a:solidFill>
                      <a:schemeClr val="accent1"/>
                    </a:solidFill>
                    <a:latin typeface="+mn-lt"/>
                    <a:ea typeface="+mn-ea"/>
                    <a:cs typeface="+mn-cs"/>
                  </a:rPr>
                  <a:t>answers[] 기록 · status=running</a:t>
                </a:r>
              </a:p>
            </p:txBody>
          </p:sp>
          <p:sp>
            <p:nvSpPr>
              <p:cNvPr id="41" name="Line 41"/>
              <p:cNvSpPr/>
              <p:nvPr/>
            </p:nvSpPr>
            <p:spPr>
              <a:xfrm>
                <a:off x="1238250" y="5410200"/>
                <a:ext cx="2076450" cy="1"/>
              </a:xfrm>
              <a:prstGeom prst="line">
                <a:avLst/>
              </a:prstGeom>
              <a:noFill/>
              <a:ln w="19050">
                <a:solidFill>
                  <a:schemeClr val="accent2"/>
                </a:solidFill>
                <a:tailEnd type="triangle" w="med" len="med"/>
              </a:ln>
            </p:spPr>
          </p:sp>
          <p:sp>
            <p:nvSpPr>
              <p:cNvPr id="42" name="TextBox 42"/>
              <p:cNvSpPr txBox="1"/>
              <p:nvPr/>
            </p:nvSpPr>
            <p:spPr>
              <a:xfrm>
                <a:off x="2050971" y="5220652"/>
                <a:ext cx="470059" cy="205359"/>
              </a:xfrm>
              <a:prstGeom prst="rect">
                <a:avLst/>
              </a:prstGeom>
              <a:noFill/>
              <a:ln>
                <a:noFill/>
              </a:ln>
            </p:spPr>
            <p:txBody>
              <a:bodyPr wrap="none" lIns="0" tIns="0" rIns="0" bIns="0" anchor="t" anchorCtr="0">
                <a:spAutoFit/>
              </a:bodyPr>
              <a:lstStyle/>
              <a:p>
                <a:pPr algn="ctr"/>
                <a:r>
                  <a:rPr lang="ko-KR" sz="1050" dirty="0">
                    <a:solidFill>
                      <a:schemeClr val="accent2"/>
                    </a:solidFill>
                    <a:latin typeface="Consolas"/>
                    <a:ea typeface="Consolas"/>
                    <a:cs typeface="Consolas"/>
                  </a:rPr>
                  <a:t>fw run</a:t>
                </a:r>
              </a:p>
            </p:txBody>
          </p:sp>
          <p:sp>
            <p:nvSpPr>
              <p:cNvPr id="43" name="Line 43"/>
              <p:cNvSpPr/>
              <p:nvPr/>
            </p:nvSpPr>
            <p:spPr>
              <a:xfrm>
                <a:off x="3333750" y="5715000"/>
                <a:ext cx="2076450" cy="1"/>
              </a:xfrm>
              <a:prstGeom prst="line">
                <a:avLst/>
              </a:prstGeom>
              <a:noFill/>
              <a:ln w="19050">
                <a:solidFill>
                  <a:schemeClr val="accent1"/>
                </a:solidFill>
                <a:tailEnd type="triangle" w="med" len="med"/>
              </a:ln>
            </p:spPr>
          </p:sp>
          <p:sp>
            <p:nvSpPr>
              <p:cNvPr id="44" name="TextBox 44"/>
              <p:cNvSpPr txBox="1"/>
              <p:nvPr/>
            </p:nvSpPr>
            <p:spPr>
              <a:xfrm>
                <a:off x="3114622" y="5525452"/>
                <a:ext cx="2533757" cy="205359"/>
              </a:xfrm>
              <a:prstGeom prst="rect">
                <a:avLst/>
              </a:prstGeom>
              <a:noFill/>
              <a:ln>
                <a:noFill/>
              </a:ln>
            </p:spPr>
            <p:txBody>
              <a:bodyPr wrap="none" lIns="0" tIns="0" rIns="0" bIns="0" anchor="t" anchorCtr="0">
                <a:spAutoFit/>
              </a:bodyPr>
              <a:lstStyle/>
              <a:p>
                <a:pPr algn="ctr"/>
                <a:r>
                  <a:rPr lang="ko-KR" sz="1050" dirty="0">
                    <a:solidFill>
                      <a:schemeClr val="dk1"/>
                    </a:solidFill>
                    <a:latin typeface="+mn-lt"/>
                    <a:ea typeface="+mn-ea"/>
                    <a:cs typeface="+mn-cs"/>
                  </a:rPr>
                  <a:t>Phase 2 재실행 — 답이 프롬프트에 주입</a:t>
                </a:r>
              </a:p>
            </p:txBody>
          </p:sp>
        </p:grpSp>
      </p:grpSp>
      <p:grpSp>
        <p:nvGrpSpPr>
          <p:cNvPr id="64" name="Group 64"/>
          <p:cNvGrpSpPr/>
          <p:nvPr/>
        </p:nvGrpSpPr>
        <p:grpSpPr>
          <a:xfrm>
            <a:off x="8191500" y="1905000"/>
            <a:ext cx="3390900" cy="4038600"/>
            <a:chOff x="8191500" y="1905000"/>
            <a:chExt cx="3390900" cy="4038600"/>
          </a:xfrm>
        </p:grpSpPr>
        <p:sp>
          <p:nvSpPr>
            <p:cNvPr id="47" name="Rectangle 47"/>
            <p:cNvSpPr/>
            <p:nvPr/>
          </p:nvSpPr>
          <p:spPr>
            <a:xfrm>
              <a:off x="8191500" y="1905000"/>
              <a:ext cx="3390900" cy="4038600"/>
            </a:xfrm>
            <a:prstGeom prst="roundRect">
              <a:avLst>
                <a:gd name="adj" fmla="val 1685"/>
              </a:avLst>
            </a:prstGeom>
            <a:solidFill>
              <a:schemeClr val="lt2">
                <a:alpha val="60000"/>
              </a:schemeClr>
            </a:solidFill>
            <a:ln w="19050">
              <a:solidFill>
                <a:schemeClr val="accent6"/>
              </a:solidFill>
            </a:ln>
          </p:spPr>
        </p:sp>
        <p:sp>
          <p:nvSpPr>
            <p:cNvPr id="48" name="TextBox 48"/>
            <p:cNvSpPr txBox="1"/>
            <p:nvPr/>
          </p:nvSpPr>
          <p:spPr>
            <a:xfrm>
              <a:off x="8338566" y="2039302"/>
              <a:ext cx="1470622" cy="205359"/>
            </a:xfrm>
            <a:prstGeom prst="rect">
              <a:avLst/>
            </a:prstGeom>
            <a:noFill/>
            <a:ln>
              <a:noFill/>
            </a:ln>
          </p:spPr>
          <p:txBody>
            <a:bodyPr wrap="none" lIns="0" tIns="0" rIns="0" bIns="0" anchor="t" anchorCtr="0">
              <a:spAutoFit/>
            </a:bodyPr>
            <a:lstStyle/>
            <a:p>
              <a:pPr algn="l"/>
              <a:r>
                <a:rPr lang="ko-KR" sz="1050" spc="150" dirty="0">
                  <a:solidFill>
                    <a:schemeClr val="accent5"/>
                  </a:solidFill>
                  <a:latin typeface="Consolas"/>
                  <a:ea typeface="Microsoft YaHei"/>
                  <a:cs typeface="Consolas"/>
                </a:rPr>
                <a:t>사람이 하는 세 명령</a:t>
              </a:r>
            </a:p>
          </p:txBody>
        </p:sp>
        <p:sp>
          <p:nvSpPr>
            <p:cNvPr id="49" name="Rectangle 49"/>
            <p:cNvSpPr/>
            <p:nvPr/>
          </p:nvSpPr>
          <p:spPr>
            <a:xfrm>
              <a:off x="8343900" y="2286000"/>
              <a:ext cx="3086100" cy="1866900"/>
            </a:xfrm>
            <a:prstGeom prst="roundRect">
              <a:avLst>
                <a:gd name="adj" fmla="val 2041"/>
              </a:avLst>
            </a:prstGeom>
            <a:solidFill>
              <a:schemeClr val="lt1"/>
            </a:solidFill>
            <a:ln w="9525">
              <a:solidFill>
                <a:schemeClr val="accent6"/>
              </a:solidFill>
            </a:ln>
          </p:spPr>
        </p:sp>
        <p:sp>
          <p:nvSpPr>
            <p:cNvPr id="50" name="TextBox 50"/>
            <p:cNvSpPr txBox="1"/>
            <p:nvPr/>
          </p:nvSpPr>
          <p:spPr>
            <a:xfrm>
              <a:off x="8469630" y="2371725"/>
              <a:ext cx="2387918" cy="293370"/>
            </a:xfrm>
            <a:prstGeom prst="rect">
              <a:avLst/>
            </a:prstGeom>
            <a:noFill/>
            <a:ln>
              <a:noFill/>
            </a:ln>
          </p:spPr>
          <p:txBody>
            <a:bodyPr wrap="none" lIns="0" tIns="0" rIns="0" bIns="0" anchor="t" anchorCtr="0">
              <a:spAutoFit/>
            </a:bodyPr>
            <a:lstStyle/>
            <a:p>
              <a:pPr algn="l"/>
              <a:r>
                <a:rPr lang="ko-KR" sz="1500" dirty="0">
                  <a:solidFill>
                    <a:schemeClr val="accent5"/>
                  </a:solidFill>
                  <a:latin typeface="Consolas"/>
                  <a:ea typeface="Consolas"/>
                  <a:cs typeface="Consolas"/>
                </a:rPr>
                <a:t>$</a:t>
              </a:r>
              <a:r>
                <a:rPr lang="ko-KR" sz="1500" dirty="0">
                  <a:solidFill>
                    <a:schemeClr val="dk1"/>
                  </a:solidFill>
                  <a:latin typeface="Consolas"/>
                  <a:ea typeface="Consolas"/>
                  <a:cs typeface="Consolas"/>
                </a:rPr>
                <a:t xml:space="preserve"> fw status my-feature</a:t>
              </a:r>
            </a:p>
          </p:txBody>
        </p:sp>
        <p:sp>
          <p:nvSpPr>
            <p:cNvPr id="51" name="TextBox 51"/>
            <p:cNvSpPr txBox="1"/>
            <p:nvPr/>
          </p:nvSpPr>
          <p:spPr>
            <a:xfrm>
              <a:off x="8469630" y="2619375"/>
              <a:ext cx="1369181" cy="293370"/>
            </a:xfrm>
            <a:prstGeom prst="rect">
              <a:avLst/>
            </a:prstGeom>
            <a:noFill/>
            <a:ln>
              <a:noFill/>
            </a:ln>
          </p:spPr>
          <p:txBody>
            <a:bodyPr wrap="none" lIns="0" tIns="0" rIns="0" bIns="0" anchor="t" anchorCtr="0">
              <a:spAutoFit/>
            </a:bodyPr>
            <a:lstStyle/>
            <a:p>
              <a:pPr algn="l"/>
              <a:r>
                <a:rPr lang="ko-KR" sz="1350" dirty="0">
                  <a:solidFill>
                    <a:schemeClr val="accent5"/>
                  </a:solidFill>
                  <a:latin typeface="Consolas"/>
                  <a:ea typeface="Microsoft YaHei"/>
                  <a:cs typeface="Consolas"/>
                </a:rPr>
                <a:t>↳ 질문 전문 출력</a:t>
              </a:r>
            </a:p>
          </p:txBody>
        </p:sp>
        <p:sp>
          <p:nvSpPr>
            <p:cNvPr id="52" name="TextBox 52"/>
            <p:cNvSpPr txBox="1"/>
            <p:nvPr/>
          </p:nvSpPr>
          <p:spPr>
            <a:xfrm>
              <a:off x="8469630" y="2943225"/>
              <a:ext cx="2428304" cy="293370"/>
            </a:xfrm>
            <a:prstGeom prst="rect">
              <a:avLst/>
            </a:prstGeom>
            <a:noFill/>
            <a:ln>
              <a:noFill/>
            </a:ln>
          </p:spPr>
          <p:txBody>
            <a:bodyPr wrap="none" lIns="0" tIns="0" rIns="0" bIns="0" anchor="t" anchorCtr="0">
              <a:spAutoFit/>
            </a:bodyPr>
            <a:lstStyle/>
            <a:p>
              <a:pPr algn="l"/>
              <a:r>
                <a:rPr lang="ko-KR" sz="1500" dirty="0">
                  <a:solidFill>
                    <a:schemeClr val="accent5"/>
                  </a:solidFill>
                  <a:latin typeface="Consolas"/>
                  <a:ea typeface="Consolas"/>
                  <a:cs typeface="Consolas"/>
                </a:rPr>
                <a:t>$</a:t>
              </a:r>
              <a:r>
                <a:rPr lang="ko-KR" sz="1500" dirty="0">
                  <a:solidFill>
                    <a:schemeClr val="dk1"/>
                  </a:solidFill>
                  <a:latin typeface="Consolas"/>
                  <a:ea typeface="Consolas"/>
                  <a:cs typeface="Consolas"/>
                </a:rPr>
                <a:t xml:space="preserve"> fw answer my-feature</a:t>
              </a:r>
            </a:p>
          </p:txBody>
        </p:sp>
        <p:sp>
          <p:nvSpPr>
            <p:cNvPr id="53" name="TextBox 53"/>
            <p:cNvSpPr txBox="1"/>
            <p:nvPr/>
          </p:nvSpPr>
          <p:spPr>
            <a:xfrm>
              <a:off x="8469630" y="3190875"/>
              <a:ext cx="1466088" cy="293370"/>
            </a:xfrm>
            <a:prstGeom prst="rect">
              <a:avLst/>
            </a:prstGeom>
            <a:noFill/>
            <a:ln>
              <a:noFill/>
            </a:ln>
          </p:spPr>
          <p:txBody>
            <a:bodyPr wrap="none" lIns="0" tIns="0" rIns="0" bIns="0" anchor="t" anchorCtr="0">
              <a:spAutoFit/>
            </a:bodyPr>
            <a:lstStyle/>
            <a:p>
              <a:pPr algn="l"/>
              <a:r>
                <a:rPr lang="ko-KR" sz="1500" dirty="0">
                  <a:solidFill>
                    <a:schemeClr val="accent2"/>
                  </a:solidFill>
                  <a:latin typeface="Consolas"/>
                  <a:ea typeface="Microsoft YaHei"/>
                  <a:cs typeface="Consolas"/>
                </a:rPr>
                <a:t>"D3 를 따른다"</a:t>
              </a:r>
            </a:p>
          </p:txBody>
        </p:sp>
        <p:sp>
          <p:nvSpPr>
            <p:cNvPr id="54" name="TextBox 54"/>
            <p:cNvSpPr txBox="1"/>
            <p:nvPr/>
          </p:nvSpPr>
          <p:spPr>
            <a:xfrm>
              <a:off x="8469630" y="3438525"/>
              <a:ext cx="2578418" cy="293370"/>
            </a:xfrm>
            <a:prstGeom prst="rect">
              <a:avLst/>
            </a:prstGeom>
            <a:noFill/>
            <a:ln>
              <a:noFill/>
            </a:ln>
          </p:spPr>
          <p:txBody>
            <a:bodyPr wrap="none" lIns="0" tIns="0" rIns="0" bIns="0" anchor="t" anchorCtr="0">
              <a:spAutoFit/>
            </a:bodyPr>
            <a:lstStyle/>
            <a:p>
              <a:pPr algn="l"/>
              <a:r>
                <a:rPr lang="ko-KR" sz="1350" dirty="0">
                  <a:solidFill>
                    <a:schemeClr val="accent5"/>
                  </a:solidFill>
                  <a:latin typeface="Consolas"/>
                  <a:ea typeface="Microsoft YaHei"/>
                  <a:cs typeface="Consolas"/>
                </a:rPr>
                <a:t>↳ PLAN §핵심 결정 D14 append</a:t>
              </a:r>
            </a:p>
          </p:txBody>
        </p:sp>
        <p:sp>
          <p:nvSpPr>
            <p:cNvPr id="55" name="TextBox 55"/>
            <p:cNvSpPr txBox="1"/>
            <p:nvPr/>
          </p:nvSpPr>
          <p:spPr>
            <a:xfrm>
              <a:off x="8469630" y="3762375"/>
              <a:ext cx="2054733" cy="293370"/>
            </a:xfrm>
            <a:prstGeom prst="rect">
              <a:avLst/>
            </a:prstGeom>
            <a:noFill/>
            <a:ln>
              <a:noFill/>
            </a:ln>
          </p:spPr>
          <p:txBody>
            <a:bodyPr wrap="none" lIns="0" tIns="0" rIns="0" bIns="0" anchor="t" anchorCtr="0">
              <a:spAutoFit/>
            </a:bodyPr>
            <a:lstStyle/>
            <a:p>
              <a:pPr algn="l"/>
              <a:r>
                <a:rPr lang="ko-KR" sz="1500" dirty="0">
                  <a:solidFill>
                    <a:schemeClr val="accent5"/>
                  </a:solidFill>
                  <a:latin typeface="Consolas"/>
                  <a:ea typeface="Consolas"/>
                  <a:cs typeface="Consolas"/>
                </a:rPr>
                <a:t>$</a:t>
              </a:r>
              <a:r>
                <a:rPr lang="ko-KR" sz="1500" dirty="0">
                  <a:solidFill>
                    <a:schemeClr val="dk1"/>
                  </a:solidFill>
                  <a:latin typeface="Consolas"/>
                  <a:ea typeface="Consolas"/>
                  <a:cs typeface="Consolas"/>
                </a:rPr>
                <a:t xml:space="preserve"> fw run my-feature</a:t>
              </a:r>
            </a:p>
          </p:txBody>
        </p:sp>
        <p:sp>
          <p:nvSpPr>
            <p:cNvPr id="56" name="TextBox 56"/>
            <p:cNvSpPr txBox="1"/>
            <p:nvPr/>
          </p:nvSpPr>
          <p:spPr>
            <a:xfrm>
              <a:off x="8469630" y="4010025"/>
              <a:ext cx="1550918" cy="293370"/>
            </a:xfrm>
            <a:prstGeom prst="rect">
              <a:avLst/>
            </a:prstGeom>
            <a:noFill/>
            <a:ln>
              <a:noFill/>
            </a:ln>
          </p:spPr>
          <p:txBody>
            <a:bodyPr wrap="none" lIns="0" tIns="0" rIns="0" bIns="0" anchor="t" anchorCtr="0">
              <a:spAutoFit/>
            </a:bodyPr>
            <a:lstStyle/>
            <a:p>
              <a:pPr algn="l"/>
              <a:r>
                <a:rPr lang="ko-KR" sz="1350" dirty="0">
                  <a:solidFill>
                    <a:schemeClr val="accent5"/>
                  </a:solidFill>
                  <a:latin typeface="Consolas"/>
                  <a:ea typeface="Microsoft YaHei"/>
                  <a:cs typeface="Consolas"/>
                </a:rPr>
                <a:t>↳ 답 주입된 재실행</a:t>
              </a:r>
            </a:p>
          </p:txBody>
        </p:sp>
        <p:grpSp>
          <p:nvGrpSpPr>
            <p:cNvPr id="60" name="Group 60"/>
            <p:cNvGrpSpPr/>
            <p:nvPr/>
          </p:nvGrpSpPr>
          <p:grpSpPr>
            <a:xfrm>
              <a:off x="8362721" y="4374118"/>
              <a:ext cx="182703" cy="188357"/>
              <a:chOff x="8362721" y="4374118"/>
              <a:chExt cx="182703" cy="188357"/>
            </a:xfrm>
          </p:grpSpPr>
          <p:sp>
            <p:nvSpPr>
              <p:cNvPr id="57" name="Freeform 57"/>
              <p:cNvSpPr/>
              <p:nvPr/>
            </p:nvSpPr>
            <p:spPr>
              <a:xfrm>
                <a:off x="8362721" y="4374118"/>
                <a:ext cx="181080" cy="162220"/>
              </a:xfrm>
              <a:custGeom>
                <a:avLst/>
                <a:gdLst/>
                <a:ahLst/>
                <a:cxnLst/>
                <a:rect l="l" t="t" r="r" b="b"/>
                <a:pathLst>
                  <a:path w="181080" h="162220">
                    <a:moveTo>
                      <a:pt x="124244" y="155210"/>
                    </a:moveTo>
                    <a:cubicBezTo>
                      <a:pt x="101946" y="162220"/>
                      <a:pt x="76619" y="160982"/>
                      <a:pt x="54521" y="150257"/>
                    </a:cubicBezTo>
                    <a:lnTo>
                      <a:pt x="9754" y="159782"/>
                    </a:lnTo>
                    <a:lnTo>
                      <a:pt x="22136" y="122634"/>
                    </a:lnTo>
                    <a:cubicBezTo>
                      <a:pt x="0" y="89897"/>
                      <a:pt x="8553" y="47654"/>
                      <a:pt x="42139" y="23822"/>
                    </a:cubicBezTo>
                    <a:cubicBezTo>
                      <a:pt x="75724" y="0"/>
                      <a:pt x="123958" y="1953"/>
                      <a:pt x="154962" y="28394"/>
                    </a:cubicBezTo>
                    <a:cubicBezTo>
                      <a:pt x="170669" y="41796"/>
                      <a:pt x="179489" y="59379"/>
                      <a:pt x="181080" y="77467"/>
                    </a:cubicBezTo>
                  </a:path>
                </a:pathLst>
              </a:custGeom>
              <a:noFill/>
              <a:ln w="19050">
                <a:solidFill>
                  <a:schemeClr val="accent2"/>
                </a:solidFill>
              </a:ln>
            </p:spPr>
          </p:sp>
          <p:sp>
            <p:nvSpPr>
              <p:cNvPr id="58" name="Freeform 58"/>
              <p:cNvSpPr/>
              <p:nvPr/>
            </p:nvSpPr>
            <p:spPr>
              <a:xfrm>
                <a:off x="8524875" y="4552950"/>
                <a:ext cx="9525" cy="9525"/>
              </a:xfrm>
              <a:custGeom>
                <a:avLst/>
                <a:gdLst/>
                <a:ahLst/>
                <a:cxnLst/>
                <a:rect l="l" t="t" r="r" b="b"/>
                <a:pathLst>
                  <a:path w="9525" h="9525">
                    <a:moveTo>
                      <a:pt x="0" y="0"/>
                    </a:moveTo>
                    <a:lnTo>
                      <a:pt x="0" y="95"/>
                    </a:lnTo>
                  </a:path>
                </a:pathLst>
              </a:custGeom>
              <a:noFill/>
              <a:ln w="19050">
                <a:solidFill>
                  <a:schemeClr val="accent2"/>
                </a:solidFill>
              </a:ln>
            </p:spPr>
          </p:sp>
          <p:sp>
            <p:nvSpPr>
              <p:cNvPr id="59" name="Freeform 59"/>
              <p:cNvSpPr/>
              <p:nvPr/>
            </p:nvSpPr>
            <p:spPr>
              <a:xfrm>
                <a:off x="8510588" y="4484355"/>
                <a:ext cx="34836" cy="40020"/>
              </a:xfrm>
              <a:custGeom>
                <a:avLst/>
                <a:gdLst/>
                <a:ahLst/>
                <a:cxnLst/>
                <a:rect l="l" t="t" r="r" b="b"/>
                <a:pathLst>
                  <a:path w="34836" h="40020">
                    <a:moveTo>
                      <a:pt x="14288" y="40020"/>
                    </a:moveTo>
                    <a:cubicBezTo>
                      <a:pt x="23075" y="39992"/>
                      <a:pt x="30707" y="33965"/>
                      <a:pt x="32771" y="25424"/>
                    </a:cubicBezTo>
                    <a:cubicBezTo>
                      <a:pt x="34836" y="16882"/>
                      <a:pt x="30798" y="8035"/>
                      <a:pt x="22993" y="3997"/>
                    </a:cubicBezTo>
                    <a:cubicBezTo>
                      <a:pt x="15191" y="0"/>
                      <a:pt x="5664" y="1906"/>
                      <a:pt x="0" y="8597"/>
                    </a:cubicBezTo>
                  </a:path>
                </a:pathLst>
              </a:custGeom>
              <a:noFill/>
              <a:ln w="19050">
                <a:solidFill>
                  <a:schemeClr val="accent2"/>
                </a:solidFill>
              </a:ln>
            </p:spPr>
          </p:sp>
        </p:grpSp>
        <p:sp>
          <p:nvSpPr>
            <p:cNvPr id="61" name="TextBox 61"/>
            <p:cNvSpPr txBox="1"/>
            <p:nvPr/>
          </p:nvSpPr>
          <p:spPr>
            <a:xfrm>
              <a:off x="8642604" y="4385310"/>
              <a:ext cx="547710" cy="234696"/>
            </a:xfrm>
            <a:prstGeom prst="rect">
              <a:avLst/>
            </a:prstGeom>
            <a:noFill/>
            <a:ln>
              <a:noFill/>
            </a:ln>
          </p:spPr>
          <p:txBody>
            <a:bodyPr wrap="none" lIns="0" tIns="0" rIns="0" bIns="0" anchor="t" anchorCtr="0">
              <a:spAutoFit/>
            </a:bodyPr>
            <a:lstStyle/>
            <a:p>
              <a:pPr algn="l"/>
              <a:r>
                <a:rPr lang="ko-KR" sz="1200" b="1" dirty="0">
                  <a:solidFill>
                    <a:schemeClr val="accent2"/>
                  </a:solidFill>
                  <a:latin typeface="+mn-lt"/>
                  <a:ea typeface="+mn-ea"/>
                  <a:cs typeface="+mn-cs"/>
                </a:rPr>
                <a:t>질문 예</a:t>
              </a:r>
            </a:p>
          </p:txBody>
        </p:sp>
        <p:sp>
          <p:nvSpPr>
            <p:cNvPr id="62" name="TextBox 62"/>
            <p:cNvSpPr txBox="1"/>
            <p:nvPr/>
          </p:nvSpPr>
          <p:spPr>
            <a:xfrm>
              <a:off x="8337804" y="4652010"/>
              <a:ext cx="2778252" cy="653796"/>
            </a:xfrm>
            <a:prstGeom prst="rect">
              <a:avLst/>
            </a:prstGeom>
            <a:noFill/>
            <a:ln>
              <a:noFill/>
            </a:ln>
          </p:spPr>
          <p:txBody>
            <a:bodyPr wrap="none" lIns="0" tIns="0" rIns="0" bIns="0" anchor="t" anchorCtr="0">
              <a:spAutoFit/>
            </a:bodyPr>
            <a:lstStyle/>
            <a:p>
              <a:pPr algn="l">
                <a:lnSpc>
                  <a:spcPts val="1650"/>
                </a:lnSpc>
              </a:pPr>
              <a:r>
                <a:rPr lang="ko-KR" sz="1200" i="1" dirty="0">
                  <a:solidFill>
                    <a:schemeClr val="accent5"/>
                  </a:solidFill>
                  <a:latin typeface="+mn-lt"/>
                  <a:ea typeface="+mn-ea"/>
                  <a:cs typeface="+mn-cs"/>
                </a:rPr>
                <a:t>"D3 는 캐시를 유지하라는데 기존 코드가</a:t>
              </a:r>
              <a:br/>
              <a:r>
                <a:rPr lang="ko-KR" sz="1200" i="1" dirty="0">
                  <a:solidFill>
                    <a:schemeClr val="accent5"/>
                  </a:solidFill>
                  <a:latin typeface="+mn-lt"/>
                  <a:ea typeface="+mn-ea"/>
                  <a:cs typeface="+mn-cs"/>
                </a:rPr>
                <a:t>매 요청마다 무효화합니다.</a:t>
              </a:r>
              <a:br/>
              <a:r>
                <a:rPr lang="ko-KR" sz="1200" i="1" dirty="0">
                  <a:solidFill>
                    <a:schemeClr val="accent5"/>
                  </a:solidFill>
                  <a:latin typeface="+mn-lt"/>
                  <a:ea typeface="+mn-ea"/>
                  <a:cs typeface="+mn-cs"/>
                </a:rPr>
                <a:t>어느 쪽을 따릅니까?"</a:t>
              </a:r>
            </a:p>
          </p:txBody>
        </p:sp>
        <p:sp>
          <p:nvSpPr>
            <p:cNvPr id="63" name="TextBox 63"/>
            <p:cNvSpPr txBox="1"/>
            <p:nvPr/>
          </p:nvSpPr>
          <p:spPr>
            <a:xfrm>
              <a:off x="8337804" y="5490210"/>
              <a:ext cx="2526792" cy="444246"/>
            </a:xfrm>
            <a:prstGeom prst="rect">
              <a:avLst/>
            </a:prstGeom>
            <a:noFill/>
            <a:ln>
              <a:noFill/>
            </a:ln>
          </p:spPr>
          <p:txBody>
            <a:bodyPr wrap="none" lIns="0" tIns="0" rIns="0" bIns="0" anchor="t" anchorCtr="0">
              <a:spAutoFit/>
            </a:bodyPr>
            <a:lstStyle/>
            <a:p>
              <a:pPr algn="l">
                <a:lnSpc>
                  <a:spcPts val="1650"/>
                </a:lnSpc>
              </a:pPr>
              <a:r>
                <a:rPr lang="ko-KR" sz="1200" dirty="0">
                  <a:solidFill>
                    <a:schemeClr val="dk1"/>
                  </a:solidFill>
                  <a:latin typeface="+mn-lt"/>
                  <a:ea typeface="+mn-ea"/>
                  <a:cs typeface="+mn-cs"/>
                </a:rPr>
                <a:t>유인의 "불확실하면 묻는다"가</a:t>
              </a:r>
              <a:br/>
              <a:r>
                <a:rPr lang="ko-KR" sz="1200" dirty="0">
                  <a:solidFill>
                    <a:schemeClr val="dk1"/>
                  </a:solidFill>
                  <a:latin typeface="+mn-lt"/>
                  <a:ea typeface="+mn-ea"/>
                  <a:cs typeface="+mn-cs"/>
                </a:rPr>
                <a:t xml:space="preserve">무인에선 </a:t>
              </a:r>
              <a:r>
                <a:rPr lang="ko-KR" sz="1200" dirty="0">
                  <a:solidFill>
                    <a:schemeClr val="accent2"/>
                  </a:solidFill>
                  <a:latin typeface="Consolas"/>
                  <a:ea typeface="Consolas"/>
                  <a:cs typeface="Consolas"/>
                </a:rPr>
                <a:t>blocked</a:t>
              </a:r>
              <a:r>
                <a:rPr lang="ko-KR" sz="1200" dirty="0">
                  <a:solidFill>
                    <a:schemeClr val="dk1"/>
                  </a:solidFill>
                  <a:latin typeface="+mn-lt"/>
                  <a:ea typeface="+mn-ea"/>
                  <a:cs typeface="+mn-cs"/>
                </a:rPr>
                <a:t xml:space="preserve"> 반환으로 치환된다</a:t>
              </a:r>
            </a:p>
          </p:txBody>
        </p:sp>
      </p:grpSp>
      <p:grpSp>
        <p:nvGrpSpPr>
          <p:cNvPr id="66" name="Group 66"/>
          <p:cNvGrpSpPr/>
          <p:nvPr/>
        </p:nvGrpSpPr>
        <p:grpSpPr>
          <a:xfrm>
            <a:off x="602742" y="6102668"/>
            <a:ext cx="9394020" cy="264033"/>
            <a:chOff x="602742" y="6102668"/>
            <a:chExt cx="9394020" cy="264033"/>
          </a:xfrm>
        </p:grpSpPr>
        <p:sp>
          <p:nvSpPr>
            <p:cNvPr id="65" name="TextBox 65"/>
            <p:cNvSpPr txBox="1"/>
            <p:nvPr/>
          </p:nvSpPr>
          <p:spPr>
            <a:xfrm>
              <a:off x="602742" y="6102668"/>
              <a:ext cx="9394020"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 xml:space="preserve">원칙 · 임의 결정·절충은 유인/무인 모두 금지. 답은 PLAN 에 자동 기록되어 이후 </a:t>
              </a:r>
              <a:r>
                <a:rPr lang="ko-KR" sz="1350" b="1" dirty="0">
                  <a:solidFill>
                    <a:schemeClr val="dk1"/>
                  </a:solidFill>
                  <a:latin typeface="+mn-lt"/>
                  <a:ea typeface="+mn-ea"/>
                  <a:cs typeface="+mn-cs"/>
                </a:rPr>
                <a:t>모든 세션이 그 결정을 받는다</a:t>
              </a:r>
            </a:p>
          </p:txBody>
        </p:sp>
      </p:grpSp>
      <p:grpSp>
        <p:nvGrpSpPr>
          <p:cNvPr id="69" name="Group 69"/>
          <p:cNvGrpSpPr/>
          <p:nvPr/>
        </p:nvGrpSpPr>
        <p:grpSpPr>
          <a:xfrm>
            <a:off x="604266" y="6516052"/>
            <a:ext cx="10983468" cy="205359"/>
            <a:chOff x="604266" y="6516052"/>
            <a:chExt cx="10983468" cy="205359"/>
          </a:xfrm>
        </p:grpSpPr>
        <p:sp>
          <p:nvSpPr>
            <p:cNvPr id="67" name="TextBox 67"/>
            <p:cNvSpPr txBox="1"/>
            <p:nvPr/>
          </p:nvSpPr>
          <p:spPr>
            <a:xfrm>
              <a:off x="604266" y="6516052"/>
              <a:ext cx="4475466"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feature-workflow · plugins/feature-workflow/README.md §4.5</a:t>
              </a:r>
            </a:p>
          </p:txBody>
        </p:sp>
        <p:sp>
          <p:nvSpPr>
            <p:cNvPr id="68" name="TextBox 68"/>
            <p:cNvSpPr txBox="1"/>
            <p:nvPr/>
          </p:nvSpPr>
          <p:spPr>
            <a:xfrm>
              <a:off x="11103540" y="65160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10 / 19</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609600" y="1905000"/>
            <a:ext cx="10972800" cy="3238500"/>
          </a:xfrm>
          <a:custGeom>
            <a:avLst/>
            <a:gdLst/>
            <a:ahLst/>
            <a:cxnLst/>
            <a:rect l="l" t="t" r="r" b="b"/>
            <a:pathLst>
              <a:path w="10972800" h="3238500">
                <a:moveTo>
                  <a:pt x="152400" y="0"/>
                </a:moveTo>
                <a:lnTo>
                  <a:pt x="152400" y="3238500"/>
                </a:lnTo>
                <a:moveTo>
                  <a:pt x="914400" y="0"/>
                </a:moveTo>
                <a:lnTo>
                  <a:pt x="914400" y="3238500"/>
                </a:lnTo>
                <a:moveTo>
                  <a:pt x="1676400" y="0"/>
                </a:moveTo>
                <a:lnTo>
                  <a:pt x="1676400" y="3238500"/>
                </a:lnTo>
                <a:moveTo>
                  <a:pt x="2438400" y="0"/>
                </a:moveTo>
                <a:lnTo>
                  <a:pt x="2438400" y="3238500"/>
                </a:lnTo>
                <a:moveTo>
                  <a:pt x="3200400" y="0"/>
                </a:moveTo>
                <a:lnTo>
                  <a:pt x="3200400" y="3238500"/>
                </a:lnTo>
                <a:moveTo>
                  <a:pt x="3962400" y="0"/>
                </a:moveTo>
                <a:lnTo>
                  <a:pt x="3962400" y="3238500"/>
                </a:lnTo>
                <a:moveTo>
                  <a:pt x="4724400" y="0"/>
                </a:moveTo>
                <a:lnTo>
                  <a:pt x="4724400" y="3238500"/>
                </a:lnTo>
                <a:moveTo>
                  <a:pt x="5486400" y="0"/>
                </a:moveTo>
                <a:lnTo>
                  <a:pt x="5486400" y="3238500"/>
                </a:lnTo>
                <a:moveTo>
                  <a:pt x="6248400" y="0"/>
                </a:moveTo>
                <a:lnTo>
                  <a:pt x="6248400" y="3238500"/>
                </a:lnTo>
                <a:moveTo>
                  <a:pt x="7010400" y="0"/>
                </a:moveTo>
                <a:lnTo>
                  <a:pt x="7010400" y="3238500"/>
                </a:lnTo>
                <a:moveTo>
                  <a:pt x="7772400" y="0"/>
                </a:moveTo>
                <a:lnTo>
                  <a:pt x="7772400" y="3238500"/>
                </a:lnTo>
                <a:moveTo>
                  <a:pt x="8534400" y="0"/>
                </a:moveTo>
                <a:lnTo>
                  <a:pt x="8534400" y="3238500"/>
                </a:lnTo>
                <a:moveTo>
                  <a:pt x="9296400" y="0"/>
                </a:moveTo>
                <a:lnTo>
                  <a:pt x="9296400" y="3238500"/>
                </a:lnTo>
                <a:moveTo>
                  <a:pt x="10058400" y="0"/>
                </a:moveTo>
                <a:lnTo>
                  <a:pt x="10058400" y="3238500"/>
                </a:lnTo>
                <a:moveTo>
                  <a:pt x="10820400" y="0"/>
                </a:moveTo>
                <a:lnTo>
                  <a:pt x="10820400" y="3238500"/>
                </a:lnTo>
                <a:moveTo>
                  <a:pt x="0" y="381000"/>
                </a:moveTo>
                <a:lnTo>
                  <a:pt x="10972800" y="381000"/>
                </a:lnTo>
                <a:moveTo>
                  <a:pt x="0" y="1143000"/>
                </a:moveTo>
                <a:lnTo>
                  <a:pt x="10972800" y="1143000"/>
                </a:lnTo>
                <a:moveTo>
                  <a:pt x="0" y="1905000"/>
                </a:moveTo>
                <a:lnTo>
                  <a:pt x="10972800" y="1905000"/>
                </a:lnTo>
                <a:moveTo>
                  <a:pt x="0" y="2667000"/>
                </a:moveTo>
                <a:lnTo>
                  <a:pt x="10972800" y="2667000"/>
                </a:lnTo>
              </a:path>
            </a:pathLst>
          </a:custGeom>
          <a:noFill/>
          <a:ln w="9525">
            <a:solidFill>
              <a:srgbClr val="1B2740"/>
            </a:solidFill>
          </a:ln>
        </p:spPr>
      </p:sp>
      <p:grpSp>
        <p:nvGrpSpPr>
          <p:cNvPr id="4" name="Group 4"/>
          <p:cNvGrpSpPr/>
          <p:nvPr/>
        </p:nvGrpSpPr>
        <p:grpSpPr>
          <a:xfrm>
            <a:off x="601980" y="428625"/>
            <a:ext cx="3386328" cy="293370"/>
            <a:chOff x="601980" y="428625"/>
            <a:chExt cx="3386328" cy="293370"/>
          </a:xfrm>
        </p:grpSpPr>
        <p:sp>
          <p:nvSpPr>
            <p:cNvPr id="3" name="TextBox 3"/>
            <p:cNvSpPr txBox="1"/>
            <p:nvPr/>
          </p:nvSpPr>
          <p:spPr>
            <a:xfrm>
              <a:off x="601980" y="428625"/>
              <a:ext cx="3386328" cy="293370"/>
            </a:xfrm>
            <a:prstGeom prst="rect">
              <a:avLst/>
            </a:prstGeom>
            <a:noFill/>
            <a:ln>
              <a:noFill/>
            </a:ln>
          </p:spPr>
          <p:txBody>
            <a:bodyPr wrap="none" lIns="0" tIns="0" rIns="0" bIns="0" anchor="t" anchorCtr="0">
              <a:spAutoFit/>
            </a:bodyPr>
            <a:lstStyle/>
            <a:p>
              <a:pPr algn="l"/>
              <a:r>
                <a:rPr lang="ko-KR" sz="1500" spc="150" dirty="0">
                  <a:solidFill>
                    <a:schemeClr val="accent5"/>
                  </a:solidFill>
                  <a:latin typeface="Consolas"/>
                  <a:ea typeface="Microsoft YaHei"/>
                  <a:cs typeface="Consolas"/>
                </a:rPr>
                <a:t>PART 02 · 동작 원리 — PR 모드</a:t>
              </a:r>
            </a:p>
          </p:txBody>
        </p:sp>
      </p:grpSp>
      <p:grpSp>
        <p:nvGrpSpPr>
          <p:cNvPr id="6" name="Group 6"/>
          <p:cNvGrpSpPr/>
          <p:nvPr/>
        </p:nvGrpSpPr>
        <p:grpSpPr>
          <a:xfrm>
            <a:off x="593598" y="822008"/>
            <a:ext cx="6662833" cy="1111377"/>
            <a:chOff x="593598" y="822008"/>
            <a:chExt cx="6662833" cy="1111377"/>
          </a:xfrm>
        </p:grpSpPr>
        <p:sp>
          <p:nvSpPr>
            <p:cNvPr id="5" name="TextBox 5"/>
            <p:cNvSpPr txBox="1"/>
            <p:nvPr/>
          </p:nvSpPr>
          <p:spPr>
            <a:xfrm>
              <a:off x="593598" y="822008"/>
              <a:ext cx="6662833" cy="1111377"/>
            </a:xfrm>
            <a:prstGeom prst="rect">
              <a:avLst/>
            </a:prstGeom>
            <a:noFill/>
            <a:ln>
              <a:noFill/>
            </a:ln>
          </p:spPr>
          <p:txBody>
            <a:bodyPr wrap="none" lIns="0" tIns="0" rIns="0" bIns="0" anchor="t" anchorCtr="0">
              <a:spAutoFit/>
            </a:bodyPr>
            <a:lstStyle/>
            <a:p>
              <a:pPr algn="l">
                <a:lnSpc>
                  <a:spcPts val="3900"/>
                </a:lnSpc>
              </a:pPr>
              <a:r>
                <a:rPr lang="ko-KR" sz="3150" b="1" dirty="0">
                  <a:solidFill>
                    <a:schemeClr val="dk1"/>
                  </a:solidFill>
                  <a:latin typeface="+mn-lt"/>
                  <a:ea typeface="+mn-ea"/>
                  <a:cs typeface="+mn-cs"/>
                </a:rPr>
                <a:t xml:space="preserve">리뷰 코멘트는 </a:t>
              </a:r>
              <a:r>
                <a:rPr lang="ko-KR" sz="3150" b="1" dirty="0">
                  <a:solidFill>
                    <a:schemeClr val="accent2"/>
                  </a:solidFill>
                  <a:latin typeface="+mn-lt"/>
                  <a:ea typeface="+mn-ea"/>
                  <a:cs typeface="+mn-cs"/>
                </a:rPr>
                <a:t>신뢰 경계 밖</a:t>
              </a:r>
              <a:r>
                <a:rPr lang="ko-KR" sz="3150" b="1" dirty="0">
                  <a:solidFill>
                    <a:schemeClr val="dk1"/>
                  </a:solidFill>
                  <a:latin typeface="+mn-lt"/>
                  <a:ea typeface="+mn-ea"/>
                  <a:cs typeface="+mn-cs"/>
                </a:rPr>
                <a:t xml:space="preserve"> 입력이다</a:t>
              </a:r>
              <a:br/>
              <a:r>
                <a:rPr lang="ko-KR" sz="3150" b="1" dirty="0">
                  <a:solidFill>
                    <a:schemeClr val="dk1"/>
                  </a:solidFill>
                  <a:latin typeface="+mn-lt"/>
                  <a:ea typeface="+mn-ea"/>
                  <a:cs typeface="+mn-cs"/>
                </a:rPr>
                <a:t>마커·작성자·머지 권한으로 잠근다</a:t>
              </a:r>
            </a:p>
          </p:txBody>
        </p:sp>
      </p:grpSp>
      <p:grpSp>
        <p:nvGrpSpPr>
          <p:cNvPr id="50" name="Group 50"/>
          <p:cNvGrpSpPr/>
          <p:nvPr/>
        </p:nvGrpSpPr>
        <p:grpSpPr>
          <a:xfrm>
            <a:off x="857250" y="1943100"/>
            <a:ext cx="10668000" cy="3235261"/>
            <a:chOff x="857250" y="1943100"/>
            <a:chExt cx="10668000" cy="3235261"/>
          </a:xfrm>
        </p:grpSpPr>
        <p:grpSp>
          <p:nvGrpSpPr>
            <p:cNvPr id="10" name="Group 10"/>
            <p:cNvGrpSpPr/>
            <p:nvPr/>
          </p:nvGrpSpPr>
          <p:grpSpPr>
            <a:xfrm>
              <a:off x="952500" y="1943100"/>
              <a:ext cx="1524000" cy="3162300"/>
              <a:chOff x="952500" y="1943100"/>
              <a:chExt cx="1524000" cy="3162300"/>
            </a:xfrm>
          </p:grpSpPr>
          <p:sp>
            <p:nvSpPr>
              <p:cNvPr id="7" name="Rectangle 7"/>
              <p:cNvSpPr/>
              <p:nvPr/>
            </p:nvSpPr>
            <p:spPr>
              <a:xfrm>
                <a:off x="952500" y="1943100"/>
                <a:ext cx="1524000" cy="304800"/>
              </a:xfrm>
              <a:prstGeom prst="roundRect">
                <a:avLst>
                  <a:gd name="adj" fmla="val 18750"/>
                </a:avLst>
              </a:prstGeom>
              <a:solidFill>
                <a:srgbClr val="182238"/>
              </a:solidFill>
              <a:ln w="19050">
                <a:solidFill>
                  <a:schemeClr val="accent1"/>
                </a:solidFill>
              </a:ln>
            </p:spPr>
          </p:sp>
          <p:sp>
            <p:nvSpPr>
              <p:cNvPr id="8" name="TextBox 8"/>
              <p:cNvSpPr txBox="1"/>
              <p:nvPr/>
            </p:nvSpPr>
            <p:spPr>
              <a:xfrm>
                <a:off x="1432770" y="2032635"/>
                <a:ext cx="563461" cy="234696"/>
              </a:xfrm>
              <a:prstGeom prst="rect">
                <a:avLst/>
              </a:prstGeom>
              <a:noFill/>
              <a:ln>
                <a:noFill/>
              </a:ln>
            </p:spPr>
            <p:txBody>
              <a:bodyPr wrap="none" lIns="0" tIns="0" rIns="0" bIns="0" anchor="t" anchorCtr="0">
                <a:spAutoFit/>
              </a:bodyPr>
              <a:lstStyle/>
              <a:p>
                <a:pPr algn="ctr"/>
                <a:r>
                  <a:rPr lang="ko-KR" sz="1200" b="1" dirty="0">
                    <a:solidFill>
                      <a:schemeClr val="accent1"/>
                    </a:solidFill>
                    <a:latin typeface="Consolas"/>
                    <a:ea typeface="Consolas"/>
                    <a:cs typeface="Consolas"/>
                  </a:rPr>
                  <a:t>fw run</a:t>
                </a:r>
              </a:p>
            </p:txBody>
          </p:sp>
          <p:sp>
            <p:nvSpPr>
              <p:cNvPr id="9" name="Line 9"/>
              <p:cNvSpPr/>
              <p:nvPr/>
            </p:nvSpPr>
            <p:spPr>
              <a:xfrm>
                <a:off x="1714500" y="2247900"/>
                <a:ext cx="9525" cy="2857500"/>
              </a:xfrm>
              <a:custGeom>
                <a:avLst/>
                <a:gdLst/>
                <a:ahLst/>
                <a:cxnLst/>
                <a:rect l="l" t="t" r="r" b="b"/>
                <a:pathLst>
                  <a:path w="9525" h="2857500">
                    <a:moveTo>
                      <a:pt x="0" y="0"/>
                    </a:moveTo>
                    <a:lnTo>
                      <a:pt x="0" y="2857500"/>
                    </a:lnTo>
                  </a:path>
                </a:pathLst>
              </a:custGeom>
              <a:noFill/>
              <a:ln w="19050">
                <a:solidFill>
                  <a:schemeClr val="accent6"/>
                </a:solidFill>
                <a:prstDash val="dash"/>
              </a:ln>
            </p:spPr>
          </p:sp>
        </p:grpSp>
        <p:grpSp>
          <p:nvGrpSpPr>
            <p:cNvPr id="14" name="Group 14"/>
            <p:cNvGrpSpPr/>
            <p:nvPr/>
          </p:nvGrpSpPr>
          <p:grpSpPr>
            <a:xfrm>
              <a:off x="4000500" y="1943100"/>
              <a:ext cx="1524000" cy="3162300"/>
              <a:chOff x="4000500" y="1943100"/>
              <a:chExt cx="1524000" cy="3162300"/>
            </a:xfrm>
          </p:grpSpPr>
          <p:sp>
            <p:nvSpPr>
              <p:cNvPr id="11" name="Rectangle 11"/>
              <p:cNvSpPr/>
              <p:nvPr/>
            </p:nvSpPr>
            <p:spPr>
              <a:xfrm>
                <a:off x="4000500" y="1943100"/>
                <a:ext cx="1524000" cy="304800"/>
              </a:xfrm>
              <a:prstGeom prst="roundRect">
                <a:avLst>
                  <a:gd name="adj" fmla="val 18750"/>
                </a:avLst>
              </a:prstGeom>
              <a:solidFill>
                <a:srgbClr val="182238"/>
              </a:solidFill>
              <a:ln w="19050">
                <a:solidFill>
                  <a:srgbClr val="9AA8BD"/>
                </a:solidFill>
              </a:ln>
            </p:spPr>
          </p:sp>
          <p:sp>
            <p:nvSpPr>
              <p:cNvPr id="12" name="TextBox 12"/>
              <p:cNvSpPr txBox="1"/>
              <p:nvPr/>
            </p:nvSpPr>
            <p:spPr>
              <a:xfrm>
                <a:off x="4244660" y="2032635"/>
                <a:ext cx="1035680" cy="234696"/>
              </a:xfrm>
              <a:prstGeom prst="rect">
                <a:avLst/>
              </a:prstGeom>
              <a:noFill/>
              <a:ln>
                <a:noFill/>
              </a:ln>
            </p:spPr>
            <p:txBody>
              <a:bodyPr wrap="none" lIns="0" tIns="0" rIns="0" bIns="0" anchor="t" anchorCtr="0">
                <a:spAutoFit/>
              </a:bodyPr>
              <a:lstStyle/>
              <a:p>
                <a:pPr algn="ctr"/>
                <a:r>
                  <a:rPr lang="ko-KR" sz="1200" b="1" dirty="0">
                    <a:solidFill>
                      <a:schemeClr val="dk1"/>
                    </a:solidFill>
                    <a:latin typeface="+mn-lt"/>
                    <a:ea typeface="+mn-ea"/>
                    <a:cs typeface="+mn-cs"/>
                  </a:rPr>
                  <a:t>GitHub / GHE</a:t>
                </a:r>
              </a:p>
            </p:txBody>
          </p:sp>
          <p:sp>
            <p:nvSpPr>
              <p:cNvPr id="13" name="Line 13"/>
              <p:cNvSpPr/>
              <p:nvPr/>
            </p:nvSpPr>
            <p:spPr>
              <a:xfrm>
                <a:off x="4762500" y="2247900"/>
                <a:ext cx="9525" cy="2857500"/>
              </a:xfrm>
              <a:custGeom>
                <a:avLst/>
                <a:gdLst/>
                <a:ahLst/>
                <a:cxnLst/>
                <a:rect l="l" t="t" r="r" b="b"/>
                <a:pathLst>
                  <a:path w="9525" h="2857500">
                    <a:moveTo>
                      <a:pt x="0" y="0"/>
                    </a:moveTo>
                    <a:lnTo>
                      <a:pt x="0" y="2857500"/>
                    </a:lnTo>
                  </a:path>
                </a:pathLst>
              </a:custGeom>
              <a:noFill/>
              <a:ln w="19050">
                <a:solidFill>
                  <a:schemeClr val="accent6"/>
                </a:solidFill>
                <a:prstDash val="dash"/>
              </a:ln>
            </p:spPr>
          </p:sp>
        </p:grpSp>
        <p:grpSp>
          <p:nvGrpSpPr>
            <p:cNvPr id="18" name="Group 18"/>
            <p:cNvGrpSpPr/>
            <p:nvPr/>
          </p:nvGrpSpPr>
          <p:grpSpPr>
            <a:xfrm>
              <a:off x="7048500" y="1943100"/>
              <a:ext cx="1524000" cy="3162300"/>
              <a:chOff x="7048500" y="1943100"/>
              <a:chExt cx="1524000" cy="3162300"/>
            </a:xfrm>
          </p:grpSpPr>
          <p:sp>
            <p:nvSpPr>
              <p:cNvPr id="15" name="Rectangle 15"/>
              <p:cNvSpPr/>
              <p:nvPr/>
            </p:nvSpPr>
            <p:spPr>
              <a:xfrm>
                <a:off x="7048500" y="1943100"/>
                <a:ext cx="1524000" cy="304800"/>
              </a:xfrm>
              <a:prstGeom prst="roundRect">
                <a:avLst>
                  <a:gd name="adj" fmla="val 18750"/>
                </a:avLst>
              </a:prstGeom>
              <a:solidFill>
                <a:srgbClr val="182238"/>
              </a:solidFill>
              <a:ln w="19050">
                <a:solidFill>
                  <a:schemeClr val="accent2"/>
                </a:solidFill>
              </a:ln>
            </p:spPr>
          </p:sp>
          <p:sp>
            <p:nvSpPr>
              <p:cNvPr id="16" name="TextBox 16"/>
              <p:cNvSpPr txBox="1"/>
              <p:nvPr/>
            </p:nvSpPr>
            <p:spPr>
              <a:xfrm>
                <a:off x="7281809" y="2032635"/>
                <a:ext cx="1057382" cy="234696"/>
              </a:xfrm>
              <a:prstGeom prst="rect">
                <a:avLst/>
              </a:prstGeom>
              <a:noFill/>
              <a:ln>
                <a:noFill/>
              </a:ln>
            </p:spPr>
            <p:txBody>
              <a:bodyPr wrap="none" lIns="0" tIns="0" rIns="0" bIns="0" anchor="t" anchorCtr="0">
                <a:spAutoFit/>
              </a:bodyPr>
              <a:lstStyle/>
              <a:p>
                <a:pPr algn="ctr"/>
                <a:r>
                  <a:rPr lang="ko-KR" sz="1200" b="1" dirty="0">
                    <a:solidFill>
                      <a:schemeClr val="accent2"/>
                    </a:solidFill>
                    <a:latin typeface="+mn-lt"/>
                    <a:ea typeface="+mn-ea"/>
                    <a:cs typeface="+mn-cs"/>
                  </a:rPr>
                  <a:t>리뷰어 (사람)</a:t>
                </a:r>
              </a:p>
            </p:txBody>
          </p:sp>
          <p:sp>
            <p:nvSpPr>
              <p:cNvPr id="17" name="Line 17"/>
              <p:cNvSpPr/>
              <p:nvPr/>
            </p:nvSpPr>
            <p:spPr>
              <a:xfrm>
                <a:off x="7810500" y="2247900"/>
                <a:ext cx="9525" cy="2857500"/>
              </a:xfrm>
              <a:custGeom>
                <a:avLst/>
                <a:gdLst/>
                <a:ahLst/>
                <a:cxnLst/>
                <a:rect l="l" t="t" r="r" b="b"/>
                <a:pathLst>
                  <a:path w="9525" h="2857500">
                    <a:moveTo>
                      <a:pt x="0" y="0"/>
                    </a:moveTo>
                    <a:lnTo>
                      <a:pt x="0" y="2857500"/>
                    </a:lnTo>
                  </a:path>
                </a:pathLst>
              </a:custGeom>
              <a:noFill/>
              <a:ln w="19050">
                <a:solidFill>
                  <a:schemeClr val="accent6"/>
                </a:solidFill>
                <a:prstDash val="dash"/>
              </a:ln>
            </p:spPr>
          </p:sp>
        </p:grpSp>
        <p:grpSp>
          <p:nvGrpSpPr>
            <p:cNvPr id="22" name="Group 22"/>
            <p:cNvGrpSpPr/>
            <p:nvPr/>
          </p:nvGrpSpPr>
          <p:grpSpPr>
            <a:xfrm>
              <a:off x="9906000" y="1943100"/>
              <a:ext cx="1524000" cy="3162300"/>
              <a:chOff x="9906000" y="1943100"/>
              <a:chExt cx="1524000" cy="3162300"/>
            </a:xfrm>
          </p:grpSpPr>
          <p:sp>
            <p:nvSpPr>
              <p:cNvPr id="19" name="Rectangle 19"/>
              <p:cNvSpPr/>
              <p:nvPr/>
            </p:nvSpPr>
            <p:spPr>
              <a:xfrm>
                <a:off x="9906000" y="1943100"/>
                <a:ext cx="1524000" cy="304800"/>
              </a:xfrm>
              <a:prstGeom prst="roundRect">
                <a:avLst>
                  <a:gd name="adj" fmla="val 18750"/>
                </a:avLst>
              </a:prstGeom>
              <a:solidFill>
                <a:srgbClr val="182238"/>
              </a:solidFill>
              <a:ln w="19050">
                <a:solidFill>
                  <a:srgbClr val="9AA8BD"/>
                </a:solidFill>
              </a:ln>
            </p:spPr>
          </p:sp>
          <p:sp>
            <p:nvSpPr>
              <p:cNvPr id="20" name="TextBox 20"/>
              <p:cNvSpPr txBox="1"/>
              <p:nvPr/>
            </p:nvSpPr>
            <p:spPr>
              <a:xfrm>
                <a:off x="10356182" y="2032635"/>
                <a:ext cx="623636" cy="234696"/>
              </a:xfrm>
              <a:prstGeom prst="rect">
                <a:avLst/>
              </a:prstGeom>
              <a:noFill/>
              <a:ln>
                <a:noFill/>
              </a:ln>
            </p:spPr>
            <p:txBody>
              <a:bodyPr wrap="none" lIns="0" tIns="0" rIns="0" bIns="0" anchor="t" anchorCtr="0">
                <a:spAutoFit/>
              </a:bodyPr>
              <a:lstStyle/>
              <a:p>
                <a:pPr algn="ctr"/>
                <a:r>
                  <a:rPr lang="ko-KR" sz="1200" b="1" dirty="0">
                    <a:solidFill>
                      <a:schemeClr val="dk1"/>
                    </a:solidFill>
                    <a:latin typeface="+mn-lt"/>
                    <a:ea typeface="+mn-ea"/>
                    <a:cs typeface="+mn-cs"/>
                  </a:rPr>
                  <a:t>fix 세션</a:t>
                </a:r>
              </a:p>
            </p:txBody>
          </p:sp>
          <p:sp>
            <p:nvSpPr>
              <p:cNvPr id="21" name="Line 21"/>
              <p:cNvSpPr/>
              <p:nvPr/>
            </p:nvSpPr>
            <p:spPr>
              <a:xfrm>
                <a:off x="10668000" y="2247900"/>
                <a:ext cx="9525" cy="2857500"/>
              </a:xfrm>
              <a:custGeom>
                <a:avLst/>
                <a:gdLst/>
                <a:ahLst/>
                <a:cxnLst/>
                <a:rect l="l" t="t" r="r" b="b"/>
                <a:pathLst>
                  <a:path w="9525" h="2857500">
                    <a:moveTo>
                      <a:pt x="0" y="0"/>
                    </a:moveTo>
                    <a:lnTo>
                      <a:pt x="0" y="2857500"/>
                    </a:lnTo>
                  </a:path>
                </a:pathLst>
              </a:custGeom>
              <a:noFill/>
              <a:ln w="19050">
                <a:solidFill>
                  <a:schemeClr val="accent6"/>
                </a:solidFill>
                <a:prstDash val="dash"/>
              </a:ln>
            </p:spPr>
          </p:sp>
        </p:grpSp>
        <p:grpSp>
          <p:nvGrpSpPr>
            <p:cNvPr id="25" name="Group 25"/>
            <p:cNvGrpSpPr/>
            <p:nvPr/>
          </p:nvGrpSpPr>
          <p:grpSpPr>
            <a:xfrm>
              <a:off x="857250" y="2705100"/>
              <a:ext cx="10668000" cy="1428750"/>
              <a:chOff x="857250" y="2705100"/>
              <a:chExt cx="10668000" cy="1428750"/>
            </a:xfrm>
          </p:grpSpPr>
          <p:sp>
            <p:nvSpPr>
              <p:cNvPr id="23" name="Rectangle 23"/>
              <p:cNvSpPr/>
              <p:nvPr/>
            </p:nvSpPr>
            <p:spPr>
              <a:xfrm>
                <a:off x="857250" y="2705100"/>
                <a:ext cx="10668000" cy="1428750"/>
              </a:xfrm>
              <a:prstGeom prst="roundRect">
                <a:avLst>
                  <a:gd name="adj" fmla="val 2667"/>
                </a:avLst>
              </a:prstGeom>
              <a:noFill/>
              <a:ln w="9525">
                <a:solidFill>
                  <a:schemeClr val="accent1"/>
                </a:solidFill>
                <a:prstDash val="lgDash"/>
              </a:ln>
            </p:spPr>
          </p:sp>
          <p:sp>
            <p:nvSpPr>
              <p:cNvPr id="24" name="TextBox 24"/>
              <p:cNvSpPr txBox="1"/>
              <p:nvPr/>
            </p:nvSpPr>
            <p:spPr>
              <a:xfrm>
                <a:off x="947166" y="2744152"/>
                <a:ext cx="2399500" cy="205359"/>
              </a:xfrm>
              <a:prstGeom prst="rect">
                <a:avLst/>
              </a:prstGeom>
              <a:noFill/>
              <a:ln>
                <a:noFill/>
              </a:ln>
            </p:spPr>
            <p:txBody>
              <a:bodyPr wrap="none" lIns="0" tIns="0" rIns="0" bIns="0" anchor="t" anchorCtr="0">
                <a:spAutoFit/>
              </a:bodyPr>
              <a:lstStyle/>
              <a:p>
                <a:pPr algn="l"/>
                <a:r>
                  <a:rPr lang="ko-KR" sz="1050" dirty="0">
                    <a:solidFill>
                      <a:schemeClr val="accent1"/>
                    </a:solidFill>
                    <a:latin typeface="Consolas"/>
                    <a:ea typeface="Microsoft YaHei"/>
                    <a:cs typeface="Consolas"/>
                  </a:rPr>
                  <a:t>loop · 폴링 60초 (poll_interval_ms)</a:t>
                </a:r>
              </a:p>
            </p:txBody>
          </p:sp>
        </p:grpSp>
        <p:grpSp>
          <p:nvGrpSpPr>
            <p:cNvPr id="49" name="Group 49"/>
            <p:cNvGrpSpPr/>
            <p:nvPr/>
          </p:nvGrpSpPr>
          <p:grpSpPr>
            <a:xfrm>
              <a:off x="1114532" y="2306002"/>
              <a:ext cx="9553468" cy="2872359"/>
              <a:chOff x="1114532" y="2306002"/>
              <a:chExt cx="9553468" cy="2872359"/>
            </a:xfrm>
          </p:grpSpPr>
          <p:sp>
            <p:nvSpPr>
              <p:cNvPr id="26" name="Line 26"/>
              <p:cNvSpPr/>
              <p:nvPr/>
            </p:nvSpPr>
            <p:spPr>
              <a:xfrm>
                <a:off x="1714500" y="2495550"/>
                <a:ext cx="3028950" cy="1"/>
              </a:xfrm>
              <a:prstGeom prst="line">
                <a:avLst/>
              </a:prstGeom>
              <a:noFill/>
              <a:ln w="19050">
                <a:solidFill>
                  <a:schemeClr val="accent1"/>
                </a:solidFill>
                <a:tailEnd type="triangle" w="med" len="med"/>
              </a:ln>
            </p:spPr>
          </p:sp>
          <p:sp>
            <p:nvSpPr>
              <p:cNvPr id="27" name="TextBox 27"/>
              <p:cNvSpPr txBox="1"/>
              <p:nvPr/>
            </p:nvSpPr>
            <p:spPr>
              <a:xfrm>
                <a:off x="1114532" y="2306002"/>
                <a:ext cx="4247937" cy="205359"/>
              </a:xfrm>
              <a:prstGeom prst="rect">
                <a:avLst/>
              </a:prstGeom>
              <a:noFill/>
              <a:ln>
                <a:noFill/>
              </a:ln>
            </p:spPr>
            <p:txBody>
              <a:bodyPr wrap="none" lIns="0" tIns="0" rIns="0" bIns="0" anchor="t" anchorCtr="0">
                <a:spAutoFit/>
              </a:bodyPr>
              <a:lstStyle/>
              <a:p>
                <a:pPr algn="ctr"/>
                <a:r>
                  <a:rPr lang="ko-KR" sz="1050" dirty="0">
                    <a:solidFill>
                      <a:schemeClr val="dk1"/>
                    </a:solidFill>
                    <a:latin typeface="+mn-lt"/>
                    <a:ea typeface="+mn-ea"/>
                    <a:cs typeface="+mn-cs"/>
                  </a:rPr>
                  <a:t>push fw/phase-N · gh pr create (요약 마스킹 + 실측 커밋 목록)</a:t>
                </a:r>
              </a:p>
            </p:txBody>
          </p:sp>
          <p:sp>
            <p:nvSpPr>
              <p:cNvPr id="28" name="TextBox 28"/>
              <p:cNvSpPr txBox="1"/>
              <p:nvPr/>
            </p:nvSpPr>
            <p:spPr>
              <a:xfrm>
                <a:off x="5404790" y="2306002"/>
                <a:ext cx="1763420" cy="205359"/>
              </a:xfrm>
              <a:prstGeom prst="rect">
                <a:avLst/>
              </a:prstGeom>
              <a:noFill/>
              <a:ln>
                <a:noFill/>
              </a:ln>
            </p:spPr>
            <p:txBody>
              <a:bodyPr wrap="none" lIns="0" tIns="0" rIns="0" bIns="0" anchor="t" anchorCtr="0">
                <a:spAutoFit/>
              </a:bodyPr>
              <a:lstStyle/>
              <a:p>
                <a:pPr algn="ctr"/>
                <a:r>
                  <a:rPr lang="ko-KR" sz="1050" dirty="0">
                    <a:solidFill>
                      <a:schemeClr val="accent5"/>
                    </a:solidFill>
                    <a:latin typeface="+mn-lt"/>
                    <a:ea typeface="+mn-ea"/>
                    <a:cs typeface="+mn-cs"/>
                  </a:rPr>
                  <a:t>phase.status = in_review</a:t>
                </a:r>
              </a:p>
            </p:txBody>
          </p:sp>
          <p:sp>
            <p:nvSpPr>
              <p:cNvPr id="29" name="Line 29"/>
              <p:cNvSpPr/>
              <p:nvPr/>
            </p:nvSpPr>
            <p:spPr>
              <a:xfrm flipH="1">
                <a:off x="4781550" y="3067050"/>
                <a:ext cx="3028950" cy="1"/>
              </a:xfrm>
              <a:prstGeom prst="line">
                <a:avLst/>
              </a:prstGeom>
              <a:noFill/>
              <a:ln w="19050">
                <a:solidFill>
                  <a:schemeClr val="accent2"/>
                </a:solidFill>
                <a:tailEnd type="triangle" w="med" len="med"/>
              </a:ln>
            </p:spPr>
          </p:sp>
          <p:sp>
            <p:nvSpPr>
              <p:cNvPr id="30" name="TextBox 30"/>
              <p:cNvSpPr txBox="1"/>
              <p:nvPr/>
            </p:nvSpPr>
            <p:spPr>
              <a:xfrm>
                <a:off x="5210432" y="2877502"/>
                <a:ext cx="2152136" cy="205359"/>
              </a:xfrm>
              <a:prstGeom prst="rect">
                <a:avLst/>
              </a:prstGeom>
              <a:noFill/>
              <a:ln>
                <a:noFill/>
              </a:ln>
            </p:spPr>
            <p:txBody>
              <a:bodyPr wrap="none" lIns="0" tIns="0" rIns="0" bIns="0" anchor="t" anchorCtr="0">
                <a:spAutoFit/>
              </a:bodyPr>
              <a:lstStyle/>
              <a:p>
                <a:pPr algn="ctr"/>
                <a:r>
                  <a:rPr lang="ko-KR" sz="1050" dirty="0">
                    <a:solidFill>
                      <a:schemeClr val="accent2"/>
                    </a:solidFill>
                    <a:latin typeface="+mn-lt"/>
                    <a:ea typeface="+mn-ea"/>
                    <a:cs typeface="+mn-cs"/>
                  </a:rPr>
                  <a:t>"@fw 이 함수 null 체크 빠졌어요"</a:t>
                </a:r>
              </a:p>
            </p:txBody>
          </p:sp>
          <p:sp>
            <p:nvSpPr>
              <p:cNvPr id="31" name="Line 31"/>
              <p:cNvSpPr/>
              <p:nvPr/>
            </p:nvSpPr>
            <p:spPr>
              <a:xfrm>
                <a:off x="1714500" y="3333750"/>
                <a:ext cx="8934450" cy="1"/>
              </a:xfrm>
              <a:prstGeom prst="line">
                <a:avLst/>
              </a:prstGeom>
              <a:noFill/>
              <a:ln w="19050">
                <a:solidFill>
                  <a:schemeClr val="accent1"/>
                </a:solidFill>
                <a:tailEnd type="triangle" w="med" len="med"/>
              </a:ln>
            </p:spPr>
          </p:sp>
          <p:sp>
            <p:nvSpPr>
              <p:cNvPr id="32" name="TextBox 32"/>
              <p:cNvSpPr txBox="1"/>
              <p:nvPr/>
            </p:nvSpPr>
            <p:spPr>
              <a:xfrm>
                <a:off x="1911534" y="3144202"/>
                <a:ext cx="2653932" cy="205359"/>
              </a:xfrm>
              <a:prstGeom prst="rect">
                <a:avLst/>
              </a:prstGeom>
              <a:noFill/>
              <a:ln>
                <a:noFill/>
              </a:ln>
            </p:spPr>
            <p:txBody>
              <a:bodyPr wrap="none" lIns="0" tIns="0" rIns="0" bIns="0" anchor="t" anchorCtr="0">
                <a:spAutoFit/>
              </a:bodyPr>
              <a:lstStyle/>
              <a:p>
                <a:pPr algn="ctr"/>
                <a:r>
                  <a:rPr lang="ko-KR" sz="1050" dirty="0">
                    <a:solidFill>
                      <a:schemeClr val="dk1"/>
                    </a:solidFill>
                    <a:latin typeface="+mn-lt"/>
                    <a:ea typeface="+mn-ea"/>
                    <a:cs typeface="+mn-cs"/>
                  </a:rPr>
                  <a:t>트리거 코멘트(마커 + 신뢰 작성자) 1건씩</a:t>
                </a:r>
              </a:p>
            </p:txBody>
          </p:sp>
          <p:sp>
            <p:nvSpPr>
              <p:cNvPr id="33" name="TextBox 33"/>
              <p:cNvSpPr txBox="1"/>
              <p:nvPr/>
            </p:nvSpPr>
            <p:spPr>
              <a:xfrm>
                <a:off x="8046730" y="3144202"/>
                <a:ext cx="2194541" cy="205359"/>
              </a:xfrm>
              <a:prstGeom prst="rect">
                <a:avLst/>
              </a:prstGeom>
              <a:noFill/>
              <a:ln>
                <a:noFill/>
              </a:ln>
            </p:spPr>
            <p:txBody>
              <a:bodyPr wrap="none" lIns="0" tIns="0" rIns="0" bIns="0" anchor="t" anchorCtr="0">
                <a:spAutoFit/>
              </a:bodyPr>
              <a:lstStyle/>
              <a:p>
                <a:pPr algn="ctr"/>
                <a:r>
                  <a:rPr lang="ko-KR" sz="1050" dirty="0">
                    <a:solidFill>
                      <a:schemeClr val="dk1"/>
                    </a:solidFill>
                    <a:latin typeface="+mn-lt"/>
                    <a:ea typeface="+mn-ea"/>
                    <a:cs typeface="+mn-cs"/>
                  </a:rPr>
                  <a:t>코멘트를 데이터로 인용 → fix 세션</a:t>
                </a:r>
              </a:p>
            </p:txBody>
          </p:sp>
          <p:sp>
            <p:nvSpPr>
              <p:cNvPr id="34" name="Line 34"/>
              <p:cNvSpPr/>
              <p:nvPr/>
            </p:nvSpPr>
            <p:spPr>
              <a:xfrm flipH="1">
                <a:off x="1733550" y="3600450"/>
                <a:ext cx="8934450" cy="1"/>
              </a:xfrm>
              <a:prstGeom prst="line">
                <a:avLst/>
              </a:prstGeom>
              <a:noFill/>
              <a:ln w="19050">
                <a:solidFill>
                  <a:srgbClr val="9AA8BD"/>
                </a:solidFill>
                <a:tailEnd type="triangle" w="med" len="med"/>
              </a:ln>
            </p:spPr>
          </p:sp>
          <p:sp>
            <p:nvSpPr>
              <p:cNvPr id="35" name="TextBox 35"/>
              <p:cNvSpPr txBox="1"/>
              <p:nvPr/>
            </p:nvSpPr>
            <p:spPr>
              <a:xfrm>
                <a:off x="8619201" y="3410902"/>
                <a:ext cx="1049598" cy="205359"/>
              </a:xfrm>
              <a:prstGeom prst="rect">
                <a:avLst/>
              </a:prstGeom>
              <a:noFill/>
              <a:ln>
                <a:noFill/>
              </a:ln>
            </p:spPr>
            <p:txBody>
              <a:bodyPr wrap="none" lIns="0" tIns="0" rIns="0" bIns="0" anchor="t" anchorCtr="0">
                <a:spAutoFit/>
              </a:bodyPr>
              <a:lstStyle/>
              <a:p>
                <a:pPr algn="ctr"/>
                <a:r>
                  <a:rPr lang="ko-KR" sz="1050" dirty="0">
                    <a:solidFill>
                      <a:schemeClr val="dk1"/>
                    </a:solidFill>
                    <a:latin typeface="+mn-lt"/>
                    <a:ea typeface="+mn-ea"/>
                    <a:cs typeface="+mn-cs"/>
                  </a:rPr>
                  <a:t>done + commits</a:t>
                </a:r>
              </a:p>
            </p:txBody>
          </p:sp>
          <p:sp>
            <p:nvSpPr>
              <p:cNvPr id="36" name="TextBox 36"/>
              <p:cNvSpPr txBox="1"/>
              <p:nvPr/>
            </p:nvSpPr>
            <p:spPr>
              <a:xfrm>
                <a:off x="2254310" y="3410902"/>
                <a:ext cx="1968379" cy="205359"/>
              </a:xfrm>
              <a:prstGeom prst="rect">
                <a:avLst/>
              </a:prstGeom>
              <a:noFill/>
              <a:ln>
                <a:noFill/>
              </a:ln>
            </p:spPr>
            <p:txBody>
              <a:bodyPr wrap="none" lIns="0" tIns="0" rIns="0" bIns="0" anchor="t" anchorCtr="0">
                <a:spAutoFit/>
              </a:bodyPr>
              <a:lstStyle/>
              <a:p>
                <a:pPr algn="ctr"/>
                <a:r>
                  <a:rPr lang="ko-KR" sz="1050" dirty="0">
                    <a:solidFill>
                      <a:schemeClr val="accent5"/>
                    </a:solidFill>
                    <a:latin typeface="+mn-lt"/>
                    <a:ea typeface="+mn-ea"/>
                    <a:cs typeface="+mn-cs"/>
                  </a:rPr>
                  <a:t>브랜치 · 커밋 확인 (세션마다)</a:t>
                </a:r>
              </a:p>
            </p:txBody>
          </p:sp>
          <p:sp>
            <p:nvSpPr>
              <p:cNvPr id="37" name="Rectangle 37"/>
              <p:cNvSpPr/>
              <p:nvPr/>
            </p:nvSpPr>
            <p:spPr>
              <a:xfrm>
                <a:off x="1809750" y="3714750"/>
                <a:ext cx="2857500" cy="266700"/>
              </a:xfrm>
              <a:prstGeom prst="roundRect">
                <a:avLst>
                  <a:gd name="adj" fmla="val 14286"/>
                </a:avLst>
              </a:prstGeom>
              <a:solidFill>
                <a:schemeClr val="lt2"/>
              </a:solidFill>
              <a:ln w="9525">
                <a:solidFill>
                  <a:schemeClr val="accent1"/>
                </a:solidFill>
              </a:ln>
            </p:spPr>
          </p:sp>
          <p:sp>
            <p:nvSpPr>
              <p:cNvPr id="38" name="TextBox 38"/>
              <p:cNvSpPr txBox="1"/>
              <p:nvPr/>
            </p:nvSpPr>
            <p:spPr>
              <a:xfrm>
                <a:off x="1876196" y="3782378"/>
                <a:ext cx="2724607" cy="205359"/>
              </a:xfrm>
              <a:prstGeom prst="rect">
                <a:avLst/>
              </a:prstGeom>
              <a:noFill/>
              <a:ln>
                <a:noFill/>
              </a:ln>
            </p:spPr>
            <p:txBody>
              <a:bodyPr wrap="none" lIns="0" tIns="0" rIns="0" bIns="0" anchor="t" anchorCtr="0">
                <a:spAutoFit/>
              </a:bodyPr>
              <a:lstStyle/>
              <a:p>
                <a:pPr algn="ctr"/>
                <a:r>
                  <a:rPr lang="ko-KR" sz="1050" dirty="0">
                    <a:solidFill>
                      <a:schemeClr val="accent1"/>
                    </a:solidFill>
                    <a:latin typeface="+mn-lt"/>
                    <a:ea typeface="+mn-ea"/>
                    <a:cs typeface="+mn-cs"/>
                  </a:rPr>
                  <a:t>모아서 검증 1회 — 전부 통과해야 반영 확정</a:t>
                </a:r>
              </a:p>
            </p:txBody>
          </p:sp>
          <p:sp>
            <p:nvSpPr>
              <p:cNvPr id="39" name="Line 39"/>
              <p:cNvSpPr/>
              <p:nvPr/>
            </p:nvSpPr>
            <p:spPr>
              <a:xfrm>
                <a:off x="1714500" y="4076700"/>
                <a:ext cx="3028950" cy="1"/>
              </a:xfrm>
              <a:prstGeom prst="line">
                <a:avLst/>
              </a:prstGeom>
              <a:noFill/>
              <a:ln w="19050">
                <a:solidFill>
                  <a:schemeClr val="accent1"/>
                </a:solidFill>
                <a:tailEnd type="triangle" w="med" len="med"/>
              </a:ln>
            </p:spPr>
          </p:sp>
          <p:sp>
            <p:nvSpPr>
              <p:cNvPr id="40" name="TextBox 40"/>
              <p:cNvSpPr txBox="1"/>
              <p:nvPr/>
            </p:nvSpPr>
            <p:spPr>
              <a:xfrm>
                <a:off x="1854994" y="4134802"/>
                <a:ext cx="2767012" cy="205359"/>
              </a:xfrm>
              <a:prstGeom prst="rect">
                <a:avLst/>
              </a:prstGeom>
              <a:noFill/>
              <a:ln>
                <a:noFill/>
              </a:ln>
            </p:spPr>
            <p:txBody>
              <a:bodyPr wrap="none" lIns="0" tIns="0" rIns="0" bIns="0" anchor="t" anchorCtr="0">
                <a:spAutoFit/>
              </a:bodyPr>
              <a:lstStyle/>
              <a:p>
                <a:pPr algn="ctr"/>
                <a:r>
                  <a:rPr lang="ko-KR" sz="1050" dirty="0">
                    <a:solidFill>
                      <a:schemeClr val="dk1"/>
                    </a:solidFill>
                    <a:latin typeface="+mn-lt"/>
                    <a:ea typeface="+mn-ea"/>
                    <a:cs typeface="+mn-cs"/>
                  </a:rPr>
                  <a:t>push · [fw-harness] 답글 · handled 기록</a:t>
                </a:r>
              </a:p>
            </p:txBody>
          </p:sp>
          <p:sp>
            <p:nvSpPr>
              <p:cNvPr id="41" name="Line 41"/>
              <p:cNvSpPr/>
              <p:nvPr/>
            </p:nvSpPr>
            <p:spPr>
              <a:xfrm flipH="1">
                <a:off x="4781550" y="4476750"/>
                <a:ext cx="3028950" cy="1"/>
              </a:xfrm>
              <a:prstGeom prst="line">
                <a:avLst/>
              </a:prstGeom>
              <a:noFill/>
              <a:ln w="19050">
                <a:solidFill>
                  <a:schemeClr val="accent2"/>
                </a:solidFill>
                <a:tailEnd type="triangle" w="med" len="med"/>
              </a:ln>
            </p:spPr>
          </p:sp>
          <p:sp>
            <p:nvSpPr>
              <p:cNvPr id="42" name="TextBox 42"/>
              <p:cNvSpPr txBox="1"/>
              <p:nvPr/>
            </p:nvSpPr>
            <p:spPr>
              <a:xfrm>
                <a:off x="6009065" y="4287202"/>
                <a:ext cx="554869" cy="205359"/>
              </a:xfrm>
              <a:prstGeom prst="rect">
                <a:avLst/>
              </a:prstGeom>
              <a:noFill/>
              <a:ln>
                <a:noFill/>
              </a:ln>
            </p:spPr>
            <p:txBody>
              <a:bodyPr wrap="none" lIns="0" tIns="0" rIns="0" bIns="0" anchor="t" anchorCtr="0">
                <a:spAutoFit/>
              </a:bodyPr>
              <a:lstStyle/>
              <a:p>
                <a:pPr algn="ctr"/>
                <a:r>
                  <a:rPr lang="ko-KR" sz="1050" dirty="0">
                    <a:solidFill>
                      <a:schemeClr val="accent2"/>
                    </a:solidFill>
                    <a:latin typeface="+mn-lt"/>
                    <a:ea typeface="+mn-ea"/>
                    <a:cs typeface="+mn-cs"/>
                  </a:rPr>
                  <a:t>approve</a:t>
                </a:r>
              </a:p>
            </p:txBody>
          </p:sp>
          <p:sp>
            <p:nvSpPr>
              <p:cNvPr id="43" name="Rectangle 43"/>
              <p:cNvSpPr/>
              <p:nvPr/>
            </p:nvSpPr>
            <p:spPr>
              <a:xfrm>
                <a:off x="1809750" y="4591050"/>
                <a:ext cx="2857500" cy="266700"/>
              </a:xfrm>
              <a:prstGeom prst="roundRect">
                <a:avLst>
                  <a:gd name="adj" fmla="val 14286"/>
                </a:avLst>
              </a:prstGeom>
              <a:solidFill>
                <a:schemeClr val="lt2"/>
              </a:solidFill>
              <a:ln w="9525">
                <a:solidFill>
                  <a:schemeClr val="accent2"/>
                </a:solidFill>
              </a:ln>
            </p:spPr>
          </p:sp>
          <p:sp>
            <p:nvSpPr>
              <p:cNvPr id="44" name="TextBox 44"/>
              <p:cNvSpPr txBox="1"/>
              <p:nvPr/>
            </p:nvSpPr>
            <p:spPr>
              <a:xfrm>
                <a:off x="1953939" y="4658678"/>
                <a:ext cx="2569121" cy="205359"/>
              </a:xfrm>
              <a:prstGeom prst="rect">
                <a:avLst/>
              </a:prstGeom>
              <a:noFill/>
              <a:ln>
                <a:noFill/>
              </a:ln>
            </p:spPr>
            <p:txBody>
              <a:bodyPr wrap="none" lIns="0" tIns="0" rIns="0" bIns="0" anchor="t" anchorCtr="0">
                <a:spAutoFit/>
              </a:bodyPr>
              <a:lstStyle/>
              <a:p>
                <a:pPr algn="ctr"/>
                <a:r>
                  <a:rPr lang="ko-KR" sz="1050" dirty="0">
                    <a:solidFill>
                      <a:schemeClr val="accent2"/>
                    </a:solidFill>
                    <a:latin typeface="+mn-lt"/>
                    <a:ea typeface="+mn-ea"/>
                    <a:cs typeface="+mn-cs"/>
                  </a:rPr>
                  <a:t>awaiting_merge · 알림 · 정지 (exit 0)</a:t>
                </a:r>
              </a:p>
            </p:txBody>
          </p:sp>
          <p:sp>
            <p:nvSpPr>
              <p:cNvPr id="45" name="Line 45"/>
              <p:cNvSpPr/>
              <p:nvPr/>
            </p:nvSpPr>
            <p:spPr>
              <a:xfrm flipH="1">
                <a:off x="4781550" y="4972050"/>
                <a:ext cx="3028950" cy="1"/>
              </a:xfrm>
              <a:prstGeom prst="line">
                <a:avLst/>
              </a:prstGeom>
              <a:noFill/>
              <a:ln w="19050">
                <a:solidFill>
                  <a:schemeClr val="accent2"/>
                </a:solidFill>
                <a:tailEnd type="triangle" w="med" len="med"/>
              </a:ln>
            </p:spPr>
          </p:sp>
          <p:sp>
            <p:nvSpPr>
              <p:cNvPr id="46" name="TextBox 46"/>
              <p:cNvSpPr txBox="1"/>
              <p:nvPr/>
            </p:nvSpPr>
            <p:spPr>
              <a:xfrm>
                <a:off x="5846512" y="4782502"/>
                <a:ext cx="879977" cy="205359"/>
              </a:xfrm>
              <a:prstGeom prst="rect">
                <a:avLst/>
              </a:prstGeom>
              <a:noFill/>
              <a:ln>
                <a:noFill/>
              </a:ln>
            </p:spPr>
            <p:txBody>
              <a:bodyPr wrap="none" lIns="0" tIns="0" rIns="0" bIns="0" anchor="t" anchorCtr="0">
                <a:spAutoFit/>
              </a:bodyPr>
              <a:lstStyle/>
              <a:p>
                <a:pPr algn="ctr"/>
                <a:r>
                  <a:rPr lang="ko-KR" sz="1050" dirty="0">
                    <a:solidFill>
                      <a:schemeClr val="accent2"/>
                    </a:solidFill>
                    <a:latin typeface="+mn-lt"/>
                    <a:ea typeface="+mn-ea"/>
                    <a:cs typeface="+mn-cs"/>
                  </a:rPr>
                  <a:t>머지 — 사람만</a:t>
                </a:r>
              </a:p>
            </p:txBody>
          </p:sp>
          <p:sp>
            <p:nvSpPr>
              <p:cNvPr id="47" name="TextBox 47"/>
              <p:cNvSpPr txBox="1"/>
              <p:nvPr/>
            </p:nvSpPr>
            <p:spPr>
              <a:xfrm>
                <a:off x="7908912" y="4782502"/>
                <a:ext cx="2470175" cy="205359"/>
              </a:xfrm>
              <a:prstGeom prst="rect">
                <a:avLst/>
              </a:prstGeom>
              <a:noFill/>
              <a:ln>
                <a:noFill/>
              </a:ln>
            </p:spPr>
            <p:txBody>
              <a:bodyPr wrap="none" lIns="0" tIns="0" rIns="0" bIns="0" anchor="t" anchorCtr="0">
                <a:spAutoFit/>
              </a:bodyPr>
              <a:lstStyle/>
              <a:p>
                <a:pPr algn="ctr"/>
                <a:r>
                  <a:rPr lang="ko-KR" sz="1050" dirty="0">
                    <a:solidFill>
                      <a:schemeClr val="accent5"/>
                    </a:solidFill>
                    <a:latin typeface="+mn-lt"/>
                    <a:ea typeface="+mn-ea"/>
                    <a:cs typeface="+mn-cs"/>
                  </a:rPr>
                  <a:t>fw run 재실행 → merged → 다음 phase</a:t>
                </a:r>
              </a:p>
            </p:txBody>
          </p:sp>
          <p:sp>
            <p:nvSpPr>
              <p:cNvPr id="48" name="TextBox 48"/>
              <p:cNvSpPr txBox="1"/>
              <p:nvPr/>
            </p:nvSpPr>
            <p:spPr>
              <a:xfrm>
                <a:off x="8313796" y="4973002"/>
                <a:ext cx="1660408" cy="205359"/>
              </a:xfrm>
              <a:prstGeom prst="rect">
                <a:avLst/>
              </a:prstGeom>
              <a:noFill/>
              <a:ln>
                <a:noFill/>
              </a:ln>
            </p:spPr>
            <p:txBody>
              <a:bodyPr wrap="none" lIns="0" tIns="0" rIns="0" bIns="0" anchor="t" anchorCtr="0">
                <a:spAutoFit/>
              </a:bodyPr>
              <a:lstStyle/>
              <a:p>
                <a:pPr algn="ctr"/>
                <a:r>
                  <a:rPr lang="ko-KR" sz="1050" dirty="0">
                    <a:solidFill>
                      <a:schemeClr val="accent5"/>
                    </a:solidFill>
                    <a:latin typeface="+mn-lt"/>
                    <a:ea typeface="+mn-ea"/>
                    <a:cs typeface="+mn-cs"/>
                  </a:rPr>
                  <a:t>closed(미머지) → FAILED</a:t>
                </a:r>
              </a:p>
            </p:txBody>
          </p:sp>
        </p:grpSp>
      </p:grpSp>
      <p:grpSp>
        <p:nvGrpSpPr>
          <p:cNvPr id="58" name="Group 58"/>
          <p:cNvGrpSpPr/>
          <p:nvPr/>
        </p:nvGrpSpPr>
        <p:grpSpPr>
          <a:xfrm>
            <a:off x="603504" y="5305425"/>
            <a:ext cx="10283952" cy="1143381"/>
            <a:chOff x="603504" y="5305425"/>
            <a:chExt cx="10283952" cy="1143381"/>
          </a:xfrm>
        </p:grpSpPr>
        <p:grpSp>
          <p:nvGrpSpPr>
            <p:cNvPr id="54" name="Group 54"/>
            <p:cNvGrpSpPr/>
            <p:nvPr/>
          </p:nvGrpSpPr>
          <p:grpSpPr>
            <a:xfrm>
              <a:off x="634208" y="5305425"/>
              <a:ext cx="179383" cy="171450"/>
              <a:chOff x="634208" y="5305425"/>
              <a:chExt cx="179383" cy="171450"/>
            </a:xfrm>
          </p:grpSpPr>
          <p:sp>
            <p:nvSpPr>
              <p:cNvPr id="51" name="Freeform 51"/>
              <p:cNvSpPr/>
              <p:nvPr/>
            </p:nvSpPr>
            <p:spPr>
              <a:xfrm>
                <a:off x="634208" y="5305425"/>
                <a:ext cx="179383" cy="171450"/>
              </a:xfrm>
              <a:custGeom>
                <a:avLst/>
                <a:gdLst/>
                <a:ahLst/>
                <a:cxnLst/>
                <a:rect l="l" t="t" r="r" b="b"/>
                <a:pathLst>
                  <a:path w="179383" h="171450">
                    <a:moveTo>
                      <a:pt x="89692" y="0"/>
                    </a:moveTo>
                    <a:cubicBezTo>
                      <a:pt x="111940" y="19684"/>
                      <a:pt x="140979" y="29933"/>
                      <a:pt x="170654" y="28575"/>
                    </a:cubicBezTo>
                    <a:cubicBezTo>
                      <a:pt x="179383" y="58269"/>
                      <a:pt x="175697" y="90235"/>
                      <a:pt x="160438" y="117163"/>
                    </a:cubicBezTo>
                    <a:cubicBezTo>
                      <a:pt x="145178" y="144091"/>
                      <a:pt x="119651" y="163679"/>
                      <a:pt x="89692" y="171450"/>
                    </a:cubicBezTo>
                    <a:cubicBezTo>
                      <a:pt x="59732" y="163679"/>
                      <a:pt x="34205" y="144091"/>
                      <a:pt x="18946" y="117163"/>
                    </a:cubicBezTo>
                    <a:cubicBezTo>
                      <a:pt x="3686" y="90235"/>
                      <a:pt x="0" y="58269"/>
                      <a:pt x="8729" y="28575"/>
                    </a:cubicBezTo>
                    <a:cubicBezTo>
                      <a:pt x="38405" y="29933"/>
                      <a:pt x="67443" y="19684"/>
                      <a:pt x="89692" y="0"/>
                    </a:cubicBezTo>
                  </a:path>
                </a:pathLst>
              </a:custGeom>
              <a:noFill/>
              <a:ln w="19050">
                <a:solidFill>
                  <a:schemeClr val="accent2"/>
                </a:solidFill>
              </a:ln>
            </p:spPr>
          </p:sp>
          <p:sp>
            <p:nvSpPr>
              <p:cNvPr id="52" name="Freeform 52"/>
              <p:cNvSpPr/>
              <p:nvPr/>
            </p:nvSpPr>
            <p:spPr>
              <a:xfrm>
                <a:off x="714375" y="5372100"/>
                <a:ext cx="19050" cy="19050"/>
              </a:xfrm>
              <a:custGeom>
                <a:avLst/>
                <a:gdLst/>
                <a:ahLst/>
                <a:cxnLst/>
                <a:rect l="l" t="t" r="r" b="b"/>
                <a:pathLst>
                  <a:path w="19050" h="19050">
                    <a:moveTo>
                      <a:pt x="0" y="9525"/>
                    </a:moveTo>
                    <a:cubicBezTo>
                      <a:pt x="0" y="14786"/>
                      <a:pt x="4264" y="19050"/>
                      <a:pt x="9525" y="19050"/>
                    </a:cubicBezTo>
                    <a:cubicBezTo>
                      <a:pt x="14786" y="19050"/>
                      <a:pt x="19050" y="14786"/>
                      <a:pt x="19050" y="9525"/>
                    </a:cubicBezTo>
                    <a:cubicBezTo>
                      <a:pt x="19050" y="4264"/>
                      <a:pt x="14786" y="0"/>
                      <a:pt x="9525" y="0"/>
                    </a:cubicBezTo>
                    <a:cubicBezTo>
                      <a:pt x="4264" y="0"/>
                      <a:pt x="0" y="4264"/>
                      <a:pt x="0" y="9525"/>
                    </a:cubicBezTo>
                  </a:path>
                </a:pathLst>
              </a:custGeom>
              <a:noFill/>
              <a:ln w="19050">
                <a:solidFill>
                  <a:schemeClr val="accent2"/>
                </a:solidFill>
              </a:ln>
            </p:spPr>
          </p:sp>
          <p:sp>
            <p:nvSpPr>
              <p:cNvPr id="53" name="Freeform 53"/>
              <p:cNvSpPr/>
              <p:nvPr/>
            </p:nvSpPr>
            <p:spPr>
              <a:xfrm>
                <a:off x="723900" y="5391150"/>
                <a:ext cx="9525" cy="23812"/>
              </a:xfrm>
              <a:custGeom>
                <a:avLst/>
                <a:gdLst/>
                <a:ahLst/>
                <a:cxnLst/>
                <a:rect l="l" t="t" r="r" b="b"/>
                <a:pathLst>
                  <a:path w="9525" h="23812">
                    <a:moveTo>
                      <a:pt x="0" y="0"/>
                    </a:moveTo>
                    <a:lnTo>
                      <a:pt x="0" y="23812"/>
                    </a:lnTo>
                  </a:path>
                </a:pathLst>
              </a:custGeom>
              <a:noFill/>
              <a:ln w="19050">
                <a:solidFill>
                  <a:schemeClr val="accent2"/>
                </a:solidFill>
              </a:ln>
            </p:spPr>
          </p:sp>
        </p:grpSp>
        <p:sp>
          <p:nvSpPr>
            <p:cNvPr id="55" name="TextBox 55"/>
            <p:cNvSpPr txBox="1"/>
            <p:nvPr/>
          </p:nvSpPr>
          <p:spPr>
            <a:xfrm>
              <a:off x="909066" y="5334952"/>
              <a:ext cx="1182872" cy="205359"/>
            </a:xfrm>
            <a:prstGeom prst="rect">
              <a:avLst/>
            </a:prstGeom>
            <a:noFill/>
            <a:ln>
              <a:noFill/>
            </a:ln>
          </p:spPr>
          <p:txBody>
            <a:bodyPr wrap="none" lIns="0" tIns="0" rIns="0" bIns="0" anchor="t" anchorCtr="0">
              <a:spAutoFit/>
            </a:bodyPr>
            <a:lstStyle/>
            <a:p>
              <a:pPr algn="l"/>
              <a:r>
                <a:rPr lang="ko-KR" sz="1050" spc="150" dirty="0">
                  <a:solidFill>
                    <a:schemeClr val="accent2"/>
                  </a:solidFill>
                  <a:latin typeface="Consolas"/>
                  <a:ea typeface="Microsoft YaHei"/>
                  <a:cs typeface="Consolas"/>
                </a:rPr>
                <a:t>신뢰 경계 4가지</a:t>
              </a:r>
            </a:p>
          </p:txBody>
        </p:sp>
        <p:sp>
          <p:nvSpPr>
            <p:cNvPr id="56" name="TextBox 56"/>
            <p:cNvSpPr txBox="1"/>
            <p:nvPr/>
          </p:nvSpPr>
          <p:spPr>
            <a:xfrm>
              <a:off x="603504" y="5585460"/>
              <a:ext cx="4866132" cy="863346"/>
            </a:xfrm>
            <a:prstGeom prst="rect">
              <a:avLst/>
            </a:prstGeom>
            <a:noFill/>
            <a:ln>
              <a:noFill/>
            </a:ln>
          </p:spPr>
          <p:txBody>
            <a:bodyPr wrap="none" lIns="0" tIns="0" rIns="0" bIns="0" anchor="t" anchorCtr="0">
              <a:spAutoFit/>
            </a:bodyPr>
            <a:lstStyle/>
            <a:p>
              <a:pPr algn="l">
                <a:lnSpc>
                  <a:spcPts val="1650"/>
                </a:lnSpc>
              </a:pPr>
              <a:r>
                <a:rPr lang="ko-KR" sz="1200" dirty="0">
                  <a:solidFill>
                    <a:schemeClr val="dk1"/>
                  </a:solidFill>
                  <a:latin typeface="+mn-lt"/>
                  <a:ea typeface="+mn-ea"/>
                  <a:cs typeface="+mn-cs"/>
                </a:rPr>
                <a:t xml:space="preserve">① 마커 있는 코멘트만 — </a:t>
              </a:r>
              <a:r>
                <a:rPr lang="ko-KR" sz="1200" dirty="0">
                  <a:solidFill>
                    <a:schemeClr val="accent2"/>
                  </a:solidFill>
                  <a:latin typeface="Consolas"/>
                  <a:ea typeface="Consolas"/>
                  <a:cs typeface="Consolas"/>
                </a:rPr>
                <a:t>@fw</a:t>
              </a:r>
              <a:r>
                <a:rPr lang="ko-KR" sz="1200" dirty="0">
                  <a:solidFill>
                    <a:schemeClr val="dk1"/>
                  </a:solidFill>
                  <a:latin typeface="+mn-lt"/>
                  <a:ea typeface="+mn-ea"/>
                  <a:cs typeface="+mn-cs"/>
                </a:rPr>
                <a:t xml:space="preserve"> · </a:t>
              </a:r>
              <a:r>
                <a:rPr lang="ko-KR" sz="1200" dirty="0">
                  <a:solidFill>
                    <a:schemeClr val="accent2"/>
                  </a:solidFill>
                  <a:latin typeface="Consolas"/>
                  <a:ea typeface="Consolas"/>
                  <a:cs typeface="Consolas"/>
                </a:rPr>
                <a:t>/fw fix</a:t>
              </a:r>
              <a:r>
                <a:rPr lang="ko-KR" sz="1200" dirty="0">
                  <a:solidFill>
                    <a:schemeClr val="dk1"/>
                  </a:solidFill>
                  <a:latin typeface="+mn-lt"/>
                  <a:ea typeface="+mn-ea"/>
                  <a:cs typeface="+mn-cs"/>
                </a:rPr>
                <a:t xml:space="preserve"> (대소문자 무시)</a:t>
              </a:r>
              <a:br/>
              <a:r>
                <a:rPr lang="ko-KR" sz="1200" dirty="0">
                  <a:solidFill>
                    <a:schemeClr val="accent5"/>
                  </a:solidFill>
                  <a:latin typeface="+mn-lt"/>
                  <a:ea typeface="+mn-ea"/>
                  <a:cs typeface="+mn-cs"/>
                </a:rPr>
                <a:t>코드블록·인용문·HTML 주석·&lt;details&gt; 안의 마커는 예시로 보고 무시</a:t>
              </a:r>
              <a:br/>
              <a:r>
                <a:rPr lang="ko-KR" sz="1200" dirty="0">
                  <a:solidFill>
                    <a:schemeClr val="dk1"/>
                  </a:solidFill>
                  <a:latin typeface="+mn-lt"/>
                  <a:ea typeface="+mn-ea"/>
                  <a:cs typeface="+mn-cs"/>
                </a:rPr>
                <a:t>② 신뢰 리뷰어 목록에 없는 사람의 @fw 는 무시 — 목록이 비면 시작 거부</a:t>
              </a:r>
              <a:br/>
              <a:r>
                <a:rPr lang="ko-KR" sz="1200" dirty="0">
                  <a:solidFill>
                    <a:schemeClr val="accent5"/>
                  </a:solidFill>
                  <a:latin typeface="+mn-lt"/>
                  <a:ea typeface="+mn-ea"/>
                  <a:cs typeface="+mn-cs"/>
                </a:rPr>
                <a:t xml:space="preserve">PR 만 만들고 코멘트는 안 읽으려면 </a:t>
              </a:r>
              <a:r>
                <a:rPr lang="ko-KR" sz="1200" dirty="0">
                  <a:solidFill>
                    <a:schemeClr val="accent5"/>
                  </a:solidFill>
                  <a:latin typeface="Consolas"/>
                  <a:ea typeface="Consolas"/>
                  <a:cs typeface="Consolas"/>
                </a:rPr>
                <a:t>pr_comment_mode: "off"</a:t>
              </a:r>
            </a:p>
          </p:txBody>
        </p:sp>
        <p:sp>
          <p:nvSpPr>
            <p:cNvPr id="57" name="TextBox 57"/>
            <p:cNvSpPr txBox="1"/>
            <p:nvPr/>
          </p:nvSpPr>
          <p:spPr>
            <a:xfrm>
              <a:off x="6242304" y="5585460"/>
              <a:ext cx="4645152" cy="863346"/>
            </a:xfrm>
            <a:prstGeom prst="rect">
              <a:avLst/>
            </a:prstGeom>
            <a:noFill/>
            <a:ln>
              <a:noFill/>
            </a:ln>
          </p:spPr>
          <p:txBody>
            <a:bodyPr wrap="none" lIns="0" tIns="0" rIns="0" bIns="0" anchor="t" anchorCtr="0">
              <a:spAutoFit/>
            </a:bodyPr>
            <a:lstStyle/>
            <a:p>
              <a:pPr algn="l">
                <a:lnSpc>
                  <a:spcPts val="1650"/>
                </a:lnSpc>
              </a:pPr>
              <a:r>
                <a:rPr lang="ko-KR" sz="1200" dirty="0">
                  <a:solidFill>
                    <a:schemeClr val="dk1"/>
                  </a:solidFill>
                  <a:latin typeface="+mn-lt"/>
                  <a:ea typeface="+mn-ea"/>
                  <a:cs typeface="+mn-cs"/>
                </a:rPr>
                <a:t xml:space="preserve">③ 하네스는 머지 못 한다 — </a:t>
              </a:r>
              <a:r>
                <a:rPr lang="ko-KR" sz="1200" dirty="0">
                  <a:solidFill>
                    <a:schemeClr val="dk1"/>
                  </a:solidFill>
                  <a:latin typeface="Consolas"/>
                  <a:ea typeface="Consolas"/>
                  <a:cs typeface="Consolas"/>
                </a:rPr>
                <a:t>gh pr merge/close</a:t>
              </a:r>
              <a:r>
                <a:rPr lang="ko-KR" sz="1200" dirty="0">
                  <a:solidFill>
                    <a:schemeClr val="dk1"/>
                  </a:solidFill>
                  <a:latin typeface="+mn-lt"/>
                  <a:ea typeface="+mn-ea"/>
                  <a:cs typeface="+mn-cs"/>
                </a:rPr>
                <a:t xml:space="preserve"> 차단</a:t>
              </a:r>
              <a:br/>
              <a:r>
                <a:rPr lang="ko-KR" sz="1200" dirty="0">
                  <a:solidFill>
                    <a:schemeClr val="accent5"/>
                  </a:solidFill>
                  <a:latin typeface="+mn-lt"/>
                  <a:ea typeface="+mn-ea"/>
                  <a:cs typeface="+mn-cs"/>
                </a:rPr>
                <a:t>gh 로 머지·닫기·쓰기 API 를 호출하는 길을 모두 막아 둠</a:t>
              </a:r>
              <a:br/>
              <a:r>
                <a:rPr lang="ko-KR" sz="1200" dirty="0">
                  <a:solidFill>
                    <a:schemeClr val="dk1"/>
                  </a:solidFill>
                  <a:latin typeface="+mn-lt"/>
                  <a:ea typeface="+mn-ea"/>
                  <a:cs typeface="+mn-cs"/>
                </a:rPr>
                <a:t xml:space="preserve">④ PR 당 fix 세션 상한 </a:t>
              </a:r>
              <a:r>
                <a:rPr lang="ko-KR" sz="1200" dirty="0">
                  <a:solidFill>
                    <a:schemeClr val="dk1"/>
                  </a:solidFill>
                  <a:latin typeface="Consolas"/>
                  <a:ea typeface="Consolas"/>
                  <a:cs typeface="Consolas"/>
                </a:rPr>
                <a:t>max_fix_sessions</a:t>
              </a:r>
              <a:r>
                <a:rPr lang="ko-KR" sz="1200" dirty="0">
                  <a:solidFill>
                    <a:schemeClr val="dk1"/>
                  </a:solidFill>
                  <a:latin typeface="+mn-lt"/>
                  <a:ea typeface="+mn-ea"/>
                  <a:cs typeface="+mn-cs"/>
                </a:rPr>
                <a:t>(기본 10)</a:t>
              </a:r>
              <a:br/>
              <a:r>
                <a:rPr lang="ko-KR" sz="1200" dirty="0">
                  <a:solidFill>
                    <a:schemeClr val="accent5"/>
                  </a:solidFill>
                  <a:latin typeface="+mn-lt"/>
                  <a:ea typeface="+mn-ea"/>
                  <a:cs typeface="+mn-cs"/>
                </a:rPr>
                <a:t>반영 후 검증에 실패하면 push 하지 않고 멈춘다 → fw retry 로 재개</a:t>
              </a:r>
            </a:p>
          </p:txBody>
        </p:sp>
      </p:grpSp>
      <p:grpSp>
        <p:nvGrpSpPr>
          <p:cNvPr id="61" name="Group 61"/>
          <p:cNvGrpSpPr/>
          <p:nvPr/>
        </p:nvGrpSpPr>
        <p:grpSpPr>
          <a:xfrm>
            <a:off x="604266" y="6516052"/>
            <a:ext cx="10983468" cy="205359"/>
            <a:chOff x="604266" y="6516052"/>
            <a:chExt cx="10983468" cy="205359"/>
          </a:xfrm>
        </p:grpSpPr>
        <p:sp>
          <p:nvSpPr>
            <p:cNvPr id="59" name="TextBox 59"/>
            <p:cNvSpPr txBox="1"/>
            <p:nvPr/>
          </p:nvSpPr>
          <p:spPr>
            <a:xfrm>
              <a:off x="604266" y="6516052"/>
              <a:ext cx="6588763"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feature-workflow · plugins/feature-workflow/README.md §4.6 · harness/README.md PR 모드</a:t>
              </a:r>
            </a:p>
          </p:txBody>
        </p:sp>
        <p:sp>
          <p:nvSpPr>
            <p:cNvPr id="60" name="TextBox 60"/>
            <p:cNvSpPr txBox="1"/>
            <p:nvPr/>
          </p:nvSpPr>
          <p:spPr>
            <a:xfrm>
              <a:off x="11103540" y="65160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11 / 19</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609600" y="1905000"/>
            <a:ext cx="10972800" cy="2857500"/>
          </a:xfrm>
          <a:custGeom>
            <a:avLst/>
            <a:gdLst/>
            <a:ahLst/>
            <a:cxnLst/>
            <a:rect l="l" t="t" r="r" b="b"/>
            <a:pathLst>
              <a:path w="10972800" h="2857500">
                <a:moveTo>
                  <a:pt x="152400" y="0"/>
                </a:moveTo>
                <a:lnTo>
                  <a:pt x="152400" y="2857500"/>
                </a:lnTo>
                <a:moveTo>
                  <a:pt x="914400" y="0"/>
                </a:moveTo>
                <a:lnTo>
                  <a:pt x="914400" y="2857500"/>
                </a:lnTo>
                <a:moveTo>
                  <a:pt x="1676400" y="0"/>
                </a:moveTo>
                <a:lnTo>
                  <a:pt x="1676400" y="2857500"/>
                </a:lnTo>
                <a:moveTo>
                  <a:pt x="2438400" y="0"/>
                </a:moveTo>
                <a:lnTo>
                  <a:pt x="2438400" y="2857500"/>
                </a:lnTo>
                <a:moveTo>
                  <a:pt x="3200400" y="0"/>
                </a:moveTo>
                <a:lnTo>
                  <a:pt x="3200400" y="2857500"/>
                </a:lnTo>
                <a:moveTo>
                  <a:pt x="3962400" y="0"/>
                </a:moveTo>
                <a:lnTo>
                  <a:pt x="3962400" y="2857500"/>
                </a:lnTo>
                <a:moveTo>
                  <a:pt x="4724400" y="0"/>
                </a:moveTo>
                <a:lnTo>
                  <a:pt x="4724400" y="2857500"/>
                </a:lnTo>
                <a:moveTo>
                  <a:pt x="5486400" y="0"/>
                </a:moveTo>
                <a:lnTo>
                  <a:pt x="5486400" y="2857500"/>
                </a:lnTo>
                <a:moveTo>
                  <a:pt x="6248400" y="0"/>
                </a:moveTo>
                <a:lnTo>
                  <a:pt x="6248400" y="2857500"/>
                </a:lnTo>
                <a:moveTo>
                  <a:pt x="7010400" y="0"/>
                </a:moveTo>
                <a:lnTo>
                  <a:pt x="7010400" y="2857500"/>
                </a:lnTo>
                <a:moveTo>
                  <a:pt x="7772400" y="0"/>
                </a:moveTo>
                <a:lnTo>
                  <a:pt x="7772400" y="2857500"/>
                </a:lnTo>
                <a:moveTo>
                  <a:pt x="8534400" y="0"/>
                </a:moveTo>
                <a:lnTo>
                  <a:pt x="8534400" y="2857500"/>
                </a:lnTo>
                <a:moveTo>
                  <a:pt x="9296400" y="0"/>
                </a:moveTo>
                <a:lnTo>
                  <a:pt x="9296400" y="2857500"/>
                </a:lnTo>
                <a:moveTo>
                  <a:pt x="10058400" y="0"/>
                </a:moveTo>
                <a:lnTo>
                  <a:pt x="10058400" y="2857500"/>
                </a:lnTo>
                <a:moveTo>
                  <a:pt x="10820400" y="0"/>
                </a:moveTo>
                <a:lnTo>
                  <a:pt x="10820400" y="2857500"/>
                </a:lnTo>
                <a:moveTo>
                  <a:pt x="0" y="381000"/>
                </a:moveTo>
                <a:lnTo>
                  <a:pt x="10972800" y="381000"/>
                </a:lnTo>
                <a:moveTo>
                  <a:pt x="0" y="1143000"/>
                </a:moveTo>
                <a:lnTo>
                  <a:pt x="10972800" y="1143000"/>
                </a:lnTo>
                <a:moveTo>
                  <a:pt x="0" y="1905000"/>
                </a:moveTo>
                <a:lnTo>
                  <a:pt x="10972800" y="1905000"/>
                </a:lnTo>
                <a:moveTo>
                  <a:pt x="0" y="2667000"/>
                </a:moveTo>
                <a:lnTo>
                  <a:pt x="10972800" y="2667000"/>
                </a:lnTo>
              </a:path>
            </a:pathLst>
          </a:custGeom>
          <a:noFill/>
          <a:ln w="9525">
            <a:solidFill>
              <a:srgbClr val="1B2740"/>
            </a:solidFill>
          </a:ln>
        </p:spPr>
      </p:sp>
      <p:grpSp>
        <p:nvGrpSpPr>
          <p:cNvPr id="4" name="Group 4"/>
          <p:cNvGrpSpPr/>
          <p:nvPr/>
        </p:nvGrpSpPr>
        <p:grpSpPr>
          <a:xfrm>
            <a:off x="601980" y="428625"/>
            <a:ext cx="3258312" cy="293370"/>
            <a:chOff x="601980" y="428625"/>
            <a:chExt cx="3258312" cy="293370"/>
          </a:xfrm>
        </p:grpSpPr>
        <p:sp>
          <p:nvSpPr>
            <p:cNvPr id="3" name="TextBox 3"/>
            <p:cNvSpPr txBox="1"/>
            <p:nvPr/>
          </p:nvSpPr>
          <p:spPr>
            <a:xfrm>
              <a:off x="601980" y="428625"/>
              <a:ext cx="3258312" cy="293370"/>
            </a:xfrm>
            <a:prstGeom prst="rect">
              <a:avLst/>
            </a:prstGeom>
            <a:noFill/>
            <a:ln>
              <a:noFill/>
            </a:ln>
          </p:spPr>
          <p:txBody>
            <a:bodyPr wrap="none" lIns="0" tIns="0" rIns="0" bIns="0" anchor="t" anchorCtr="0">
              <a:spAutoFit/>
            </a:bodyPr>
            <a:lstStyle/>
            <a:p>
              <a:pPr algn="l"/>
              <a:r>
                <a:rPr lang="ko-KR" sz="1500" spc="150" dirty="0">
                  <a:solidFill>
                    <a:schemeClr val="accent5"/>
                  </a:solidFill>
                  <a:latin typeface="Consolas"/>
                  <a:ea typeface="Microsoft YaHei"/>
                  <a:cs typeface="Consolas"/>
                </a:rPr>
                <a:t>PART 02 · 동작 원리 — 마무리</a:t>
              </a:r>
            </a:p>
          </p:txBody>
        </p:sp>
      </p:grpSp>
      <p:grpSp>
        <p:nvGrpSpPr>
          <p:cNvPr id="7" name="Group 7"/>
          <p:cNvGrpSpPr/>
          <p:nvPr/>
        </p:nvGrpSpPr>
        <p:grpSpPr>
          <a:xfrm>
            <a:off x="593598" y="822008"/>
            <a:ext cx="10557320" cy="943165"/>
            <a:chOff x="593598" y="822008"/>
            <a:chExt cx="10557320" cy="943165"/>
          </a:xfrm>
        </p:grpSpPr>
        <p:sp>
          <p:nvSpPr>
            <p:cNvPr id="5" name="TextBox 5"/>
            <p:cNvSpPr txBox="1"/>
            <p:nvPr/>
          </p:nvSpPr>
          <p:spPr>
            <a:xfrm>
              <a:off x="593598" y="822008"/>
              <a:ext cx="9314524" cy="616077"/>
            </a:xfrm>
            <a:prstGeom prst="rect">
              <a:avLst/>
            </a:prstGeom>
            <a:noFill/>
            <a:ln>
              <a:noFill/>
            </a:ln>
          </p:spPr>
          <p:txBody>
            <a:bodyPr wrap="none" lIns="0" tIns="0" rIns="0" bIns="0" anchor="t" anchorCtr="0">
              <a:spAutoFit/>
            </a:bodyPr>
            <a:lstStyle/>
            <a:p>
              <a:pPr algn="l"/>
              <a:r>
                <a:rPr lang="ko-KR" sz="3150" b="1" dirty="0">
                  <a:solidFill>
                    <a:schemeClr val="dk1"/>
                  </a:solidFill>
                  <a:latin typeface="+mn-lt"/>
                  <a:ea typeface="+mn-ea"/>
                  <a:cs typeface="+mn-cs"/>
                </a:rPr>
                <a:t xml:space="preserve">검증관의 임무는 통과 확인이 아니라 </a:t>
              </a:r>
              <a:r>
                <a:rPr lang="ko-KR" sz="3150" b="1" dirty="0">
                  <a:solidFill>
                    <a:schemeClr val="accent3"/>
                  </a:solidFill>
                  <a:latin typeface="+mn-lt"/>
                  <a:ea typeface="+mn-ea"/>
                  <a:cs typeface="+mn-cs"/>
                </a:rPr>
                <a:t>반증 찾기</a:t>
              </a:r>
              <a:r>
                <a:rPr lang="ko-KR" sz="3150" b="1" dirty="0">
                  <a:solidFill>
                    <a:schemeClr val="dk1"/>
                  </a:solidFill>
                  <a:latin typeface="+mn-lt"/>
                  <a:ea typeface="+mn-ea"/>
                  <a:cs typeface="+mn-cs"/>
                </a:rPr>
                <a:t>다</a:t>
              </a:r>
            </a:p>
          </p:txBody>
        </p:sp>
        <p:sp>
          <p:nvSpPr>
            <p:cNvPr id="6" name="TextBox 6"/>
            <p:cNvSpPr txBox="1"/>
            <p:nvPr/>
          </p:nvSpPr>
          <p:spPr>
            <a:xfrm>
              <a:off x="598932" y="1354455"/>
              <a:ext cx="10551986" cy="410718"/>
            </a:xfrm>
            <a:prstGeom prst="rect">
              <a:avLst/>
            </a:prstGeom>
            <a:noFill/>
            <a:ln>
              <a:noFill/>
            </a:ln>
          </p:spPr>
          <p:txBody>
            <a:bodyPr wrap="none" lIns="0" tIns="0" rIns="0" bIns="0" anchor="t" anchorCtr="0">
              <a:spAutoFit/>
            </a:bodyPr>
            <a:lstStyle/>
            <a:p>
              <a:pPr algn="l"/>
              <a:r>
                <a:rPr lang="ko-KR" sz="2100" dirty="0">
                  <a:solidFill>
                    <a:schemeClr val="accent5"/>
                  </a:solidFill>
                  <a:latin typeface="+mn-lt"/>
                  <a:ea typeface="+mn-ea"/>
                  <a:cs typeface="+mn-cs"/>
                </a:rPr>
                <a:t>인터뷰 산출물 = 검증 체크리스트 · 이견은 뭉개지 않는다 · 다음 목표는 제안으로만</a:t>
              </a:r>
            </a:p>
          </p:txBody>
        </p:sp>
      </p:grpSp>
      <p:grpSp>
        <p:nvGrpSpPr>
          <p:cNvPr id="72" name="Group 72"/>
          <p:cNvGrpSpPr/>
          <p:nvPr/>
        </p:nvGrpSpPr>
        <p:grpSpPr>
          <a:xfrm>
            <a:off x="609600" y="2038350"/>
            <a:ext cx="10972800" cy="2590800"/>
            <a:chOff x="609600" y="2038350"/>
            <a:chExt cx="10972800" cy="2590800"/>
          </a:xfrm>
        </p:grpSpPr>
        <p:grpSp>
          <p:nvGrpSpPr>
            <p:cNvPr id="10" name="Group 10"/>
            <p:cNvGrpSpPr/>
            <p:nvPr/>
          </p:nvGrpSpPr>
          <p:grpSpPr>
            <a:xfrm>
              <a:off x="609600" y="3143250"/>
              <a:ext cx="1524000" cy="381000"/>
              <a:chOff x="609600" y="3143250"/>
              <a:chExt cx="1524000" cy="381000"/>
            </a:xfrm>
          </p:grpSpPr>
          <p:sp>
            <p:nvSpPr>
              <p:cNvPr id="8" name="Rectangle 8"/>
              <p:cNvSpPr/>
              <p:nvPr/>
            </p:nvSpPr>
            <p:spPr>
              <a:xfrm>
                <a:off x="609600" y="3143250"/>
                <a:ext cx="1524000" cy="381000"/>
              </a:xfrm>
              <a:prstGeom prst="roundRect">
                <a:avLst>
                  <a:gd name="adj" fmla="val 15000"/>
                </a:avLst>
              </a:prstGeom>
              <a:solidFill>
                <a:srgbClr val="182238"/>
              </a:solidFill>
              <a:ln w="19050">
                <a:solidFill>
                  <a:srgbClr val="4ADE80"/>
                </a:solidFill>
              </a:ln>
            </p:spPr>
          </p:sp>
          <p:sp>
            <p:nvSpPr>
              <p:cNvPr id="9" name="TextBox 9"/>
              <p:cNvSpPr txBox="1"/>
              <p:nvPr/>
            </p:nvSpPr>
            <p:spPr>
              <a:xfrm>
                <a:off x="769553" y="3245168"/>
                <a:ext cx="1204093" cy="264033"/>
              </a:xfrm>
              <a:prstGeom prst="rect">
                <a:avLst/>
              </a:prstGeom>
              <a:noFill/>
              <a:ln>
                <a:noFill/>
              </a:ln>
            </p:spPr>
            <p:txBody>
              <a:bodyPr wrap="none" lIns="0" tIns="0" rIns="0" bIns="0" anchor="t" anchorCtr="0">
                <a:spAutoFit/>
              </a:bodyPr>
              <a:lstStyle/>
              <a:p>
                <a:pPr algn="ctr"/>
                <a:r>
                  <a:rPr lang="ko-KR" sz="1350" dirty="0">
                    <a:solidFill>
                      <a:srgbClr val="4ADE80"/>
                    </a:solidFill>
                    <a:latin typeface="+mn-lt"/>
                    <a:ea typeface="+mn-ea"/>
                    <a:cs typeface="+mn-cs"/>
                  </a:rPr>
                  <a:t>전 phase done</a:t>
                </a:r>
              </a:p>
            </p:txBody>
          </p:sp>
        </p:grpSp>
        <p:sp>
          <p:nvSpPr>
            <p:cNvPr id="11" name="Line 11"/>
            <p:cNvSpPr/>
            <p:nvPr/>
          </p:nvSpPr>
          <p:spPr>
            <a:xfrm>
              <a:off x="2133600" y="3333750"/>
              <a:ext cx="323850" cy="1"/>
            </a:xfrm>
            <a:prstGeom prst="line">
              <a:avLst/>
            </a:prstGeom>
            <a:noFill/>
            <a:ln w="19050">
              <a:solidFill>
                <a:srgbClr val="4ADE80"/>
              </a:solidFill>
              <a:tailEnd type="triangle" w="med" len="med"/>
            </a:ln>
          </p:spPr>
        </p:sp>
        <p:sp>
          <p:nvSpPr>
            <p:cNvPr id="12" name="Freeform 12"/>
            <p:cNvSpPr/>
            <p:nvPr/>
          </p:nvSpPr>
          <p:spPr>
            <a:xfrm>
              <a:off x="2476500" y="2952750"/>
              <a:ext cx="1524000" cy="762000"/>
            </a:xfrm>
            <a:prstGeom prst="flowChartDecision">
              <a:avLst/>
            </a:prstGeom>
            <a:solidFill>
              <a:srgbClr val="182238"/>
            </a:solidFill>
            <a:ln w="19050">
              <a:solidFill>
                <a:schemeClr val="accent1"/>
              </a:solidFill>
            </a:ln>
          </p:spPr>
        </p:sp>
        <p:sp>
          <p:nvSpPr>
            <p:cNvPr id="13" name="TextBox 13"/>
            <p:cNvSpPr txBox="1"/>
            <p:nvPr/>
          </p:nvSpPr>
          <p:spPr>
            <a:xfrm>
              <a:off x="2971800" y="3182302"/>
              <a:ext cx="533400" cy="205359"/>
            </a:xfrm>
            <a:prstGeom prst="rect">
              <a:avLst/>
            </a:prstGeom>
            <a:noFill/>
            <a:ln>
              <a:noFill/>
            </a:ln>
          </p:spPr>
          <p:txBody>
            <a:bodyPr wrap="none" lIns="0" tIns="0" rIns="0" bIns="0" anchor="t" anchorCtr="0">
              <a:spAutoFit/>
            </a:bodyPr>
            <a:lstStyle/>
            <a:p>
              <a:pPr algn="ctr"/>
              <a:r>
                <a:rPr lang="ko-KR" sz="1050" dirty="0">
                  <a:solidFill>
                    <a:schemeClr val="dk1"/>
                  </a:solidFill>
                  <a:latin typeface="+mn-lt"/>
                  <a:ea typeface="+mn-ea"/>
                  <a:cs typeface="+mn-cs"/>
                </a:rPr>
                <a:t>PLAN 에</a:t>
              </a:r>
            </a:p>
          </p:txBody>
        </p:sp>
        <p:sp>
          <p:nvSpPr>
            <p:cNvPr id="14" name="TextBox 14"/>
            <p:cNvSpPr txBox="1"/>
            <p:nvPr/>
          </p:nvSpPr>
          <p:spPr>
            <a:xfrm>
              <a:off x="2727836" y="3353752"/>
              <a:ext cx="1021328" cy="205359"/>
            </a:xfrm>
            <a:prstGeom prst="rect">
              <a:avLst/>
            </a:prstGeom>
            <a:noFill/>
            <a:ln>
              <a:noFill/>
            </a:ln>
          </p:spPr>
          <p:txBody>
            <a:bodyPr wrap="none" lIns="0" tIns="0" rIns="0" bIns="0" anchor="t" anchorCtr="0">
              <a:spAutoFit/>
            </a:bodyPr>
            <a:lstStyle/>
            <a:p>
              <a:pPr algn="ctr"/>
              <a:r>
                <a:rPr lang="ko-KR" sz="1050" dirty="0">
                  <a:solidFill>
                    <a:schemeClr val="dk1"/>
                  </a:solidFill>
                  <a:latin typeface="+mn-lt"/>
                  <a:ea typeface="+mn-ea"/>
                  <a:cs typeface="+mn-cs"/>
                </a:rPr>
                <a:t>어느 절이 있나?</a:t>
              </a:r>
            </a:p>
          </p:txBody>
        </p:sp>
        <p:grpSp>
          <p:nvGrpSpPr>
            <p:cNvPr id="22" name="Group 22"/>
            <p:cNvGrpSpPr/>
            <p:nvPr/>
          </p:nvGrpSpPr>
          <p:grpSpPr>
            <a:xfrm>
              <a:off x="4476750" y="2038350"/>
              <a:ext cx="2874721" cy="571500"/>
              <a:chOff x="4476750" y="2038350"/>
              <a:chExt cx="2874721" cy="571500"/>
            </a:xfrm>
          </p:grpSpPr>
          <p:sp>
            <p:nvSpPr>
              <p:cNvPr id="15" name="Rectangle 15"/>
              <p:cNvSpPr/>
              <p:nvPr/>
            </p:nvSpPr>
            <p:spPr>
              <a:xfrm>
                <a:off x="4476750" y="2038350"/>
                <a:ext cx="2476500" cy="571500"/>
              </a:xfrm>
              <a:prstGeom prst="roundRect">
                <a:avLst>
                  <a:gd name="adj" fmla="val 10000"/>
                </a:avLst>
              </a:prstGeom>
              <a:solidFill>
                <a:srgbClr val="182238"/>
              </a:solidFill>
              <a:ln w="19050">
                <a:solidFill>
                  <a:schemeClr val="accent3"/>
                </a:solidFill>
              </a:ln>
            </p:spPr>
          </p:sp>
          <p:grpSp>
            <p:nvGrpSpPr>
              <p:cNvPr id="19" name="Group 19"/>
              <p:cNvGrpSpPr/>
              <p:nvPr/>
            </p:nvGrpSpPr>
            <p:grpSpPr>
              <a:xfrm>
                <a:off x="4619625" y="2238375"/>
                <a:ext cx="171450" cy="171450"/>
                <a:chOff x="4619625" y="2238375"/>
                <a:chExt cx="171450" cy="171450"/>
              </a:xfrm>
            </p:grpSpPr>
            <p:sp>
              <p:nvSpPr>
                <p:cNvPr id="16" name="Freeform 16"/>
                <p:cNvSpPr/>
                <p:nvPr/>
              </p:nvSpPr>
              <p:spPr>
                <a:xfrm>
                  <a:off x="4695825" y="2314575"/>
                  <a:ext cx="19050" cy="19050"/>
                </a:xfrm>
                <a:custGeom>
                  <a:avLst/>
                  <a:gdLst/>
                  <a:ahLst/>
                  <a:cxnLst/>
                  <a:rect l="l" t="t" r="r" b="b"/>
                  <a:pathLst>
                    <a:path w="19050" h="19050">
                      <a:moveTo>
                        <a:pt x="0" y="9525"/>
                      </a:moveTo>
                      <a:cubicBezTo>
                        <a:pt x="0" y="14786"/>
                        <a:pt x="4264" y="19050"/>
                        <a:pt x="9525" y="19050"/>
                      </a:cubicBezTo>
                      <a:cubicBezTo>
                        <a:pt x="14786" y="19050"/>
                        <a:pt x="19050" y="14786"/>
                        <a:pt x="19050" y="9525"/>
                      </a:cubicBezTo>
                      <a:cubicBezTo>
                        <a:pt x="19050" y="4264"/>
                        <a:pt x="14786" y="0"/>
                        <a:pt x="9525" y="0"/>
                      </a:cubicBezTo>
                      <a:cubicBezTo>
                        <a:pt x="4264" y="0"/>
                        <a:pt x="0" y="4264"/>
                        <a:pt x="0" y="9525"/>
                      </a:cubicBezTo>
                    </a:path>
                  </a:pathLst>
                </a:custGeom>
                <a:noFill/>
                <a:ln w="19050">
                  <a:solidFill>
                    <a:schemeClr val="accent3"/>
                  </a:solidFill>
                </a:ln>
              </p:spPr>
            </p:sp>
            <p:sp>
              <p:nvSpPr>
                <p:cNvPr id="17" name="Freeform 17"/>
                <p:cNvSpPr/>
                <p:nvPr/>
              </p:nvSpPr>
              <p:spPr>
                <a:xfrm>
                  <a:off x="4657725" y="2276475"/>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19050">
                  <a:solidFill>
                    <a:schemeClr val="accent3"/>
                  </a:solidFill>
                </a:ln>
              </p:spPr>
            </p:sp>
            <p:sp>
              <p:nvSpPr>
                <p:cNvPr id="18" name="Freeform 18"/>
                <p:cNvSpPr/>
                <p:nvPr/>
              </p:nvSpPr>
              <p:spPr>
                <a:xfrm>
                  <a:off x="4619625" y="2238375"/>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chemeClr val="accent3"/>
                  </a:solidFill>
                </a:ln>
              </p:spPr>
            </p:sp>
          </p:grpSp>
          <p:sp>
            <p:nvSpPr>
              <p:cNvPr id="20" name="TextBox 20"/>
              <p:cNvSpPr txBox="1"/>
              <p:nvPr/>
            </p:nvSpPr>
            <p:spPr>
              <a:xfrm>
                <a:off x="4908804" y="2137410"/>
                <a:ext cx="2442621"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기획 검증관 — §핵심 결정 있을 때</a:t>
                </a:r>
              </a:p>
            </p:txBody>
          </p:sp>
          <p:sp>
            <p:nvSpPr>
              <p:cNvPr id="21" name="TextBox 21"/>
              <p:cNvSpPr txBox="1"/>
              <p:nvPr/>
            </p:nvSpPr>
            <p:spPr>
              <a:xfrm>
                <a:off x="4909566" y="2363152"/>
                <a:ext cx="2441905"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결정이 슬쩍 바뀌거나 무시되지 않았나</a:t>
                </a:r>
              </a:p>
            </p:txBody>
          </p:sp>
        </p:grpSp>
        <p:grpSp>
          <p:nvGrpSpPr>
            <p:cNvPr id="32" name="Group 32"/>
            <p:cNvGrpSpPr/>
            <p:nvPr/>
          </p:nvGrpSpPr>
          <p:grpSpPr>
            <a:xfrm>
              <a:off x="4476750" y="3048000"/>
              <a:ext cx="3475463" cy="571500"/>
              <a:chOff x="4476750" y="3048000"/>
              <a:chExt cx="3475463" cy="571500"/>
            </a:xfrm>
          </p:grpSpPr>
          <p:sp>
            <p:nvSpPr>
              <p:cNvPr id="23" name="Rectangle 23"/>
              <p:cNvSpPr/>
              <p:nvPr/>
            </p:nvSpPr>
            <p:spPr>
              <a:xfrm>
                <a:off x="4476750" y="3048000"/>
                <a:ext cx="2476500" cy="571500"/>
              </a:xfrm>
              <a:prstGeom prst="roundRect">
                <a:avLst>
                  <a:gd name="adj" fmla="val 10000"/>
                </a:avLst>
              </a:prstGeom>
              <a:solidFill>
                <a:srgbClr val="182238"/>
              </a:solidFill>
              <a:ln w="19050">
                <a:solidFill>
                  <a:schemeClr val="accent3"/>
                </a:solidFill>
              </a:ln>
            </p:spPr>
          </p:sp>
          <p:grpSp>
            <p:nvGrpSpPr>
              <p:cNvPr id="29" name="Group 29"/>
              <p:cNvGrpSpPr/>
              <p:nvPr/>
            </p:nvGrpSpPr>
            <p:grpSpPr>
              <a:xfrm>
                <a:off x="4619625" y="3248025"/>
                <a:ext cx="171450" cy="171450"/>
                <a:chOff x="4619625" y="3248025"/>
                <a:chExt cx="171450" cy="171450"/>
              </a:xfrm>
            </p:grpSpPr>
            <p:sp>
              <p:nvSpPr>
                <p:cNvPr id="24" name="Freeform 24"/>
                <p:cNvSpPr/>
                <p:nvPr/>
              </p:nvSpPr>
              <p:spPr>
                <a:xfrm>
                  <a:off x="4657725" y="3409950"/>
                  <a:ext cx="95250" cy="9525"/>
                </a:xfrm>
                <a:custGeom>
                  <a:avLst/>
                  <a:gdLst/>
                  <a:ahLst/>
                  <a:cxnLst/>
                  <a:rect l="l" t="t" r="r" b="b"/>
                  <a:pathLst>
                    <a:path w="95250" h="9525">
                      <a:moveTo>
                        <a:pt x="0" y="0"/>
                      </a:moveTo>
                      <a:lnTo>
                        <a:pt x="95250" y="0"/>
                      </a:lnTo>
                    </a:path>
                  </a:pathLst>
                </a:custGeom>
                <a:noFill/>
                <a:ln w="19050">
                  <a:solidFill>
                    <a:schemeClr val="accent3"/>
                  </a:solidFill>
                </a:ln>
              </p:spPr>
            </p:sp>
            <p:sp>
              <p:nvSpPr>
                <p:cNvPr id="25" name="Freeform 25"/>
                <p:cNvSpPr/>
                <p:nvPr/>
              </p:nvSpPr>
              <p:spPr>
                <a:xfrm>
                  <a:off x="4648200" y="3267075"/>
                  <a:ext cx="114300" cy="9525"/>
                </a:xfrm>
                <a:custGeom>
                  <a:avLst/>
                  <a:gdLst/>
                  <a:ahLst/>
                  <a:cxnLst/>
                  <a:rect l="l" t="t" r="r" b="b"/>
                  <a:pathLst>
                    <a:path w="114300" h="9525">
                      <a:moveTo>
                        <a:pt x="0" y="9525"/>
                      </a:moveTo>
                      <a:lnTo>
                        <a:pt x="57150" y="0"/>
                      </a:lnTo>
                      <a:lnTo>
                        <a:pt x="114300" y="9525"/>
                      </a:lnTo>
                    </a:path>
                  </a:pathLst>
                </a:custGeom>
                <a:noFill/>
                <a:ln w="19050">
                  <a:solidFill>
                    <a:schemeClr val="accent3"/>
                  </a:solidFill>
                </a:ln>
              </p:spPr>
            </p:sp>
            <p:sp>
              <p:nvSpPr>
                <p:cNvPr id="26" name="Freeform 26"/>
                <p:cNvSpPr/>
                <p:nvPr/>
              </p:nvSpPr>
              <p:spPr>
                <a:xfrm>
                  <a:off x="4705350" y="3248025"/>
                  <a:ext cx="9525" cy="161925"/>
                </a:xfrm>
                <a:custGeom>
                  <a:avLst/>
                  <a:gdLst/>
                  <a:ahLst/>
                  <a:cxnLst/>
                  <a:rect l="l" t="t" r="r" b="b"/>
                  <a:pathLst>
                    <a:path w="9525" h="161925">
                      <a:moveTo>
                        <a:pt x="0" y="0"/>
                      </a:moveTo>
                      <a:lnTo>
                        <a:pt x="0" y="161925"/>
                      </a:lnTo>
                    </a:path>
                  </a:pathLst>
                </a:custGeom>
                <a:noFill/>
                <a:ln w="19050">
                  <a:solidFill>
                    <a:schemeClr val="accent3"/>
                  </a:solidFill>
                </a:ln>
              </p:spPr>
            </p:sp>
            <p:sp>
              <p:nvSpPr>
                <p:cNvPr id="27" name="Freeform 27"/>
                <p:cNvSpPr/>
                <p:nvPr/>
              </p:nvSpPr>
              <p:spPr>
                <a:xfrm>
                  <a:off x="4619625" y="3276600"/>
                  <a:ext cx="57150" cy="85725"/>
                </a:xfrm>
                <a:custGeom>
                  <a:avLst/>
                  <a:gdLst/>
                  <a:ahLst/>
                  <a:cxnLst/>
                  <a:rect l="l" t="t" r="r" b="b"/>
                  <a:pathLst>
                    <a:path w="57150" h="85725">
                      <a:moveTo>
                        <a:pt x="57150" y="57150"/>
                      </a:moveTo>
                      <a:lnTo>
                        <a:pt x="28575" y="0"/>
                      </a:lnTo>
                      <a:lnTo>
                        <a:pt x="0" y="57150"/>
                      </a:lnTo>
                      <a:cubicBezTo>
                        <a:pt x="0" y="72932"/>
                        <a:pt x="12793" y="85725"/>
                        <a:pt x="28575" y="85725"/>
                      </a:cubicBezTo>
                      <a:cubicBezTo>
                        <a:pt x="44357" y="85725"/>
                        <a:pt x="57150" y="72932"/>
                        <a:pt x="57150" y="57150"/>
                      </a:cubicBezTo>
                    </a:path>
                  </a:pathLst>
                </a:custGeom>
                <a:noFill/>
                <a:ln w="19050">
                  <a:solidFill>
                    <a:schemeClr val="accent3"/>
                  </a:solidFill>
                </a:ln>
              </p:spPr>
            </p:sp>
            <p:sp>
              <p:nvSpPr>
                <p:cNvPr id="28" name="Freeform 28"/>
                <p:cNvSpPr/>
                <p:nvPr/>
              </p:nvSpPr>
              <p:spPr>
                <a:xfrm>
                  <a:off x="4733925" y="3276600"/>
                  <a:ext cx="57150" cy="85725"/>
                </a:xfrm>
                <a:custGeom>
                  <a:avLst/>
                  <a:gdLst/>
                  <a:ahLst/>
                  <a:cxnLst/>
                  <a:rect l="l" t="t" r="r" b="b"/>
                  <a:pathLst>
                    <a:path w="57150" h="85725">
                      <a:moveTo>
                        <a:pt x="57150" y="57150"/>
                      </a:moveTo>
                      <a:lnTo>
                        <a:pt x="28575" y="0"/>
                      </a:lnTo>
                      <a:lnTo>
                        <a:pt x="0" y="57150"/>
                      </a:lnTo>
                      <a:cubicBezTo>
                        <a:pt x="0" y="72932"/>
                        <a:pt x="12793" y="85725"/>
                        <a:pt x="28575" y="85725"/>
                      </a:cubicBezTo>
                      <a:cubicBezTo>
                        <a:pt x="44357" y="85725"/>
                        <a:pt x="57150" y="72932"/>
                        <a:pt x="57150" y="57150"/>
                      </a:cubicBezTo>
                    </a:path>
                  </a:pathLst>
                </a:custGeom>
                <a:noFill/>
                <a:ln w="19050">
                  <a:solidFill>
                    <a:schemeClr val="accent3"/>
                  </a:solidFill>
                </a:ln>
              </p:spPr>
            </p:sp>
          </p:grpSp>
          <p:sp>
            <p:nvSpPr>
              <p:cNvPr id="30" name="TextBox 30"/>
              <p:cNvSpPr txBox="1"/>
              <p:nvPr/>
            </p:nvSpPr>
            <p:spPr>
              <a:xfrm>
                <a:off x="4908804" y="3147060"/>
                <a:ext cx="1388951"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평가 검증관 — 항상</a:t>
                </a:r>
              </a:p>
            </p:txBody>
          </p:sp>
          <p:sp>
            <p:nvSpPr>
              <p:cNvPr id="31" name="TextBox 31"/>
              <p:cNvSpPr txBox="1"/>
              <p:nvPr/>
            </p:nvSpPr>
            <p:spPr>
              <a:xfrm>
                <a:off x="4909566" y="3372802"/>
                <a:ext cx="3042647"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검증 기준 항목마다 근거가 있나, 없으면 "없음"</a:t>
                </a:r>
              </a:p>
            </p:txBody>
          </p:sp>
        </p:grpSp>
        <p:grpSp>
          <p:nvGrpSpPr>
            <p:cNvPr id="39" name="Group 39"/>
            <p:cNvGrpSpPr/>
            <p:nvPr/>
          </p:nvGrpSpPr>
          <p:grpSpPr>
            <a:xfrm>
              <a:off x="4476750" y="4057650"/>
              <a:ext cx="3341180" cy="571500"/>
              <a:chOff x="4476750" y="4057650"/>
              <a:chExt cx="3341180" cy="571500"/>
            </a:xfrm>
          </p:grpSpPr>
          <p:sp>
            <p:nvSpPr>
              <p:cNvPr id="33" name="Rectangle 33"/>
              <p:cNvSpPr/>
              <p:nvPr/>
            </p:nvSpPr>
            <p:spPr>
              <a:xfrm>
                <a:off x="4476750" y="4057650"/>
                <a:ext cx="2476500" cy="571500"/>
              </a:xfrm>
              <a:prstGeom prst="roundRect">
                <a:avLst>
                  <a:gd name="adj" fmla="val 10000"/>
                </a:avLst>
              </a:prstGeom>
              <a:solidFill>
                <a:srgbClr val="182238"/>
              </a:solidFill>
              <a:ln w="19050">
                <a:solidFill>
                  <a:schemeClr val="accent3"/>
                </a:solidFill>
              </a:ln>
            </p:spPr>
          </p:sp>
          <p:grpSp>
            <p:nvGrpSpPr>
              <p:cNvPr id="36" name="Group 36"/>
              <p:cNvGrpSpPr/>
              <p:nvPr/>
            </p:nvGrpSpPr>
            <p:grpSpPr>
              <a:xfrm>
                <a:off x="4619625" y="4257675"/>
                <a:ext cx="171450" cy="171450"/>
                <a:chOff x="4619625" y="4257675"/>
                <a:chExt cx="171450" cy="171450"/>
              </a:xfrm>
            </p:grpSpPr>
            <p:sp>
              <p:nvSpPr>
                <p:cNvPr id="34" name="Freeform 34"/>
                <p:cNvSpPr/>
                <p:nvPr/>
              </p:nvSpPr>
              <p:spPr>
                <a:xfrm>
                  <a:off x="4619625" y="4257675"/>
                  <a:ext cx="133350" cy="133350"/>
                </a:xfrm>
                <a:custGeom>
                  <a:avLst/>
                  <a:gdLst/>
                  <a:ahLst/>
                  <a:cxnLst/>
                  <a:rect l="l" t="t" r="r" b="b"/>
                  <a:pathLst>
                    <a:path w="133350" h="133350">
                      <a:moveTo>
                        <a:pt x="0" y="66675"/>
                      </a:moveTo>
                      <a:cubicBezTo>
                        <a:pt x="0" y="103499"/>
                        <a:pt x="29851" y="133350"/>
                        <a:pt x="66675" y="133350"/>
                      </a:cubicBezTo>
                      <a:cubicBezTo>
                        <a:pt x="103499" y="133350"/>
                        <a:pt x="133350" y="103499"/>
                        <a:pt x="133350" y="66675"/>
                      </a:cubicBezTo>
                      <a:cubicBezTo>
                        <a:pt x="133350" y="29851"/>
                        <a:pt x="103499" y="0"/>
                        <a:pt x="66675" y="0"/>
                      </a:cubicBezTo>
                      <a:cubicBezTo>
                        <a:pt x="29851" y="0"/>
                        <a:pt x="0" y="29851"/>
                        <a:pt x="0" y="66675"/>
                      </a:cubicBezTo>
                    </a:path>
                  </a:pathLst>
                </a:custGeom>
                <a:noFill/>
                <a:ln w="19050">
                  <a:solidFill>
                    <a:schemeClr val="accent3"/>
                  </a:solidFill>
                </a:ln>
              </p:spPr>
            </p:sp>
            <p:sp>
              <p:nvSpPr>
                <p:cNvPr id="35" name="Freeform 35"/>
                <p:cNvSpPr/>
                <p:nvPr/>
              </p:nvSpPr>
              <p:spPr>
                <a:xfrm>
                  <a:off x="4733925" y="4371975"/>
                  <a:ext cx="57150" cy="57150"/>
                </a:xfrm>
                <a:custGeom>
                  <a:avLst/>
                  <a:gdLst/>
                  <a:ahLst/>
                  <a:cxnLst/>
                  <a:rect l="l" t="t" r="r" b="b"/>
                  <a:pathLst>
                    <a:path w="57150" h="57150">
                      <a:moveTo>
                        <a:pt x="57150" y="57150"/>
                      </a:moveTo>
                      <a:lnTo>
                        <a:pt x="0" y="0"/>
                      </a:lnTo>
                    </a:path>
                  </a:pathLst>
                </a:custGeom>
                <a:noFill/>
                <a:ln w="19050">
                  <a:solidFill>
                    <a:schemeClr val="accent3"/>
                  </a:solidFill>
                </a:ln>
              </p:spPr>
            </p:sp>
          </p:grpSp>
          <p:sp>
            <p:nvSpPr>
              <p:cNvPr id="37" name="TextBox 37"/>
              <p:cNvSpPr txBox="1"/>
              <p:nvPr/>
            </p:nvSpPr>
            <p:spPr>
              <a:xfrm>
                <a:off x="4908804" y="4156710"/>
                <a:ext cx="2442621"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개발 검증관 — §개발 방향 있을 때</a:t>
                </a:r>
              </a:p>
            </p:txBody>
          </p:sp>
          <p:sp>
            <p:nvSpPr>
              <p:cNvPr id="38" name="TextBox 38"/>
              <p:cNvSpPr txBox="1"/>
              <p:nvPr/>
            </p:nvSpPr>
            <p:spPr>
              <a:xfrm>
                <a:off x="4909566" y="4382452"/>
                <a:ext cx="2908364"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구조를 깨거나 의존성을 몰래 추가하지 않았나</a:t>
                </a:r>
              </a:p>
            </p:txBody>
          </p:sp>
        </p:grpSp>
        <p:grpSp>
          <p:nvGrpSpPr>
            <p:cNvPr id="45" name="Group 45"/>
            <p:cNvGrpSpPr/>
            <p:nvPr/>
          </p:nvGrpSpPr>
          <p:grpSpPr>
            <a:xfrm>
              <a:off x="4000500" y="2324100"/>
              <a:ext cx="457200" cy="2019301"/>
              <a:chOff x="4000500" y="2324100"/>
              <a:chExt cx="457200" cy="2019301"/>
            </a:xfrm>
          </p:grpSpPr>
          <p:sp>
            <p:nvSpPr>
              <p:cNvPr id="40" name="Line 40"/>
              <p:cNvSpPr/>
              <p:nvPr/>
            </p:nvSpPr>
            <p:spPr>
              <a:xfrm>
                <a:off x="4000500" y="3333750"/>
                <a:ext cx="190500" cy="9525"/>
              </a:xfrm>
              <a:custGeom>
                <a:avLst/>
                <a:gdLst/>
                <a:ahLst/>
                <a:cxnLst/>
                <a:rect l="l" t="t" r="r" b="b"/>
                <a:pathLst>
                  <a:path w="190500" h="9525">
                    <a:moveTo>
                      <a:pt x="0" y="0"/>
                    </a:moveTo>
                    <a:lnTo>
                      <a:pt x="190500" y="0"/>
                    </a:lnTo>
                  </a:path>
                </a:pathLst>
              </a:custGeom>
              <a:noFill/>
              <a:ln w="19050">
                <a:solidFill>
                  <a:schemeClr val="accent1"/>
                </a:solidFill>
              </a:ln>
            </p:spPr>
          </p:sp>
          <p:sp>
            <p:nvSpPr>
              <p:cNvPr id="41" name="Line 41"/>
              <p:cNvSpPr/>
              <p:nvPr/>
            </p:nvSpPr>
            <p:spPr>
              <a:xfrm>
                <a:off x="4191000" y="2324100"/>
                <a:ext cx="9525" cy="2019300"/>
              </a:xfrm>
              <a:custGeom>
                <a:avLst/>
                <a:gdLst/>
                <a:ahLst/>
                <a:cxnLst/>
                <a:rect l="l" t="t" r="r" b="b"/>
                <a:pathLst>
                  <a:path w="9525" h="2019300">
                    <a:moveTo>
                      <a:pt x="0" y="0"/>
                    </a:moveTo>
                    <a:lnTo>
                      <a:pt x="0" y="2019300"/>
                    </a:lnTo>
                  </a:path>
                </a:pathLst>
              </a:custGeom>
              <a:noFill/>
              <a:ln w="19050">
                <a:solidFill>
                  <a:schemeClr val="accent1"/>
                </a:solidFill>
              </a:ln>
            </p:spPr>
          </p:sp>
          <p:sp>
            <p:nvSpPr>
              <p:cNvPr id="42" name="Line 42"/>
              <p:cNvSpPr/>
              <p:nvPr/>
            </p:nvSpPr>
            <p:spPr>
              <a:xfrm>
                <a:off x="4191000" y="2324100"/>
                <a:ext cx="266700" cy="1"/>
              </a:xfrm>
              <a:prstGeom prst="line">
                <a:avLst/>
              </a:prstGeom>
              <a:noFill/>
              <a:ln w="19050">
                <a:solidFill>
                  <a:schemeClr val="accent1"/>
                </a:solidFill>
                <a:tailEnd type="triangle" w="med" len="med"/>
              </a:ln>
            </p:spPr>
          </p:sp>
          <p:sp>
            <p:nvSpPr>
              <p:cNvPr id="43" name="Line 43"/>
              <p:cNvSpPr/>
              <p:nvPr/>
            </p:nvSpPr>
            <p:spPr>
              <a:xfrm>
                <a:off x="4191000" y="3333750"/>
                <a:ext cx="266700" cy="1"/>
              </a:xfrm>
              <a:prstGeom prst="line">
                <a:avLst/>
              </a:prstGeom>
              <a:noFill/>
              <a:ln w="19050">
                <a:solidFill>
                  <a:schemeClr val="accent1"/>
                </a:solidFill>
                <a:tailEnd type="triangle" w="med" len="med"/>
              </a:ln>
            </p:spPr>
          </p:sp>
          <p:sp>
            <p:nvSpPr>
              <p:cNvPr id="44" name="Line 44"/>
              <p:cNvSpPr/>
              <p:nvPr/>
            </p:nvSpPr>
            <p:spPr>
              <a:xfrm>
                <a:off x="4191000" y="4343400"/>
                <a:ext cx="266700" cy="1"/>
              </a:xfrm>
              <a:prstGeom prst="line">
                <a:avLst/>
              </a:prstGeom>
              <a:noFill/>
              <a:ln w="19050">
                <a:solidFill>
                  <a:schemeClr val="accent1"/>
                </a:solidFill>
                <a:tailEnd type="triangle" w="med" len="med"/>
              </a:ln>
            </p:spPr>
          </p:sp>
        </p:grpSp>
        <p:grpSp>
          <p:nvGrpSpPr>
            <p:cNvPr id="55" name="Group 55"/>
            <p:cNvGrpSpPr/>
            <p:nvPr/>
          </p:nvGrpSpPr>
          <p:grpSpPr>
            <a:xfrm>
              <a:off x="7524750" y="2819400"/>
              <a:ext cx="2000250" cy="1082611"/>
              <a:chOff x="7524750" y="2819400"/>
              <a:chExt cx="2000250" cy="1082611"/>
            </a:xfrm>
          </p:grpSpPr>
          <p:sp>
            <p:nvSpPr>
              <p:cNvPr id="46" name="Rectangle 46"/>
              <p:cNvSpPr/>
              <p:nvPr/>
            </p:nvSpPr>
            <p:spPr>
              <a:xfrm>
                <a:off x="7524750" y="2819400"/>
                <a:ext cx="2000250" cy="1028700"/>
              </a:xfrm>
              <a:prstGeom prst="roundRect">
                <a:avLst>
                  <a:gd name="adj" fmla="val 5556"/>
                </a:avLst>
              </a:prstGeom>
              <a:solidFill>
                <a:srgbClr val="1A1533"/>
              </a:solidFill>
              <a:ln w="19050">
                <a:solidFill>
                  <a:schemeClr val="accent3"/>
                </a:solidFill>
              </a:ln>
            </p:spPr>
          </p:sp>
          <p:grpSp>
            <p:nvGrpSpPr>
              <p:cNvPr id="52" name="Group 52"/>
              <p:cNvGrpSpPr/>
              <p:nvPr/>
            </p:nvGrpSpPr>
            <p:grpSpPr>
              <a:xfrm>
                <a:off x="7663643" y="2939243"/>
                <a:ext cx="160562" cy="168288"/>
                <a:chOff x="7663643" y="2939243"/>
                <a:chExt cx="160562" cy="168288"/>
              </a:xfrm>
            </p:grpSpPr>
            <p:sp>
              <p:nvSpPr>
                <p:cNvPr id="47" name="Freeform 47"/>
                <p:cNvSpPr/>
                <p:nvPr/>
              </p:nvSpPr>
              <p:spPr>
                <a:xfrm>
                  <a:off x="7726363" y="3001963"/>
                  <a:ext cx="97842" cy="97822"/>
                </a:xfrm>
                <a:custGeom>
                  <a:avLst/>
                  <a:gdLst/>
                  <a:ahLst/>
                  <a:cxnLst/>
                  <a:rect l="l" t="t" r="r" b="b"/>
                  <a:pathLst>
                    <a:path w="97842" h="97822">
                      <a:moveTo>
                        <a:pt x="26194" y="0"/>
                      </a:moveTo>
                      <a:lnTo>
                        <a:pt x="90657" y="64768"/>
                      </a:lnTo>
                      <a:cubicBezTo>
                        <a:pt x="97842" y="71928"/>
                        <a:pt x="97842" y="83523"/>
                        <a:pt x="90657" y="90674"/>
                      </a:cubicBezTo>
                      <a:cubicBezTo>
                        <a:pt x="83470" y="97822"/>
                        <a:pt x="71859" y="97822"/>
                        <a:pt x="64672" y="90674"/>
                      </a:cubicBezTo>
                      <a:lnTo>
                        <a:pt x="0" y="26194"/>
                      </a:lnTo>
                    </a:path>
                  </a:pathLst>
                </a:custGeom>
                <a:noFill/>
                <a:ln w="17463">
                  <a:solidFill>
                    <a:schemeClr val="accent3"/>
                  </a:solidFill>
                </a:ln>
              </p:spPr>
            </p:sp>
            <p:sp>
              <p:nvSpPr>
                <p:cNvPr id="48" name="Freeform 48"/>
                <p:cNvSpPr/>
                <p:nvPr/>
              </p:nvSpPr>
              <p:spPr>
                <a:xfrm>
                  <a:off x="7691438" y="2993231"/>
                  <a:ext cx="34925" cy="34925"/>
                </a:xfrm>
                <a:custGeom>
                  <a:avLst/>
                  <a:gdLst/>
                  <a:ahLst/>
                  <a:cxnLst/>
                  <a:rect l="l" t="t" r="r" b="b"/>
                  <a:pathLst>
                    <a:path w="34925" h="34925">
                      <a:moveTo>
                        <a:pt x="0" y="0"/>
                      </a:moveTo>
                      <a:lnTo>
                        <a:pt x="34925" y="34925"/>
                      </a:lnTo>
                    </a:path>
                  </a:pathLst>
                </a:custGeom>
                <a:noFill/>
                <a:ln w="17463">
                  <a:solidFill>
                    <a:schemeClr val="accent3"/>
                  </a:solidFill>
                </a:ln>
              </p:spPr>
            </p:sp>
            <p:sp>
              <p:nvSpPr>
                <p:cNvPr id="49" name="Freeform 49"/>
                <p:cNvSpPr/>
                <p:nvPr/>
              </p:nvSpPr>
              <p:spPr>
                <a:xfrm>
                  <a:off x="7717631" y="2967038"/>
                  <a:ext cx="34925" cy="34925"/>
                </a:xfrm>
                <a:custGeom>
                  <a:avLst/>
                  <a:gdLst/>
                  <a:ahLst/>
                  <a:cxnLst/>
                  <a:rect l="l" t="t" r="r" b="b"/>
                  <a:pathLst>
                    <a:path w="34925" h="34925">
                      <a:moveTo>
                        <a:pt x="34925" y="34925"/>
                      </a:moveTo>
                      <a:lnTo>
                        <a:pt x="0" y="0"/>
                      </a:lnTo>
                    </a:path>
                  </a:pathLst>
                </a:custGeom>
                <a:noFill/>
                <a:ln w="17463">
                  <a:solidFill>
                    <a:schemeClr val="accent3"/>
                  </a:solidFill>
                </a:ln>
              </p:spPr>
            </p:sp>
            <p:sp>
              <p:nvSpPr>
                <p:cNvPr id="50" name="Freeform 50"/>
                <p:cNvSpPr/>
                <p:nvPr/>
              </p:nvSpPr>
              <p:spPr>
                <a:xfrm>
                  <a:off x="7665244" y="3098006"/>
                  <a:ext cx="61119" cy="9525"/>
                </a:xfrm>
                <a:custGeom>
                  <a:avLst/>
                  <a:gdLst/>
                  <a:ahLst/>
                  <a:cxnLst/>
                  <a:rect l="l" t="t" r="r" b="b"/>
                  <a:pathLst>
                    <a:path w="61119" h="9525">
                      <a:moveTo>
                        <a:pt x="0" y="0"/>
                      </a:moveTo>
                      <a:lnTo>
                        <a:pt x="61119" y="0"/>
                      </a:lnTo>
                    </a:path>
                  </a:pathLst>
                </a:custGeom>
                <a:noFill/>
                <a:ln w="17463">
                  <a:solidFill>
                    <a:schemeClr val="accent3"/>
                  </a:solidFill>
                </a:ln>
              </p:spPr>
            </p:sp>
            <p:sp>
              <p:nvSpPr>
                <p:cNvPr id="51" name="Freeform 51"/>
                <p:cNvSpPr/>
                <p:nvPr/>
              </p:nvSpPr>
              <p:spPr>
                <a:xfrm>
                  <a:off x="7663643" y="2939243"/>
                  <a:ext cx="116709" cy="116709"/>
                </a:xfrm>
                <a:custGeom>
                  <a:avLst/>
                  <a:gdLst/>
                  <a:ahLst/>
                  <a:cxnLst/>
                  <a:rect l="l" t="t" r="r" b="b"/>
                  <a:pathLst>
                    <a:path w="116709" h="116709">
                      <a:moveTo>
                        <a:pt x="34719" y="113300"/>
                      </a:moveTo>
                      <a:lnTo>
                        <a:pt x="3409" y="81990"/>
                      </a:lnTo>
                      <a:cubicBezTo>
                        <a:pt x="0" y="78580"/>
                        <a:pt x="0" y="73053"/>
                        <a:pt x="3409" y="69644"/>
                      </a:cubicBezTo>
                      <a:lnTo>
                        <a:pt x="23429" y="49623"/>
                      </a:lnTo>
                      <a:lnTo>
                        <a:pt x="27795" y="53989"/>
                      </a:lnTo>
                      <a:lnTo>
                        <a:pt x="53989" y="27795"/>
                      </a:lnTo>
                      <a:lnTo>
                        <a:pt x="49623" y="23429"/>
                      </a:lnTo>
                      <a:lnTo>
                        <a:pt x="69644" y="3409"/>
                      </a:lnTo>
                      <a:cubicBezTo>
                        <a:pt x="73053" y="0"/>
                        <a:pt x="78580" y="0"/>
                        <a:pt x="81990" y="3409"/>
                      </a:cubicBezTo>
                      <a:lnTo>
                        <a:pt x="113300" y="34719"/>
                      </a:lnTo>
                      <a:cubicBezTo>
                        <a:pt x="116709" y="38128"/>
                        <a:pt x="116709" y="43655"/>
                        <a:pt x="113300" y="47065"/>
                      </a:cubicBezTo>
                      <a:lnTo>
                        <a:pt x="93279" y="67086"/>
                      </a:lnTo>
                      <a:lnTo>
                        <a:pt x="88914" y="62720"/>
                      </a:lnTo>
                      <a:lnTo>
                        <a:pt x="62720" y="88914"/>
                      </a:lnTo>
                      <a:lnTo>
                        <a:pt x="67086" y="93279"/>
                      </a:lnTo>
                      <a:lnTo>
                        <a:pt x="47065" y="113300"/>
                      </a:lnTo>
                      <a:cubicBezTo>
                        <a:pt x="43655" y="116709"/>
                        <a:pt x="38128" y="116709"/>
                        <a:pt x="34719" y="113300"/>
                      </a:cubicBezTo>
                    </a:path>
                  </a:pathLst>
                </a:custGeom>
                <a:noFill/>
                <a:ln w="17463">
                  <a:solidFill>
                    <a:schemeClr val="accent3"/>
                  </a:solidFill>
                </a:ln>
              </p:spPr>
            </p:sp>
          </p:grpSp>
          <p:sp>
            <p:nvSpPr>
              <p:cNvPr id="53" name="TextBox 53"/>
              <p:cNvSpPr txBox="1"/>
              <p:nvPr/>
            </p:nvSpPr>
            <p:spPr>
              <a:xfrm>
                <a:off x="7918704" y="2947035"/>
                <a:ext cx="709254"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합의 세션</a:t>
                </a:r>
              </a:p>
            </p:txBody>
          </p:sp>
          <p:sp>
            <p:nvSpPr>
              <p:cNvPr id="54" name="TextBox 54"/>
              <p:cNvSpPr txBox="1"/>
              <p:nvPr/>
            </p:nvSpPr>
            <p:spPr>
              <a:xfrm>
                <a:off x="7633716" y="3182302"/>
                <a:ext cx="1690878" cy="719709"/>
              </a:xfrm>
              <a:prstGeom prst="rect">
                <a:avLst/>
              </a:prstGeom>
              <a:noFill/>
              <a:ln>
                <a:noFill/>
              </a:ln>
            </p:spPr>
            <p:txBody>
              <a:bodyPr wrap="none" lIns="0" tIns="0" rIns="0" bIns="0" anchor="t" anchorCtr="0">
                <a:spAutoFit/>
              </a:bodyPr>
              <a:lstStyle/>
              <a:p>
                <a:pPr algn="l">
                  <a:lnSpc>
                    <a:spcPts val="1350"/>
                  </a:lnSpc>
                </a:pPr>
                <a:r>
                  <a:rPr lang="ko-KR" sz="1050" dirty="0">
                    <a:solidFill>
                      <a:schemeClr val="accent5"/>
                    </a:solidFill>
                    <a:latin typeface="+mn-lt"/>
                    <a:ea typeface="+mn-ea"/>
                    <a:cs typeface="+mn-cs"/>
                  </a:rPr>
                  <a:t>역할 2개 이상일 때</a:t>
                </a:r>
                <a:br/>
                <a:r>
                  <a:rPr lang="ko-KR" sz="1050" dirty="0">
                    <a:solidFill>
                      <a:schemeClr val="accent5"/>
                    </a:solidFill>
                    <a:latin typeface="+mn-lt"/>
                    <a:ea typeface="+mn-ea"/>
                    <a:cs typeface="+mn-cs"/>
                  </a:rPr>
                  <a:t>① 합의된 완료 ② 합의된 문제</a:t>
                </a:r>
                <a:br/>
                <a:r>
                  <a:rPr lang="ko-KR" sz="1050" dirty="0">
                    <a:solidFill>
                      <a:schemeClr val="accent5"/>
                    </a:solidFill>
                    <a:latin typeface="+mn-lt"/>
                    <a:ea typeface="+mn-ea"/>
                    <a:cs typeface="+mn-cs"/>
                  </a:rPr>
                  <a:t>③ 이견 (뭉개지 않음)</a:t>
                </a:r>
                <a:br/>
                <a:r>
                  <a:rPr lang="ko-KR" sz="1050" dirty="0">
                    <a:solidFill>
                      <a:schemeClr val="accent5"/>
                    </a:solidFill>
                    <a:latin typeface="+mn-lt"/>
                    <a:ea typeface="+mn-ea"/>
                    <a:cs typeface="+mn-cs"/>
                  </a:rPr>
                  <a:t>④ 다음 목표 제안</a:t>
                </a:r>
              </a:p>
            </p:txBody>
          </p:sp>
        </p:grpSp>
        <p:grpSp>
          <p:nvGrpSpPr>
            <p:cNvPr id="62" name="Group 62"/>
            <p:cNvGrpSpPr/>
            <p:nvPr/>
          </p:nvGrpSpPr>
          <p:grpSpPr>
            <a:xfrm>
              <a:off x="6953250" y="2096452"/>
              <a:ext cx="552450" cy="2256473"/>
              <a:chOff x="6953250" y="2096452"/>
              <a:chExt cx="552450" cy="2256473"/>
            </a:xfrm>
          </p:grpSpPr>
          <p:sp>
            <p:nvSpPr>
              <p:cNvPr id="56" name="Line 56"/>
              <p:cNvSpPr/>
              <p:nvPr/>
            </p:nvSpPr>
            <p:spPr>
              <a:xfrm>
                <a:off x="6953250" y="2324100"/>
                <a:ext cx="285750" cy="9525"/>
              </a:xfrm>
              <a:custGeom>
                <a:avLst/>
                <a:gdLst/>
                <a:ahLst/>
                <a:cxnLst/>
                <a:rect l="l" t="t" r="r" b="b"/>
                <a:pathLst>
                  <a:path w="285750" h="9525">
                    <a:moveTo>
                      <a:pt x="0" y="0"/>
                    </a:moveTo>
                    <a:lnTo>
                      <a:pt x="285750" y="0"/>
                    </a:lnTo>
                  </a:path>
                </a:pathLst>
              </a:custGeom>
              <a:noFill/>
              <a:ln w="19050">
                <a:solidFill>
                  <a:schemeClr val="accent3"/>
                </a:solidFill>
              </a:ln>
            </p:spPr>
          </p:sp>
          <p:sp>
            <p:nvSpPr>
              <p:cNvPr id="57" name="Line 57"/>
              <p:cNvSpPr/>
              <p:nvPr/>
            </p:nvSpPr>
            <p:spPr>
              <a:xfrm>
                <a:off x="7239000" y="2324100"/>
                <a:ext cx="9525" cy="2019300"/>
              </a:xfrm>
              <a:custGeom>
                <a:avLst/>
                <a:gdLst/>
                <a:ahLst/>
                <a:cxnLst/>
                <a:rect l="l" t="t" r="r" b="b"/>
                <a:pathLst>
                  <a:path w="9525" h="2019300">
                    <a:moveTo>
                      <a:pt x="0" y="0"/>
                    </a:moveTo>
                    <a:lnTo>
                      <a:pt x="0" y="2019300"/>
                    </a:lnTo>
                  </a:path>
                </a:pathLst>
              </a:custGeom>
              <a:noFill/>
              <a:ln w="19050">
                <a:solidFill>
                  <a:schemeClr val="accent3"/>
                </a:solidFill>
              </a:ln>
            </p:spPr>
          </p:sp>
          <p:sp>
            <p:nvSpPr>
              <p:cNvPr id="58" name="Line 58"/>
              <p:cNvSpPr/>
              <p:nvPr/>
            </p:nvSpPr>
            <p:spPr>
              <a:xfrm>
                <a:off x="6953250" y="3333750"/>
                <a:ext cx="285750" cy="9525"/>
              </a:xfrm>
              <a:custGeom>
                <a:avLst/>
                <a:gdLst/>
                <a:ahLst/>
                <a:cxnLst/>
                <a:rect l="l" t="t" r="r" b="b"/>
                <a:pathLst>
                  <a:path w="285750" h="9525">
                    <a:moveTo>
                      <a:pt x="0" y="0"/>
                    </a:moveTo>
                    <a:lnTo>
                      <a:pt x="285750" y="0"/>
                    </a:lnTo>
                  </a:path>
                </a:pathLst>
              </a:custGeom>
              <a:noFill/>
              <a:ln w="19050">
                <a:solidFill>
                  <a:schemeClr val="accent3"/>
                </a:solidFill>
              </a:ln>
            </p:spPr>
          </p:sp>
          <p:sp>
            <p:nvSpPr>
              <p:cNvPr id="59" name="Line 59"/>
              <p:cNvSpPr/>
              <p:nvPr/>
            </p:nvSpPr>
            <p:spPr>
              <a:xfrm>
                <a:off x="6953250" y="4343400"/>
                <a:ext cx="285750" cy="9525"/>
              </a:xfrm>
              <a:custGeom>
                <a:avLst/>
                <a:gdLst/>
                <a:ahLst/>
                <a:cxnLst/>
                <a:rect l="l" t="t" r="r" b="b"/>
                <a:pathLst>
                  <a:path w="285750" h="9525">
                    <a:moveTo>
                      <a:pt x="0" y="0"/>
                    </a:moveTo>
                    <a:lnTo>
                      <a:pt x="285750" y="0"/>
                    </a:lnTo>
                  </a:path>
                </a:pathLst>
              </a:custGeom>
              <a:noFill/>
              <a:ln w="19050">
                <a:solidFill>
                  <a:schemeClr val="accent3"/>
                </a:solidFill>
              </a:ln>
            </p:spPr>
          </p:sp>
          <p:sp>
            <p:nvSpPr>
              <p:cNvPr id="60" name="Line 60"/>
              <p:cNvSpPr/>
              <p:nvPr/>
            </p:nvSpPr>
            <p:spPr>
              <a:xfrm>
                <a:off x="7239000" y="3333750"/>
                <a:ext cx="266700" cy="1"/>
              </a:xfrm>
              <a:prstGeom prst="line">
                <a:avLst/>
              </a:prstGeom>
              <a:noFill/>
              <a:ln w="19050">
                <a:solidFill>
                  <a:schemeClr val="accent3"/>
                </a:solidFill>
                <a:tailEnd type="triangle" w="med" len="med"/>
              </a:ln>
            </p:spPr>
          </p:sp>
          <p:sp>
            <p:nvSpPr>
              <p:cNvPr id="61" name="TextBox 61"/>
              <p:cNvSpPr txBox="1"/>
              <p:nvPr/>
            </p:nvSpPr>
            <p:spPr>
              <a:xfrm>
                <a:off x="7021640" y="2096452"/>
                <a:ext cx="434721" cy="205359"/>
              </a:xfrm>
              <a:prstGeom prst="rect">
                <a:avLst/>
              </a:prstGeom>
              <a:noFill/>
              <a:ln>
                <a:noFill/>
              </a:ln>
            </p:spPr>
            <p:txBody>
              <a:bodyPr wrap="none" lIns="0" tIns="0" rIns="0" bIns="0" anchor="t" anchorCtr="0">
                <a:spAutoFit/>
              </a:bodyPr>
              <a:lstStyle/>
              <a:p>
                <a:pPr algn="ctr"/>
                <a:r>
                  <a:rPr lang="ko-KR" sz="1050" dirty="0">
                    <a:solidFill>
                      <a:schemeClr val="accent5"/>
                    </a:solidFill>
                    <a:latin typeface="+mn-lt"/>
                    <a:ea typeface="+mn-ea"/>
                    <a:cs typeface="+mn-cs"/>
                  </a:rPr>
                  <a:t>보고서</a:t>
                </a:r>
              </a:p>
            </p:txBody>
          </p:sp>
        </p:grpSp>
        <p:grpSp>
          <p:nvGrpSpPr>
            <p:cNvPr id="65" name="Group 65"/>
            <p:cNvGrpSpPr/>
            <p:nvPr/>
          </p:nvGrpSpPr>
          <p:grpSpPr>
            <a:xfrm>
              <a:off x="9906000" y="2819400"/>
              <a:ext cx="1676400" cy="419100"/>
              <a:chOff x="9906000" y="2819400"/>
              <a:chExt cx="1676400" cy="419100"/>
            </a:xfrm>
          </p:grpSpPr>
          <p:sp>
            <p:nvSpPr>
              <p:cNvPr id="63" name="Rectangle 63"/>
              <p:cNvSpPr/>
              <p:nvPr/>
            </p:nvSpPr>
            <p:spPr>
              <a:xfrm>
                <a:off x="9906000" y="2819400"/>
                <a:ext cx="1676400" cy="419100"/>
              </a:xfrm>
              <a:prstGeom prst="roundRect">
                <a:avLst>
                  <a:gd name="adj" fmla="val 13636"/>
                </a:avLst>
              </a:prstGeom>
              <a:solidFill>
                <a:srgbClr val="182238"/>
              </a:solidFill>
              <a:ln w="19050">
                <a:solidFill>
                  <a:schemeClr val="accent3"/>
                </a:solidFill>
              </a:ln>
            </p:spPr>
          </p:sp>
          <p:sp>
            <p:nvSpPr>
              <p:cNvPr id="64" name="TextBox 64"/>
              <p:cNvSpPr txBox="1"/>
              <p:nvPr/>
            </p:nvSpPr>
            <p:spPr>
              <a:xfrm>
                <a:off x="10273184" y="2940368"/>
                <a:ext cx="942032" cy="264033"/>
              </a:xfrm>
              <a:prstGeom prst="rect">
                <a:avLst/>
              </a:prstGeom>
              <a:noFill/>
              <a:ln>
                <a:noFill/>
              </a:ln>
            </p:spPr>
            <p:txBody>
              <a:bodyPr wrap="none" lIns="0" tIns="0" rIns="0" bIns="0" anchor="t" anchorCtr="0">
                <a:spAutoFit/>
              </a:bodyPr>
              <a:lstStyle/>
              <a:p>
                <a:pPr algn="ctr"/>
                <a:r>
                  <a:rPr lang="ko-KR" sz="1350" dirty="0">
                    <a:solidFill>
                      <a:schemeClr val="dk1"/>
                    </a:solidFill>
                    <a:latin typeface="Consolas"/>
                    <a:ea typeface="Consolas"/>
                    <a:cs typeface="Consolas"/>
                  </a:rPr>
                  <a:t>VERIFY.md</a:t>
                </a:r>
              </a:p>
            </p:txBody>
          </p:sp>
        </p:grpSp>
        <p:grpSp>
          <p:nvGrpSpPr>
            <p:cNvPr id="69" name="Group 69"/>
            <p:cNvGrpSpPr/>
            <p:nvPr/>
          </p:nvGrpSpPr>
          <p:grpSpPr>
            <a:xfrm>
              <a:off x="9906000" y="3429000"/>
              <a:ext cx="1676400" cy="434911"/>
              <a:chOff x="9906000" y="3429000"/>
              <a:chExt cx="1676400" cy="434911"/>
            </a:xfrm>
          </p:grpSpPr>
          <p:sp>
            <p:nvSpPr>
              <p:cNvPr id="66" name="Rectangle 66"/>
              <p:cNvSpPr/>
              <p:nvPr/>
            </p:nvSpPr>
            <p:spPr>
              <a:xfrm>
                <a:off x="9906000" y="3429000"/>
                <a:ext cx="1676400" cy="419100"/>
              </a:xfrm>
              <a:prstGeom prst="roundRect">
                <a:avLst>
                  <a:gd name="adj" fmla="val 13636"/>
                </a:avLst>
              </a:prstGeom>
              <a:solidFill>
                <a:srgbClr val="182238"/>
              </a:solidFill>
              <a:ln w="19050">
                <a:solidFill>
                  <a:schemeClr val="accent2"/>
                </a:solidFill>
              </a:ln>
            </p:spPr>
          </p:sp>
          <p:sp>
            <p:nvSpPr>
              <p:cNvPr id="67" name="TextBox 67"/>
              <p:cNvSpPr txBox="1"/>
              <p:nvPr/>
            </p:nvSpPr>
            <p:spPr>
              <a:xfrm>
                <a:off x="9957902" y="3487102"/>
                <a:ext cx="1572597" cy="205359"/>
              </a:xfrm>
              <a:prstGeom prst="rect">
                <a:avLst/>
              </a:prstGeom>
              <a:noFill/>
              <a:ln>
                <a:noFill/>
              </a:ln>
            </p:spPr>
            <p:txBody>
              <a:bodyPr wrap="none" lIns="0" tIns="0" rIns="0" bIns="0" anchor="t" anchorCtr="0">
                <a:spAutoFit/>
              </a:bodyPr>
              <a:lstStyle/>
              <a:p>
                <a:pPr algn="ctr"/>
                <a:r>
                  <a:rPr lang="ko-KR" sz="1050" dirty="0">
                    <a:solidFill>
                      <a:schemeClr val="accent2"/>
                    </a:solidFill>
                    <a:latin typeface="Consolas"/>
                    <a:ea typeface="Consolas"/>
                    <a:cs typeface="Consolas"/>
                  </a:rPr>
                  <a:t>next_goal_suggestions</a:t>
                </a:r>
              </a:p>
            </p:txBody>
          </p:sp>
          <p:sp>
            <p:nvSpPr>
              <p:cNvPr id="68" name="TextBox 68"/>
              <p:cNvSpPr txBox="1"/>
              <p:nvPr/>
            </p:nvSpPr>
            <p:spPr>
              <a:xfrm>
                <a:off x="10049780" y="3658552"/>
                <a:ext cx="1388840" cy="205359"/>
              </a:xfrm>
              <a:prstGeom prst="rect">
                <a:avLst/>
              </a:prstGeom>
              <a:noFill/>
              <a:ln>
                <a:noFill/>
              </a:ln>
            </p:spPr>
            <p:txBody>
              <a:bodyPr wrap="none" lIns="0" tIns="0" rIns="0" bIns="0" anchor="t" anchorCtr="0">
                <a:spAutoFit/>
              </a:bodyPr>
              <a:lstStyle/>
              <a:p>
                <a:pPr algn="ctr"/>
                <a:r>
                  <a:rPr lang="ko-KR" sz="1050" dirty="0">
                    <a:solidFill>
                      <a:schemeClr val="accent5"/>
                    </a:solidFill>
                    <a:latin typeface="+mn-lt"/>
                    <a:ea typeface="+mn-ea"/>
                    <a:cs typeface="+mn-cs"/>
                  </a:rPr>
                  <a:t>기록만 — 여는 건 사람</a:t>
                </a:r>
              </a:p>
            </p:txBody>
          </p:sp>
        </p:grpSp>
        <p:sp>
          <p:nvSpPr>
            <p:cNvPr id="70" name="Line 70"/>
            <p:cNvSpPr/>
            <p:nvPr/>
          </p:nvSpPr>
          <p:spPr>
            <a:xfrm>
              <a:off x="9525000" y="3028950"/>
              <a:ext cx="361950" cy="1"/>
            </a:xfrm>
            <a:prstGeom prst="line">
              <a:avLst/>
            </a:prstGeom>
            <a:noFill/>
            <a:ln w="19050">
              <a:solidFill>
                <a:schemeClr val="accent3"/>
              </a:solidFill>
              <a:tailEnd type="triangle" w="med" len="med"/>
            </a:ln>
          </p:spPr>
        </p:sp>
        <p:sp>
          <p:nvSpPr>
            <p:cNvPr id="71" name="Line 71"/>
            <p:cNvSpPr/>
            <p:nvPr/>
          </p:nvSpPr>
          <p:spPr>
            <a:xfrm>
              <a:off x="9525000" y="3638550"/>
              <a:ext cx="361950" cy="1"/>
            </a:xfrm>
            <a:prstGeom prst="line">
              <a:avLst/>
            </a:prstGeom>
            <a:noFill/>
            <a:ln w="19050">
              <a:solidFill>
                <a:schemeClr val="accent3"/>
              </a:solidFill>
              <a:tailEnd type="triangle" w="med" len="med"/>
            </a:ln>
          </p:spPr>
        </p:sp>
      </p:grpSp>
      <p:grpSp>
        <p:nvGrpSpPr>
          <p:cNvPr id="75" name="Group 75"/>
          <p:cNvGrpSpPr/>
          <p:nvPr/>
        </p:nvGrpSpPr>
        <p:grpSpPr>
          <a:xfrm>
            <a:off x="602742" y="4934902"/>
            <a:ext cx="9230011" cy="1222249"/>
            <a:chOff x="602742" y="4934902"/>
            <a:chExt cx="9230011" cy="1222249"/>
          </a:xfrm>
        </p:grpSpPr>
        <p:sp>
          <p:nvSpPr>
            <p:cNvPr id="73" name="TextBox 73"/>
            <p:cNvSpPr txBox="1"/>
            <p:nvPr/>
          </p:nvSpPr>
          <p:spPr>
            <a:xfrm>
              <a:off x="604266" y="4934902"/>
              <a:ext cx="313563" cy="205359"/>
            </a:xfrm>
            <a:prstGeom prst="rect">
              <a:avLst/>
            </a:prstGeom>
            <a:noFill/>
            <a:ln>
              <a:noFill/>
            </a:ln>
          </p:spPr>
          <p:txBody>
            <a:bodyPr wrap="none" lIns="0" tIns="0" rIns="0" bIns="0" anchor="t" anchorCtr="0">
              <a:spAutoFit/>
            </a:bodyPr>
            <a:lstStyle/>
            <a:p>
              <a:pPr algn="l"/>
              <a:r>
                <a:rPr lang="ko-KR" sz="1050" spc="150" dirty="0">
                  <a:solidFill>
                    <a:schemeClr val="accent5"/>
                  </a:solidFill>
                  <a:latin typeface="Consolas"/>
                  <a:ea typeface="Microsoft YaHei"/>
                  <a:cs typeface="Consolas"/>
                </a:rPr>
                <a:t>원칙</a:t>
              </a:r>
            </a:p>
          </p:txBody>
        </p:sp>
        <p:sp>
          <p:nvSpPr>
            <p:cNvPr id="74" name="TextBox 74"/>
            <p:cNvSpPr txBox="1"/>
            <p:nvPr/>
          </p:nvSpPr>
          <p:spPr>
            <a:xfrm>
              <a:off x="602742" y="5150168"/>
              <a:ext cx="9230011" cy="1006983"/>
            </a:xfrm>
            <a:prstGeom prst="rect">
              <a:avLst/>
            </a:prstGeom>
            <a:noFill/>
            <a:ln>
              <a:noFill/>
            </a:ln>
          </p:spPr>
          <p:txBody>
            <a:bodyPr wrap="none" lIns="0" tIns="0" rIns="0" bIns="0" anchor="t" anchorCtr="0">
              <a:spAutoFit/>
            </a:bodyPr>
            <a:lstStyle/>
            <a:p>
              <a:pPr algn="l">
                <a:lnSpc>
                  <a:spcPts val="1950"/>
                </a:lnSpc>
              </a:pPr>
              <a:r>
                <a:rPr lang="ko-KR" sz="1350" dirty="0">
                  <a:solidFill>
                    <a:schemeClr val="dk1"/>
                  </a:solidFill>
                  <a:latin typeface="+mn-lt"/>
                  <a:ea typeface="+mn-ea"/>
                  <a:cs typeface="+mn-cs"/>
                </a:rPr>
                <a:t xml:space="preserve">검증관은 </a:t>
              </a:r>
              <a:r>
                <a:rPr lang="ko-KR" sz="1350" b="1" dirty="0">
                  <a:solidFill>
                    <a:schemeClr val="dk1"/>
                  </a:solidFill>
                  <a:latin typeface="+mn-lt"/>
                  <a:ea typeface="+mn-ea"/>
                  <a:cs typeface="+mn-cs"/>
                </a:rPr>
                <a:t>읽기 전용</a:t>
              </a:r>
              <a:r>
                <a:rPr lang="ko-KR" sz="1350" dirty="0">
                  <a:solidFill>
                    <a:schemeClr val="dk1"/>
                  </a:solidFill>
                  <a:latin typeface="+mn-lt"/>
                  <a:ea typeface="+mn-ea"/>
                  <a:cs typeface="+mn-cs"/>
                </a:rPr>
                <a:t xml:space="preserve"> — 파일을 고치지 않는다</a:t>
              </a:r>
              <a:br/>
              <a:r>
                <a:rPr lang="ko-KR" sz="1350" dirty="0">
                  <a:solidFill>
                    <a:schemeClr val="dk1"/>
                  </a:solidFill>
                  <a:latin typeface="+mn-lt"/>
                  <a:ea typeface="+mn-ea"/>
                  <a:cs typeface="+mn-cs"/>
                </a:rPr>
                <a:t xml:space="preserve">비용 상한 도달 시 남은 역할을 생략하되, </a:t>
              </a:r>
              <a:r>
                <a:rPr lang="ko-KR" sz="1350" b="1" dirty="0">
                  <a:solidFill>
                    <a:schemeClr val="dk1"/>
                  </a:solidFill>
                  <a:latin typeface="+mn-lt"/>
                  <a:ea typeface="+mn-ea"/>
                  <a:cs typeface="+mn-cs"/>
                </a:rPr>
                <a:t>생략 사실을 VERIFY.md 에 명시</a:t>
              </a:r>
              <a:r>
                <a:rPr lang="ko-KR" sz="1350" dirty="0">
                  <a:solidFill>
                    <a:schemeClr val="dk1"/>
                  </a:solidFill>
                  <a:latin typeface="+mn-lt"/>
                  <a:ea typeface="+mn-ea"/>
                  <a:cs typeface="+mn-cs"/>
                </a:rPr>
                <a:t>한다 (조용한 생략은 "전부 검증했다"로 읽힘)</a:t>
              </a:r>
              <a:br/>
              <a:r>
                <a:rPr lang="ko-KR" sz="1350" dirty="0">
                  <a:solidFill>
                    <a:schemeClr val="dk1"/>
                  </a:solidFill>
                  <a:latin typeface="+mn-lt"/>
                  <a:ea typeface="+mn-ea"/>
                  <a:cs typeface="+mn-cs"/>
                </a:rPr>
                <a:t xml:space="preserve">검증 보고서가 실패해도 완료 판정은 유지 · 나중에 </a:t>
              </a:r>
              <a:r>
                <a:rPr lang="ko-KR" sz="1350" dirty="0">
                  <a:solidFill>
                    <a:schemeClr val="accent1"/>
                  </a:solidFill>
                  <a:latin typeface="Consolas"/>
                  <a:ea typeface="Consolas"/>
                  <a:cs typeface="Consolas"/>
                </a:rPr>
                <a:t>fw verify &lt;dir&gt; --budget 10</a:t>
              </a:r>
              <a:r>
                <a:rPr lang="ko-KR" sz="1350" dirty="0">
                  <a:solidFill>
                    <a:schemeClr val="dk1"/>
                  </a:solidFill>
                  <a:latin typeface="+mn-lt"/>
                  <a:ea typeface="+mn-ea"/>
                  <a:cs typeface="+mn-cs"/>
                </a:rPr>
                <a:t xml:space="preserve"> 으로 사후 재실행</a:t>
              </a:r>
              <a:br/>
              <a:r>
                <a:rPr lang="ko-KR" sz="1350" dirty="0">
                  <a:solidFill>
                    <a:schemeClr val="dk1"/>
                  </a:solidFill>
                  <a:latin typeface="+mn-lt"/>
                  <a:ea typeface="+mn-ea"/>
                  <a:cs typeface="+mn-cs"/>
                </a:rPr>
                <a:t xml:space="preserve">합의문이 의미 없는 짧은 출력이면 </a:t>
              </a:r>
              <a:r>
                <a:rPr lang="ko-KR" sz="1350" b="1" dirty="0">
                  <a:solidFill>
                    <a:schemeClr val="dk1"/>
                  </a:solidFill>
                  <a:latin typeface="+mn-lt"/>
                  <a:ea typeface="+mn-ea"/>
                  <a:cs typeface="+mn-cs"/>
                </a:rPr>
                <a:t>1회 다시 시도</a:t>
              </a:r>
              <a:r>
                <a:rPr lang="ko-KR" sz="1350" dirty="0">
                  <a:solidFill>
                    <a:schemeClr val="dk1"/>
                  </a:solidFill>
                  <a:latin typeface="+mn-lt"/>
                  <a:ea typeface="+mn-ea"/>
                  <a:cs typeface="+mn-cs"/>
                </a:rPr>
                <a:t>한다</a:t>
              </a:r>
            </a:p>
          </p:txBody>
        </p:sp>
      </p:grpSp>
      <p:grpSp>
        <p:nvGrpSpPr>
          <p:cNvPr id="78" name="Group 78"/>
          <p:cNvGrpSpPr/>
          <p:nvPr/>
        </p:nvGrpSpPr>
        <p:grpSpPr>
          <a:xfrm>
            <a:off x="604266" y="6516052"/>
            <a:ext cx="10983468" cy="205359"/>
            <a:chOff x="604266" y="6516052"/>
            <a:chExt cx="10983468" cy="205359"/>
          </a:xfrm>
        </p:grpSpPr>
        <p:sp>
          <p:nvSpPr>
            <p:cNvPr id="76" name="TextBox 76"/>
            <p:cNvSpPr txBox="1"/>
            <p:nvPr/>
          </p:nvSpPr>
          <p:spPr>
            <a:xfrm>
              <a:off x="604266" y="6516052"/>
              <a:ext cx="4475466"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feature-workflow · plugins/feature-workflow/README.md §4.7</a:t>
              </a:r>
            </a:p>
          </p:txBody>
        </p:sp>
        <p:sp>
          <p:nvSpPr>
            <p:cNvPr id="77" name="TextBox 77"/>
            <p:cNvSpPr txBox="1"/>
            <p:nvPr/>
          </p:nvSpPr>
          <p:spPr>
            <a:xfrm>
              <a:off x="11103540" y="65160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12 / 19</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609600" y="1905000"/>
            <a:ext cx="10972800" cy="2286000"/>
          </a:xfrm>
          <a:custGeom>
            <a:avLst/>
            <a:gdLst/>
            <a:ahLst/>
            <a:cxnLst/>
            <a:rect l="l" t="t" r="r" b="b"/>
            <a:pathLst>
              <a:path w="10972800" h="2286000">
                <a:moveTo>
                  <a:pt x="152400" y="0"/>
                </a:moveTo>
                <a:lnTo>
                  <a:pt x="152400" y="2286000"/>
                </a:lnTo>
                <a:moveTo>
                  <a:pt x="914400" y="0"/>
                </a:moveTo>
                <a:lnTo>
                  <a:pt x="914400" y="2286000"/>
                </a:lnTo>
                <a:moveTo>
                  <a:pt x="1676400" y="0"/>
                </a:moveTo>
                <a:lnTo>
                  <a:pt x="1676400" y="2286000"/>
                </a:lnTo>
                <a:moveTo>
                  <a:pt x="2438400" y="0"/>
                </a:moveTo>
                <a:lnTo>
                  <a:pt x="2438400" y="2286000"/>
                </a:lnTo>
                <a:moveTo>
                  <a:pt x="3200400" y="0"/>
                </a:moveTo>
                <a:lnTo>
                  <a:pt x="3200400" y="2286000"/>
                </a:lnTo>
                <a:moveTo>
                  <a:pt x="3962400" y="0"/>
                </a:moveTo>
                <a:lnTo>
                  <a:pt x="3962400" y="2286000"/>
                </a:lnTo>
                <a:moveTo>
                  <a:pt x="4724400" y="0"/>
                </a:moveTo>
                <a:lnTo>
                  <a:pt x="4724400" y="2286000"/>
                </a:lnTo>
                <a:moveTo>
                  <a:pt x="5486400" y="0"/>
                </a:moveTo>
                <a:lnTo>
                  <a:pt x="5486400" y="2286000"/>
                </a:lnTo>
                <a:moveTo>
                  <a:pt x="6248400" y="0"/>
                </a:moveTo>
                <a:lnTo>
                  <a:pt x="6248400" y="2286000"/>
                </a:lnTo>
                <a:moveTo>
                  <a:pt x="7010400" y="0"/>
                </a:moveTo>
                <a:lnTo>
                  <a:pt x="7010400" y="2286000"/>
                </a:lnTo>
                <a:moveTo>
                  <a:pt x="7772400" y="0"/>
                </a:moveTo>
                <a:lnTo>
                  <a:pt x="7772400" y="2286000"/>
                </a:lnTo>
                <a:moveTo>
                  <a:pt x="8534400" y="0"/>
                </a:moveTo>
                <a:lnTo>
                  <a:pt x="8534400" y="2286000"/>
                </a:lnTo>
                <a:moveTo>
                  <a:pt x="9296400" y="0"/>
                </a:moveTo>
                <a:lnTo>
                  <a:pt x="9296400" y="2286000"/>
                </a:lnTo>
                <a:moveTo>
                  <a:pt x="10058400" y="0"/>
                </a:moveTo>
                <a:lnTo>
                  <a:pt x="10058400" y="2286000"/>
                </a:lnTo>
                <a:moveTo>
                  <a:pt x="10820400" y="0"/>
                </a:moveTo>
                <a:lnTo>
                  <a:pt x="10820400" y="2286000"/>
                </a:lnTo>
                <a:moveTo>
                  <a:pt x="0" y="381000"/>
                </a:moveTo>
                <a:lnTo>
                  <a:pt x="10972800" y="381000"/>
                </a:lnTo>
                <a:moveTo>
                  <a:pt x="0" y="1143000"/>
                </a:moveTo>
                <a:lnTo>
                  <a:pt x="10972800" y="1143000"/>
                </a:lnTo>
                <a:moveTo>
                  <a:pt x="0" y="1905000"/>
                </a:moveTo>
                <a:lnTo>
                  <a:pt x="10972800" y="1905000"/>
                </a:lnTo>
              </a:path>
            </a:pathLst>
          </a:custGeom>
          <a:noFill/>
          <a:ln w="9525">
            <a:solidFill>
              <a:srgbClr val="1B2740"/>
            </a:solidFill>
          </a:ln>
        </p:spPr>
      </p:sp>
      <p:grpSp>
        <p:nvGrpSpPr>
          <p:cNvPr id="4" name="Group 4"/>
          <p:cNvGrpSpPr/>
          <p:nvPr/>
        </p:nvGrpSpPr>
        <p:grpSpPr>
          <a:xfrm>
            <a:off x="601980" y="428625"/>
            <a:ext cx="3578352" cy="293370"/>
            <a:chOff x="601980" y="428625"/>
            <a:chExt cx="3578352" cy="293370"/>
          </a:xfrm>
        </p:grpSpPr>
        <p:sp>
          <p:nvSpPr>
            <p:cNvPr id="3" name="TextBox 3"/>
            <p:cNvSpPr txBox="1"/>
            <p:nvPr/>
          </p:nvSpPr>
          <p:spPr>
            <a:xfrm>
              <a:off x="601980" y="428625"/>
              <a:ext cx="3578352" cy="293370"/>
            </a:xfrm>
            <a:prstGeom prst="rect">
              <a:avLst/>
            </a:prstGeom>
            <a:noFill/>
            <a:ln>
              <a:noFill/>
            </a:ln>
          </p:spPr>
          <p:txBody>
            <a:bodyPr wrap="none" lIns="0" tIns="0" rIns="0" bIns="0" anchor="t" anchorCtr="0">
              <a:spAutoFit/>
            </a:bodyPr>
            <a:lstStyle/>
            <a:p>
              <a:pPr algn="l"/>
              <a:r>
                <a:rPr lang="ko-KR" sz="1500" spc="150" dirty="0">
                  <a:solidFill>
                    <a:schemeClr val="accent5"/>
                  </a:solidFill>
                  <a:latin typeface="Consolas"/>
                  <a:ea typeface="Microsoft YaHei"/>
                  <a:cs typeface="Consolas"/>
                </a:rPr>
                <a:t>PART 02 · 동작 원리 — 상태 전이</a:t>
              </a:r>
            </a:p>
          </p:txBody>
        </p:sp>
      </p:grpSp>
      <p:grpSp>
        <p:nvGrpSpPr>
          <p:cNvPr id="7" name="Group 7"/>
          <p:cNvGrpSpPr/>
          <p:nvPr/>
        </p:nvGrpSpPr>
        <p:grpSpPr>
          <a:xfrm>
            <a:off x="593598" y="822008"/>
            <a:ext cx="10117044" cy="1111377"/>
            <a:chOff x="593598" y="822008"/>
            <a:chExt cx="10117044" cy="1111377"/>
          </a:xfrm>
        </p:grpSpPr>
        <p:sp>
          <p:nvSpPr>
            <p:cNvPr id="5" name="TextBox 5"/>
            <p:cNvSpPr txBox="1"/>
            <p:nvPr/>
          </p:nvSpPr>
          <p:spPr>
            <a:xfrm>
              <a:off x="593598" y="822008"/>
              <a:ext cx="5647526" cy="616077"/>
            </a:xfrm>
            <a:prstGeom prst="rect">
              <a:avLst/>
            </a:prstGeom>
            <a:noFill/>
            <a:ln>
              <a:noFill/>
            </a:ln>
          </p:spPr>
          <p:txBody>
            <a:bodyPr wrap="none" lIns="0" tIns="0" rIns="0" bIns="0" anchor="t" anchorCtr="0">
              <a:spAutoFit/>
            </a:bodyPr>
            <a:lstStyle/>
            <a:p>
              <a:pPr algn="l"/>
              <a:r>
                <a:rPr lang="ko-KR" sz="3150" b="1" dirty="0">
                  <a:solidFill>
                    <a:schemeClr val="accent2"/>
                  </a:solidFill>
                  <a:latin typeface="Consolas"/>
                  <a:ea typeface="Consolas"/>
                  <a:cs typeface="Consolas"/>
                </a:rPr>
                <a:t>halted</a:t>
              </a:r>
              <a:r>
                <a:rPr lang="ko-KR" sz="3150" b="1" dirty="0">
                  <a:solidFill>
                    <a:schemeClr val="dk1"/>
                  </a:solidFill>
                  <a:latin typeface="+mn-lt"/>
                  <a:ea typeface="+mn-ea"/>
                  <a:cs typeface="+mn-cs"/>
                </a:rPr>
                <a:t xml:space="preserve"> 는 </a:t>
              </a:r>
              <a:r>
                <a:rPr lang="ko-KR" sz="3150" b="1" dirty="0">
                  <a:solidFill>
                    <a:schemeClr val="accent2"/>
                  </a:solidFill>
                  <a:latin typeface="Consolas"/>
                  <a:ea typeface="Consolas"/>
                  <a:cs typeface="Consolas"/>
                </a:rPr>
                <a:t>blocked</a:t>
              </a:r>
              <a:r>
                <a:rPr lang="ko-KR" sz="3150" b="1" dirty="0">
                  <a:solidFill>
                    <a:schemeClr val="dk1"/>
                  </a:solidFill>
                  <a:latin typeface="+mn-lt"/>
                  <a:ea typeface="+mn-ea"/>
                  <a:cs typeface="+mn-cs"/>
                </a:rPr>
                <a:t xml:space="preserve"> 와 다르다</a:t>
              </a:r>
            </a:p>
          </p:txBody>
        </p:sp>
        <p:sp>
          <p:nvSpPr>
            <p:cNvPr id="6" name="TextBox 6"/>
            <p:cNvSpPr txBox="1"/>
            <p:nvPr/>
          </p:nvSpPr>
          <p:spPr>
            <a:xfrm>
              <a:off x="593598" y="1317308"/>
              <a:ext cx="10117044" cy="616077"/>
            </a:xfrm>
            <a:prstGeom prst="rect">
              <a:avLst/>
            </a:prstGeom>
            <a:noFill/>
            <a:ln>
              <a:noFill/>
            </a:ln>
          </p:spPr>
          <p:txBody>
            <a:bodyPr wrap="none" lIns="0" tIns="0" rIns="0" bIns="0" anchor="t" anchorCtr="0">
              <a:spAutoFit/>
            </a:bodyPr>
            <a:lstStyle/>
            <a:p>
              <a:pPr algn="l"/>
              <a:r>
                <a:rPr lang="ko-KR" sz="3150" b="1" dirty="0">
                  <a:solidFill>
                    <a:schemeClr val="dk1"/>
                  </a:solidFill>
                  <a:latin typeface="+mn-lt"/>
                  <a:ea typeface="+mn-ea"/>
                  <a:cs typeface="+mn-cs"/>
                </a:rPr>
                <a:t>하나는 답이 필요하고, 하나는 그냥 다시 돌리면 된다</a:t>
              </a:r>
            </a:p>
          </p:txBody>
        </p:sp>
      </p:grpSp>
      <p:grpSp>
        <p:nvGrpSpPr>
          <p:cNvPr id="46" name="Group 46"/>
          <p:cNvGrpSpPr/>
          <p:nvPr/>
        </p:nvGrpSpPr>
        <p:grpSpPr>
          <a:xfrm>
            <a:off x="604266" y="1944052"/>
            <a:ext cx="6634734" cy="2113598"/>
            <a:chOff x="604266" y="1944052"/>
            <a:chExt cx="6634734" cy="2113598"/>
          </a:xfrm>
        </p:grpSpPr>
        <p:sp>
          <p:nvSpPr>
            <p:cNvPr id="8" name="TextBox 8"/>
            <p:cNvSpPr txBox="1"/>
            <p:nvPr/>
          </p:nvSpPr>
          <p:spPr>
            <a:xfrm>
              <a:off x="604266" y="1944052"/>
              <a:ext cx="2648411" cy="205359"/>
            </a:xfrm>
            <a:prstGeom prst="rect">
              <a:avLst/>
            </a:prstGeom>
            <a:noFill/>
            <a:ln>
              <a:noFill/>
            </a:ln>
          </p:spPr>
          <p:txBody>
            <a:bodyPr wrap="none" lIns="0" tIns="0" rIns="0" bIns="0" anchor="t" anchorCtr="0">
              <a:spAutoFit/>
            </a:bodyPr>
            <a:lstStyle/>
            <a:p>
              <a:pPr algn="l"/>
              <a:r>
                <a:rPr lang="ko-KR" sz="1050" spc="150" dirty="0">
                  <a:solidFill>
                    <a:schemeClr val="accent5"/>
                  </a:solidFill>
                  <a:latin typeface="Consolas"/>
                  <a:ea typeface="Microsoft YaHei"/>
                  <a:cs typeface="Consolas"/>
                </a:rPr>
                <a:t>STATE.status — 워크플로우 상태</a:t>
              </a:r>
            </a:p>
          </p:txBody>
        </p:sp>
        <p:grpSp>
          <p:nvGrpSpPr>
            <p:cNvPr id="11" name="Group 11"/>
            <p:cNvGrpSpPr/>
            <p:nvPr/>
          </p:nvGrpSpPr>
          <p:grpSpPr>
            <a:xfrm>
              <a:off x="3238500" y="2857500"/>
              <a:ext cx="1524000" cy="381000"/>
              <a:chOff x="3238500" y="2857500"/>
              <a:chExt cx="1524000" cy="381000"/>
            </a:xfrm>
          </p:grpSpPr>
          <p:sp>
            <p:nvSpPr>
              <p:cNvPr id="9" name="Rectangle 9"/>
              <p:cNvSpPr/>
              <p:nvPr/>
            </p:nvSpPr>
            <p:spPr>
              <a:xfrm>
                <a:off x="3238500" y="2857500"/>
                <a:ext cx="1524000" cy="381000"/>
              </a:xfrm>
              <a:prstGeom prst="roundRect">
                <a:avLst>
                  <a:gd name="adj" fmla="val 50000"/>
                </a:avLst>
              </a:prstGeom>
              <a:solidFill>
                <a:srgbClr val="182238"/>
              </a:solidFill>
              <a:ln w="19050">
                <a:solidFill>
                  <a:schemeClr val="accent1"/>
                </a:solidFill>
              </a:ln>
            </p:spPr>
          </p:sp>
          <p:sp>
            <p:nvSpPr>
              <p:cNvPr id="10" name="TextBox 10"/>
              <p:cNvSpPr txBox="1"/>
              <p:nvPr/>
            </p:nvSpPr>
            <p:spPr>
              <a:xfrm>
                <a:off x="3650159" y="2959418"/>
                <a:ext cx="700682" cy="264033"/>
              </a:xfrm>
              <a:prstGeom prst="rect">
                <a:avLst/>
              </a:prstGeom>
              <a:noFill/>
              <a:ln>
                <a:noFill/>
              </a:ln>
            </p:spPr>
            <p:txBody>
              <a:bodyPr wrap="none" lIns="0" tIns="0" rIns="0" bIns="0" anchor="t" anchorCtr="0">
                <a:spAutoFit/>
              </a:bodyPr>
              <a:lstStyle/>
              <a:p>
                <a:pPr algn="ctr"/>
                <a:r>
                  <a:rPr lang="ko-KR" sz="1350" b="1" dirty="0">
                    <a:solidFill>
                      <a:schemeClr val="accent1"/>
                    </a:solidFill>
                    <a:latin typeface="Consolas"/>
                    <a:ea typeface="Consolas"/>
                    <a:cs typeface="Consolas"/>
                  </a:rPr>
                  <a:t>running</a:t>
                </a:r>
              </a:p>
            </p:txBody>
          </p:sp>
        </p:grpSp>
        <p:grpSp>
          <p:nvGrpSpPr>
            <p:cNvPr id="14" name="Group 14"/>
            <p:cNvGrpSpPr/>
            <p:nvPr/>
          </p:nvGrpSpPr>
          <p:grpSpPr>
            <a:xfrm>
              <a:off x="762000" y="2152650"/>
              <a:ext cx="1524000" cy="381000"/>
              <a:chOff x="762000" y="2152650"/>
              <a:chExt cx="1524000" cy="381000"/>
            </a:xfrm>
          </p:grpSpPr>
          <p:sp>
            <p:nvSpPr>
              <p:cNvPr id="12" name="Rectangle 12"/>
              <p:cNvSpPr/>
              <p:nvPr/>
            </p:nvSpPr>
            <p:spPr>
              <a:xfrm>
                <a:off x="762000" y="2152650"/>
                <a:ext cx="1524000" cy="381000"/>
              </a:xfrm>
              <a:prstGeom prst="roundRect">
                <a:avLst>
                  <a:gd name="adj" fmla="val 50000"/>
                </a:avLst>
              </a:prstGeom>
              <a:solidFill>
                <a:srgbClr val="182238"/>
              </a:solidFill>
              <a:ln w="19050">
                <a:solidFill>
                  <a:schemeClr val="accent2"/>
                </a:solidFill>
              </a:ln>
            </p:spPr>
          </p:sp>
          <p:sp>
            <p:nvSpPr>
              <p:cNvPr id="13" name="TextBox 13"/>
              <p:cNvSpPr txBox="1"/>
              <p:nvPr/>
            </p:nvSpPr>
            <p:spPr>
              <a:xfrm>
                <a:off x="1190015" y="2254568"/>
                <a:ext cx="667969" cy="264033"/>
              </a:xfrm>
              <a:prstGeom prst="rect">
                <a:avLst/>
              </a:prstGeom>
              <a:noFill/>
              <a:ln>
                <a:noFill/>
              </a:ln>
            </p:spPr>
            <p:txBody>
              <a:bodyPr wrap="none" lIns="0" tIns="0" rIns="0" bIns="0" anchor="t" anchorCtr="0">
                <a:spAutoFit/>
              </a:bodyPr>
              <a:lstStyle/>
              <a:p>
                <a:pPr algn="ctr"/>
                <a:r>
                  <a:rPr lang="ko-KR" sz="1350" dirty="0">
                    <a:solidFill>
                      <a:schemeClr val="accent2"/>
                    </a:solidFill>
                    <a:latin typeface="Consolas"/>
                    <a:ea typeface="Consolas"/>
                    <a:cs typeface="Consolas"/>
                  </a:rPr>
                  <a:t>blocked</a:t>
                </a:r>
              </a:p>
            </p:txBody>
          </p:sp>
        </p:grpSp>
        <p:grpSp>
          <p:nvGrpSpPr>
            <p:cNvPr id="17" name="Group 17"/>
            <p:cNvGrpSpPr/>
            <p:nvPr/>
          </p:nvGrpSpPr>
          <p:grpSpPr>
            <a:xfrm>
              <a:off x="762000" y="3676650"/>
              <a:ext cx="1524000" cy="381000"/>
              <a:chOff x="762000" y="3676650"/>
              <a:chExt cx="1524000" cy="381000"/>
            </a:xfrm>
          </p:grpSpPr>
          <p:sp>
            <p:nvSpPr>
              <p:cNvPr id="15" name="Rectangle 15"/>
              <p:cNvSpPr/>
              <p:nvPr/>
            </p:nvSpPr>
            <p:spPr>
              <a:xfrm>
                <a:off x="762000" y="3676650"/>
                <a:ext cx="1524000" cy="381000"/>
              </a:xfrm>
              <a:prstGeom prst="roundRect">
                <a:avLst>
                  <a:gd name="adj" fmla="val 50000"/>
                </a:avLst>
              </a:prstGeom>
              <a:solidFill>
                <a:srgbClr val="182238"/>
              </a:solidFill>
              <a:ln w="19050">
                <a:solidFill>
                  <a:schemeClr val="accent2"/>
                </a:solidFill>
              </a:ln>
            </p:spPr>
          </p:sp>
          <p:sp>
            <p:nvSpPr>
              <p:cNvPr id="16" name="TextBox 16"/>
              <p:cNvSpPr txBox="1"/>
              <p:nvPr/>
            </p:nvSpPr>
            <p:spPr>
              <a:xfrm>
                <a:off x="1162755" y="3778568"/>
                <a:ext cx="722490" cy="264033"/>
              </a:xfrm>
              <a:prstGeom prst="rect">
                <a:avLst/>
              </a:prstGeom>
              <a:noFill/>
              <a:ln>
                <a:noFill/>
              </a:ln>
            </p:spPr>
            <p:txBody>
              <a:bodyPr wrap="none" lIns="0" tIns="0" rIns="0" bIns="0" anchor="t" anchorCtr="0">
                <a:spAutoFit/>
              </a:bodyPr>
              <a:lstStyle/>
              <a:p>
                <a:pPr algn="ctr"/>
                <a:r>
                  <a:rPr lang="ko-KR" sz="1350" dirty="0">
                    <a:solidFill>
                      <a:schemeClr val="accent2"/>
                    </a:solidFill>
                    <a:latin typeface="Consolas"/>
                    <a:ea typeface="Consolas"/>
                    <a:cs typeface="Consolas"/>
                  </a:rPr>
                  <a:t>halted ⏸</a:t>
                </a:r>
              </a:p>
            </p:txBody>
          </p:sp>
        </p:grpSp>
        <p:grpSp>
          <p:nvGrpSpPr>
            <p:cNvPr id="20" name="Group 20"/>
            <p:cNvGrpSpPr/>
            <p:nvPr/>
          </p:nvGrpSpPr>
          <p:grpSpPr>
            <a:xfrm>
              <a:off x="5715000" y="2152650"/>
              <a:ext cx="1524000" cy="381000"/>
              <a:chOff x="5715000" y="2152650"/>
              <a:chExt cx="1524000" cy="381000"/>
            </a:xfrm>
          </p:grpSpPr>
          <p:sp>
            <p:nvSpPr>
              <p:cNvPr id="18" name="Rectangle 18"/>
              <p:cNvSpPr/>
              <p:nvPr/>
            </p:nvSpPr>
            <p:spPr>
              <a:xfrm>
                <a:off x="5715000" y="2152650"/>
                <a:ext cx="1524000" cy="381000"/>
              </a:xfrm>
              <a:prstGeom prst="roundRect">
                <a:avLst>
                  <a:gd name="adj" fmla="val 50000"/>
                </a:avLst>
              </a:prstGeom>
              <a:solidFill>
                <a:srgbClr val="182238"/>
              </a:solidFill>
              <a:ln w="19050">
                <a:solidFill>
                  <a:schemeClr val="accent3"/>
                </a:solidFill>
              </a:ln>
            </p:spPr>
          </p:sp>
          <p:sp>
            <p:nvSpPr>
              <p:cNvPr id="19" name="TextBox 19"/>
              <p:cNvSpPr txBox="1"/>
              <p:nvPr/>
            </p:nvSpPr>
            <p:spPr>
              <a:xfrm>
                <a:off x="5857037" y="2270760"/>
                <a:ext cx="1239926" cy="234696"/>
              </a:xfrm>
              <a:prstGeom prst="rect">
                <a:avLst/>
              </a:prstGeom>
              <a:noFill/>
              <a:ln>
                <a:noFill/>
              </a:ln>
            </p:spPr>
            <p:txBody>
              <a:bodyPr wrap="none" lIns="0" tIns="0" rIns="0" bIns="0" anchor="t" anchorCtr="0">
                <a:spAutoFit/>
              </a:bodyPr>
              <a:lstStyle/>
              <a:p>
                <a:pPr algn="ctr"/>
                <a:r>
                  <a:rPr lang="ko-KR" sz="1200" dirty="0">
                    <a:solidFill>
                      <a:schemeClr val="accent3"/>
                    </a:solidFill>
                    <a:latin typeface="Consolas"/>
                    <a:ea typeface="Consolas"/>
                    <a:cs typeface="Consolas"/>
                  </a:rPr>
                  <a:t>awaiting_merge</a:t>
                </a:r>
              </a:p>
            </p:txBody>
          </p:sp>
        </p:grpSp>
        <p:grpSp>
          <p:nvGrpSpPr>
            <p:cNvPr id="23" name="Group 23"/>
            <p:cNvGrpSpPr/>
            <p:nvPr/>
          </p:nvGrpSpPr>
          <p:grpSpPr>
            <a:xfrm>
              <a:off x="5715000" y="2857500"/>
              <a:ext cx="1524000" cy="381000"/>
              <a:chOff x="5715000" y="2857500"/>
              <a:chExt cx="1524000" cy="381000"/>
            </a:xfrm>
          </p:grpSpPr>
          <p:sp>
            <p:nvSpPr>
              <p:cNvPr id="21" name="Rectangle 21"/>
              <p:cNvSpPr/>
              <p:nvPr/>
            </p:nvSpPr>
            <p:spPr>
              <a:xfrm>
                <a:off x="5715000" y="2857500"/>
                <a:ext cx="1524000" cy="381000"/>
              </a:xfrm>
              <a:prstGeom prst="roundRect">
                <a:avLst>
                  <a:gd name="adj" fmla="val 50000"/>
                </a:avLst>
              </a:prstGeom>
              <a:solidFill>
                <a:srgbClr val="182238"/>
              </a:solidFill>
              <a:ln w="19050">
                <a:solidFill>
                  <a:srgbClr val="4ADE80"/>
                </a:solidFill>
              </a:ln>
            </p:spPr>
          </p:sp>
          <p:sp>
            <p:nvSpPr>
              <p:cNvPr id="22" name="TextBox 22"/>
              <p:cNvSpPr txBox="1"/>
              <p:nvPr/>
            </p:nvSpPr>
            <p:spPr>
              <a:xfrm>
                <a:off x="6270231" y="2959418"/>
                <a:ext cx="413537" cy="264033"/>
              </a:xfrm>
              <a:prstGeom prst="rect">
                <a:avLst/>
              </a:prstGeom>
              <a:noFill/>
              <a:ln>
                <a:noFill/>
              </a:ln>
            </p:spPr>
            <p:txBody>
              <a:bodyPr wrap="none" lIns="0" tIns="0" rIns="0" bIns="0" anchor="t" anchorCtr="0">
                <a:spAutoFit/>
              </a:bodyPr>
              <a:lstStyle/>
              <a:p>
                <a:pPr algn="ctr"/>
                <a:r>
                  <a:rPr lang="ko-KR" sz="1350" dirty="0">
                    <a:solidFill>
                      <a:srgbClr val="4ADE80"/>
                    </a:solidFill>
                    <a:latin typeface="Consolas"/>
                    <a:ea typeface="Consolas"/>
                    <a:cs typeface="Consolas"/>
                  </a:rPr>
                  <a:t>done</a:t>
                </a:r>
              </a:p>
            </p:txBody>
          </p:sp>
        </p:grpSp>
        <p:grpSp>
          <p:nvGrpSpPr>
            <p:cNvPr id="26" name="Group 26"/>
            <p:cNvGrpSpPr/>
            <p:nvPr/>
          </p:nvGrpSpPr>
          <p:grpSpPr>
            <a:xfrm>
              <a:off x="5715000" y="3676650"/>
              <a:ext cx="1524000" cy="381000"/>
              <a:chOff x="5715000" y="3676650"/>
              <a:chExt cx="1524000" cy="381000"/>
            </a:xfrm>
          </p:grpSpPr>
          <p:sp>
            <p:nvSpPr>
              <p:cNvPr id="24" name="Rectangle 24"/>
              <p:cNvSpPr/>
              <p:nvPr/>
            </p:nvSpPr>
            <p:spPr>
              <a:xfrm>
                <a:off x="5715000" y="3676650"/>
                <a:ext cx="1524000" cy="381000"/>
              </a:xfrm>
              <a:prstGeom prst="roundRect">
                <a:avLst>
                  <a:gd name="adj" fmla="val 50000"/>
                </a:avLst>
              </a:prstGeom>
              <a:solidFill>
                <a:srgbClr val="182238"/>
              </a:solidFill>
              <a:ln w="19050">
                <a:solidFill>
                  <a:srgbClr val="FF6B6B"/>
                </a:solidFill>
              </a:ln>
            </p:spPr>
          </p:sp>
          <p:sp>
            <p:nvSpPr>
              <p:cNvPr id="25" name="TextBox 25"/>
              <p:cNvSpPr txBox="1"/>
              <p:nvPr/>
            </p:nvSpPr>
            <p:spPr>
              <a:xfrm>
                <a:off x="6215710" y="3778568"/>
                <a:ext cx="522580" cy="264033"/>
              </a:xfrm>
              <a:prstGeom prst="rect">
                <a:avLst/>
              </a:prstGeom>
              <a:noFill/>
              <a:ln>
                <a:noFill/>
              </a:ln>
            </p:spPr>
            <p:txBody>
              <a:bodyPr wrap="none" lIns="0" tIns="0" rIns="0" bIns="0" anchor="t" anchorCtr="0">
                <a:spAutoFit/>
              </a:bodyPr>
              <a:lstStyle/>
              <a:p>
                <a:pPr algn="ctr"/>
                <a:r>
                  <a:rPr lang="ko-KR" sz="1350" dirty="0">
                    <a:solidFill>
                      <a:srgbClr val="FF6B6B"/>
                    </a:solidFill>
                    <a:latin typeface="Consolas"/>
                    <a:ea typeface="Consolas"/>
                    <a:cs typeface="Consolas"/>
                  </a:rPr>
                  <a:t>failed</a:t>
                </a:r>
              </a:p>
            </p:txBody>
          </p:sp>
        </p:grpSp>
        <p:grpSp>
          <p:nvGrpSpPr>
            <p:cNvPr id="45" name="Group 45"/>
            <p:cNvGrpSpPr/>
            <p:nvPr/>
          </p:nvGrpSpPr>
          <p:grpSpPr>
            <a:xfrm>
              <a:off x="1509331" y="2439352"/>
              <a:ext cx="4838224" cy="1386459"/>
              <a:chOff x="1509331" y="2439352"/>
              <a:chExt cx="4838224" cy="1386459"/>
            </a:xfrm>
          </p:grpSpPr>
          <p:sp>
            <p:nvSpPr>
              <p:cNvPr id="27" name="Line 27"/>
              <p:cNvSpPr/>
              <p:nvPr/>
            </p:nvSpPr>
            <p:spPr>
              <a:xfrm flipH="1" flipV="1">
                <a:off x="2305050" y="2457450"/>
                <a:ext cx="933450" cy="457200"/>
              </a:xfrm>
              <a:prstGeom prst="line">
                <a:avLst/>
              </a:prstGeom>
              <a:noFill/>
              <a:ln w="19050">
                <a:solidFill>
                  <a:schemeClr val="accent2"/>
                </a:solidFill>
                <a:tailEnd type="triangle" w="med" len="med"/>
              </a:ln>
            </p:spPr>
          </p:sp>
          <p:sp>
            <p:nvSpPr>
              <p:cNvPr id="28" name="Line 28"/>
              <p:cNvSpPr/>
              <p:nvPr/>
            </p:nvSpPr>
            <p:spPr>
              <a:xfrm>
                <a:off x="2286000" y="2571750"/>
                <a:ext cx="933450" cy="457200"/>
              </a:xfrm>
              <a:prstGeom prst="line">
                <a:avLst/>
              </a:prstGeom>
              <a:noFill/>
              <a:ln w="19050">
                <a:solidFill>
                  <a:schemeClr val="accent1"/>
                </a:solidFill>
                <a:tailEnd type="triangle" w="med" len="med"/>
              </a:ln>
            </p:spPr>
          </p:sp>
          <p:sp>
            <p:nvSpPr>
              <p:cNvPr id="29" name="TextBox 29"/>
              <p:cNvSpPr txBox="1"/>
              <p:nvPr/>
            </p:nvSpPr>
            <p:spPr>
              <a:xfrm>
                <a:off x="1958607" y="2439352"/>
                <a:ext cx="618477" cy="205359"/>
              </a:xfrm>
              <a:prstGeom prst="rect">
                <a:avLst/>
              </a:prstGeom>
              <a:noFill/>
              <a:ln>
                <a:noFill/>
              </a:ln>
            </p:spPr>
            <p:txBody>
              <a:bodyPr wrap="none" lIns="0" tIns="0" rIns="0" bIns="0" anchor="t" anchorCtr="0">
                <a:spAutoFit/>
              </a:bodyPr>
              <a:lstStyle/>
              <a:p>
                <a:pPr algn="r"/>
                <a:r>
                  <a:rPr lang="ko-KR" sz="1050" dirty="0">
                    <a:solidFill>
                      <a:schemeClr val="accent2"/>
                    </a:solidFill>
                    <a:latin typeface="+mn-lt"/>
                    <a:ea typeface="+mn-ea"/>
                    <a:cs typeface="+mn-cs"/>
                  </a:rPr>
                  <a:t>세션 질문</a:t>
                </a:r>
              </a:p>
            </p:txBody>
          </p:sp>
          <p:sp>
            <p:nvSpPr>
              <p:cNvPr id="30" name="TextBox 30"/>
              <p:cNvSpPr txBox="1"/>
              <p:nvPr/>
            </p:nvSpPr>
            <p:spPr>
              <a:xfrm>
                <a:off x="1509331" y="2744152"/>
                <a:ext cx="1353503" cy="205359"/>
              </a:xfrm>
              <a:prstGeom prst="rect">
                <a:avLst/>
              </a:prstGeom>
              <a:noFill/>
              <a:ln>
                <a:noFill/>
              </a:ln>
            </p:spPr>
            <p:txBody>
              <a:bodyPr wrap="none" lIns="0" tIns="0" rIns="0" bIns="0" anchor="t" anchorCtr="0">
                <a:spAutoFit/>
              </a:bodyPr>
              <a:lstStyle/>
              <a:p>
                <a:pPr algn="r"/>
                <a:r>
                  <a:rPr lang="ko-KR" sz="1050" dirty="0">
                    <a:solidFill>
                      <a:schemeClr val="accent1"/>
                    </a:solidFill>
                    <a:latin typeface="+mn-lt"/>
                    <a:ea typeface="+mn-ea"/>
                    <a:cs typeface="+mn-cs"/>
                  </a:rPr>
                  <a:t>fw answer → fw run</a:t>
                </a:r>
              </a:p>
            </p:txBody>
          </p:sp>
          <p:sp>
            <p:nvSpPr>
              <p:cNvPr id="31" name="Line 31"/>
              <p:cNvSpPr/>
              <p:nvPr/>
            </p:nvSpPr>
            <p:spPr>
              <a:xfrm flipH="1">
                <a:off x="2305050" y="3181350"/>
                <a:ext cx="933450" cy="571500"/>
              </a:xfrm>
              <a:prstGeom prst="line">
                <a:avLst/>
              </a:prstGeom>
              <a:noFill/>
              <a:ln w="19050">
                <a:solidFill>
                  <a:schemeClr val="accent2"/>
                </a:solidFill>
                <a:tailEnd type="triangle" w="med" len="med"/>
              </a:ln>
            </p:spPr>
          </p:sp>
          <p:sp>
            <p:nvSpPr>
              <p:cNvPr id="32" name="Line 32"/>
              <p:cNvSpPr/>
              <p:nvPr/>
            </p:nvSpPr>
            <p:spPr>
              <a:xfrm flipV="1">
                <a:off x="2286000" y="3067050"/>
                <a:ext cx="933450" cy="571500"/>
              </a:xfrm>
              <a:prstGeom prst="line">
                <a:avLst/>
              </a:prstGeom>
              <a:noFill/>
              <a:ln w="19050">
                <a:solidFill>
                  <a:schemeClr val="accent1"/>
                </a:solidFill>
                <a:tailEnd type="triangle" w="med" len="med"/>
              </a:ln>
            </p:spPr>
          </p:sp>
          <p:sp>
            <p:nvSpPr>
              <p:cNvPr id="33" name="TextBox 33"/>
              <p:cNvSpPr txBox="1"/>
              <p:nvPr/>
            </p:nvSpPr>
            <p:spPr>
              <a:xfrm>
                <a:off x="1680362" y="3620452"/>
                <a:ext cx="839572" cy="205359"/>
              </a:xfrm>
              <a:prstGeom prst="rect">
                <a:avLst/>
              </a:prstGeom>
              <a:noFill/>
              <a:ln>
                <a:noFill/>
              </a:ln>
            </p:spPr>
            <p:txBody>
              <a:bodyPr wrap="none" lIns="0" tIns="0" rIns="0" bIns="0" anchor="t" anchorCtr="0">
                <a:spAutoFit/>
              </a:bodyPr>
              <a:lstStyle/>
              <a:p>
                <a:pPr algn="r"/>
                <a:r>
                  <a:rPr lang="ko-KR" sz="1050" dirty="0">
                    <a:solidFill>
                      <a:schemeClr val="accent2"/>
                    </a:solidFill>
                    <a:latin typeface="+mn-lt"/>
                    <a:ea typeface="+mn-ea"/>
                    <a:cs typeface="+mn-cs"/>
                  </a:rPr>
                  <a:t>STOP · 상한</a:t>
                </a:r>
              </a:p>
            </p:txBody>
          </p:sp>
          <p:sp>
            <p:nvSpPr>
              <p:cNvPr id="34" name="TextBox 34"/>
              <p:cNvSpPr txBox="1"/>
              <p:nvPr/>
            </p:nvSpPr>
            <p:spPr>
              <a:xfrm>
                <a:off x="1587075" y="3239452"/>
                <a:ext cx="1275759" cy="205359"/>
              </a:xfrm>
              <a:prstGeom prst="rect">
                <a:avLst/>
              </a:prstGeom>
              <a:noFill/>
              <a:ln>
                <a:noFill/>
              </a:ln>
            </p:spPr>
            <p:txBody>
              <a:bodyPr wrap="none" lIns="0" tIns="0" rIns="0" bIns="0" anchor="t" anchorCtr="0">
                <a:spAutoFit/>
              </a:bodyPr>
              <a:lstStyle/>
              <a:p>
                <a:pPr algn="r"/>
                <a:r>
                  <a:rPr lang="ko-KR" sz="1050" dirty="0">
                    <a:solidFill>
                      <a:schemeClr val="accent1"/>
                    </a:solidFill>
                    <a:latin typeface="+mn-lt"/>
                    <a:ea typeface="+mn-ea"/>
                    <a:cs typeface="+mn-cs"/>
                  </a:rPr>
                  <a:t>fw run (그냥 재개)</a:t>
                </a:r>
              </a:p>
            </p:txBody>
          </p:sp>
          <p:sp>
            <p:nvSpPr>
              <p:cNvPr id="35" name="Line 35"/>
              <p:cNvSpPr/>
              <p:nvPr/>
            </p:nvSpPr>
            <p:spPr>
              <a:xfrm flipV="1">
                <a:off x="4762500" y="2457450"/>
                <a:ext cx="933450" cy="457200"/>
              </a:xfrm>
              <a:prstGeom prst="line">
                <a:avLst/>
              </a:prstGeom>
              <a:noFill/>
              <a:ln w="19050">
                <a:solidFill>
                  <a:schemeClr val="accent3"/>
                </a:solidFill>
                <a:tailEnd type="triangle" w="med" len="med"/>
              </a:ln>
            </p:spPr>
          </p:sp>
          <p:sp>
            <p:nvSpPr>
              <p:cNvPr id="36" name="Line 36"/>
              <p:cNvSpPr/>
              <p:nvPr/>
            </p:nvSpPr>
            <p:spPr>
              <a:xfrm flipH="1">
                <a:off x="4781550" y="2571750"/>
                <a:ext cx="933450" cy="457200"/>
              </a:xfrm>
              <a:prstGeom prst="line">
                <a:avLst/>
              </a:prstGeom>
              <a:noFill/>
              <a:ln w="19050">
                <a:solidFill>
                  <a:schemeClr val="accent1"/>
                </a:solidFill>
                <a:tailEnd type="triangle" w="med" len="med"/>
              </a:ln>
            </p:spPr>
          </p:sp>
          <p:sp>
            <p:nvSpPr>
              <p:cNvPr id="37" name="TextBox 37"/>
              <p:cNvSpPr txBox="1"/>
              <p:nvPr/>
            </p:nvSpPr>
            <p:spPr>
              <a:xfrm>
                <a:off x="5328666" y="2439352"/>
                <a:ext cx="554869" cy="205359"/>
              </a:xfrm>
              <a:prstGeom prst="rect">
                <a:avLst/>
              </a:prstGeom>
              <a:noFill/>
              <a:ln>
                <a:noFill/>
              </a:ln>
            </p:spPr>
            <p:txBody>
              <a:bodyPr wrap="none" lIns="0" tIns="0" rIns="0" bIns="0" anchor="t" anchorCtr="0">
                <a:spAutoFit/>
              </a:bodyPr>
              <a:lstStyle/>
              <a:p>
                <a:pPr algn="l"/>
                <a:r>
                  <a:rPr lang="ko-KR" sz="1050" dirty="0">
                    <a:solidFill>
                      <a:schemeClr val="accent3"/>
                    </a:solidFill>
                    <a:latin typeface="+mn-lt"/>
                    <a:ea typeface="+mn-ea"/>
                    <a:cs typeface="+mn-cs"/>
                  </a:rPr>
                  <a:t>approve</a:t>
                </a:r>
              </a:p>
            </p:txBody>
          </p:sp>
          <p:sp>
            <p:nvSpPr>
              <p:cNvPr id="38" name="TextBox 38"/>
              <p:cNvSpPr txBox="1"/>
              <p:nvPr/>
            </p:nvSpPr>
            <p:spPr>
              <a:xfrm>
                <a:off x="5100066" y="2744152"/>
                <a:ext cx="915314" cy="205359"/>
              </a:xfrm>
              <a:prstGeom prst="rect">
                <a:avLst/>
              </a:prstGeom>
              <a:noFill/>
              <a:ln>
                <a:noFill/>
              </a:ln>
            </p:spPr>
            <p:txBody>
              <a:bodyPr wrap="none" lIns="0" tIns="0" rIns="0" bIns="0" anchor="t" anchorCtr="0">
                <a:spAutoFit/>
              </a:bodyPr>
              <a:lstStyle/>
              <a:p>
                <a:pPr algn="l"/>
                <a:r>
                  <a:rPr lang="ko-KR" sz="1050" dirty="0">
                    <a:solidFill>
                      <a:schemeClr val="accent1"/>
                    </a:solidFill>
                    <a:latin typeface="+mn-lt"/>
                    <a:ea typeface="+mn-ea"/>
                    <a:cs typeface="+mn-cs"/>
                  </a:rPr>
                  <a:t>머지 → fw run</a:t>
                </a:r>
              </a:p>
            </p:txBody>
          </p:sp>
          <p:sp>
            <p:nvSpPr>
              <p:cNvPr id="39" name="Line 39"/>
              <p:cNvSpPr/>
              <p:nvPr/>
            </p:nvSpPr>
            <p:spPr>
              <a:xfrm>
                <a:off x="4762500" y="3048000"/>
                <a:ext cx="933450" cy="1"/>
              </a:xfrm>
              <a:prstGeom prst="line">
                <a:avLst/>
              </a:prstGeom>
              <a:noFill/>
              <a:ln w="19050">
                <a:solidFill>
                  <a:srgbClr val="4ADE80"/>
                </a:solidFill>
                <a:tailEnd type="triangle" w="med" len="med"/>
              </a:ln>
            </p:spPr>
          </p:sp>
          <p:sp>
            <p:nvSpPr>
              <p:cNvPr id="40" name="TextBox 40"/>
              <p:cNvSpPr txBox="1"/>
              <p:nvPr/>
            </p:nvSpPr>
            <p:spPr>
              <a:xfrm>
                <a:off x="4770491" y="2858452"/>
                <a:ext cx="936517" cy="205359"/>
              </a:xfrm>
              <a:prstGeom prst="rect">
                <a:avLst/>
              </a:prstGeom>
              <a:noFill/>
              <a:ln>
                <a:noFill/>
              </a:ln>
            </p:spPr>
            <p:txBody>
              <a:bodyPr wrap="none" lIns="0" tIns="0" rIns="0" bIns="0" anchor="t" anchorCtr="0">
                <a:spAutoFit/>
              </a:bodyPr>
              <a:lstStyle/>
              <a:p>
                <a:pPr algn="ctr"/>
                <a:r>
                  <a:rPr lang="ko-KR" sz="1050" dirty="0">
                    <a:solidFill>
                      <a:srgbClr val="4ADE80"/>
                    </a:solidFill>
                    <a:latin typeface="+mn-lt"/>
                    <a:ea typeface="+mn-ea"/>
                    <a:cs typeface="+mn-cs"/>
                  </a:rPr>
                  <a:t>전 phase done</a:t>
                </a:r>
              </a:p>
            </p:txBody>
          </p:sp>
          <p:sp>
            <p:nvSpPr>
              <p:cNvPr id="41" name="Line 41"/>
              <p:cNvSpPr/>
              <p:nvPr/>
            </p:nvSpPr>
            <p:spPr>
              <a:xfrm>
                <a:off x="4762500" y="3181350"/>
                <a:ext cx="933450" cy="571500"/>
              </a:xfrm>
              <a:prstGeom prst="line">
                <a:avLst/>
              </a:prstGeom>
              <a:noFill/>
              <a:ln w="19050">
                <a:solidFill>
                  <a:srgbClr val="FF6B6B"/>
                </a:solidFill>
                <a:tailEnd type="triangle" w="med" len="med"/>
              </a:ln>
            </p:spPr>
          </p:sp>
          <p:sp>
            <p:nvSpPr>
              <p:cNvPr id="42" name="Line 42"/>
              <p:cNvSpPr/>
              <p:nvPr/>
            </p:nvSpPr>
            <p:spPr>
              <a:xfrm flipH="1" flipV="1">
                <a:off x="4781550" y="3067050"/>
                <a:ext cx="933450" cy="571500"/>
              </a:xfrm>
              <a:prstGeom prst="line">
                <a:avLst/>
              </a:prstGeom>
              <a:noFill/>
              <a:ln w="19050">
                <a:solidFill>
                  <a:schemeClr val="accent1"/>
                </a:solidFill>
                <a:tailEnd type="triangle" w="med" len="med"/>
              </a:ln>
            </p:spPr>
          </p:sp>
          <p:sp>
            <p:nvSpPr>
              <p:cNvPr id="43" name="TextBox 43"/>
              <p:cNvSpPr txBox="1"/>
              <p:nvPr/>
            </p:nvSpPr>
            <p:spPr>
              <a:xfrm>
                <a:off x="5290566" y="3620452"/>
                <a:ext cx="759828" cy="205359"/>
              </a:xfrm>
              <a:prstGeom prst="rect">
                <a:avLst/>
              </a:prstGeom>
              <a:noFill/>
              <a:ln>
                <a:noFill/>
              </a:ln>
            </p:spPr>
            <p:txBody>
              <a:bodyPr wrap="none" lIns="0" tIns="0" rIns="0" bIns="0" anchor="t" anchorCtr="0">
                <a:spAutoFit/>
              </a:bodyPr>
              <a:lstStyle/>
              <a:p>
                <a:pPr algn="l"/>
                <a:r>
                  <a:rPr lang="ko-KR" sz="1050" dirty="0">
                    <a:solidFill>
                      <a:srgbClr val="FF6B6B"/>
                    </a:solidFill>
                    <a:latin typeface="+mn-lt"/>
                    <a:ea typeface="+mn-ea"/>
                    <a:cs typeface="+mn-cs"/>
                  </a:rPr>
                  <a:t>재시도 소진</a:t>
                </a:r>
              </a:p>
            </p:txBody>
          </p:sp>
          <p:sp>
            <p:nvSpPr>
              <p:cNvPr id="44" name="TextBox 44"/>
              <p:cNvSpPr txBox="1"/>
              <p:nvPr/>
            </p:nvSpPr>
            <p:spPr>
              <a:xfrm>
                <a:off x="5100066" y="3239452"/>
                <a:ext cx="1247489" cy="205359"/>
              </a:xfrm>
              <a:prstGeom prst="rect">
                <a:avLst/>
              </a:prstGeom>
              <a:noFill/>
              <a:ln>
                <a:noFill/>
              </a:ln>
            </p:spPr>
            <p:txBody>
              <a:bodyPr wrap="none" lIns="0" tIns="0" rIns="0" bIns="0" anchor="t" anchorCtr="0">
                <a:spAutoFit/>
              </a:bodyPr>
              <a:lstStyle/>
              <a:p>
                <a:pPr algn="l"/>
                <a:r>
                  <a:rPr lang="ko-KR" sz="1050" dirty="0">
                    <a:solidFill>
                      <a:schemeClr val="accent1"/>
                    </a:solidFill>
                    <a:latin typeface="+mn-lt"/>
                    <a:ea typeface="+mn-ea"/>
                    <a:cs typeface="+mn-cs"/>
                  </a:rPr>
                  <a:t>fw retry → fw run</a:t>
                </a:r>
              </a:p>
            </p:txBody>
          </p:sp>
        </p:grpSp>
      </p:grpSp>
      <p:grpSp>
        <p:nvGrpSpPr>
          <p:cNvPr id="84" name="Group 84"/>
          <p:cNvGrpSpPr/>
          <p:nvPr/>
        </p:nvGrpSpPr>
        <p:grpSpPr>
          <a:xfrm>
            <a:off x="7620000" y="1905000"/>
            <a:ext cx="3962400" cy="2286000"/>
            <a:chOff x="7620000" y="1905000"/>
            <a:chExt cx="3962400" cy="2286000"/>
          </a:xfrm>
        </p:grpSpPr>
        <p:sp>
          <p:nvSpPr>
            <p:cNvPr id="47" name="Rectangle 47"/>
            <p:cNvSpPr/>
            <p:nvPr/>
          </p:nvSpPr>
          <p:spPr>
            <a:xfrm>
              <a:off x="7620000" y="1905000"/>
              <a:ext cx="3962400" cy="2286000"/>
            </a:xfrm>
            <a:prstGeom prst="roundRect">
              <a:avLst>
                <a:gd name="adj" fmla="val 2500"/>
              </a:avLst>
            </a:prstGeom>
            <a:solidFill>
              <a:schemeClr val="lt2">
                <a:alpha val="60000"/>
              </a:schemeClr>
            </a:solidFill>
            <a:ln w="19050">
              <a:solidFill>
                <a:schemeClr val="accent6"/>
              </a:solidFill>
            </a:ln>
          </p:spPr>
        </p:sp>
        <p:sp>
          <p:nvSpPr>
            <p:cNvPr id="48" name="TextBox 48"/>
            <p:cNvSpPr txBox="1"/>
            <p:nvPr/>
          </p:nvSpPr>
          <p:spPr>
            <a:xfrm>
              <a:off x="7767066" y="2001202"/>
              <a:ext cx="3139573" cy="205359"/>
            </a:xfrm>
            <a:prstGeom prst="rect">
              <a:avLst/>
            </a:prstGeom>
            <a:noFill/>
            <a:ln>
              <a:noFill/>
            </a:ln>
          </p:spPr>
          <p:txBody>
            <a:bodyPr wrap="none" lIns="0" tIns="0" rIns="0" bIns="0" anchor="t" anchorCtr="0">
              <a:spAutoFit/>
            </a:bodyPr>
            <a:lstStyle/>
            <a:p>
              <a:pPr algn="l"/>
              <a:r>
                <a:rPr lang="ko-KR" sz="1050" spc="150" dirty="0">
                  <a:solidFill>
                    <a:schemeClr val="accent5"/>
                  </a:solidFill>
                  <a:latin typeface="Consolas"/>
                  <a:ea typeface="Microsoft YaHei"/>
                  <a:cs typeface="Consolas"/>
                </a:rPr>
                <a:t>phases[].status — phase 상태 (별개)</a:t>
              </a:r>
            </a:p>
          </p:txBody>
        </p:sp>
        <p:grpSp>
          <p:nvGrpSpPr>
            <p:cNvPr id="51" name="Group 51"/>
            <p:cNvGrpSpPr/>
            <p:nvPr/>
          </p:nvGrpSpPr>
          <p:grpSpPr>
            <a:xfrm>
              <a:off x="7772400" y="2952750"/>
              <a:ext cx="914400" cy="285750"/>
              <a:chOff x="7772400" y="2952750"/>
              <a:chExt cx="914400" cy="285750"/>
            </a:xfrm>
          </p:grpSpPr>
          <p:sp>
            <p:nvSpPr>
              <p:cNvPr id="49" name="Rectangle 49"/>
              <p:cNvSpPr/>
              <p:nvPr/>
            </p:nvSpPr>
            <p:spPr>
              <a:xfrm>
                <a:off x="7772400" y="2952750"/>
                <a:ext cx="914400" cy="285750"/>
              </a:xfrm>
              <a:prstGeom prst="roundRect">
                <a:avLst>
                  <a:gd name="adj" fmla="val 50000"/>
                </a:avLst>
              </a:prstGeom>
              <a:solidFill>
                <a:srgbClr val="182238"/>
              </a:solidFill>
              <a:ln w="14288">
                <a:solidFill>
                  <a:srgbClr val="9AA8BD"/>
                </a:solidFill>
              </a:ln>
            </p:spPr>
          </p:sp>
          <p:sp>
            <p:nvSpPr>
              <p:cNvPr id="50" name="TextBox 50"/>
              <p:cNvSpPr txBox="1"/>
              <p:nvPr/>
            </p:nvSpPr>
            <p:spPr>
              <a:xfrm>
                <a:off x="7969834" y="3029902"/>
                <a:ext cx="519532" cy="205359"/>
              </a:xfrm>
              <a:prstGeom prst="rect">
                <a:avLst/>
              </a:prstGeom>
              <a:noFill/>
              <a:ln>
                <a:noFill/>
              </a:ln>
            </p:spPr>
            <p:txBody>
              <a:bodyPr wrap="none" lIns="0" tIns="0" rIns="0" bIns="0" anchor="t" anchorCtr="0">
                <a:spAutoFit/>
              </a:bodyPr>
              <a:lstStyle/>
              <a:p>
                <a:pPr algn="ctr"/>
                <a:r>
                  <a:rPr lang="ko-KR" sz="1050" dirty="0">
                    <a:solidFill>
                      <a:schemeClr val="dk1"/>
                    </a:solidFill>
                    <a:latin typeface="Consolas"/>
                    <a:ea typeface="Consolas"/>
                    <a:cs typeface="Consolas"/>
                  </a:rPr>
                  <a:t>pending</a:t>
                </a:r>
              </a:p>
            </p:txBody>
          </p:sp>
        </p:grpSp>
        <p:grpSp>
          <p:nvGrpSpPr>
            <p:cNvPr id="54" name="Group 54"/>
            <p:cNvGrpSpPr/>
            <p:nvPr/>
          </p:nvGrpSpPr>
          <p:grpSpPr>
            <a:xfrm>
              <a:off x="8991600" y="2952750"/>
              <a:ext cx="1143000" cy="285750"/>
              <a:chOff x="8991600" y="2952750"/>
              <a:chExt cx="1143000" cy="285750"/>
            </a:xfrm>
          </p:grpSpPr>
          <p:sp>
            <p:nvSpPr>
              <p:cNvPr id="52" name="Rectangle 52"/>
              <p:cNvSpPr/>
              <p:nvPr/>
            </p:nvSpPr>
            <p:spPr>
              <a:xfrm>
                <a:off x="8991600" y="2952750"/>
                <a:ext cx="1143000" cy="285750"/>
              </a:xfrm>
              <a:prstGeom prst="roundRect">
                <a:avLst>
                  <a:gd name="adj" fmla="val 50000"/>
                </a:avLst>
              </a:prstGeom>
              <a:solidFill>
                <a:srgbClr val="182238"/>
              </a:solidFill>
              <a:ln w="14288">
                <a:solidFill>
                  <a:schemeClr val="accent1"/>
                </a:solidFill>
              </a:ln>
            </p:spPr>
          </p:sp>
          <p:sp>
            <p:nvSpPr>
              <p:cNvPr id="53" name="TextBox 53"/>
              <p:cNvSpPr txBox="1"/>
              <p:nvPr/>
            </p:nvSpPr>
            <p:spPr>
              <a:xfrm>
                <a:off x="9147848" y="3029902"/>
                <a:ext cx="830504" cy="205359"/>
              </a:xfrm>
              <a:prstGeom prst="rect">
                <a:avLst/>
              </a:prstGeom>
              <a:noFill/>
              <a:ln>
                <a:noFill/>
              </a:ln>
            </p:spPr>
            <p:txBody>
              <a:bodyPr wrap="none" lIns="0" tIns="0" rIns="0" bIns="0" anchor="t" anchorCtr="0">
                <a:spAutoFit/>
              </a:bodyPr>
              <a:lstStyle/>
              <a:p>
                <a:pPr algn="ctr"/>
                <a:r>
                  <a:rPr lang="ko-KR" sz="1050" dirty="0">
                    <a:solidFill>
                      <a:schemeClr val="accent1"/>
                    </a:solidFill>
                    <a:latin typeface="Consolas"/>
                    <a:ea typeface="Consolas"/>
                    <a:cs typeface="Consolas"/>
                  </a:rPr>
                  <a:t>in_progress</a:t>
                </a:r>
              </a:p>
            </p:txBody>
          </p:sp>
        </p:grpSp>
        <p:grpSp>
          <p:nvGrpSpPr>
            <p:cNvPr id="57" name="Group 57"/>
            <p:cNvGrpSpPr/>
            <p:nvPr/>
          </p:nvGrpSpPr>
          <p:grpSpPr>
            <a:xfrm>
              <a:off x="10515600" y="2952750"/>
              <a:ext cx="914400" cy="285750"/>
              <a:chOff x="10515600" y="2952750"/>
              <a:chExt cx="914400" cy="285750"/>
            </a:xfrm>
          </p:grpSpPr>
          <p:sp>
            <p:nvSpPr>
              <p:cNvPr id="55" name="Rectangle 55"/>
              <p:cNvSpPr/>
              <p:nvPr/>
            </p:nvSpPr>
            <p:spPr>
              <a:xfrm>
                <a:off x="10515600" y="2952750"/>
                <a:ext cx="914400" cy="285750"/>
              </a:xfrm>
              <a:prstGeom prst="roundRect">
                <a:avLst>
                  <a:gd name="adj" fmla="val 50000"/>
                </a:avLst>
              </a:prstGeom>
              <a:solidFill>
                <a:srgbClr val="182238"/>
              </a:solidFill>
              <a:ln w="14288">
                <a:solidFill>
                  <a:srgbClr val="4ADE80"/>
                </a:solidFill>
              </a:ln>
            </p:spPr>
          </p:sp>
          <p:sp>
            <p:nvSpPr>
              <p:cNvPr id="56" name="TextBox 56"/>
              <p:cNvSpPr txBox="1"/>
              <p:nvPr/>
            </p:nvSpPr>
            <p:spPr>
              <a:xfrm>
                <a:off x="10811980" y="3029902"/>
                <a:ext cx="321640" cy="205359"/>
              </a:xfrm>
              <a:prstGeom prst="rect">
                <a:avLst/>
              </a:prstGeom>
              <a:noFill/>
              <a:ln>
                <a:noFill/>
              </a:ln>
            </p:spPr>
            <p:txBody>
              <a:bodyPr wrap="none" lIns="0" tIns="0" rIns="0" bIns="0" anchor="t" anchorCtr="0">
                <a:spAutoFit/>
              </a:bodyPr>
              <a:lstStyle/>
              <a:p>
                <a:pPr algn="ctr"/>
                <a:r>
                  <a:rPr lang="ko-KR" sz="1050" dirty="0">
                    <a:solidFill>
                      <a:srgbClr val="4ADE80"/>
                    </a:solidFill>
                    <a:latin typeface="Consolas"/>
                    <a:ea typeface="Consolas"/>
                    <a:cs typeface="Consolas"/>
                  </a:rPr>
                  <a:t>done</a:t>
                </a:r>
              </a:p>
            </p:txBody>
          </p:sp>
        </p:grpSp>
        <p:grpSp>
          <p:nvGrpSpPr>
            <p:cNvPr id="60" name="Group 60"/>
            <p:cNvGrpSpPr/>
            <p:nvPr/>
          </p:nvGrpSpPr>
          <p:grpSpPr>
            <a:xfrm>
              <a:off x="8991600" y="2324100"/>
              <a:ext cx="1143000" cy="285750"/>
              <a:chOff x="8991600" y="2324100"/>
              <a:chExt cx="1143000" cy="285750"/>
            </a:xfrm>
          </p:grpSpPr>
          <p:sp>
            <p:nvSpPr>
              <p:cNvPr id="58" name="Rectangle 58"/>
              <p:cNvSpPr/>
              <p:nvPr/>
            </p:nvSpPr>
            <p:spPr>
              <a:xfrm>
                <a:off x="8991600" y="2324100"/>
                <a:ext cx="1143000" cy="285750"/>
              </a:xfrm>
              <a:prstGeom prst="roundRect">
                <a:avLst>
                  <a:gd name="adj" fmla="val 50000"/>
                </a:avLst>
              </a:prstGeom>
              <a:solidFill>
                <a:srgbClr val="182238"/>
              </a:solidFill>
              <a:ln w="14288">
                <a:solidFill>
                  <a:schemeClr val="accent2"/>
                </a:solidFill>
              </a:ln>
            </p:spPr>
          </p:sp>
          <p:sp>
            <p:nvSpPr>
              <p:cNvPr id="59" name="TextBox 59"/>
              <p:cNvSpPr txBox="1"/>
              <p:nvPr/>
            </p:nvSpPr>
            <p:spPr>
              <a:xfrm>
                <a:off x="9303334" y="2401252"/>
                <a:ext cx="519532" cy="205359"/>
              </a:xfrm>
              <a:prstGeom prst="rect">
                <a:avLst/>
              </a:prstGeom>
              <a:noFill/>
              <a:ln>
                <a:noFill/>
              </a:ln>
            </p:spPr>
            <p:txBody>
              <a:bodyPr wrap="none" lIns="0" tIns="0" rIns="0" bIns="0" anchor="t" anchorCtr="0">
                <a:spAutoFit/>
              </a:bodyPr>
              <a:lstStyle/>
              <a:p>
                <a:pPr algn="ctr"/>
                <a:r>
                  <a:rPr lang="ko-KR" sz="1050" dirty="0">
                    <a:solidFill>
                      <a:schemeClr val="accent2"/>
                    </a:solidFill>
                    <a:latin typeface="Consolas"/>
                    <a:ea typeface="Consolas"/>
                    <a:cs typeface="Consolas"/>
                  </a:rPr>
                  <a:t>blocked</a:t>
                </a:r>
              </a:p>
            </p:txBody>
          </p:sp>
        </p:grpSp>
        <p:grpSp>
          <p:nvGrpSpPr>
            <p:cNvPr id="63" name="Group 63"/>
            <p:cNvGrpSpPr/>
            <p:nvPr/>
          </p:nvGrpSpPr>
          <p:grpSpPr>
            <a:xfrm>
              <a:off x="8991600" y="3581400"/>
              <a:ext cx="1143000" cy="285750"/>
              <a:chOff x="8991600" y="3581400"/>
              <a:chExt cx="1143000" cy="285750"/>
            </a:xfrm>
          </p:grpSpPr>
          <p:sp>
            <p:nvSpPr>
              <p:cNvPr id="61" name="Rectangle 61"/>
              <p:cNvSpPr/>
              <p:nvPr/>
            </p:nvSpPr>
            <p:spPr>
              <a:xfrm>
                <a:off x="8991600" y="3581400"/>
                <a:ext cx="1143000" cy="285750"/>
              </a:xfrm>
              <a:prstGeom prst="roundRect">
                <a:avLst>
                  <a:gd name="adj" fmla="val 50000"/>
                </a:avLst>
              </a:prstGeom>
              <a:solidFill>
                <a:srgbClr val="182238"/>
              </a:solidFill>
              <a:ln w="14288">
                <a:solidFill>
                  <a:schemeClr val="accent3"/>
                </a:solidFill>
              </a:ln>
            </p:spPr>
          </p:sp>
          <p:sp>
            <p:nvSpPr>
              <p:cNvPr id="62" name="TextBox 62"/>
              <p:cNvSpPr txBox="1"/>
              <p:nvPr/>
            </p:nvSpPr>
            <p:spPr>
              <a:xfrm>
                <a:off x="9229125" y="3658552"/>
                <a:ext cx="667950" cy="205359"/>
              </a:xfrm>
              <a:prstGeom prst="rect">
                <a:avLst/>
              </a:prstGeom>
              <a:noFill/>
              <a:ln>
                <a:noFill/>
              </a:ln>
            </p:spPr>
            <p:txBody>
              <a:bodyPr wrap="none" lIns="0" tIns="0" rIns="0" bIns="0" anchor="t" anchorCtr="0">
                <a:spAutoFit/>
              </a:bodyPr>
              <a:lstStyle/>
              <a:p>
                <a:pPr algn="ctr"/>
                <a:r>
                  <a:rPr lang="ko-KR" sz="1050" dirty="0">
                    <a:solidFill>
                      <a:schemeClr val="accent3"/>
                    </a:solidFill>
                    <a:latin typeface="Consolas"/>
                    <a:ea typeface="Consolas"/>
                    <a:cs typeface="Consolas"/>
                  </a:rPr>
                  <a:t>in_review</a:t>
                </a:r>
              </a:p>
            </p:txBody>
          </p:sp>
        </p:grpSp>
        <p:grpSp>
          <p:nvGrpSpPr>
            <p:cNvPr id="66" name="Group 66"/>
            <p:cNvGrpSpPr/>
            <p:nvPr/>
          </p:nvGrpSpPr>
          <p:grpSpPr>
            <a:xfrm>
              <a:off x="10515600" y="3581400"/>
              <a:ext cx="914400" cy="285750"/>
              <a:chOff x="10515600" y="3581400"/>
              <a:chExt cx="914400" cy="285750"/>
            </a:xfrm>
          </p:grpSpPr>
          <p:sp>
            <p:nvSpPr>
              <p:cNvPr id="64" name="Rectangle 64"/>
              <p:cNvSpPr/>
              <p:nvPr/>
            </p:nvSpPr>
            <p:spPr>
              <a:xfrm>
                <a:off x="10515600" y="3581400"/>
                <a:ext cx="914400" cy="285750"/>
              </a:xfrm>
              <a:prstGeom prst="roundRect">
                <a:avLst>
                  <a:gd name="adj" fmla="val 50000"/>
                </a:avLst>
              </a:prstGeom>
              <a:solidFill>
                <a:srgbClr val="182238"/>
              </a:solidFill>
              <a:ln w="14288">
                <a:solidFill>
                  <a:srgbClr val="FF6B6B"/>
                </a:solidFill>
              </a:ln>
            </p:spPr>
          </p:sp>
          <p:sp>
            <p:nvSpPr>
              <p:cNvPr id="65" name="TextBox 65"/>
              <p:cNvSpPr txBox="1"/>
              <p:nvPr/>
            </p:nvSpPr>
            <p:spPr>
              <a:xfrm>
                <a:off x="10769575" y="3658552"/>
                <a:ext cx="406451" cy="205359"/>
              </a:xfrm>
              <a:prstGeom prst="rect">
                <a:avLst/>
              </a:prstGeom>
              <a:noFill/>
              <a:ln>
                <a:noFill/>
              </a:ln>
            </p:spPr>
            <p:txBody>
              <a:bodyPr wrap="none" lIns="0" tIns="0" rIns="0" bIns="0" anchor="t" anchorCtr="0">
                <a:spAutoFit/>
              </a:bodyPr>
              <a:lstStyle/>
              <a:p>
                <a:pPr algn="ctr"/>
                <a:r>
                  <a:rPr lang="ko-KR" sz="1050" dirty="0">
                    <a:solidFill>
                      <a:srgbClr val="FF6B6B"/>
                    </a:solidFill>
                    <a:latin typeface="Consolas"/>
                    <a:ea typeface="Consolas"/>
                    <a:cs typeface="Consolas"/>
                  </a:rPr>
                  <a:t>failed</a:t>
                </a:r>
              </a:p>
            </p:txBody>
          </p:sp>
        </p:grpSp>
        <p:grpSp>
          <p:nvGrpSpPr>
            <p:cNvPr id="83" name="Group 83"/>
            <p:cNvGrpSpPr/>
            <p:nvPr/>
          </p:nvGrpSpPr>
          <p:grpSpPr>
            <a:xfrm>
              <a:off x="8229600" y="2609850"/>
              <a:ext cx="3205162" cy="1488757"/>
              <a:chOff x="8229600" y="2609850"/>
              <a:chExt cx="3205162" cy="1488757"/>
            </a:xfrm>
          </p:grpSpPr>
          <p:sp>
            <p:nvSpPr>
              <p:cNvPr id="67" name="Line 67"/>
              <p:cNvSpPr/>
              <p:nvPr/>
            </p:nvSpPr>
            <p:spPr>
              <a:xfrm>
                <a:off x="8686800" y="3095625"/>
                <a:ext cx="285750" cy="1"/>
              </a:xfrm>
              <a:prstGeom prst="line">
                <a:avLst/>
              </a:prstGeom>
              <a:noFill/>
              <a:ln w="14288">
                <a:solidFill>
                  <a:srgbClr val="9AA8BD"/>
                </a:solidFill>
                <a:tailEnd type="triangle" w="med" len="med"/>
              </a:ln>
            </p:spPr>
          </p:sp>
          <p:sp>
            <p:nvSpPr>
              <p:cNvPr id="68" name="Line 68"/>
              <p:cNvSpPr/>
              <p:nvPr/>
            </p:nvSpPr>
            <p:spPr>
              <a:xfrm>
                <a:off x="10134600" y="3095625"/>
                <a:ext cx="361950" cy="1"/>
              </a:xfrm>
              <a:prstGeom prst="line">
                <a:avLst/>
              </a:prstGeom>
              <a:noFill/>
              <a:ln w="14288">
                <a:solidFill>
                  <a:srgbClr val="4ADE80"/>
                </a:solidFill>
                <a:tailEnd type="triangle" w="med" len="med"/>
              </a:ln>
            </p:spPr>
          </p:sp>
          <p:sp>
            <p:nvSpPr>
              <p:cNvPr id="69" name="TextBox 69"/>
              <p:cNvSpPr txBox="1"/>
              <p:nvPr/>
            </p:nvSpPr>
            <p:spPr>
              <a:xfrm>
                <a:off x="9989744" y="2912745"/>
                <a:ext cx="651662" cy="176212"/>
              </a:xfrm>
              <a:prstGeom prst="rect">
                <a:avLst/>
              </a:prstGeom>
              <a:noFill/>
              <a:ln>
                <a:noFill/>
              </a:ln>
            </p:spPr>
            <p:txBody>
              <a:bodyPr wrap="none" lIns="0" tIns="0" rIns="0" bIns="0" anchor="t" anchorCtr="0">
                <a:spAutoFit/>
              </a:bodyPr>
              <a:lstStyle/>
              <a:p>
                <a:pPr algn="ctr"/>
                <a:r>
                  <a:rPr lang="ko-KR" sz="900" dirty="0">
                    <a:solidFill>
                      <a:srgbClr val="4ADE80"/>
                    </a:solidFill>
                    <a:latin typeface="+mn-lt"/>
                    <a:ea typeface="+mn-ea"/>
                    <a:cs typeface="+mn-cs"/>
                  </a:rPr>
                  <a:t>게이트 통과</a:t>
                </a:r>
              </a:p>
            </p:txBody>
          </p:sp>
          <p:sp>
            <p:nvSpPr>
              <p:cNvPr id="70" name="Line 70"/>
              <p:cNvSpPr/>
              <p:nvPr/>
            </p:nvSpPr>
            <p:spPr>
              <a:xfrm flipV="1">
                <a:off x="9429750" y="2628900"/>
                <a:ext cx="1" cy="323850"/>
              </a:xfrm>
              <a:prstGeom prst="line">
                <a:avLst/>
              </a:prstGeom>
              <a:noFill/>
              <a:ln w="14288">
                <a:solidFill>
                  <a:schemeClr val="accent2"/>
                </a:solidFill>
                <a:tailEnd type="triangle" w="med" len="med"/>
              </a:ln>
            </p:spPr>
          </p:sp>
          <p:sp>
            <p:nvSpPr>
              <p:cNvPr id="71" name="Line 71"/>
              <p:cNvSpPr/>
              <p:nvPr/>
            </p:nvSpPr>
            <p:spPr>
              <a:xfrm>
                <a:off x="9696450" y="2609850"/>
                <a:ext cx="1" cy="323850"/>
              </a:xfrm>
              <a:prstGeom prst="line">
                <a:avLst/>
              </a:prstGeom>
              <a:noFill/>
              <a:ln w="14288">
                <a:solidFill>
                  <a:schemeClr val="accent1"/>
                </a:solidFill>
                <a:tailEnd type="triangle" w="med" len="med"/>
              </a:ln>
            </p:spPr>
          </p:sp>
          <p:sp>
            <p:nvSpPr>
              <p:cNvPr id="72" name="Line 72"/>
              <p:cNvSpPr/>
              <p:nvPr/>
            </p:nvSpPr>
            <p:spPr>
              <a:xfrm>
                <a:off x="9563100" y="3238500"/>
                <a:ext cx="1" cy="323850"/>
              </a:xfrm>
              <a:prstGeom prst="line">
                <a:avLst/>
              </a:prstGeom>
              <a:noFill/>
              <a:ln w="14288">
                <a:solidFill>
                  <a:schemeClr val="accent3"/>
                </a:solidFill>
                <a:tailEnd type="triangle" w="med" len="med"/>
              </a:ln>
            </p:spPr>
          </p:sp>
          <p:sp>
            <p:nvSpPr>
              <p:cNvPr id="73" name="TextBox 73"/>
              <p:cNvSpPr txBox="1"/>
              <p:nvPr/>
            </p:nvSpPr>
            <p:spPr>
              <a:xfrm>
                <a:off x="9634538" y="3331845"/>
                <a:ext cx="444779" cy="176212"/>
              </a:xfrm>
              <a:prstGeom prst="rect">
                <a:avLst/>
              </a:prstGeom>
              <a:noFill/>
              <a:ln>
                <a:noFill/>
              </a:ln>
            </p:spPr>
            <p:txBody>
              <a:bodyPr wrap="none" lIns="0" tIns="0" rIns="0" bIns="0" anchor="t" anchorCtr="0">
                <a:spAutoFit/>
              </a:bodyPr>
              <a:lstStyle/>
              <a:p>
                <a:pPr algn="l"/>
                <a:r>
                  <a:rPr lang="ko-KR" sz="900" dirty="0">
                    <a:solidFill>
                      <a:schemeClr val="accent3"/>
                    </a:solidFill>
                    <a:latin typeface="+mn-lt"/>
                    <a:ea typeface="+mn-ea"/>
                    <a:cs typeface="+mn-cs"/>
                  </a:rPr>
                  <a:t>PR 생성</a:t>
                </a:r>
              </a:p>
            </p:txBody>
          </p:sp>
          <p:sp>
            <p:nvSpPr>
              <p:cNvPr id="74" name="Line 74"/>
              <p:cNvSpPr/>
              <p:nvPr/>
            </p:nvSpPr>
            <p:spPr>
              <a:xfrm>
                <a:off x="10134600" y="3657600"/>
                <a:ext cx="361950" cy="1"/>
              </a:xfrm>
              <a:prstGeom prst="line">
                <a:avLst/>
              </a:prstGeom>
              <a:noFill/>
              <a:ln w="14288">
                <a:solidFill>
                  <a:srgbClr val="FF6B6B"/>
                </a:solidFill>
                <a:tailEnd type="triangle" w="med" len="med"/>
              </a:ln>
            </p:spPr>
          </p:sp>
          <p:sp>
            <p:nvSpPr>
              <p:cNvPr id="75" name="Line 75"/>
              <p:cNvSpPr/>
              <p:nvPr/>
            </p:nvSpPr>
            <p:spPr>
              <a:xfrm>
                <a:off x="10134600" y="3800475"/>
                <a:ext cx="838200" cy="9525"/>
              </a:xfrm>
              <a:custGeom>
                <a:avLst/>
                <a:gdLst/>
                <a:ahLst/>
                <a:cxnLst/>
                <a:rect l="l" t="t" r="r" b="b"/>
                <a:pathLst>
                  <a:path w="838200" h="9525">
                    <a:moveTo>
                      <a:pt x="0" y="0"/>
                    </a:moveTo>
                    <a:lnTo>
                      <a:pt x="838200" y="0"/>
                    </a:lnTo>
                  </a:path>
                </a:pathLst>
              </a:custGeom>
              <a:noFill/>
              <a:ln w="14288">
                <a:solidFill>
                  <a:srgbClr val="4ADE80"/>
                </a:solidFill>
              </a:ln>
            </p:spPr>
          </p:sp>
          <p:sp>
            <p:nvSpPr>
              <p:cNvPr id="76" name="Line 76"/>
              <p:cNvSpPr/>
              <p:nvPr/>
            </p:nvSpPr>
            <p:spPr>
              <a:xfrm flipV="1">
                <a:off x="10972800" y="3257550"/>
                <a:ext cx="1" cy="542925"/>
              </a:xfrm>
              <a:prstGeom prst="line">
                <a:avLst/>
              </a:prstGeom>
              <a:noFill/>
              <a:ln w="14288">
                <a:solidFill>
                  <a:srgbClr val="4ADE80"/>
                </a:solidFill>
                <a:tailEnd type="triangle" w="med" len="med"/>
              </a:ln>
            </p:spPr>
          </p:sp>
          <p:sp>
            <p:nvSpPr>
              <p:cNvPr id="77" name="TextBox 77"/>
              <p:cNvSpPr txBox="1"/>
              <p:nvPr/>
            </p:nvSpPr>
            <p:spPr>
              <a:xfrm>
                <a:off x="9753257" y="3922395"/>
                <a:ext cx="1681505" cy="176212"/>
              </a:xfrm>
              <a:prstGeom prst="rect">
                <a:avLst/>
              </a:prstGeom>
              <a:noFill/>
              <a:ln>
                <a:noFill/>
              </a:ln>
            </p:spPr>
            <p:txBody>
              <a:bodyPr wrap="none" lIns="0" tIns="0" rIns="0" bIns="0" anchor="t" anchorCtr="0">
                <a:spAutoFit/>
              </a:bodyPr>
              <a:lstStyle/>
              <a:p>
                <a:pPr algn="r"/>
                <a:r>
                  <a:rPr lang="ko-KR" sz="900" dirty="0">
                    <a:solidFill>
                      <a:schemeClr val="accent5"/>
                    </a:solidFill>
                    <a:latin typeface="+mn-lt"/>
                    <a:ea typeface="+mn-ea"/>
                    <a:cs typeface="+mn-cs"/>
                  </a:rPr>
                  <a:t>closed→failed · merged→done</a:t>
                </a:r>
              </a:p>
            </p:txBody>
          </p:sp>
          <p:sp>
            <p:nvSpPr>
              <p:cNvPr id="78" name="Line 78"/>
              <p:cNvSpPr/>
              <p:nvPr/>
            </p:nvSpPr>
            <p:spPr>
              <a:xfrm>
                <a:off x="8229600" y="3724275"/>
                <a:ext cx="2286000" cy="9525"/>
              </a:xfrm>
              <a:custGeom>
                <a:avLst/>
                <a:gdLst/>
                <a:ahLst/>
                <a:cxnLst/>
                <a:rect l="l" t="t" r="r" b="b"/>
                <a:pathLst>
                  <a:path w="2286000" h="9525">
                    <a:moveTo>
                      <a:pt x="2286000" y="0"/>
                    </a:moveTo>
                    <a:lnTo>
                      <a:pt x="0" y="0"/>
                    </a:lnTo>
                  </a:path>
                </a:pathLst>
              </a:custGeom>
              <a:noFill/>
              <a:ln w="9525">
                <a:solidFill>
                  <a:srgbClr val="FF6B6B"/>
                </a:solidFill>
                <a:prstDash val="dash"/>
              </a:ln>
            </p:spPr>
          </p:sp>
          <p:sp>
            <p:nvSpPr>
              <p:cNvPr id="79" name="Line 79"/>
              <p:cNvSpPr/>
              <p:nvPr/>
            </p:nvSpPr>
            <p:spPr>
              <a:xfrm flipV="1">
                <a:off x="8229600" y="3257550"/>
                <a:ext cx="1" cy="466725"/>
              </a:xfrm>
              <a:prstGeom prst="line">
                <a:avLst/>
              </a:prstGeom>
              <a:noFill/>
              <a:ln w="9525">
                <a:solidFill>
                  <a:srgbClr val="FF6B6B"/>
                </a:solidFill>
                <a:prstDash val="dash"/>
                <a:tailEnd type="triangle" w="med" len="med"/>
              </a:ln>
            </p:spPr>
          </p:sp>
          <p:sp>
            <p:nvSpPr>
              <p:cNvPr id="80" name="TextBox 80"/>
              <p:cNvSpPr txBox="1"/>
              <p:nvPr/>
            </p:nvSpPr>
            <p:spPr>
              <a:xfrm>
                <a:off x="8377238" y="3808095"/>
                <a:ext cx="1112063" cy="176212"/>
              </a:xfrm>
              <a:prstGeom prst="rect">
                <a:avLst/>
              </a:prstGeom>
              <a:noFill/>
              <a:ln>
                <a:noFill/>
              </a:ln>
            </p:spPr>
            <p:txBody>
              <a:bodyPr wrap="none" lIns="0" tIns="0" rIns="0" bIns="0" anchor="t" anchorCtr="0">
                <a:spAutoFit/>
              </a:bodyPr>
              <a:lstStyle/>
              <a:p>
                <a:pPr algn="l"/>
                <a:r>
                  <a:rPr lang="ko-KR" sz="900" dirty="0">
                    <a:solidFill>
                      <a:srgbClr val="FF6B6B"/>
                    </a:solidFill>
                    <a:latin typeface="+mn-lt"/>
                    <a:ea typeface="+mn-ea"/>
                    <a:cs typeface="+mn-cs"/>
                  </a:rPr>
                  <a:t>fw retry → pending</a:t>
                </a:r>
              </a:p>
            </p:txBody>
          </p:sp>
          <p:sp>
            <p:nvSpPr>
              <p:cNvPr id="81" name="TextBox 81"/>
              <p:cNvSpPr txBox="1"/>
              <p:nvPr/>
            </p:nvSpPr>
            <p:spPr>
              <a:xfrm>
                <a:off x="9805988" y="2684145"/>
                <a:ext cx="948500" cy="176212"/>
              </a:xfrm>
              <a:prstGeom prst="rect">
                <a:avLst/>
              </a:prstGeom>
              <a:noFill/>
              <a:ln>
                <a:noFill/>
              </a:ln>
            </p:spPr>
            <p:txBody>
              <a:bodyPr wrap="none" lIns="0" tIns="0" rIns="0" bIns="0" anchor="t" anchorCtr="0">
                <a:spAutoFit/>
              </a:bodyPr>
              <a:lstStyle/>
              <a:p>
                <a:pPr algn="l"/>
                <a:r>
                  <a:rPr lang="ko-KR" sz="900" dirty="0">
                    <a:solidFill>
                      <a:schemeClr val="accent5"/>
                    </a:solidFill>
                    <a:latin typeface="+mn-lt"/>
                    <a:ea typeface="+mn-ea"/>
                    <a:cs typeface="+mn-cs"/>
                  </a:rPr>
                  <a:t>질문 / 답 후 재개</a:t>
                </a:r>
              </a:p>
            </p:txBody>
          </p:sp>
          <p:sp>
            <p:nvSpPr>
              <p:cNvPr id="82" name="TextBox 82"/>
              <p:cNvSpPr txBox="1"/>
              <p:nvPr/>
            </p:nvSpPr>
            <p:spPr>
              <a:xfrm>
                <a:off x="9053779" y="2788920"/>
                <a:ext cx="475983" cy="176212"/>
              </a:xfrm>
              <a:prstGeom prst="rect">
                <a:avLst/>
              </a:prstGeom>
              <a:noFill/>
              <a:ln>
                <a:noFill/>
              </a:ln>
            </p:spPr>
            <p:txBody>
              <a:bodyPr wrap="none" lIns="0" tIns="0" rIns="0" bIns="0" anchor="t" anchorCtr="0">
                <a:spAutoFit/>
              </a:bodyPr>
              <a:lstStyle/>
              <a:p>
                <a:pPr algn="r"/>
                <a:r>
                  <a:rPr lang="ko-KR" sz="900" dirty="0">
                    <a:solidFill>
                      <a:schemeClr val="accent5"/>
                    </a:solidFill>
                    <a:latin typeface="+mn-lt"/>
                    <a:ea typeface="+mn-ea"/>
                    <a:cs typeface="+mn-cs"/>
                  </a:rPr>
                  <a:t>재시도 ↺</a:t>
                </a:r>
              </a:p>
            </p:txBody>
          </p:sp>
        </p:grpSp>
      </p:grpSp>
      <p:grpSp>
        <p:nvGrpSpPr>
          <p:cNvPr id="130" name="Group 130"/>
          <p:cNvGrpSpPr/>
          <p:nvPr/>
        </p:nvGrpSpPr>
        <p:grpSpPr>
          <a:xfrm>
            <a:off x="609600" y="4305300"/>
            <a:ext cx="10972800" cy="2019681"/>
            <a:chOff x="609600" y="4305300"/>
            <a:chExt cx="10972800" cy="2019681"/>
          </a:xfrm>
        </p:grpSpPr>
        <p:sp>
          <p:nvSpPr>
            <p:cNvPr id="85" name="Rectangle 85"/>
            <p:cNvSpPr/>
            <p:nvPr/>
          </p:nvSpPr>
          <p:spPr>
            <a:xfrm>
              <a:off x="609600" y="4305300"/>
              <a:ext cx="10972800" cy="285750"/>
            </a:xfrm>
            <a:prstGeom prst="rect">
              <a:avLst/>
            </a:prstGeom>
            <a:solidFill>
              <a:schemeClr val="lt2"/>
            </a:solidFill>
            <a:ln>
              <a:noFill/>
            </a:ln>
          </p:spPr>
        </p:sp>
        <p:sp>
          <p:nvSpPr>
            <p:cNvPr id="86" name="TextBox 86"/>
            <p:cNvSpPr txBox="1"/>
            <p:nvPr/>
          </p:nvSpPr>
          <p:spPr>
            <a:xfrm>
              <a:off x="717804" y="4375785"/>
              <a:ext cx="335280"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상태</a:t>
              </a:r>
            </a:p>
          </p:txBody>
        </p:sp>
        <p:sp>
          <p:nvSpPr>
            <p:cNvPr id="87" name="TextBox 87"/>
            <p:cNvSpPr txBox="1"/>
            <p:nvPr/>
          </p:nvSpPr>
          <p:spPr>
            <a:xfrm>
              <a:off x="2318004" y="4375785"/>
              <a:ext cx="173736"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뜻</a:t>
              </a:r>
            </a:p>
          </p:txBody>
        </p:sp>
        <p:sp>
          <p:nvSpPr>
            <p:cNvPr id="88" name="TextBox 88"/>
            <p:cNvSpPr txBox="1"/>
            <p:nvPr/>
          </p:nvSpPr>
          <p:spPr>
            <a:xfrm>
              <a:off x="6032754" y="4375785"/>
              <a:ext cx="921685"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사람이 할 일</a:t>
              </a:r>
            </a:p>
          </p:txBody>
        </p:sp>
        <p:sp>
          <p:nvSpPr>
            <p:cNvPr id="89" name="TextBox 89"/>
            <p:cNvSpPr txBox="1"/>
            <p:nvPr/>
          </p:nvSpPr>
          <p:spPr>
            <a:xfrm>
              <a:off x="10509504" y="4375785"/>
              <a:ext cx="945109"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fw run exit</a:t>
              </a:r>
            </a:p>
          </p:txBody>
        </p:sp>
        <p:sp>
          <p:nvSpPr>
            <p:cNvPr id="90" name="Rectangle 90"/>
            <p:cNvSpPr/>
            <p:nvPr/>
          </p:nvSpPr>
          <p:spPr>
            <a:xfrm>
              <a:off x="609600" y="4876800"/>
              <a:ext cx="10972800" cy="285750"/>
            </a:xfrm>
            <a:prstGeom prst="rect">
              <a:avLst/>
            </a:prstGeom>
            <a:solidFill>
              <a:schemeClr val="dk1">
                <a:alpha val="4000"/>
              </a:schemeClr>
            </a:solidFill>
            <a:ln>
              <a:noFill/>
            </a:ln>
          </p:spPr>
        </p:sp>
        <p:sp>
          <p:nvSpPr>
            <p:cNvPr id="91" name="Rectangle 91"/>
            <p:cNvSpPr/>
            <p:nvPr/>
          </p:nvSpPr>
          <p:spPr>
            <a:xfrm>
              <a:off x="609600" y="5448300"/>
              <a:ext cx="10972800" cy="285750"/>
            </a:xfrm>
            <a:prstGeom prst="rect">
              <a:avLst/>
            </a:prstGeom>
            <a:solidFill>
              <a:schemeClr val="dk1">
                <a:alpha val="4000"/>
              </a:schemeClr>
            </a:solidFill>
            <a:ln>
              <a:noFill/>
            </a:ln>
          </p:spPr>
        </p:sp>
        <p:sp>
          <p:nvSpPr>
            <p:cNvPr id="92" name="Rectangle 92"/>
            <p:cNvSpPr/>
            <p:nvPr/>
          </p:nvSpPr>
          <p:spPr>
            <a:xfrm>
              <a:off x="609600" y="6019800"/>
              <a:ext cx="10972800" cy="285750"/>
            </a:xfrm>
            <a:prstGeom prst="rect">
              <a:avLst/>
            </a:prstGeom>
            <a:solidFill>
              <a:schemeClr val="dk1">
                <a:alpha val="4000"/>
              </a:schemeClr>
            </a:solidFill>
            <a:ln>
              <a:noFill/>
            </a:ln>
          </p:spPr>
        </p:sp>
        <p:sp>
          <p:nvSpPr>
            <p:cNvPr id="93" name="Line 93"/>
            <p:cNvSpPr/>
            <p:nvPr/>
          </p:nvSpPr>
          <p:spPr>
            <a:xfrm>
              <a:off x="609600" y="45910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94" name="Line 94"/>
            <p:cNvSpPr/>
            <p:nvPr/>
          </p:nvSpPr>
          <p:spPr>
            <a:xfrm>
              <a:off x="609600" y="48768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95" name="Line 95"/>
            <p:cNvSpPr/>
            <p:nvPr/>
          </p:nvSpPr>
          <p:spPr>
            <a:xfrm>
              <a:off x="609600" y="51625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96" name="Line 96"/>
            <p:cNvSpPr/>
            <p:nvPr/>
          </p:nvSpPr>
          <p:spPr>
            <a:xfrm>
              <a:off x="609600" y="54483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97" name="Line 97"/>
            <p:cNvSpPr/>
            <p:nvPr/>
          </p:nvSpPr>
          <p:spPr>
            <a:xfrm>
              <a:off x="609600" y="57340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98" name="Line 98"/>
            <p:cNvSpPr/>
            <p:nvPr/>
          </p:nvSpPr>
          <p:spPr>
            <a:xfrm>
              <a:off x="609600" y="60198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99" name="Line 99"/>
            <p:cNvSpPr/>
            <p:nvPr/>
          </p:nvSpPr>
          <p:spPr>
            <a:xfrm>
              <a:off x="609600" y="63055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nvGrpSpPr>
            <p:cNvPr id="104" name="Group 104"/>
            <p:cNvGrpSpPr/>
            <p:nvPr/>
          </p:nvGrpSpPr>
          <p:grpSpPr>
            <a:xfrm>
              <a:off x="717804" y="4661535"/>
              <a:ext cx="9892741" cy="234696"/>
              <a:chOff x="717804" y="4661535"/>
              <a:chExt cx="9892741" cy="234696"/>
            </a:xfrm>
          </p:grpSpPr>
          <p:sp>
            <p:nvSpPr>
              <p:cNvPr id="100" name="TextBox 100"/>
              <p:cNvSpPr txBox="1"/>
              <p:nvPr/>
            </p:nvSpPr>
            <p:spPr>
              <a:xfrm>
                <a:off x="717804" y="4661535"/>
                <a:ext cx="593750" cy="234696"/>
              </a:xfrm>
              <a:prstGeom prst="rect">
                <a:avLst/>
              </a:prstGeom>
              <a:noFill/>
              <a:ln>
                <a:noFill/>
              </a:ln>
            </p:spPr>
            <p:txBody>
              <a:bodyPr wrap="none" lIns="0" tIns="0" rIns="0" bIns="0" anchor="t" anchorCtr="0">
                <a:spAutoFit/>
              </a:bodyPr>
              <a:lstStyle/>
              <a:p>
                <a:pPr algn="l"/>
                <a:r>
                  <a:rPr lang="ko-KR" sz="1200" dirty="0">
                    <a:solidFill>
                      <a:schemeClr val="accent1"/>
                    </a:solidFill>
                    <a:latin typeface="Consolas"/>
                    <a:ea typeface="Consolas"/>
                    <a:cs typeface="Consolas"/>
                  </a:rPr>
                  <a:t>running</a:t>
                </a:r>
              </a:p>
            </p:txBody>
          </p:sp>
          <p:sp>
            <p:nvSpPr>
              <p:cNvPr id="101" name="TextBox 101"/>
              <p:cNvSpPr txBox="1"/>
              <p:nvPr/>
            </p:nvSpPr>
            <p:spPr>
              <a:xfrm>
                <a:off x="2318004" y="4661535"/>
                <a:ext cx="2370734" cy="234696"/>
              </a:xfrm>
              <a:prstGeom prst="rect">
                <a:avLst/>
              </a:prstGeom>
              <a:noFill/>
              <a:ln>
                <a:noFill/>
              </a:ln>
            </p:spPr>
            <p:txBody>
              <a:bodyPr wrap="none" lIns="0" tIns="0" rIns="0" bIns="0" anchor="t" anchorCtr="0">
                <a:spAutoFit/>
              </a:bodyPr>
              <a:lstStyle/>
              <a:p>
                <a:pPr algn="l"/>
                <a:r>
                  <a:rPr lang="ko-KR" sz="1200" dirty="0">
                    <a:solidFill>
                      <a:schemeClr val="dk1"/>
                    </a:solidFill>
                    <a:latin typeface="+mn-lt"/>
                    <a:ea typeface="+mn-ea"/>
                    <a:cs typeface="+mn-cs"/>
                  </a:rPr>
                  <a:t>진행 중 (또는 중단된 채 저장됨)</a:t>
                </a:r>
              </a:p>
            </p:txBody>
          </p:sp>
          <p:sp>
            <p:nvSpPr>
              <p:cNvPr id="102" name="TextBox 102"/>
              <p:cNvSpPr txBox="1"/>
              <p:nvPr/>
            </p:nvSpPr>
            <p:spPr>
              <a:xfrm>
                <a:off x="6032754" y="4661535"/>
                <a:ext cx="844144" cy="234696"/>
              </a:xfrm>
              <a:prstGeom prst="rect">
                <a:avLst/>
              </a:prstGeom>
              <a:noFill/>
              <a:ln>
                <a:noFill/>
              </a:ln>
            </p:spPr>
            <p:txBody>
              <a:bodyPr wrap="none" lIns="0" tIns="0" rIns="0" bIns="0" anchor="t" anchorCtr="0">
                <a:spAutoFit/>
              </a:bodyPr>
              <a:lstStyle/>
              <a:p>
                <a:pPr algn="l"/>
                <a:r>
                  <a:rPr lang="ko-KR" sz="1200" dirty="0">
                    <a:solidFill>
                      <a:schemeClr val="dk1"/>
                    </a:solidFill>
                    <a:latin typeface="+mn-lt"/>
                    <a:ea typeface="+mn-ea"/>
                    <a:cs typeface="+mn-cs"/>
                  </a:rPr>
                  <a:t>없음 / 재개</a:t>
                </a:r>
              </a:p>
            </p:txBody>
          </p:sp>
          <p:sp>
            <p:nvSpPr>
              <p:cNvPr id="103" name="TextBox 103"/>
              <p:cNvSpPr txBox="1"/>
              <p:nvPr/>
            </p:nvSpPr>
            <p:spPr>
              <a:xfrm>
                <a:off x="10509504" y="4661535"/>
                <a:ext cx="101041" cy="234696"/>
              </a:xfrm>
              <a:prstGeom prst="rect">
                <a:avLst/>
              </a:prstGeom>
              <a:noFill/>
              <a:ln>
                <a:noFill/>
              </a:ln>
            </p:spPr>
            <p:txBody>
              <a:bodyPr wrap="none" lIns="0" tIns="0" rIns="0" bIns="0" anchor="t" anchorCtr="0">
                <a:spAutoFit/>
              </a:bodyPr>
              <a:lstStyle/>
              <a:p>
                <a:pPr algn="l"/>
                <a:r>
                  <a:rPr lang="ko-KR" sz="1200" dirty="0">
                    <a:solidFill>
                      <a:schemeClr val="accent5"/>
                    </a:solidFill>
                    <a:latin typeface="Consolas"/>
                    <a:ea typeface="Consolas"/>
                    <a:cs typeface="Consolas"/>
                  </a:rPr>
                  <a:t>—</a:t>
                </a:r>
              </a:p>
            </p:txBody>
          </p:sp>
        </p:grpSp>
        <p:grpSp>
          <p:nvGrpSpPr>
            <p:cNvPr id="109" name="Group 109"/>
            <p:cNvGrpSpPr/>
            <p:nvPr/>
          </p:nvGrpSpPr>
          <p:grpSpPr>
            <a:xfrm>
              <a:off x="717804" y="4947285"/>
              <a:ext cx="9892741" cy="234696"/>
              <a:chOff x="717804" y="4947285"/>
              <a:chExt cx="9892741" cy="234696"/>
            </a:xfrm>
          </p:grpSpPr>
          <p:sp>
            <p:nvSpPr>
              <p:cNvPr id="105" name="TextBox 105"/>
              <p:cNvSpPr txBox="1"/>
              <p:nvPr/>
            </p:nvSpPr>
            <p:spPr>
              <a:xfrm>
                <a:off x="717804" y="4947285"/>
                <a:ext cx="593750" cy="234696"/>
              </a:xfrm>
              <a:prstGeom prst="rect">
                <a:avLst/>
              </a:prstGeom>
              <a:noFill/>
              <a:ln>
                <a:noFill/>
              </a:ln>
            </p:spPr>
            <p:txBody>
              <a:bodyPr wrap="none" lIns="0" tIns="0" rIns="0" bIns="0" anchor="t" anchorCtr="0">
                <a:spAutoFit/>
              </a:bodyPr>
              <a:lstStyle/>
              <a:p>
                <a:pPr algn="l"/>
                <a:r>
                  <a:rPr lang="ko-KR" sz="1200" dirty="0">
                    <a:solidFill>
                      <a:schemeClr val="accent2"/>
                    </a:solidFill>
                    <a:latin typeface="Consolas"/>
                    <a:ea typeface="Consolas"/>
                    <a:cs typeface="Consolas"/>
                  </a:rPr>
                  <a:t>blocked</a:t>
                </a:r>
              </a:p>
            </p:txBody>
          </p:sp>
          <p:sp>
            <p:nvSpPr>
              <p:cNvPr id="106" name="TextBox 106"/>
              <p:cNvSpPr txBox="1"/>
              <p:nvPr/>
            </p:nvSpPr>
            <p:spPr>
              <a:xfrm>
                <a:off x="2318004" y="4947285"/>
                <a:ext cx="2653436" cy="234696"/>
              </a:xfrm>
              <a:prstGeom prst="rect">
                <a:avLst/>
              </a:prstGeom>
              <a:noFill/>
              <a:ln>
                <a:noFill/>
              </a:ln>
            </p:spPr>
            <p:txBody>
              <a:bodyPr wrap="none" lIns="0" tIns="0" rIns="0" bIns="0" anchor="t" anchorCtr="0">
                <a:spAutoFit/>
              </a:bodyPr>
              <a:lstStyle/>
              <a:p>
                <a:pPr algn="l"/>
                <a:r>
                  <a:rPr lang="ko-KR" sz="1200" dirty="0">
                    <a:solidFill>
                      <a:schemeClr val="dk1"/>
                    </a:solidFill>
                    <a:latin typeface="+mn-lt"/>
                    <a:ea typeface="+mn-ea"/>
                    <a:cs typeface="+mn-cs"/>
                  </a:rPr>
                  <a:t>세션의 질문 대기 — 사람의 답이 필요</a:t>
                </a:r>
              </a:p>
            </p:txBody>
          </p:sp>
          <p:sp>
            <p:nvSpPr>
              <p:cNvPr id="107" name="TextBox 107"/>
              <p:cNvSpPr txBox="1"/>
              <p:nvPr/>
            </p:nvSpPr>
            <p:spPr>
              <a:xfrm>
                <a:off x="6032754" y="4947285"/>
                <a:ext cx="2524201" cy="234696"/>
              </a:xfrm>
              <a:prstGeom prst="rect">
                <a:avLst/>
              </a:prstGeom>
              <a:noFill/>
              <a:ln>
                <a:noFill/>
              </a:ln>
            </p:spPr>
            <p:txBody>
              <a:bodyPr wrap="none" lIns="0" tIns="0" rIns="0" bIns="0" anchor="t" anchorCtr="0">
                <a:spAutoFit/>
              </a:bodyPr>
              <a:lstStyle/>
              <a:p>
                <a:pPr algn="l"/>
                <a:r>
                  <a:rPr lang="ko-KR" sz="1200" dirty="0">
                    <a:solidFill>
                      <a:schemeClr val="dk1"/>
                    </a:solidFill>
                    <a:latin typeface="Consolas"/>
                    <a:ea typeface="Consolas"/>
                    <a:cs typeface="Consolas"/>
                  </a:rPr>
                  <a:t>fw status → fw answer → fw run</a:t>
                </a:r>
              </a:p>
            </p:txBody>
          </p:sp>
          <p:sp>
            <p:nvSpPr>
              <p:cNvPr id="108" name="TextBox 108"/>
              <p:cNvSpPr txBox="1"/>
              <p:nvPr/>
            </p:nvSpPr>
            <p:spPr>
              <a:xfrm>
                <a:off x="10509504" y="4947285"/>
                <a:ext cx="101041" cy="234696"/>
              </a:xfrm>
              <a:prstGeom prst="rect">
                <a:avLst/>
              </a:prstGeom>
              <a:noFill/>
              <a:ln>
                <a:noFill/>
              </a:ln>
            </p:spPr>
            <p:txBody>
              <a:bodyPr wrap="none" lIns="0" tIns="0" rIns="0" bIns="0" anchor="t" anchorCtr="0">
                <a:spAutoFit/>
              </a:bodyPr>
              <a:lstStyle/>
              <a:p>
                <a:pPr algn="l"/>
                <a:r>
                  <a:rPr lang="ko-KR" sz="1200" dirty="0">
                    <a:solidFill>
                      <a:schemeClr val="dk1"/>
                    </a:solidFill>
                    <a:latin typeface="Consolas"/>
                    <a:ea typeface="Consolas"/>
                    <a:cs typeface="Consolas"/>
                  </a:rPr>
                  <a:t>1</a:t>
                </a:r>
              </a:p>
            </p:txBody>
          </p:sp>
        </p:grpSp>
        <p:grpSp>
          <p:nvGrpSpPr>
            <p:cNvPr id="114" name="Group 114"/>
            <p:cNvGrpSpPr/>
            <p:nvPr/>
          </p:nvGrpSpPr>
          <p:grpSpPr>
            <a:xfrm>
              <a:off x="717804" y="5233035"/>
              <a:ext cx="9892741" cy="234696"/>
              <a:chOff x="717804" y="5233035"/>
              <a:chExt cx="9892741" cy="234696"/>
            </a:xfrm>
          </p:grpSpPr>
          <p:sp>
            <p:nvSpPr>
              <p:cNvPr id="110" name="TextBox 110"/>
              <p:cNvSpPr txBox="1"/>
              <p:nvPr/>
            </p:nvSpPr>
            <p:spPr>
              <a:xfrm>
                <a:off x="717804" y="5233035"/>
                <a:ext cx="1239926" cy="234696"/>
              </a:xfrm>
              <a:prstGeom prst="rect">
                <a:avLst/>
              </a:prstGeom>
              <a:noFill/>
              <a:ln>
                <a:noFill/>
              </a:ln>
            </p:spPr>
            <p:txBody>
              <a:bodyPr wrap="none" lIns="0" tIns="0" rIns="0" bIns="0" anchor="t" anchorCtr="0">
                <a:spAutoFit/>
              </a:bodyPr>
              <a:lstStyle/>
              <a:p>
                <a:pPr algn="l"/>
                <a:r>
                  <a:rPr lang="ko-KR" sz="1200" dirty="0">
                    <a:solidFill>
                      <a:schemeClr val="accent3"/>
                    </a:solidFill>
                    <a:latin typeface="Consolas"/>
                    <a:ea typeface="Consolas"/>
                    <a:cs typeface="Consolas"/>
                  </a:rPr>
                  <a:t>awaiting_merge</a:t>
                </a:r>
              </a:p>
            </p:txBody>
          </p:sp>
          <p:sp>
            <p:nvSpPr>
              <p:cNvPr id="111" name="TextBox 111"/>
              <p:cNvSpPr txBox="1"/>
              <p:nvPr/>
            </p:nvSpPr>
            <p:spPr>
              <a:xfrm>
                <a:off x="2318004" y="5233035"/>
                <a:ext cx="1083615" cy="234696"/>
              </a:xfrm>
              <a:prstGeom prst="rect">
                <a:avLst/>
              </a:prstGeom>
              <a:noFill/>
              <a:ln>
                <a:noFill/>
              </a:ln>
            </p:spPr>
            <p:txBody>
              <a:bodyPr wrap="none" lIns="0" tIns="0" rIns="0" bIns="0" anchor="t" anchorCtr="0">
                <a:spAutoFit/>
              </a:bodyPr>
              <a:lstStyle/>
              <a:p>
                <a:pPr algn="l"/>
                <a:r>
                  <a:rPr lang="ko-KR" sz="1200" dirty="0">
                    <a:solidFill>
                      <a:schemeClr val="dk1"/>
                    </a:solidFill>
                    <a:latin typeface="+mn-lt"/>
                    <a:ea typeface="+mn-ea"/>
                    <a:cs typeface="+mn-cs"/>
                  </a:rPr>
                  <a:t>PR approve 됨</a:t>
                </a:r>
              </a:p>
            </p:txBody>
          </p:sp>
          <p:sp>
            <p:nvSpPr>
              <p:cNvPr id="112" name="TextBox 112"/>
              <p:cNvSpPr txBox="1"/>
              <p:nvPr/>
            </p:nvSpPr>
            <p:spPr>
              <a:xfrm>
                <a:off x="6032754" y="5233035"/>
                <a:ext cx="1313840" cy="234696"/>
              </a:xfrm>
              <a:prstGeom prst="rect">
                <a:avLst/>
              </a:prstGeom>
              <a:noFill/>
              <a:ln>
                <a:noFill/>
              </a:ln>
            </p:spPr>
            <p:txBody>
              <a:bodyPr wrap="none" lIns="0" tIns="0" rIns="0" bIns="0" anchor="t" anchorCtr="0">
                <a:spAutoFit/>
              </a:bodyPr>
              <a:lstStyle/>
              <a:p>
                <a:pPr algn="l"/>
                <a:r>
                  <a:rPr lang="ko-KR" sz="1200" dirty="0">
                    <a:solidFill>
                      <a:schemeClr val="dk1"/>
                    </a:solidFill>
                    <a:latin typeface="+mn-lt"/>
                    <a:ea typeface="+mn-ea"/>
                    <a:cs typeface="+mn-cs"/>
                  </a:rPr>
                  <a:t xml:space="preserve">PR 머지 → </a:t>
                </a:r>
                <a:r>
                  <a:rPr lang="ko-KR" sz="1200" dirty="0">
                    <a:solidFill>
                      <a:schemeClr val="dk1"/>
                    </a:solidFill>
                    <a:latin typeface="Consolas"/>
                    <a:ea typeface="Consolas"/>
                    <a:cs typeface="Consolas"/>
                  </a:rPr>
                  <a:t>fw run</a:t>
                </a:r>
              </a:p>
            </p:txBody>
          </p:sp>
          <p:sp>
            <p:nvSpPr>
              <p:cNvPr id="113" name="TextBox 113"/>
              <p:cNvSpPr txBox="1"/>
              <p:nvPr/>
            </p:nvSpPr>
            <p:spPr>
              <a:xfrm>
                <a:off x="10509504" y="5233035"/>
                <a:ext cx="101041" cy="234696"/>
              </a:xfrm>
              <a:prstGeom prst="rect">
                <a:avLst/>
              </a:prstGeom>
              <a:noFill/>
              <a:ln>
                <a:noFill/>
              </a:ln>
            </p:spPr>
            <p:txBody>
              <a:bodyPr wrap="none" lIns="0" tIns="0" rIns="0" bIns="0" anchor="t" anchorCtr="0">
                <a:spAutoFit/>
              </a:bodyPr>
              <a:lstStyle/>
              <a:p>
                <a:pPr algn="l"/>
                <a:r>
                  <a:rPr lang="ko-KR" sz="1200" dirty="0">
                    <a:solidFill>
                      <a:schemeClr val="dk1"/>
                    </a:solidFill>
                    <a:latin typeface="Consolas"/>
                    <a:ea typeface="Consolas"/>
                    <a:cs typeface="Consolas"/>
                  </a:rPr>
                  <a:t>0</a:t>
                </a:r>
              </a:p>
            </p:txBody>
          </p:sp>
        </p:grpSp>
        <p:grpSp>
          <p:nvGrpSpPr>
            <p:cNvPr id="119" name="Group 119"/>
            <p:cNvGrpSpPr/>
            <p:nvPr/>
          </p:nvGrpSpPr>
          <p:grpSpPr>
            <a:xfrm>
              <a:off x="717804" y="5518785"/>
              <a:ext cx="9892741" cy="234696"/>
              <a:chOff x="717804" y="5518785"/>
              <a:chExt cx="9892741" cy="234696"/>
            </a:xfrm>
          </p:grpSpPr>
          <p:sp>
            <p:nvSpPr>
              <p:cNvPr id="115" name="TextBox 115"/>
              <p:cNvSpPr txBox="1"/>
              <p:nvPr/>
            </p:nvSpPr>
            <p:spPr>
              <a:xfrm>
                <a:off x="717804" y="5518785"/>
                <a:ext cx="504901" cy="234696"/>
              </a:xfrm>
              <a:prstGeom prst="rect">
                <a:avLst/>
              </a:prstGeom>
              <a:noFill/>
              <a:ln>
                <a:noFill/>
              </a:ln>
            </p:spPr>
            <p:txBody>
              <a:bodyPr wrap="none" lIns="0" tIns="0" rIns="0" bIns="0" anchor="t" anchorCtr="0">
                <a:spAutoFit/>
              </a:bodyPr>
              <a:lstStyle/>
              <a:p>
                <a:pPr algn="l"/>
                <a:r>
                  <a:rPr lang="ko-KR" sz="1200" dirty="0">
                    <a:solidFill>
                      <a:schemeClr val="accent2"/>
                    </a:solidFill>
                    <a:latin typeface="Consolas"/>
                    <a:ea typeface="Consolas"/>
                    <a:cs typeface="Consolas"/>
                  </a:rPr>
                  <a:t>halted</a:t>
                </a:r>
              </a:p>
            </p:txBody>
          </p:sp>
          <p:sp>
            <p:nvSpPr>
              <p:cNvPr id="116" name="TextBox 116"/>
              <p:cNvSpPr txBox="1"/>
              <p:nvPr/>
            </p:nvSpPr>
            <p:spPr>
              <a:xfrm>
                <a:off x="2318004" y="5518785"/>
                <a:ext cx="2913888" cy="234696"/>
              </a:xfrm>
              <a:prstGeom prst="rect">
                <a:avLst/>
              </a:prstGeom>
              <a:noFill/>
              <a:ln>
                <a:noFill/>
              </a:ln>
            </p:spPr>
            <p:txBody>
              <a:bodyPr wrap="none" lIns="0" tIns="0" rIns="0" bIns="0" anchor="t" anchorCtr="0">
                <a:spAutoFit/>
              </a:bodyPr>
              <a:lstStyle/>
              <a:p>
                <a:pPr algn="l"/>
                <a:r>
                  <a:rPr lang="ko-KR" sz="1200" dirty="0">
                    <a:solidFill>
                      <a:schemeClr val="dk1"/>
                    </a:solidFill>
                    <a:latin typeface="+mn-lt"/>
                    <a:ea typeface="+mn-ea"/>
                    <a:cs typeface="+mn-cs"/>
                  </a:rPr>
                  <a:t>STOP·상한으로 정지 — 답은 필요 없다</a:t>
                </a:r>
              </a:p>
            </p:txBody>
          </p:sp>
          <p:sp>
            <p:nvSpPr>
              <p:cNvPr id="117" name="TextBox 117"/>
              <p:cNvSpPr txBox="1"/>
              <p:nvPr/>
            </p:nvSpPr>
            <p:spPr>
              <a:xfrm>
                <a:off x="6032754" y="5518785"/>
                <a:ext cx="2112264" cy="234696"/>
              </a:xfrm>
              <a:prstGeom prst="rect">
                <a:avLst/>
              </a:prstGeom>
              <a:noFill/>
              <a:ln>
                <a:noFill/>
              </a:ln>
            </p:spPr>
            <p:txBody>
              <a:bodyPr wrap="none" lIns="0" tIns="0" rIns="0" bIns="0" anchor="t" anchorCtr="0">
                <a:spAutoFit/>
              </a:bodyPr>
              <a:lstStyle/>
              <a:p>
                <a:pPr algn="l"/>
                <a:r>
                  <a:rPr lang="ko-KR" sz="1200" dirty="0">
                    <a:solidFill>
                      <a:schemeClr val="dk1"/>
                    </a:solidFill>
                    <a:latin typeface="+mn-lt"/>
                    <a:ea typeface="+mn-ea"/>
                    <a:cs typeface="+mn-cs"/>
                  </a:rPr>
                  <a:t xml:space="preserve">필요하면 상한 조정 → </a:t>
                </a:r>
                <a:r>
                  <a:rPr lang="ko-KR" sz="1200" dirty="0">
                    <a:solidFill>
                      <a:schemeClr val="dk1"/>
                    </a:solidFill>
                    <a:latin typeface="Consolas"/>
                    <a:ea typeface="Consolas"/>
                    <a:cs typeface="Consolas"/>
                  </a:rPr>
                  <a:t>fw run</a:t>
                </a:r>
              </a:p>
            </p:txBody>
          </p:sp>
          <p:sp>
            <p:nvSpPr>
              <p:cNvPr id="118" name="TextBox 118"/>
              <p:cNvSpPr txBox="1"/>
              <p:nvPr/>
            </p:nvSpPr>
            <p:spPr>
              <a:xfrm>
                <a:off x="10509504" y="5518785"/>
                <a:ext cx="101041" cy="234696"/>
              </a:xfrm>
              <a:prstGeom prst="rect">
                <a:avLst/>
              </a:prstGeom>
              <a:noFill/>
              <a:ln>
                <a:noFill/>
              </a:ln>
            </p:spPr>
            <p:txBody>
              <a:bodyPr wrap="none" lIns="0" tIns="0" rIns="0" bIns="0" anchor="t" anchorCtr="0">
                <a:spAutoFit/>
              </a:bodyPr>
              <a:lstStyle/>
              <a:p>
                <a:pPr algn="l"/>
                <a:r>
                  <a:rPr lang="ko-KR" sz="1200" dirty="0">
                    <a:solidFill>
                      <a:schemeClr val="dk1"/>
                    </a:solidFill>
                    <a:latin typeface="Consolas"/>
                    <a:ea typeface="Consolas"/>
                    <a:cs typeface="Consolas"/>
                  </a:rPr>
                  <a:t>0</a:t>
                </a:r>
              </a:p>
            </p:txBody>
          </p:sp>
        </p:grpSp>
        <p:grpSp>
          <p:nvGrpSpPr>
            <p:cNvPr id="124" name="Group 124"/>
            <p:cNvGrpSpPr/>
            <p:nvPr/>
          </p:nvGrpSpPr>
          <p:grpSpPr>
            <a:xfrm>
              <a:off x="717804" y="5804535"/>
              <a:ext cx="9892741" cy="234696"/>
              <a:chOff x="717804" y="5804535"/>
              <a:chExt cx="9892741" cy="234696"/>
            </a:xfrm>
          </p:grpSpPr>
          <p:sp>
            <p:nvSpPr>
              <p:cNvPr id="120" name="TextBox 120"/>
              <p:cNvSpPr txBox="1"/>
              <p:nvPr/>
            </p:nvSpPr>
            <p:spPr>
              <a:xfrm>
                <a:off x="717804" y="5804535"/>
                <a:ext cx="464515" cy="234696"/>
              </a:xfrm>
              <a:prstGeom prst="rect">
                <a:avLst/>
              </a:prstGeom>
              <a:noFill/>
              <a:ln>
                <a:noFill/>
              </a:ln>
            </p:spPr>
            <p:txBody>
              <a:bodyPr wrap="none" lIns="0" tIns="0" rIns="0" bIns="0" anchor="t" anchorCtr="0">
                <a:spAutoFit/>
              </a:bodyPr>
              <a:lstStyle/>
              <a:p>
                <a:pPr algn="l"/>
                <a:r>
                  <a:rPr lang="ko-KR" sz="1200" dirty="0">
                    <a:solidFill>
                      <a:srgbClr val="FF6B6B"/>
                    </a:solidFill>
                    <a:latin typeface="Consolas"/>
                    <a:ea typeface="Consolas"/>
                    <a:cs typeface="Consolas"/>
                  </a:rPr>
                  <a:t>failed</a:t>
                </a:r>
              </a:p>
            </p:txBody>
          </p:sp>
          <p:sp>
            <p:nvSpPr>
              <p:cNvPr id="121" name="TextBox 121"/>
              <p:cNvSpPr txBox="1"/>
              <p:nvPr/>
            </p:nvSpPr>
            <p:spPr>
              <a:xfrm>
                <a:off x="2318004" y="5804535"/>
                <a:ext cx="2677668" cy="234696"/>
              </a:xfrm>
              <a:prstGeom prst="rect">
                <a:avLst/>
              </a:prstGeom>
              <a:noFill/>
              <a:ln>
                <a:noFill/>
              </a:ln>
            </p:spPr>
            <p:txBody>
              <a:bodyPr wrap="none" lIns="0" tIns="0" rIns="0" bIns="0" anchor="t" anchorCtr="0">
                <a:spAutoFit/>
              </a:bodyPr>
              <a:lstStyle/>
              <a:p>
                <a:pPr algn="l"/>
                <a:r>
                  <a:rPr lang="ko-KR" sz="1200" dirty="0">
                    <a:solidFill>
                      <a:schemeClr val="dk1"/>
                    </a:solidFill>
                    <a:latin typeface="+mn-lt"/>
                    <a:ea typeface="+mn-ea"/>
                    <a:cs typeface="+mn-cs"/>
                  </a:rPr>
                  <a:t>재시도를 다 썼거나 검증 명령이 깨짐</a:t>
                </a:r>
              </a:p>
            </p:txBody>
          </p:sp>
          <p:sp>
            <p:nvSpPr>
              <p:cNvPr id="122" name="TextBox 122"/>
              <p:cNvSpPr txBox="1"/>
              <p:nvPr/>
            </p:nvSpPr>
            <p:spPr>
              <a:xfrm>
                <a:off x="6032754" y="5804535"/>
                <a:ext cx="3348076" cy="234696"/>
              </a:xfrm>
              <a:prstGeom prst="rect">
                <a:avLst/>
              </a:prstGeom>
              <a:noFill/>
              <a:ln>
                <a:noFill/>
              </a:ln>
            </p:spPr>
            <p:txBody>
              <a:bodyPr wrap="none" lIns="0" tIns="0" rIns="0" bIns="0" anchor="t" anchorCtr="0">
                <a:spAutoFit/>
              </a:bodyPr>
              <a:lstStyle/>
              <a:p>
                <a:pPr algn="l"/>
                <a:r>
                  <a:rPr lang="ko-KR" sz="1200" dirty="0">
                    <a:solidFill>
                      <a:schemeClr val="dk1"/>
                    </a:solidFill>
                    <a:latin typeface="Consolas"/>
                    <a:ea typeface="Consolas"/>
                    <a:cs typeface="Consolas"/>
                  </a:rPr>
                  <a:t>fw log</a:t>
                </a:r>
                <a:r>
                  <a:rPr lang="ko-KR" sz="1200" dirty="0">
                    <a:solidFill>
                      <a:schemeClr val="dk1"/>
                    </a:solidFill>
                    <a:latin typeface="+mn-lt"/>
                    <a:ea typeface="+mn-ea"/>
                    <a:cs typeface="+mn-cs"/>
                  </a:rPr>
                  <a:t xml:space="preserve"> 로 원인 → </a:t>
                </a:r>
                <a:r>
                  <a:rPr lang="ko-KR" sz="1200" dirty="0">
                    <a:solidFill>
                      <a:schemeClr val="dk1"/>
                    </a:solidFill>
                    <a:latin typeface="Consolas"/>
                    <a:ea typeface="Consolas"/>
                    <a:cs typeface="Consolas"/>
                  </a:rPr>
                  <a:t>fw retry &lt;phase&gt; → fw run</a:t>
                </a:r>
              </a:p>
            </p:txBody>
          </p:sp>
          <p:sp>
            <p:nvSpPr>
              <p:cNvPr id="123" name="TextBox 123"/>
              <p:cNvSpPr txBox="1"/>
              <p:nvPr/>
            </p:nvSpPr>
            <p:spPr>
              <a:xfrm>
                <a:off x="10509504" y="5804535"/>
                <a:ext cx="101041" cy="234696"/>
              </a:xfrm>
              <a:prstGeom prst="rect">
                <a:avLst/>
              </a:prstGeom>
              <a:noFill/>
              <a:ln>
                <a:noFill/>
              </a:ln>
            </p:spPr>
            <p:txBody>
              <a:bodyPr wrap="none" lIns="0" tIns="0" rIns="0" bIns="0" anchor="t" anchorCtr="0">
                <a:spAutoFit/>
              </a:bodyPr>
              <a:lstStyle/>
              <a:p>
                <a:pPr algn="l"/>
                <a:r>
                  <a:rPr lang="ko-KR" sz="1200" dirty="0">
                    <a:solidFill>
                      <a:schemeClr val="dk1"/>
                    </a:solidFill>
                    <a:latin typeface="Consolas"/>
                    <a:ea typeface="Consolas"/>
                    <a:cs typeface="Consolas"/>
                  </a:rPr>
                  <a:t>1</a:t>
                </a:r>
              </a:p>
            </p:txBody>
          </p:sp>
        </p:grpSp>
        <p:grpSp>
          <p:nvGrpSpPr>
            <p:cNvPr id="129" name="Group 129"/>
            <p:cNvGrpSpPr/>
            <p:nvPr/>
          </p:nvGrpSpPr>
          <p:grpSpPr>
            <a:xfrm>
              <a:off x="717804" y="6090285"/>
              <a:ext cx="9892741" cy="234696"/>
              <a:chOff x="717804" y="6090285"/>
              <a:chExt cx="9892741" cy="234696"/>
            </a:xfrm>
          </p:grpSpPr>
          <p:sp>
            <p:nvSpPr>
              <p:cNvPr id="125" name="TextBox 125"/>
              <p:cNvSpPr txBox="1"/>
              <p:nvPr/>
            </p:nvSpPr>
            <p:spPr>
              <a:xfrm>
                <a:off x="717804" y="6090285"/>
                <a:ext cx="367589" cy="234696"/>
              </a:xfrm>
              <a:prstGeom prst="rect">
                <a:avLst/>
              </a:prstGeom>
              <a:noFill/>
              <a:ln>
                <a:noFill/>
              </a:ln>
            </p:spPr>
            <p:txBody>
              <a:bodyPr wrap="none" lIns="0" tIns="0" rIns="0" bIns="0" anchor="t" anchorCtr="0">
                <a:spAutoFit/>
              </a:bodyPr>
              <a:lstStyle/>
              <a:p>
                <a:pPr algn="l"/>
                <a:r>
                  <a:rPr lang="ko-KR" sz="1200" dirty="0">
                    <a:solidFill>
                      <a:srgbClr val="4ADE80"/>
                    </a:solidFill>
                    <a:latin typeface="Consolas"/>
                    <a:ea typeface="Consolas"/>
                    <a:cs typeface="Consolas"/>
                  </a:rPr>
                  <a:t>done</a:t>
                </a:r>
              </a:p>
            </p:txBody>
          </p:sp>
          <p:sp>
            <p:nvSpPr>
              <p:cNvPr id="126" name="TextBox 126"/>
              <p:cNvSpPr txBox="1"/>
              <p:nvPr/>
            </p:nvSpPr>
            <p:spPr>
              <a:xfrm>
                <a:off x="2318004" y="6090285"/>
                <a:ext cx="2136496" cy="234696"/>
              </a:xfrm>
              <a:prstGeom prst="rect">
                <a:avLst/>
              </a:prstGeom>
              <a:noFill/>
              <a:ln>
                <a:noFill/>
              </a:ln>
            </p:spPr>
            <p:txBody>
              <a:bodyPr wrap="none" lIns="0" tIns="0" rIns="0" bIns="0" anchor="t" anchorCtr="0">
                <a:spAutoFit/>
              </a:bodyPr>
              <a:lstStyle/>
              <a:p>
                <a:pPr algn="l"/>
                <a:r>
                  <a:rPr lang="ko-KR" sz="1200" dirty="0">
                    <a:solidFill>
                      <a:schemeClr val="dk1"/>
                    </a:solidFill>
                    <a:latin typeface="+mn-lt"/>
                    <a:ea typeface="+mn-ea"/>
                    <a:cs typeface="+mn-cs"/>
                  </a:rPr>
                  <a:t>전 phase 완료 (+ 검증·합의)</a:t>
                </a:r>
              </a:p>
            </p:txBody>
          </p:sp>
          <p:sp>
            <p:nvSpPr>
              <p:cNvPr id="127" name="TextBox 127"/>
              <p:cNvSpPr txBox="1"/>
              <p:nvPr/>
            </p:nvSpPr>
            <p:spPr>
              <a:xfrm>
                <a:off x="6032754" y="6090285"/>
                <a:ext cx="2880703" cy="234696"/>
              </a:xfrm>
              <a:prstGeom prst="rect">
                <a:avLst/>
              </a:prstGeom>
              <a:noFill/>
              <a:ln>
                <a:noFill/>
              </a:ln>
            </p:spPr>
            <p:txBody>
              <a:bodyPr wrap="none" lIns="0" tIns="0" rIns="0" bIns="0" anchor="t" anchorCtr="0">
                <a:spAutoFit/>
              </a:bodyPr>
              <a:lstStyle/>
              <a:p>
                <a:pPr algn="l"/>
                <a:r>
                  <a:rPr lang="ko-KR" sz="1200" dirty="0">
                    <a:solidFill>
                      <a:schemeClr val="dk1"/>
                    </a:solidFill>
                    <a:latin typeface="+mn-lt"/>
                    <a:ea typeface="+mn-ea"/>
                    <a:cs typeface="+mn-cs"/>
                  </a:rPr>
                  <a:t xml:space="preserve">VERIFY.md · </a:t>
                </a:r>
                <a:r>
                  <a:rPr lang="ko-KR" sz="1200" dirty="0">
                    <a:solidFill>
                      <a:schemeClr val="dk1"/>
                    </a:solidFill>
                    <a:latin typeface="Consolas"/>
                    <a:ea typeface="Consolas"/>
                    <a:cs typeface="Consolas"/>
                  </a:rPr>
                  <a:t>fw report</a:t>
                </a:r>
                <a:r>
                  <a:rPr lang="ko-KR" sz="1200" dirty="0">
                    <a:solidFill>
                      <a:schemeClr val="dk1"/>
                    </a:solidFill>
                    <a:latin typeface="+mn-lt"/>
                    <a:ea typeface="+mn-ea"/>
                    <a:cs typeface="+mn-cs"/>
                  </a:rPr>
                  <a:t xml:space="preserve"> · git log 검토</a:t>
                </a:r>
              </a:p>
            </p:txBody>
          </p:sp>
          <p:sp>
            <p:nvSpPr>
              <p:cNvPr id="128" name="TextBox 128"/>
              <p:cNvSpPr txBox="1"/>
              <p:nvPr/>
            </p:nvSpPr>
            <p:spPr>
              <a:xfrm>
                <a:off x="10509504" y="6090285"/>
                <a:ext cx="101041" cy="234696"/>
              </a:xfrm>
              <a:prstGeom prst="rect">
                <a:avLst/>
              </a:prstGeom>
              <a:noFill/>
              <a:ln>
                <a:noFill/>
              </a:ln>
            </p:spPr>
            <p:txBody>
              <a:bodyPr wrap="none" lIns="0" tIns="0" rIns="0" bIns="0" anchor="t" anchorCtr="0">
                <a:spAutoFit/>
              </a:bodyPr>
              <a:lstStyle/>
              <a:p>
                <a:pPr algn="l"/>
                <a:r>
                  <a:rPr lang="ko-KR" sz="1200" dirty="0">
                    <a:solidFill>
                      <a:schemeClr val="dk1"/>
                    </a:solidFill>
                    <a:latin typeface="Consolas"/>
                    <a:ea typeface="Consolas"/>
                    <a:cs typeface="Consolas"/>
                  </a:rPr>
                  <a:t>0</a:t>
                </a:r>
              </a:p>
            </p:txBody>
          </p:sp>
        </p:grpSp>
      </p:grpSp>
      <p:grpSp>
        <p:nvGrpSpPr>
          <p:cNvPr id="133" name="Group 133"/>
          <p:cNvGrpSpPr/>
          <p:nvPr/>
        </p:nvGrpSpPr>
        <p:grpSpPr>
          <a:xfrm>
            <a:off x="604266" y="6516052"/>
            <a:ext cx="10983468" cy="205359"/>
            <a:chOff x="604266" y="6516052"/>
            <a:chExt cx="10983468" cy="205359"/>
          </a:xfrm>
        </p:grpSpPr>
        <p:sp>
          <p:nvSpPr>
            <p:cNvPr id="131" name="TextBox 131"/>
            <p:cNvSpPr txBox="1"/>
            <p:nvPr/>
          </p:nvSpPr>
          <p:spPr>
            <a:xfrm>
              <a:off x="604266" y="6516052"/>
              <a:ext cx="4973928"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feature-workflow · plugins/feature-workflow/README.md §5 상태 전이</a:t>
              </a:r>
            </a:p>
          </p:txBody>
        </p:sp>
        <p:sp>
          <p:nvSpPr>
            <p:cNvPr id="132" name="TextBox 132"/>
            <p:cNvSpPr txBox="1"/>
            <p:nvPr/>
          </p:nvSpPr>
          <p:spPr>
            <a:xfrm>
              <a:off x="11103540" y="65160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13 / 19</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01980" y="428625"/>
            <a:ext cx="3951732" cy="293370"/>
            <a:chOff x="601980" y="428625"/>
            <a:chExt cx="3951732" cy="293370"/>
          </a:xfrm>
        </p:grpSpPr>
        <p:sp>
          <p:nvSpPr>
            <p:cNvPr id="2" name="TextBox 2"/>
            <p:cNvSpPr txBox="1"/>
            <p:nvPr/>
          </p:nvSpPr>
          <p:spPr>
            <a:xfrm>
              <a:off x="601980" y="428625"/>
              <a:ext cx="3951732" cy="293370"/>
            </a:xfrm>
            <a:prstGeom prst="rect">
              <a:avLst/>
            </a:prstGeom>
            <a:noFill/>
            <a:ln>
              <a:noFill/>
            </a:ln>
          </p:spPr>
          <p:txBody>
            <a:bodyPr wrap="none" lIns="0" tIns="0" rIns="0" bIns="0" anchor="t" anchorCtr="0">
              <a:spAutoFit/>
            </a:bodyPr>
            <a:lstStyle/>
            <a:p>
              <a:pPr algn="l"/>
              <a:r>
                <a:rPr lang="ko-KR" sz="1500" spc="150" dirty="0">
                  <a:solidFill>
                    <a:schemeClr val="accent5"/>
                  </a:solidFill>
                  <a:latin typeface="Consolas"/>
                  <a:ea typeface="Microsoft YaHei"/>
                  <a:cs typeface="Consolas"/>
                </a:rPr>
                <a:t>PART 03 · 실습 — 설치와 시나리오 A</a:t>
              </a:r>
            </a:p>
          </p:txBody>
        </p:sp>
      </p:grpSp>
      <p:grpSp>
        <p:nvGrpSpPr>
          <p:cNvPr id="5" name="Group 5"/>
          <p:cNvGrpSpPr/>
          <p:nvPr/>
        </p:nvGrpSpPr>
        <p:grpSpPr>
          <a:xfrm>
            <a:off x="593598" y="822008"/>
            <a:ext cx="8763095" cy="1111377"/>
            <a:chOff x="593598" y="822008"/>
            <a:chExt cx="8763095" cy="1111377"/>
          </a:xfrm>
        </p:grpSpPr>
        <p:sp>
          <p:nvSpPr>
            <p:cNvPr id="4" name="TextBox 4"/>
            <p:cNvSpPr txBox="1"/>
            <p:nvPr/>
          </p:nvSpPr>
          <p:spPr>
            <a:xfrm>
              <a:off x="593598" y="822008"/>
              <a:ext cx="8763095" cy="1111377"/>
            </a:xfrm>
            <a:prstGeom prst="rect">
              <a:avLst/>
            </a:prstGeom>
            <a:noFill/>
            <a:ln>
              <a:noFill/>
            </a:ln>
          </p:spPr>
          <p:txBody>
            <a:bodyPr wrap="none" lIns="0" tIns="0" rIns="0" bIns="0" anchor="t" anchorCtr="0">
              <a:spAutoFit/>
            </a:bodyPr>
            <a:lstStyle/>
            <a:p>
              <a:pPr algn="l">
                <a:lnSpc>
                  <a:spcPts val="3900"/>
                </a:lnSpc>
              </a:pPr>
              <a:r>
                <a:rPr lang="ko-KR" sz="3150" b="1" dirty="0">
                  <a:solidFill>
                    <a:schemeClr val="dk1"/>
                  </a:solidFill>
                  <a:latin typeface="+mn-lt"/>
                  <a:ea typeface="+mn-ea"/>
                  <a:cs typeface="+mn-cs"/>
                </a:rPr>
                <a:t xml:space="preserve">시나리오 A — 목표가 선명하면 </a:t>
              </a:r>
              <a:r>
                <a:rPr lang="ko-KR" sz="3150" b="1" dirty="0">
                  <a:solidFill>
                    <a:schemeClr val="accent2"/>
                  </a:solidFill>
                  <a:latin typeface="Consolas"/>
                  <a:ea typeface="Consolas"/>
                  <a:cs typeface="Consolas"/>
                </a:rPr>
                <a:t>start</a:t>
              </a:r>
              <a:r>
                <a:rPr lang="ko-KR" sz="3150" b="1" dirty="0">
                  <a:solidFill>
                    <a:schemeClr val="dk1"/>
                  </a:solidFill>
                  <a:latin typeface="+mn-lt"/>
                  <a:ea typeface="+mn-ea"/>
                  <a:cs typeface="+mn-cs"/>
                </a:rPr>
                <a:t xml:space="preserve"> 로 만들고,</a:t>
              </a:r>
              <a:br/>
              <a:r>
                <a:rPr lang="ko-KR" sz="3150" b="1" dirty="0">
                  <a:solidFill>
                    <a:schemeClr val="accent1"/>
                  </a:solidFill>
                  <a:latin typeface="Consolas"/>
                  <a:ea typeface="Consolas"/>
                  <a:cs typeface="Consolas"/>
                </a:rPr>
                <a:t>run</a:t>
              </a:r>
              <a:r>
                <a:rPr lang="ko-KR" sz="3150" b="1" dirty="0">
                  <a:solidFill>
                    <a:schemeClr val="dk1"/>
                  </a:solidFill>
                  <a:latin typeface="+mn-lt"/>
                  <a:ea typeface="+mn-ea"/>
                  <a:cs typeface="+mn-cs"/>
                </a:rPr>
                <a:t xml:space="preserve"> 으로 밤에 맡긴다</a:t>
              </a:r>
            </a:p>
          </p:txBody>
        </p:sp>
      </p:grpSp>
      <p:grpSp>
        <p:nvGrpSpPr>
          <p:cNvPr id="24" name="Group 24"/>
          <p:cNvGrpSpPr/>
          <p:nvPr/>
        </p:nvGrpSpPr>
        <p:grpSpPr>
          <a:xfrm>
            <a:off x="609600" y="1943100"/>
            <a:ext cx="3208611" cy="4381500"/>
            <a:chOff x="609600" y="1943100"/>
            <a:chExt cx="3208611" cy="4381500"/>
          </a:xfrm>
        </p:grpSpPr>
        <p:sp>
          <p:nvSpPr>
            <p:cNvPr id="6" name="Rectangle 6"/>
            <p:cNvSpPr/>
            <p:nvPr/>
          </p:nvSpPr>
          <p:spPr>
            <a:xfrm>
              <a:off x="609600" y="1943100"/>
              <a:ext cx="2971800" cy="4381500"/>
            </a:xfrm>
            <a:prstGeom prst="roundRect">
              <a:avLst>
                <a:gd name="adj" fmla="val 1923"/>
              </a:avLst>
            </a:prstGeom>
            <a:solidFill>
              <a:schemeClr val="lt2">
                <a:alpha val="60000"/>
              </a:schemeClr>
            </a:solidFill>
            <a:ln w="19050">
              <a:solidFill>
                <a:schemeClr val="accent6"/>
              </a:solidFill>
            </a:ln>
          </p:spPr>
        </p:sp>
        <p:grpSp>
          <p:nvGrpSpPr>
            <p:cNvPr id="10" name="Group 10"/>
            <p:cNvGrpSpPr/>
            <p:nvPr/>
          </p:nvGrpSpPr>
          <p:grpSpPr>
            <a:xfrm>
              <a:off x="790575" y="2114550"/>
              <a:ext cx="171450" cy="152400"/>
              <a:chOff x="790575" y="2114550"/>
              <a:chExt cx="171450" cy="152400"/>
            </a:xfrm>
          </p:grpSpPr>
          <p:sp>
            <p:nvSpPr>
              <p:cNvPr id="7" name="Freeform 7"/>
              <p:cNvSpPr/>
              <p:nvPr/>
            </p:nvSpPr>
            <p:spPr>
              <a:xfrm>
                <a:off x="838200" y="2162175"/>
                <a:ext cx="28575" cy="57150"/>
              </a:xfrm>
              <a:custGeom>
                <a:avLst/>
                <a:gdLst/>
                <a:ahLst/>
                <a:cxnLst/>
                <a:rect l="l" t="t" r="r" b="b"/>
                <a:pathLst>
                  <a:path w="28575" h="57150">
                    <a:moveTo>
                      <a:pt x="0" y="0"/>
                    </a:moveTo>
                    <a:lnTo>
                      <a:pt x="28575" y="28575"/>
                    </a:lnTo>
                    <a:lnTo>
                      <a:pt x="0" y="57150"/>
                    </a:lnTo>
                  </a:path>
                </a:pathLst>
              </a:custGeom>
              <a:noFill/>
              <a:ln w="19050">
                <a:solidFill>
                  <a:schemeClr val="accent1"/>
                </a:solidFill>
              </a:ln>
            </p:spPr>
          </p:sp>
          <p:sp>
            <p:nvSpPr>
              <p:cNvPr id="8" name="Freeform 8"/>
              <p:cNvSpPr/>
              <p:nvPr/>
            </p:nvSpPr>
            <p:spPr>
              <a:xfrm>
                <a:off x="885825" y="2219325"/>
                <a:ext cx="28575" cy="9525"/>
              </a:xfrm>
              <a:custGeom>
                <a:avLst/>
                <a:gdLst/>
                <a:ahLst/>
                <a:cxnLst/>
                <a:rect l="l" t="t" r="r" b="b"/>
                <a:pathLst>
                  <a:path w="28575" h="9525">
                    <a:moveTo>
                      <a:pt x="0" y="0"/>
                    </a:moveTo>
                    <a:lnTo>
                      <a:pt x="28575" y="0"/>
                    </a:lnTo>
                  </a:path>
                </a:pathLst>
              </a:custGeom>
              <a:noFill/>
              <a:ln w="19050">
                <a:solidFill>
                  <a:schemeClr val="accent1"/>
                </a:solidFill>
              </a:ln>
            </p:spPr>
          </p:sp>
          <p:sp>
            <p:nvSpPr>
              <p:cNvPr id="9" name="Freeform 9"/>
              <p:cNvSpPr/>
              <p:nvPr/>
            </p:nvSpPr>
            <p:spPr>
              <a:xfrm>
                <a:off x="790575" y="2114550"/>
                <a:ext cx="171450" cy="152400"/>
              </a:xfrm>
              <a:custGeom>
                <a:avLst/>
                <a:gdLst/>
                <a:ahLst/>
                <a:cxnLst/>
                <a:rect l="l" t="t" r="r" b="b"/>
                <a:pathLst>
                  <a:path w="171450" h="152400">
                    <a:moveTo>
                      <a:pt x="0" y="19050"/>
                    </a:moveTo>
                    <a:cubicBezTo>
                      <a:pt x="0" y="8529"/>
                      <a:pt x="8529" y="0"/>
                      <a:pt x="19050" y="0"/>
                    </a:cubicBezTo>
                    <a:lnTo>
                      <a:pt x="152400" y="0"/>
                    </a:lnTo>
                    <a:cubicBezTo>
                      <a:pt x="162921" y="0"/>
                      <a:pt x="171450" y="8529"/>
                      <a:pt x="171450" y="19050"/>
                    </a:cubicBezTo>
                    <a:lnTo>
                      <a:pt x="171450" y="133350"/>
                    </a:lnTo>
                    <a:cubicBezTo>
                      <a:pt x="171450" y="143871"/>
                      <a:pt x="162921" y="152400"/>
                      <a:pt x="152400" y="152400"/>
                    </a:cubicBezTo>
                    <a:lnTo>
                      <a:pt x="19050" y="152400"/>
                    </a:lnTo>
                    <a:cubicBezTo>
                      <a:pt x="8529" y="152400"/>
                      <a:pt x="0" y="143871"/>
                      <a:pt x="0" y="133350"/>
                    </a:cubicBezTo>
                    <a:lnTo>
                      <a:pt x="0" y="19050"/>
                    </a:lnTo>
                  </a:path>
                </a:pathLst>
              </a:custGeom>
              <a:noFill/>
              <a:ln w="19050">
                <a:solidFill>
                  <a:schemeClr val="accent1"/>
                </a:solidFill>
              </a:ln>
            </p:spPr>
          </p:sp>
        </p:grpSp>
        <p:sp>
          <p:nvSpPr>
            <p:cNvPr id="11" name="TextBox 11"/>
            <p:cNvSpPr txBox="1"/>
            <p:nvPr/>
          </p:nvSpPr>
          <p:spPr>
            <a:xfrm>
              <a:off x="1059942" y="2111692"/>
              <a:ext cx="1199096" cy="264033"/>
            </a:xfrm>
            <a:prstGeom prst="rect">
              <a:avLst/>
            </a:prstGeom>
            <a:noFill/>
            <a:ln>
              <a:noFill/>
            </a:ln>
          </p:spPr>
          <p:txBody>
            <a:bodyPr wrap="none" lIns="0" tIns="0" rIns="0" bIns="0" anchor="t" anchorCtr="0">
              <a:spAutoFit/>
            </a:bodyPr>
            <a:lstStyle/>
            <a:p>
              <a:pPr algn="l"/>
              <a:r>
                <a:rPr lang="ko-KR" sz="1350" b="1" dirty="0">
                  <a:solidFill>
                    <a:schemeClr val="dk1"/>
                  </a:solidFill>
                  <a:latin typeface="+mn-lt"/>
                  <a:ea typeface="+mn-ea"/>
                  <a:cs typeface="+mn-cs"/>
                </a:rPr>
                <a:t>설치 — 한 번만</a:t>
              </a:r>
            </a:p>
          </p:txBody>
        </p:sp>
        <p:sp>
          <p:nvSpPr>
            <p:cNvPr id="12" name="Rectangle 12"/>
            <p:cNvSpPr/>
            <p:nvPr/>
          </p:nvSpPr>
          <p:spPr>
            <a:xfrm>
              <a:off x="762000" y="2419350"/>
              <a:ext cx="2667000" cy="2114550"/>
            </a:xfrm>
            <a:prstGeom prst="roundRect">
              <a:avLst>
                <a:gd name="adj" fmla="val 1802"/>
              </a:avLst>
            </a:prstGeom>
            <a:solidFill>
              <a:schemeClr val="lt1"/>
            </a:solidFill>
            <a:ln w="9525">
              <a:solidFill>
                <a:schemeClr val="accent6"/>
              </a:solidFill>
            </a:ln>
          </p:spPr>
        </p:sp>
        <p:sp>
          <p:nvSpPr>
            <p:cNvPr id="13" name="TextBox 13"/>
            <p:cNvSpPr txBox="1"/>
            <p:nvPr/>
          </p:nvSpPr>
          <p:spPr>
            <a:xfrm>
              <a:off x="869442" y="2502218"/>
              <a:ext cx="2182490"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Consolas"/>
                  <a:ea typeface="Microsoft YaHei"/>
                  <a:cs typeface="Consolas"/>
                </a:rPr>
                <a:t># 플러그인 (Claude Code)</a:t>
              </a:r>
            </a:p>
          </p:txBody>
        </p:sp>
        <p:sp>
          <p:nvSpPr>
            <p:cNvPr id="14" name="TextBox 14"/>
            <p:cNvSpPr txBox="1"/>
            <p:nvPr/>
          </p:nvSpPr>
          <p:spPr>
            <a:xfrm>
              <a:off x="869442" y="2730818"/>
              <a:ext cx="2276342" cy="264033"/>
            </a:xfrm>
            <a:prstGeom prst="rect">
              <a:avLst/>
            </a:prstGeom>
            <a:noFill/>
            <a:ln>
              <a:noFill/>
            </a:ln>
          </p:spPr>
          <p:txBody>
            <a:bodyPr wrap="none" lIns="0" tIns="0" rIns="0" bIns="0" anchor="t" anchorCtr="0">
              <a:spAutoFit/>
            </a:bodyPr>
            <a:lstStyle/>
            <a:p>
              <a:pPr algn="l"/>
              <a:r>
                <a:rPr lang="ko-KR" sz="1350" dirty="0">
                  <a:solidFill>
                    <a:schemeClr val="dk1"/>
                  </a:solidFill>
                  <a:latin typeface="Consolas"/>
                  <a:ea typeface="Consolas"/>
                  <a:cs typeface="Consolas"/>
                </a:rPr>
                <a:t>/plugin marketplace add \</a:t>
              </a:r>
            </a:p>
          </p:txBody>
        </p:sp>
        <p:sp>
          <p:nvSpPr>
            <p:cNvPr id="15" name="TextBox 15"/>
            <p:cNvSpPr txBox="1"/>
            <p:nvPr/>
          </p:nvSpPr>
          <p:spPr>
            <a:xfrm>
              <a:off x="869442" y="2959418"/>
              <a:ext cx="2412644" cy="264033"/>
            </a:xfrm>
            <a:prstGeom prst="rect">
              <a:avLst/>
            </a:prstGeom>
            <a:noFill/>
            <a:ln>
              <a:noFill/>
            </a:ln>
          </p:spPr>
          <p:txBody>
            <a:bodyPr wrap="none" lIns="0" tIns="0" rIns="0" bIns="0" anchor="t" anchorCtr="0">
              <a:spAutoFit/>
            </a:bodyPr>
            <a:lstStyle/>
            <a:p>
              <a:pPr algn="l"/>
              <a:r>
                <a:rPr lang="ko-KR" sz="1350" dirty="0">
                  <a:solidFill>
                    <a:schemeClr val="accent1"/>
                  </a:solidFill>
                  <a:latin typeface="Consolas"/>
                  <a:ea typeface="Consolas"/>
                  <a:cs typeface="Consolas"/>
                </a:rPr>
                <a:t>https://git.linecorp.com/</a:t>
              </a:r>
            </a:p>
          </p:txBody>
        </p:sp>
        <p:sp>
          <p:nvSpPr>
            <p:cNvPr id="16" name="TextBox 16"/>
            <p:cNvSpPr txBox="1"/>
            <p:nvPr/>
          </p:nvSpPr>
          <p:spPr>
            <a:xfrm>
              <a:off x="869442" y="3188018"/>
              <a:ext cx="2512600" cy="264033"/>
            </a:xfrm>
            <a:prstGeom prst="rect">
              <a:avLst/>
            </a:prstGeom>
            <a:noFill/>
            <a:ln>
              <a:noFill/>
            </a:ln>
          </p:spPr>
          <p:txBody>
            <a:bodyPr wrap="none" lIns="0" tIns="0" rIns="0" bIns="0" anchor="t" anchorCtr="0">
              <a:spAutoFit/>
            </a:bodyPr>
            <a:lstStyle/>
            <a:p>
              <a:pPr algn="l"/>
              <a:r>
                <a:rPr lang="ko-KR" sz="1350" dirty="0">
                  <a:solidFill>
                    <a:schemeClr val="accent1"/>
                  </a:solidFill>
                  <a:latin typeface="Consolas"/>
                  <a:ea typeface="Consolas"/>
                  <a:cs typeface="Consolas"/>
                </a:rPr>
                <a:t>adamdoha/claude-helper.git</a:t>
              </a:r>
            </a:p>
          </p:txBody>
        </p:sp>
        <p:sp>
          <p:nvSpPr>
            <p:cNvPr id="17" name="TextBox 17"/>
            <p:cNvSpPr txBox="1"/>
            <p:nvPr/>
          </p:nvSpPr>
          <p:spPr>
            <a:xfrm>
              <a:off x="869442" y="3416618"/>
              <a:ext cx="1394917" cy="264033"/>
            </a:xfrm>
            <a:prstGeom prst="rect">
              <a:avLst/>
            </a:prstGeom>
            <a:noFill/>
            <a:ln>
              <a:noFill/>
            </a:ln>
          </p:spPr>
          <p:txBody>
            <a:bodyPr wrap="none" lIns="0" tIns="0" rIns="0" bIns="0" anchor="t" anchorCtr="0">
              <a:spAutoFit/>
            </a:bodyPr>
            <a:lstStyle/>
            <a:p>
              <a:pPr algn="l"/>
              <a:r>
                <a:rPr lang="ko-KR" sz="1350" dirty="0">
                  <a:solidFill>
                    <a:schemeClr val="dk1"/>
                  </a:solidFill>
                  <a:latin typeface="Consolas"/>
                  <a:ea typeface="Consolas"/>
                  <a:cs typeface="Consolas"/>
                </a:rPr>
                <a:t>/plugin install \</a:t>
              </a:r>
            </a:p>
          </p:txBody>
        </p:sp>
        <p:sp>
          <p:nvSpPr>
            <p:cNvPr id="18" name="TextBox 18"/>
            <p:cNvSpPr txBox="1"/>
            <p:nvPr/>
          </p:nvSpPr>
          <p:spPr>
            <a:xfrm>
              <a:off x="869442" y="3645218"/>
              <a:ext cx="2948769" cy="264033"/>
            </a:xfrm>
            <a:prstGeom prst="rect">
              <a:avLst/>
            </a:prstGeom>
            <a:noFill/>
            <a:ln>
              <a:noFill/>
            </a:ln>
          </p:spPr>
          <p:txBody>
            <a:bodyPr wrap="none" lIns="0" tIns="0" rIns="0" bIns="0" anchor="t" anchorCtr="0">
              <a:spAutoFit/>
            </a:bodyPr>
            <a:lstStyle/>
            <a:p>
              <a:pPr algn="l"/>
              <a:r>
                <a:rPr lang="ko-KR" sz="1350" dirty="0">
                  <a:solidFill>
                    <a:schemeClr val="accent1"/>
                  </a:solidFill>
                  <a:latin typeface="Consolas"/>
                  <a:ea typeface="Consolas"/>
                  <a:cs typeface="Consolas"/>
                </a:rPr>
                <a:t>feature-workflow@claude-helper</a:t>
              </a:r>
            </a:p>
          </p:txBody>
        </p:sp>
        <p:sp>
          <p:nvSpPr>
            <p:cNvPr id="19" name="TextBox 19"/>
            <p:cNvSpPr txBox="1"/>
            <p:nvPr/>
          </p:nvSpPr>
          <p:spPr>
            <a:xfrm>
              <a:off x="869442" y="3969068"/>
              <a:ext cx="2112778"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Consolas"/>
                  <a:ea typeface="Microsoft YaHei"/>
                  <a:cs typeface="Consolas"/>
                </a:rPr>
                <a:t># 하네스 (리포 루트에서)</a:t>
              </a:r>
            </a:p>
          </p:txBody>
        </p:sp>
        <p:sp>
          <p:nvSpPr>
            <p:cNvPr id="20" name="TextBox 20"/>
            <p:cNvSpPr txBox="1"/>
            <p:nvPr/>
          </p:nvSpPr>
          <p:spPr>
            <a:xfrm>
              <a:off x="869442" y="4197668"/>
              <a:ext cx="1658436" cy="264033"/>
            </a:xfrm>
            <a:prstGeom prst="rect">
              <a:avLst/>
            </a:prstGeom>
            <a:noFill/>
            <a:ln>
              <a:noFill/>
            </a:ln>
          </p:spPr>
          <p:txBody>
            <a:bodyPr wrap="none" lIns="0" tIns="0" rIns="0" bIns="0" anchor="t" anchorCtr="0">
              <a:spAutoFit/>
            </a:bodyPr>
            <a:lstStyle/>
            <a:p>
              <a:pPr algn="l"/>
              <a:r>
                <a:rPr lang="ko-KR" sz="1350" dirty="0">
                  <a:solidFill>
                    <a:schemeClr val="dk1"/>
                  </a:solidFill>
                  <a:latin typeface="Consolas"/>
                  <a:ea typeface="Consolas"/>
                  <a:cs typeface="Consolas"/>
                </a:rPr>
                <a:t>npm run fw:install</a:t>
              </a:r>
            </a:p>
          </p:txBody>
        </p:sp>
        <p:sp>
          <p:nvSpPr>
            <p:cNvPr id="21" name="TextBox 21"/>
            <p:cNvSpPr txBox="1"/>
            <p:nvPr/>
          </p:nvSpPr>
          <p:spPr>
            <a:xfrm>
              <a:off x="869442" y="4426268"/>
              <a:ext cx="1158659" cy="264033"/>
            </a:xfrm>
            <a:prstGeom prst="rect">
              <a:avLst/>
            </a:prstGeom>
            <a:noFill/>
            <a:ln>
              <a:noFill/>
            </a:ln>
          </p:spPr>
          <p:txBody>
            <a:bodyPr wrap="none" lIns="0" tIns="0" rIns="0" bIns="0" anchor="t" anchorCtr="0">
              <a:spAutoFit/>
            </a:bodyPr>
            <a:lstStyle/>
            <a:p>
              <a:pPr algn="l"/>
              <a:r>
                <a:rPr lang="ko-KR" sz="1350" dirty="0">
                  <a:solidFill>
                    <a:schemeClr val="dk1"/>
                  </a:solidFill>
                  <a:latin typeface="Consolas"/>
                  <a:ea typeface="Consolas"/>
                  <a:cs typeface="Consolas"/>
                </a:rPr>
                <a:t>fw --version</a:t>
              </a:r>
            </a:p>
          </p:txBody>
        </p:sp>
        <p:sp>
          <p:nvSpPr>
            <p:cNvPr id="22" name="TextBox 22"/>
            <p:cNvSpPr txBox="1"/>
            <p:nvPr/>
          </p:nvSpPr>
          <p:spPr>
            <a:xfrm>
              <a:off x="755904" y="4690110"/>
              <a:ext cx="658368"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전제조건</a:t>
              </a:r>
            </a:p>
          </p:txBody>
        </p:sp>
        <p:sp>
          <p:nvSpPr>
            <p:cNvPr id="23" name="TextBox 23"/>
            <p:cNvSpPr txBox="1"/>
            <p:nvPr/>
          </p:nvSpPr>
          <p:spPr>
            <a:xfrm>
              <a:off x="755904" y="4937760"/>
              <a:ext cx="2092452" cy="1072896"/>
            </a:xfrm>
            <a:prstGeom prst="rect">
              <a:avLst/>
            </a:prstGeom>
            <a:noFill/>
            <a:ln>
              <a:noFill/>
            </a:ln>
          </p:spPr>
          <p:txBody>
            <a:bodyPr wrap="none" lIns="0" tIns="0" rIns="0" bIns="0" anchor="t" anchorCtr="0">
              <a:spAutoFit/>
            </a:bodyPr>
            <a:lstStyle/>
            <a:p>
              <a:pPr algn="l">
                <a:lnSpc>
                  <a:spcPts val="1650"/>
                </a:lnSpc>
              </a:pPr>
              <a:r>
                <a:rPr lang="ko-KR" sz="1200" dirty="0">
                  <a:solidFill>
                    <a:schemeClr val="accent5"/>
                  </a:solidFill>
                  <a:latin typeface="+mn-lt"/>
                  <a:ea typeface="+mn-ea"/>
                  <a:cs typeface="+mn-cs"/>
                </a:rPr>
                <a:t>Node.js ≥ 22.12 · git ≥ 2.11</a:t>
              </a:r>
              <a:br/>
              <a:r>
                <a:rPr lang="ko-KR" sz="1200" dirty="0">
                  <a:solidFill>
                    <a:schemeClr val="accent5"/>
                  </a:solidFill>
                  <a:latin typeface="+mn-lt"/>
                  <a:ea typeface="+mn-ea"/>
                  <a:cs typeface="+mn-cs"/>
                </a:rPr>
                <a:t>claude setup-token 또는</a:t>
              </a:r>
              <a:br/>
              <a:r>
                <a:rPr lang="ko-KR" sz="1200" dirty="0">
                  <a:solidFill>
                    <a:schemeClr val="accent5"/>
                  </a:solidFill>
                  <a:latin typeface="+mn-lt"/>
                  <a:ea typeface="+mn-ea"/>
                  <a:cs typeface="+mn-cs"/>
                </a:rPr>
                <a:t>ANTHROPIC_API_KEY</a:t>
              </a:r>
              <a:br/>
              <a:r>
                <a:rPr lang="ko-KR" sz="1200" dirty="0">
                  <a:solidFill>
                    <a:schemeClr val="accent5"/>
                  </a:solidFill>
                  <a:latin typeface="+mn-lt"/>
                  <a:ea typeface="+mn-ea"/>
                  <a:cs typeface="+mn-cs"/>
                </a:rPr>
                <a:t>gh auth status — PR 모드만</a:t>
              </a:r>
              <a:br/>
              <a:r>
                <a:rPr lang="ko-KR" sz="1200" dirty="0">
                  <a:solidFill>
                    <a:schemeClr val="accent5"/>
                  </a:solidFill>
                  <a:latin typeface="+mn-lt"/>
                  <a:ea typeface="+mn-ea"/>
                  <a:cs typeface="+mn-cs"/>
                </a:rPr>
                <a:t>알림: macOS·Linux 외엔 배너</a:t>
              </a:r>
            </a:p>
          </p:txBody>
        </p:sp>
      </p:grpSp>
      <p:grpSp>
        <p:nvGrpSpPr>
          <p:cNvPr id="55" name="Group 55"/>
          <p:cNvGrpSpPr/>
          <p:nvPr/>
        </p:nvGrpSpPr>
        <p:grpSpPr>
          <a:xfrm>
            <a:off x="3803904" y="2209800"/>
            <a:ext cx="7578875" cy="3743706"/>
            <a:chOff x="3803904" y="2209800"/>
            <a:chExt cx="7578875" cy="3743706"/>
          </a:xfrm>
        </p:grpSpPr>
        <p:sp>
          <p:nvSpPr>
            <p:cNvPr id="25" name="Freeform 25"/>
            <p:cNvSpPr/>
            <p:nvPr/>
          </p:nvSpPr>
          <p:spPr>
            <a:xfrm>
              <a:off x="3810000" y="2209800"/>
              <a:ext cx="1428750" cy="495300"/>
            </a:xfrm>
            <a:prstGeom prst="chevron">
              <a:avLst/>
            </a:prstGeom>
            <a:solidFill>
              <a:srgbClr val="182238"/>
            </a:solidFill>
            <a:ln w="19050">
              <a:solidFill>
                <a:schemeClr val="accent2"/>
              </a:solidFill>
            </a:ln>
          </p:spPr>
        </p:sp>
        <p:sp>
          <p:nvSpPr>
            <p:cNvPr id="26" name="Freeform 26"/>
            <p:cNvSpPr/>
            <p:nvPr/>
          </p:nvSpPr>
          <p:spPr>
            <a:xfrm>
              <a:off x="5334000" y="2209800"/>
              <a:ext cx="1428750" cy="495300"/>
            </a:xfrm>
            <a:prstGeom prst="chevron">
              <a:avLst/>
            </a:prstGeom>
            <a:solidFill>
              <a:srgbClr val="182238"/>
            </a:solidFill>
            <a:ln w="19050">
              <a:solidFill>
                <a:schemeClr val="accent2"/>
              </a:solidFill>
            </a:ln>
          </p:spPr>
        </p:sp>
        <p:sp>
          <p:nvSpPr>
            <p:cNvPr id="27" name="Freeform 27"/>
            <p:cNvSpPr/>
            <p:nvPr/>
          </p:nvSpPr>
          <p:spPr>
            <a:xfrm>
              <a:off x="6858000" y="2209800"/>
              <a:ext cx="1428750" cy="495300"/>
            </a:xfrm>
            <a:prstGeom prst="chevron">
              <a:avLst/>
            </a:prstGeom>
            <a:solidFill>
              <a:srgbClr val="182238"/>
            </a:solidFill>
            <a:ln w="19050">
              <a:solidFill>
                <a:schemeClr val="accent1"/>
              </a:solidFill>
            </a:ln>
          </p:spPr>
        </p:sp>
        <p:sp>
          <p:nvSpPr>
            <p:cNvPr id="28" name="Freeform 28"/>
            <p:cNvSpPr/>
            <p:nvPr/>
          </p:nvSpPr>
          <p:spPr>
            <a:xfrm>
              <a:off x="8382000" y="2209800"/>
              <a:ext cx="1428750" cy="495300"/>
            </a:xfrm>
            <a:prstGeom prst="chevron">
              <a:avLst/>
            </a:prstGeom>
            <a:solidFill>
              <a:srgbClr val="182238"/>
            </a:solidFill>
            <a:ln w="19050">
              <a:solidFill>
                <a:schemeClr val="accent1"/>
              </a:solidFill>
            </a:ln>
          </p:spPr>
        </p:sp>
        <p:sp>
          <p:nvSpPr>
            <p:cNvPr id="29" name="Freeform 29"/>
            <p:cNvSpPr/>
            <p:nvPr/>
          </p:nvSpPr>
          <p:spPr>
            <a:xfrm>
              <a:off x="9906000" y="2209800"/>
              <a:ext cx="1428750" cy="495300"/>
            </a:xfrm>
            <a:prstGeom prst="chevron">
              <a:avLst/>
            </a:prstGeom>
            <a:solidFill>
              <a:srgbClr val="182238"/>
            </a:solidFill>
            <a:ln w="19050">
              <a:solidFill>
                <a:schemeClr val="accent1"/>
              </a:solidFill>
            </a:ln>
          </p:spPr>
        </p:sp>
        <p:sp>
          <p:nvSpPr>
            <p:cNvPr id="30" name="TextBox 30"/>
            <p:cNvSpPr txBox="1"/>
            <p:nvPr/>
          </p:nvSpPr>
          <p:spPr>
            <a:xfrm>
              <a:off x="4534214" y="2368868"/>
              <a:ext cx="113671" cy="264033"/>
            </a:xfrm>
            <a:prstGeom prst="rect">
              <a:avLst/>
            </a:prstGeom>
            <a:noFill/>
            <a:ln>
              <a:noFill/>
            </a:ln>
          </p:spPr>
          <p:txBody>
            <a:bodyPr wrap="none" lIns="0" tIns="0" rIns="0" bIns="0" anchor="t" anchorCtr="0">
              <a:spAutoFit/>
            </a:bodyPr>
            <a:lstStyle/>
            <a:p>
              <a:pPr algn="ctr"/>
              <a:r>
                <a:rPr lang="ko-KR" sz="1350" dirty="0">
                  <a:solidFill>
                    <a:schemeClr val="dk1"/>
                  </a:solidFill>
                  <a:latin typeface="Consolas"/>
                  <a:ea typeface="Consolas"/>
                  <a:cs typeface="Consolas"/>
                </a:rPr>
                <a:t>1</a:t>
              </a:r>
            </a:p>
          </p:txBody>
        </p:sp>
        <p:sp>
          <p:nvSpPr>
            <p:cNvPr id="31" name="TextBox 31"/>
            <p:cNvSpPr txBox="1"/>
            <p:nvPr/>
          </p:nvSpPr>
          <p:spPr>
            <a:xfrm>
              <a:off x="6058214" y="2368868"/>
              <a:ext cx="113671" cy="264033"/>
            </a:xfrm>
            <a:prstGeom prst="rect">
              <a:avLst/>
            </a:prstGeom>
            <a:noFill/>
            <a:ln>
              <a:noFill/>
            </a:ln>
          </p:spPr>
          <p:txBody>
            <a:bodyPr wrap="none" lIns="0" tIns="0" rIns="0" bIns="0" anchor="t" anchorCtr="0">
              <a:spAutoFit/>
            </a:bodyPr>
            <a:lstStyle/>
            <a:p>
              <a:pPr algn="ctr"/>
              <a:r>
                <a:rPr lang="ko-KR" sz="1350" dirty="0">
                  <a:solidFill>
                    <a:schemeClr val="dk1"/>
                  </a:solidFill>
                  <a:latin typeface="Consolas"/>
                  <a:ea typeface="Consolas"/>
                  <a:cs typeface="Consolas"/>
                </a:rPr>
                <a:t>2</a:t>
              </a:r>
            </a:p>
          </p:txBody>
        </p:sp>
        <p:sp>
          <p:nvSpPr>
            <p:cNvPr id="32" name="TextBox 32"/>
            <p:cNvSpPr txBox="1"/>
            <p:nvPr/>
          </p:nvSpPr>
          <p:spPr>
            <a:xfrm>
              <a:off x="7582214" y="2368868"/>
              <a:ext cx="113671" cy="264033"/>
            </a:xfrm>
            <a:prstGeom prst="rect">
              <a:avLst/>
            </a:prstGeom>
            <a:noFill/>
            <a:ln>
              <a:noFill/>
            </a:ln>
          </p:spPr>
          <p:txBody>
            <a:bodyPr wrap="none" lIns="0" tIns="0" rIns="0" bIns="0" anchor="t" anchorCtr="0">
              <a:spAutoFit/>
            </a:bodyPr>
            <a:lstStyle/>
            <a:p>
              <a:pPr algn="ctr"/>
              <a:r>
                <a:rPr lang="ko-KR" sz="1350" dirty="0">
                  <a:solidFill>
                    <a:schemeClr val="dk1"/>
                  </a:solidFill>
                  <a:latin typeface="Consolas"/>
                  <a:ea typeface="Consolas"/>
                  <a:cs typeface="Consolas"/>
                </a:rPr>
                <a:t>3</a:t>
              </a:r>
            </a:p>
          </p:txBody>
        </p:sp>
        <p:sp>
          <p:nvSpPr>
            <p:cNvPr id="33" name="TextBox 33"/>
            <p:cNvSpPr txBox="1"/>
            <p:nvPr/>
          </p:nvSpPr>
          <p:spPr>
            <a:xfrm>
              <a:off x="9106214" y="2368868"/>
              <a:ext cx="113671" cy="264033"/>
            </a:xfrm>
            <a:prstGeom prst="rect">
              <a:avLst/>
            </a:prstGeom>
            <a:noFill/>
            <a:ln>
              <a:noFill/>
            </a:ln>
          </p:spPr>
          <p:txBody>
            <a:bodyPr wrap="none" lIns="0" tIns="0" rIns="0" bIns="0" anchor="t" anchorCtr="0">
              <a:spAutoFit/>
            </a:bodyPr>
            <a:lstStyle/>
            <a:p>
              <a:pPr algn="ctr"/>
              <a:r>
                <a:rPr lang="ko-KR" sz="1350" dirty="0">
                  <a:solidFill>
                    <a:schemeClr val="dk1"/>
                  </a:solidFill>
                  <a:latin typeface="Consolas"/>
                  <a:ea typeface="Consolas"/>
                  <a:cs typeface="Consolas"/>
                </a:rPr>
                <a:t>4</a:t>
              </a:r>
            </a:p>
          </p:txBody>
        </p:sp>
        <p:sp>
          <p:nvSpPr>
            <p:cNvPr id="34" name="TextBox 34"/>
            <p:cNvSpPr txBox="1"/>
            <p:nvPr/>
          </p:nvSpPr>
          <p:spPr>
            <a:xfrm>
              <a:off x="10630214" y="2368868"/>
              <a:ext cx="113671" cy="264033"/>
            </a:xfrm>
            <a:prstGeom prst="rect">
              <a:avLst/>
            </a:prstGeom>
            <a:noFill/>
            <a:ln>
              <a:noFill/>
            </a:ln>
          </p:spPr>
          <p:txBody>
            <a:bodyPr wrap="none" lIns="0" tIns="0" rIns="0" bIns="0" anchor="t" anchorCtr="0">
              <a:spAutoFit/>
            </a:bodyPr>
            <a:lstStyle/>
            <a:p>
              <a:pPr algn="ctr"/>
              <a:r>
                <a:rPr lang="ko-KR" sz="1350" dirty="0">
                  <a:solidFill>
                    <a:schemeClr val="dk1"/>
                  </a:solidFill>
                  <a:latin typeface="Consolas"/>
                  <a:ea typeface="Consolas"/>
                  <a:cs typeface="Consolas"/>
                </a:rPr>
                <a:t>5</a:t>
              </a:r>
            </a:p>
          </p:txBody>
        </p:sp>
        <p:sp>
          <p:nvSpPr>
            <p:cNvPr id="35" name="TextBox 35"/>
            <p:cNvSpPr txBox="1"/>
            <p:nvPr/>
          </p:nvSpPr>
          <p:spPr>
            <a:xfrm>
              <a:off x="4318406" y="2804160"/>
              <a:ext cx="545287" cy="234696"/>
            </a:xfrm>
            <a:prstGeom prst="rect">
              <a:avLst/>
            </a:prstGeom>
            <a:noFill/>
            <a:ln>
              <a:noFill/>
            </a:ln>
          </p:spPr>
          <p:txBody>
            <a:bodyPr wrap="none" lIns="0" tIns="0" rIns="0" bIns="0" anchor="t" anchorCtr="0">
              <a:spAutoFit/>
            </a:bodyPr>
            <a:lstStyle/>
            <a:p>
              <a:pPr algn="ctr"/>
              <a:r>
                <a:rPr lang="ko-KR" sz="1200" dirty="0">
                  <a:solidFill>
                    <a:schemeClr val="accent2"/>
                  </a:solidFill>
                  <a:latin typeface="+mn-lt"/>
                  <a:ea typeface="+mn-ea"/>
                  <a:cs typeface="+mn-cs"/>
                </a:rPr>
                <a:t>/start</a:t>
              </a:r>
            </a:p>
          </p:txBody>
        </p:sp>
        <p:sp>
          <p:nvSpPr>
            <p:cNvPr id="36" name="TextBox 36"/>
            <p:cNvSpPr txBox="1"/>
            <p:nvPr/>
          </p:nvSpPr>
          <p:spPr>
            <a:xfrm>
              <a:off x="5439888" y="2804160"/>
              <a:ext cx="1350325" cy="234696"/>
            </a:xfrm>
            <a:prstGeom prst="rect">
              <a:avLst/>
            </a:prstGeom>
            <a:noFill/>
            <a:ln>
              <a:noFill/>
            </a:ln>
          </p:spPr>
          <p:txBody>
            <a:bodyPr wrap="none" lIns="0" tIns="0" rIns="0" bIns="0" anchor="t" anchorCtr="0">
              <a:spAutoFit/>
            </a:bodyPr>
            <a:lstStyle/>
            <a:p>
              <a:pPr algn="ctr"/>
              <a:r>
                <a:rPr lang="ko-KR" sz="1200" dirty="0">
                  <a:solidFill>
                    <a:schemeClr val="accent2"/>
                  </a:solidFill>
                  <a:latin typeface="+mn-lt"/>
                  <a:ea typeface="+mn-ea"/>
                  <a:cs typeface="+mn-cs"/>
                </a:rPr>
                <a:t>PLAN·verify 확인</a:t>
              </a:r>
            </a:p>
          </p:txBody>
        </p:sp>
        <p:sp>
          <p:nvSpPr>
            <p:cNvPr id="37" name="TextBox 37"/>
            <p:cNvSpPr txBox="1"/>
            <p:nvPr/>
          </p:nvSpPr>
          <p:spPr>
            <a:xfrm>
              <a:off x="7237171" y="2804160"/>
              <a:ext cx="803758" cy="234696"/>
            </a:xfrm>
            <a:prstGeom prst="rect">
              <a:avLst/>
            </a:prstGeom>
            <a:noFill/>
            <a:ln>
              <a:noFill/>
            </a:ln>
          </p:spPr>
          <p:txBody>
            <a:bodyPr wrap="none" lIns="0" tIns="0" rIns="0" bIns="0" anchor="t" anchorCtr="0">
              <a:spAutoFit/>
            </a:bodyPr>
            <a:lstStyle/>
            <a:p>
              <a:pPr algn="ctr"/>
              <a:r>
                <a:rPr lang="ko-KR" sz="1200" dirty="0">
                  <a:solidFill>
                    <a:schemeClr val="accent1"/>
                  </a:solidFill>
                  <a:latin typeface="+mn-lt"/>
                  <a:ea typeface="+mn-ea"/>
                  <a:cs typeface="+mn-cs"/>
                </a:rPr>
                <a:t>fw doctor</a:t>
              </a:r>
            </a:p>
          </p:txBody>
        </p:sp>
        <p:sp>
          <p:nvSpPr>
            <p:cNvPr id="38" name="TextBox 38"/>
            <p:cNvSpPr txBox="1"/>
            <p:nvPr/>
          </p:nvSpPr>
          <p:spPr>
            <a:xfrm>
              <a:off x="8894445" y="2804160"/>
              <a:ext cx="537210" cy="234696"/>
            </a:xfrm>
            <a:prstGeom prst="rect">
              <a:avLst/>
            </a:prstGeom>
            <a:noFill/>
            <a:ln>
              <a:noFill/>
            </a:ln>
          </p:spPr>
          <p:txBody>
            <a:bodyPr wrap="none" lIns="0" tIns="0" rIns="0" bIns="0" anchor="t" anchorCtr="0">
              <a:spAutoFit/>
            </a:bodyPr>
            <a:lstStyle/>
            <a:p>
              <a:pPr algn="ctr"/>
              <a:r>
                <a:rPr lang="ko-KR" sz="1200" dirty="0">
                  <a:solidFill>
                    <a:schemeClr val="accent1"/>
                  </a:solidFill>
                  <a:latin typeface="+mn-lt"/>
                  <a:ea typeface="+mn-ea"/>
                  <a:cs typeface="+mn-cs"/>
                </a:rPr>
                <a:t>fw run</a:t>
              </a:r>
            </a:p>
          </p:txBody>
        </p:sp>
        <p:sp>
          <p:nvSpPr>
            <p:cNvPr id="39" name="TextBox 39"/>
            <p:cNvSpPr txBox="1"/>
            <p:nvPr/>
          </p:nvSpPr>
          <p:spPr>
            <a:xfrm>
              <a:off x="10079203" y="2804160"/>
              <a:ext cx="1215695" cy="234696"/>
            </a:xfrm>
            <a:prstGeom prst="rect">
              <a:avLst/>
            </a:prstGeom>
            <a:noFill/>
            <a:ln>
              <a:noFill/>
            </a:ln>
          </p:spPr>
          <p:txBody>
            <a:bodyPr wrap="none" lIns="0" tIns="0" rIns="0" bIns="0" anchor="t" anchorCtr="0">
              <a:spAutoFit/>
            </a:bodyPr>
            <a:lstStyle/>
            <a:p>
              <a:pPr algn="ctr"/>
              <a:r>
                <a:rPr lang="ko-KR" sz="1200" dirty="0">
                  <a:solidFill>
                    <a:schemeClr val="accent1"/>
                  </a:solidFill>
                  <a:latin typeface="+mn-lt"/>
                  <a:ea typeface="+mn-ea"/>
                  <a:cs typeface="+mn-cs"/>
                </a:rPr>
                <a:t>알림 → 아침 루틴</a:t>
              </a:r>
            </a:p>
          </p:txBody>
        </p:sp>
        <p:grpSp>
          <p:nvGrpSpPr>
            <p:cNvPr id="42" name="Group 42"/>
            <p:cNvGrpSpPr/>
            <p:nvPr/>
          </p:nvGrpSpPr>
          <p:grpSpPr>
            <a:xfrm>
              <a:off x="3803904" y="3223260"/>
              <a:ext cx="7386676" cy="444246"/>
              <a:chOff x="3803904" y="3223260"/>
              <a:chExt cx="7386676" cy="444246"/>
            </a:xfrm>
          </p:grpSpPr>
          <p:sp>
            <p:nvSpPr>
              <p:cNvPr id="40" name="TextBox 40"/>
              <p:cNvSpPr txBox="1"/>
              <p:nvPr/>
            </p:nvSpPr>
            <p:spPr>
              <a:xfrm>
                <a:off x="3803904" y="3223260"/>
                <a:ext cx="5801373" cy="234696"/>
              </a:xfrm>
              <a:prstGeom prst="rect">
                <a:avLst/>
              </a:prstGeom>
              <a:noFill/>
              <a:ln>
                <a:noFill/>
              </a:ln>
            </p:spPr>
            <p:txBody>
              <a:bodyPr wrap="none" lIns="0" tIns="0" rIns="0" bIns="0" anchor="t" anchorCtr="0">
                <a:spAutoFit/>
              </a:bodyPr>
              <a:lstStyle/>
              <a:p>
                <a:pPr algn="l"/>
                <a:r>
                  <a:rPr lang="ko-KR" sz="1200" b="1" dirty="0">
                    <a:solidFill>
                      <a:schemeClr val="accent2"/>
                    </a:solidFill>
                    <a:latin typeface="+mn-lt"/>
                    <a:ea typeface="+mn-ea"/>
                    <a:cs typeface="+mn-cs"/>
                  </a:rPr>
                  <a:t>①</a:t>
                </a:r>
                <a:r>
                  <a:rPr lang="ko-KR" sz="1200" dirty="0">
                    <a:solidFill>
                      <a:schemeClr val="dk1"/>
                    </a:solidFill>
                    <a:latin typeface="+mn-lt"/>
                    <a:ea typeface="+mn-ea"/>
                    <a:cs typeface="+mn-cs"/>
                  </a:rPr>
                  <a:t xml:space="preserve"> 대상 리포의 Claude Code 에서 </a:t>
                </a:r>
                <a:r>
                  <a:rPr lang="ko-KR" sz="1200" dirty="0">
                    <a:solidFill>
                      <a:schemeClr val="accent2"/>
                    </a:solidFill>
                    <a:latin typeface="Consolas"/>
                    <a:ea typeface="Consolas"/>
                    <a:cs typeface="Consolas"/>
                  </a:rPr>
                  <a:t>/feature-workflow:start order-migration</a:t>
                </a:r>
              </a:p>
            </p:txBody>
          </p:sp>
          <p:sp>
            <p:nvSpPr>
              <p:cNvPr id="41" name="TextBox 41"/>
              <p:cNvSpPr txBox="1"/>
              <p:nvPr/>
            </p:nvSpPr>
            <p:spPr>
              <a:xfrm>
                <a:off x="3803904" y="3432810"/>
                <a:ext cx="7386676" cy="234696"/>
              </a:xfrm>
              <a:prstGeom prst="rect">
                <a:avLst/>
              </a:prstGeom>
              <a:noFill/>
              <a:ln>
                <a:noFill/>
              </a:ln>
            </p:spPr>
            <p:txBody>
              <a:bodyPr wrap="none" lIns="0" tIns="0" rIns="0" bIns="0" anchor="t" anchorCtr="0">
                <a:spAutoFit/>
              </a:bodyPr>
              <a:lstStyle/>
              <a:p>
                <a:pPr algn="l"/>
                <a:r>
                  <a:rPr lang="ko-KR" sz="1200" dirty="0">
                    <a:solidFill>
                      <a:schemeClr val="accent5"/>
                    </a:solidFill>
                    <a:latin typeface="+mn-lt"/>
                    <a:ea typeface="+mn-ea"/>
                    <a:cs typeface="+mn-cs"/>
                  </a:rPr>
                  <a:t>브랜치 위치(새 분기·현재·자동 격리) · 목표 한 문장 · 모호점 · 검증 명령을 추천 답안과 함께 묻는다</a:t>
                </a:r>
              </a:p>
            </p:txBody>
          </p:sp>
        </p:grpSp>
        <p:grpSp>
          <p:nvGrpSpPr>
            <p:cNvPr id="45" name="Group 45"/>
            <p:cNvGrpSpPr/>
            <p:nvPr/>
          </p:nvGrpSpPr>
          <p:grpSpPr>
            <a:xfrm>
              <a:off x="3803904" y="3794760"/>
              <a:ext cx="7578875" cy="444246"/>
              <a:chOff x="3803904" y="3794760"/>
              <a:chExt cx="7578875" cy="444246"/>
            </a:xfrm>
          </p:grpSpPr>
          <p:sp>
            <p:nvSpPr>
              <p:cNvPr id="43" name="TextBox 43"/>
              <p:cNvSpPr txBox="1"/>
              <p:nvPr/>
            </p:nvSpPr>
            <p:spPr>
              <a:xfrm>
                <a:off x="3803904" y="3794760"/>
                <a:ext cx="7578875" cy="234696"/>
              </a:xfrm>
              <a:prstGeom prst="rect">
                <a:avLst/>
              </a:prstGeom>
              <a:noFill/>
              <a:ln>
                <a:noFill/>
              </a:ln>
            </p:spPr>
            <p:txBody>
              <a:bodyPr wrap="none" lIns="0" tIns="0" rIns="0" bIns="0" anchor="t" anchorCtr="0">
                <a:spAutoFit/>
              </a:bodyPr>
              <a:lstStyle/>
              <a:p>
                <a:pPr algn="l"/>
                <a:r>
                  <a:rPr lang="ko-KR" sz="1200" b="1" dirty="0">
                    <a:solidFill>
                      <a:schemeClr val="accent2"/>
                    </a:solidFill>
                    <a:latin typeface="+mn-lt"/>
                    <a:ea typeface="+mn-ea"/>
                    <a:cs typeface="+mn-cs"/>
                  </a:rPr>
                  <a:t>②</a:t>
                </a:r>
                <a:r>
                  <a:rPr lang="ko-KR" sz="1200" dirty="0">
                    <a:solidFill>
                      <a:schemeClr val="dk1"/>
                    </a:solidFill>
                    <a:latin typeface="+mn-lt"/>
                    <a:ea typeface="+mn-ea"/>
                    <a:cs typeface="+mn-cs"/>
                  </a:rPr>
                  <a:t xml:space="preserve"> </a:t>
                </a:r>
                <a:r>
                  <a:rPr lang="ko-KR" sz="1200" dirty="0">
                    <a:solidFill>
                      <a:schemeClr val="dk1"/>
                    </a:solidFill>
                    <a:latin typeface="Consolas"/>
                    <a:ea typeface="Consolas"/>
                    <a:cs typeface="Consolas"/>
                  </a:rPr>
                  <a:t>docs/order-migration/PLAN.md</a:t>
                </a:r>
                <a:r>
                  <a:rPr lang="ko-KR" sz="1200" dirty="0">
                    <a:solidFill>
                      <a:schemeClr val="dk1"/>
                    </a:solidFill>
                    <a:latin typeface="+mn-lt"/>
                    <a:ea typeface="+mn-ea"/>
                    <a:cs typeface="+mn-cs"/>
                  </a:rPr>
                  <a:t xml:space="preserve"> 검토 · STATE </a:t>
                </a:r>
                <a:r>
                  <a:rPr lang="ko-KR" sz="1200" dirty="0">
                    <a:solidFill>
                      <a:schemeClr val="dk1"/>
                    </a:solidFill>
                    <a:latin typeface="Consolas"/>
                    <a:ea typeface="Consolas"/>
                    <a:cs typeface="Consolas"/>
                  </a:rPr>
                  <a:t>verify_default</a:t>
                </a:r>
                <a:r>
                  <a:rPr lang="ko-KR" sz="1200" dirty="0">
                    <a:solidFill>
                      <a:schemeClr val="dk1"/>
                    </a:solidFill>
                    <a:latin typeface="+mn-lt"/>
                    <a:ea typeface="+mn-ea"/>
                    <a:cs typeface="+mn-cs"/>
                  </a:rPr>
                  <a:t xml:space="preserve"> 가 실패 시 non-zero exit 인지 확인</a:t>
                </a:r>
              </a:p>
            </p:txBody>
          </p:sp>
          <p:sp>
            <p:nvSpPr>
              <p:cNvPr id="44" name="TextBox 44"/>
              <p:cNvSpPr txBox="1"/>
              <p:nvPr/>
            </p:nvSpPr>
            <p:spPr>
              <a:xfrm>
                <a:off x="3803904" y="4004310"/>
                <a:ext cx="6377026" cy="234696"/>
              </a:xfrm>
              <a:prstGeom prst="rect">
                <a:avLst/>
              </a:prstGeom>
              <a:noFill/>
              <a:ln>
                <a:noFill/>
              </a:ln>
            </p:spPr>
            <p:txBody>
              <a:bodyPr wrap="none" lIns="0" tIns="0" rIns="0" bIns="0" anchor="t" anchorCtr="0">
                <a:spAutoFit/>
              </a:bodyPr>
              <a:lstStyle/>
              <a:p>
                <a:pPr algn="l"/>
                <a:r>
                  <a:rPr lang="ko-KR" sz="1200" dirty="0">
                    <a:solidFill>
                      <a:schemeClr val="accent2"/>
                    </a:solidFill>
                    <a:latin typeface="+mn-lt"/>
                    <a:ea typeface="+mn-ea"/>
                    <a:cs typeface="+mn-cs"/>
                  </a:rPr>
                  <a:t xml:space="preserve">⚠ </a:t>
                </a:r>
                <a:r>
                  <a:rPr lang="ko-KR" sz="1200" dirty="0">
                    <a:solidFill>
                      <a:schemeClr val="accent2"/>
                    </a:solidFill>
                    <a:latin typeface="Consolas"/>
                    <a:ea typeface="Consolas"/>
                    <a:cs typeface="Consolas"/>
                  </a:rPr>
                  <a:t>npm test || true</a:t>
                </a:r>
                <a:r>
                  <a:rPr lang="ko-KR" sz="1200" dirty="0">
                    <a:solidFill>
                      <a:schemeClr val="accent2"/>
                    </a:solidFill>
                    <a:latin typeface="+mn-lt"/>
                    <a:ea typeface="+mn-ea"/>
                    <a:cs typeface="+mn-cs"/>
                  </a:rPr>
                  <a:t xml:space="preserve"> · </a:t>
                </a:r>
                <a:r>
                  <a:rPr lang="ko-KR" sz="1200" dirty="0">
                    <a:solidFill>
                      <a:schemeClr val="accent2"/>
                    </a:solidFill>
                    <a:latin typeface="Consolas"/>
                    <a:ea typeface="Consolas"/>
                    <a:cs typeface="Consolas"/>
                  </a:rPr>
                  <a:t>echo ok</a:t>
                </a:r>
                <a:r>
                  <a:rPr lang="ko-KR" sz="1200" dirty="0">
                    <a:solidFill>
                      <a:schemeClr val="accent2"/>
                    </a:solidFill>
                    <a:latin typeface="+mn-lt"/>
                    <a:ea typeface="+mn-ea"/>
                    <a:cs typeface="+mn-cs"/>
                  </a:rPr>
                  <a:t xml:space="preserve"> · </a:t>
                </a:r>
                <a:r>
                  <a:rPr lang="ko-KR" sz="1200" dirty="0">
                    <a:solidFill>
                      <a:schemeClr val="accent2"/>
                    </a:solidFill>
                    <a:latin typeface="Consolas"/>
                    <a:ea typeface="Consolas"/>
                    <a:cs typeface="Consolas"/>
                  </a:rPr>
                  <a:t>| tee</a:t>
                </a:r>
                <a:r>
                  <a:rPr lang="ko-KR" sz="1200" dirty="0">
                    <a:solidFill>
                      <a:schemeClr val="accent2"/>
                    </a:solidFill>
                    <a:latin typeface="+mn-lt"/>
                    <a:ea typeface="+mn-ea"/>
                    <a:cs typeface="+mn-cs"/>
                  </a:rPr>
                  <a:t xml:space="preserve"> 는 fw run 시작 자체가 거부된다 — 게이트 무력화</a:t>
                </a:r>
              </a:p>
            </p:txBody>
          </p:sp>
        </p:grpSp>
        <p:grpSp>
          <p:nvGrpSpPr>
            <p:cNvPr id="48" name="Group 48"/>
            <p:cNvGrpSpPr/>
            <p:nvPr/>
          </p:nvGrpSpPr>
          <p:grpSpPr>
            <a:xfrm>
              <a:off x="3803904" y="4366260"/>
              <a:ext cx="6039649" cy="444246"/>
              <a:chOff x="3803904" y="4366260"/>
              <a:chExt cx="6039649" cy="444246"/>
            </a:xfrm>
          </p:grpSpPr>
          <p:sp>
            <p:nvSpPr>
              <p:cNvPr id="46" name="TextBox 46"/>
              <p:cNvSpPr txBox="1"/>
              <p:nvPr/>
            </p:nvSpPr>
            <p:spPr>
              <a:xfrm>
                <a:off x="3803904" y="4366260"/>
                <a:ext cx="6039649" cy="234696"/>
              </a:xfrm>
              <a:prstGeom prst="rect">
                <a:avLst/>
              </a:prstGeom>
              <a:noFill/>
              <a:ln>
                <a:noFill/>
              </a:ln>
            </p:spPr>
            <p:txBody>
              <a:bodyPr wrap="none" lIns="0" tIns="0" rIns="0" bIns="0" anchor="t" anchorCtr="0">
                <a:spAutoFit/>
              </a:bodyPr>
              <a:lstStyle/>
              <a:p>
                <a:pPr algn="l"/>
                <a:r>
                  <a:rPr lang="ko-KR" sz="1200" b="1" dirty="0">
                    <a:solidFill>
                      <a:schemeClr val="accent1"/>
                    </a:solidFill>
                    <a:latin typeface="+mn-lt"/>
                    <a:ea typeface="+mn-ea"/>
                    <a:cs typeface="+mn-cs"/>
                  </a:rPr>
                  <a:t>③</a:t>
                </a:r>
                <a:r>
                  <a:rPr lang="ko-KR" sz="1200" dirty="0">
                    <a:solidFill>
                      <a:schemeClr val="dk1"/>
                    </a:solidFill>
                    <a:latin typeface="+mn-lt"/>
                    <a:ea typeface="+mn-ea"/>
                    <a:cs typeface="+mn-cs"/>
                  </a:rPr>
                  <a:t xml:space="preserve"> </a:t>
                </a:r>
                <a:r>
                  <a:rPr lang="ko-KR" sz="1200" dirty="0">
                    <a:solidFill>
                      <a:schemeClr val="accent1"/>
                    </a:solidFill>
                    <a:latin typeface="Consolas"/>
                    <a:ea typeface="Consolas"/>
                    <a:cs typeface="Consolas"/>
                  </a:rPr>
                  <a:t>fw doctor order-migration</a:t>
                </a:r>
                <a:r>
                  <a:rPr lang="ko-KR" sz="1200" dirty="0">
                    <a:solidFill>
                      <a:schemeClr val="dk1"/>
                    </a:solidFill>
                    <a:latin typeface="+mn-lt"/>
                    <a:ea typeface="+mn-ea"/>
                    <a:cs typeface="+mn-cs"/>
                  </a:rPr>
                  <a:t xml:space="preserve"> — verify 실측 1회 + 프리플라이트 + STATE 불변식</a:t>
                </a:r>
              </a:p>
            </p:txBody>
          </p:sp>
          <p:sp>
            <p:nvSpPr>
              <p:cNvPr id="47" name="TextBox 47"/>
              <p:cNvSpPr txBox="1"/>
              <p:nvPr/>
            </p:nvSpPr>
            <p:spPr>
              <a:xfrm>
                <a:off x="3803904" y="4575810"/>
                <a:ext cx="4341571" cy="234696"/>
              </a:xfrm>
              <a:prstGeom prst="rect">
                <a:avLst/>
              </a:prstGeom>
              <a:noFill/>
              <a:ln>
                <a:noFill/>
              </a:ln>
            </p:spPr>
            <p:txBody>
              <a:bodyPr wrap="none" lIns="0" tIns="0" rIns="0" bIns="0" anchor="t" anchorCtr="0">
                <a:spAutoFit/>
              </a:bodyPr>
              <a:lstStyle/>
              <a:p>
                <a:pPr algn="l"/>
                <a:r>
                  <a:rPr lang="ko-KR" sz="1200" dirty="0">
                    <a:solidFill>
                      <a:schemeClr val="accent5"/>
                    </a:solidFill>
                    <a:latin typeface="+mn-lt"/>
                    <a:ea typeface="+mn-ea"/>
                    <a:cs typeface="+mn-cs"/>
                  </a:rPr>
                  <a:t xml:space="preserve">빌드 캐시 같은 부작용이 싫으면 </a:t>
                </a:r>
                <a:r>
                  <a:rPr lang="ko-KR" sz="1200" dirty="0">
                    <a:solidFill>
                      <a:schemeClr val="accent5"/>
                    </a:solidFill>
                    <a:latin typeface="Consolas"/>
                    <a:ea typeface="Consolas"/>
                    <a:cs typeface="Consolas"/>
                  </a:rPr>
                  <a:t>--no-run</a:t>
                </a:r>
                <a:r>
                  <a:rPr lang="ko-KR" sz="1200" dirty="0">
                    <a:solidFill>
                      <a:schemeClr val="accent5"/>
                    </a:solidFill>
                    <a:latin typeface="+mn-lt"/>
                    <a:ea typeface="+mn-ea"/>
                    <a:cs typeface="+mn-cs"/>
                  </a:rPr>
                  <a:t xml:space="preserve"> 으로 정적 검사만</a:t>
                </a:r>
              </a:p>
            </p:txBody>
          </p:sp>
        </p:grpSp>
        <p:grpSp>
          <p:nvGrpSpPr>
            <p:cNvPr id="51" name="Group 51"/>
            <p:cNvGrpSpPr/>
            <p:nvPr/>
          </p:nvGrpSpPr>
          <p:grpSpPr>
            <a:xfrm>
              <a:off x="3803904" y="4937760"/>
              <a:ext cx="7483602" cy="444246"/>
              <a:chOff x="3803904" y="4937760"/>
              <a:chExt cx="7483602" cy="444246"/>
            </a:xfrm>
          </p:grpSpPr>
          <p:sp>
            <p:nvSpPr>
              <p:cNvPr id="49" name="TextBox 49"/>
              <p:cNvSpPr txBox="1"/>
              <p:nvPr/>
            </p:nvSpPr>
            <p:spPr>
              <a:xfrm>
                <a:off x="3803904" y="4937760"/>
                <a:ext cx="3917922" cy="234696"/>
              </a:xfrm>
              <a:prstGeom prst="rect">
                <a:avLst/>
              </a:prstGeom>
              <a:noFill/>
              <a:ln>
                <a:noFill/>
              </a:ln>
            </p:spPr>
            <p:txBody>
              <a:bodyPr wrap="none" lIns="0" tIns="0" rIns="0" bIns="0" anchor="t" anchorCtr="0">
                <a:spAutoFit/>
              </a:bodyPr>
              <a:lstStyle/>
              <a:p>
                <a:pPr algn="l"/>
                <a:r>
                  <a:rPr lang="ko-KR" sz="1200" b="1" dirty="0">
                    <a:solidFill>
                      <a:schemeClr val="accent1"/>
                    </a:solidFill>
                    <a:latin typeface="+mn-lt"/>
                    <a:ea typeface="+mn-ea"/>
                    <a:cs typeface="+mn-cs"/>
                  </a:rPr>
                  <a:t>④</a:t>
                </a:r>
                <a:r>
                  <a:rPr lang="ko-KR" sz="1200" dirty="0">
                    <a:solidFill>
                      <a:schemeClr val="dk1"/>
                    </a:solidFill>
                    <a:latin typeface="+mn-lt"/>
                    <a:ea typeface="+mn-ea"/>
                    <a:cs typeface="+mn-cs"/>
                  </a:rPr>
                  <a:t xml:space="preserve"> </a:t>
                </a:r>
                <a:r>
                  <a:rPr lang="ko-KR" sz="1200" dirty="0">
                    <a:solidFill>
                      <a:schemeClr val="accent1"/>
                    </a:solidFill>
                    <a:latin typeface="Consolas"/>
                    <a:ea typeface="Consolas"/>
                    <a:cs typeface="Consolas"/>
                  </a:rPr>
                  <a:t>fw run order-migration</a:t>
                </a:r>
                <a:r>
                  <a:rPr lang="ko-KR" sz="1200" dirty="0">
                    <a:solidFill>
                      <a:schemeClr val="dk1"/>
                    </a:solidFill>
                    <a:latin typeface="+mn-lt"/>
                    <a:ea typeface="+mn-ea"/>
                    <a:cs typeface="+mn-cs"/>
                  </a:rPr>
                  <a:t xml:space="preserve"> — docs/ 접두는 생략 가능</a:t>
                </a:r>
              </a:p>
            </p:txBody>
          </p:sp>
          <p:sp>
            <p:nvSpPr>
              <p:cNvPr id="50" name="TextBox 50"/>
              <p:cNvSpPr txBox="1"/>
              <p:nvPr/>
            </p:nvSpPr>
            <p:spPr>
              <a:xfrm>
                <a:off x="3803904" y="5147310"/>
                <a:ext cx="7483602" cy="234696"/>
              </a:xfrm>
              <a:prstGeom prst="rect">
                <a:avLst/>
              </a:prstGeom>
              <a:noFill/>
              <a:ln>
                <a:noFill/>
              </a:ln>
            </p:spPr>
            <p:txBody>
              <a:bodyPr wrap="none" lIns="0" tIns="0" rIns="0" bIns="0" anchor="t" anchorCtr="0">
                <a:spAutoFit/>
              </a:bodyPr>
              <a:lstStyle/>
              <a:p>
                <a:pPr algn="l"/>
                <a:r>
                  <a:rPr lang="ko-KR" sz="1200" dirty="0">
                    <a:solidFill>
                      <a:schemeClr val="accent5"/>
                    </a:solidFill>
                    <a:latin typeface="+mn-lt"/>
                    <a:ea typeface="+mn-ea"/>
                    <a:cs typeface="+mn-cs"/>
                  </a:rPr>
                  <a:t xml:space="preserve">기본 브랜치 위면 </a:t>
                </a:r>
                <a:r>
                  <a:rPr lang="ko-KR" sz="1200" dirty="0">
                    <a:solidFill>
                      <a:schemeClr val="accent5"/>
                    </a:solidFill>
                    <a:latin typeface="Consolas"/>
                    <a:ea typeface="Consolas"/>
                    <a:cs typeface="Consolas"/>
                  </a:rPr>
                  <a:t>feature/order-migration</a:t>
                </a:r>
                <a:r>
                  <a:rPr lang="ko-KR" sz="1200" dirty="0">
                    <a:solidFill>
                      <a:schemeClr val="accent5"/>
                    </a:solidFill>
                    <a:latin typeface="+mn-lt"/>
                    <a:ea typeface="+mn-ea"/>
                    <a:cs typeface="+mn-cs"/>
                  </a:rPr>
                  <a:t xml:space="preserve"> 을 자동 격리해 그 위에서 커밋 — main 은 건드리지 않는다</a:t>
                </a:r>
              </a:p>
            </p:txBody>
          </p:sp>
        </p:grpSp>
        <p:grpSp>
          <p:nvGrpSpPr>
            <p:cNvPr id="54" name="Group 54"/>
            <p:cNvGrpSpPr/>
            <p:nvPr/>
          </p:nvGrpSpPr>
          <p:grpSpPr>
            <a:xfrm>
              <a:off x="3803904" y="5509260"/>
              <a:ext cx="5935066" cy="444246"/>
              <a:chOff x="3803904" y="5509260"/>
              <a:chExt cx="5935066" cy="444246"/>
            </a:xfrm>
          </p:grpSpPr>
          <p:sp>
            <p:nvSpPr>
              <p:cNvPr id="52" name="TextBox 52"/>
              <p:cNvSpPr txBox="1"/>
              <p:nvPr/>
            </p:nvSpPr>
            <p:spPr>
              <a:xfrm>
                <a:off x="3803904" y="5509260"/>
                <a:ext cx="5894598" cy="234696"/>
              </a:xfrm>
              <a:prstGeom prst="rect">
                <a:avLst/>
              </a:prstGeom>
              <a:noFill/>
              <a:ln>
                <a:noFill/>
              </a:ln>
            </p:spPr>
            <p:txBody>
              <a:bodyPr wrap="none" lIns="0" tIns="0" rIns="0" bIns="0" anchor="t" anchorCtr="0">
                <a:spAutoFit/>
              </a:bodyPr>
              <a:lstStyle/>
              <a:p>
                <a:pPr algn="l"/>
                <a:r>
                  <a:rPr lang="ko-KR" sz="1200" b="1" dirty="0">
                    <a:solidFill>
                      <a:schemeClr val="accent1"/>
                    </a:solidFill>
                    <a:latin typeface="+mn-lt"/>
                    <a:ea typeface="+mn-ea"/>
                    <a:cs typeface="+mn-cs"/>
                  </a:rPr>
                  <a:t>⑤</a:t>
                </a:r>
                <a:r>
                  <a:rPr lang="ko-KR" sz="1200" dirty="0">
                    <a:solidFill>
                      <a:schemeClr val="dk1"/>
                    </a:solidFill>
                    <a:latin typeface="+mn-lt"/>
                    <a:ea typeface="+mn-ea"/>
                    <a:cs typeface="+mn-cs"/>
                  </a:rPr>
                  <a:t xml:space="preserve"> 알림(완료 ✅ · BLOCKED · FAILED · 승인됨 · halted) → 아침 루틴은 다음 장</a:t>
                </a:r>
              </a:p>
            </p:txBody>
          </p:sp>
          <p:sp>
            <p:nvSpPr>
              <p:cNvPr id="53" name="TextBox 53"/>
              <p:cNvSpPr txBox="1"/>
              <p:nvPr/>
            </p:nvSpPr>
            <p:spPr>
              <a:xfrm>
                <a:off x="3803904" y="5718810"/>
                <a:ext cx="5935066" cy="234696"/>
              </a:xfrm>
              <a:prstGeom prst="rect">
                <a:avLst/>
              </a:prstGeom>
              <a:noFill/>
              <a:ln>
                <a:noFill/>
              </a:ln>
            </p:spPr>
            <p:txBody>
              <a:bodyPr wrap="none" lIns="0" tIns="0" rIns="0" bIns="0" anchor="t" anchorCtr="0">
                <a:spAutoFit/>
              </a:bodyPr>
              <a:lstStyle/>
              <a:p>
                <a:pPr algn="l"/>
                <a:r>
                  <a:rPr lang="ko-KR" sz="1200" dirty="0">
                    <a:solidFill>
                      <a:schemeClr val="accent5"/>
                    </a:solidFill>
                    <a:latin typeface="+mn-lt"/>
                    <a:ea typeface="+mn-ea"/>
                    <a:cs typeface="+mn-cs"/>
                  </a:rPr>
                  <a:t>사람이 옆에 있고 목표가 선명할 때 어울리는 경로 — 계획이 없으면 시나리오 B</a:t>
                </a:r>
              </a:p>
            </p:txBody>
          </p:sp>
        </p:grpSp>
      </p:grpSp>
      <p:grpSp>
        <p:nvGrpSpPr>
          <p:cNvPr id="58" name="Group 58"/>
          <p:cNvGrpSpPr/>
          <p:nvPr/>
        </p:nvGrpSpPr>
        <p:grpSpPr>
          <a:xfrm>
            <a:off x="604266" y="6516052"/>
            <a:ext cx="10983468" cy="205359"/>
            <a:chOff x="604266" y="6516052"/>
            <a:chExt cx="10983468" cy="205359"/>
          </a:xfrm>
        </p:grpSpPr>
        <p:sp>
          <p:nvSpPr>
            <p:cNvPr id="56" name="TextBox 56"/>
            <p:cNvSpPr txBox="1"/>
            <p:nvPr/>
          </p:nvSpPr>
          <p:spPr>
            <a:xfrm>
              <a:off x="604266" y="6516052"/>
              <a:ext cx="4788785"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feature-workflow · plugins/feature-workflow/README.md §7.1–7.2</a:t>
              </a:r>
            </a:p>
          </p:txBody>
        </p:sp>
        <p:sp>
          <p:nvSpPr>
            <p:cNvPr id="57" name="TextBox 57"/>
            <p:cNvSpPr txBox="1"/>
            <p:nvPr/>
          </p:nvSpPr>
          <p:spPr>
            <a:xfrm>
              <a:off x="11103540" y="65160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14 / 19</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609600" y="1905000"/>
            <a:ext cx="10972800" cy="2857500"/>
          </a:xfrm>
          <a:custGeom>
            <a:avLst/>
            <a:gdLst/>
            <a:ahLst/>
            <a:cxnLst/>
            <a:rect l="l" t="t" r="r" b="b"/>
            <a:pathLst>
              <a:path w="10972800" h="2857500">
                <a:moveTo>
                  <a:pt x="152400" y="0"/>
                </a:moveTo>
                <a:lnTo>
                  <a:pt x="152400" y="2857500"/>
                </a:lnTo>
                <a:moveTo>
                  <a:pt x="914400" y="0"/>
                </a:moveTo>
                <a:lnTo>
                  <a:pt x="914400" y="2857500"/>
                </a:lnTo>
                <a:moveTo>
                  <a:pt x="1676400" y="0"/>
                </a:moveTo>
                <a:lnTo>
                  <a:pt x="1676400" y="2857500"/>
                </a:lnTo>
                <a:moveTo>
                  <a:pt x="2438400" y="0"/>
                </a:moveTo>
                <a:lnTo>
                  <a:pt x="2438400" y="2857500"/>
                </a:lnTo>
                <a:moveTo>
                  <a:pt x="3200400" y="0"/>
                </a:moveTo>
                <a:lnTo>
                  <a:pt x="3200400" y="2857500"/>
                </a:lnTo>
                <a:moveTo>
                  <a:pt x="3962400" y="0"/>
                </a:moveTo>
                <a:lnTo>
                  <a:pt x="3962400" y="2857500"/>
                </a:lnTo>
                <a:moveTo>
                  <a:pt x="4724400" y="0"/>
                </a:moveTo>
                <a:lnTo>
                  <a:pt x="4724400" y="2857500"/>
                </a:lnTo>
                <a:moveTo>
                  <a:pt x="5486400" y="0"/>
                </a:moveTo>
                <a:lnTo>
                  <a:pt x="5486400" y="2857500"/>
                </a:lnTo>
                <a:moveTo>
                  <a:pt x="6248400" y="0"/>
                </a:moveTo>
                <a:lnTo>
                  <a:pt x="6248400" y="2857500"/>
                </a:lnTo>
                <a:moveTo>
                  <a:pt x="7010400" y="0"/>
                </a:moveTo>
                <a:lnTo>
                  <a:pt x="7010400" y="2857500"/>
                </a:lnTo>
                <a:moveTo>
                  <a:pt x="7772400" y="0"/>
                </a:moveTo>
                <a:lnTo>
                  <a:pt x="7772400" y="2857500"/>
                </a:lnTo>
                <a:moveTo>
                  <a:pt x="8534400" y="0"/>
                </a:moveTo>
                <a:lnTo>
                  <a:pt x="8534400" y="2857500"/>
                </a:lnTo>
                <a:moveTo>
                  <a:pt x="9296400" y="0"/>
                </a:moveTo>
                <a:lnTo>
                  <a:pt x="9296400" y="2857500"/>
                </a:lnTo>
                <a:moveTo>
                  <a:pt x="10058400" y="0"/>
                </a:moveTo>
                <a:lnTo>
                  <a:pt x="10058400" y="2857500"/>
                </a:lnTo>
                <a:moveTo>
                  <a:pt x="10820400" y="0"/>
                </a:moveTo>
                <a:lnTo>
                  <a:pt x="10820400" y="2857500"/>
                </a:lnTo>
                <a:moveTo>
                  <a:pt x="0" y="381000"/>
                </a:moveTo>
                <a:lnTo>
                  <a:pt x="10972800" y="381000"/>
                </a:lnTo>
                <a:moveTo>
                  <a:pt x="0" y="1143000"/>
                </a:moveTo>
                <a:lnTo>
                  <a:pt x="10972800" y="1143000"/>
                </a:lnTo>
                <a:moveTo>
                  <a:pt x="0" y="1905000"/>
                </a:moveTo>
                <a:lnTo>
                  <a:pt x="10972800" y="1905000"/>
                </a:lnTo>
                <a:moveTo>
                  <a:pt x="0" y="2667000"/>
                </a:moveTo>
                <a:lnTo>
                  <a:pt x="10972800" y="2667000"/>
                </a:lnTo>
              </a:path>
            </a:pathLst>
          </a:custGeom>
          <a:noFill/>
          <a:ln w="9525">
            <a:solidFill>
              <a:srgbClr val="1B2740"/>
            </a:solidFill>
          </a:ln>
        </p:spPr>
      </p:sp>
      <p:grpSp>
        <p:nvGrpSpPr>
          <p:cNvPr id="4" name="Group 4"/>
          <p:cNvGrpSpPr/>
          <p:nvPr/>
        </p:nvGrpSpPr>
        <p:grpSpPr>
          <a:xfrm>
            <a:off x="601980" y="428625"/>
            <a:ext cx="3162300" cy="293370"/>
            <a:chOff x="601980" y="428625"/>
            <a:chExt cx="3162300" cy="293370"/>
          </a:xfrm>
        </p:grpSpPr>
        <p:sp>
          <p:nvSpPr>
            <p:cNvPr id="3" name="TextBox 3"/>
            <p:cNvSpPr txBox="1"/>
            <p:nvPr/>
          </p:nvSpPr>
          <p:spPr>
            <a:xfrm>
              <a:off x="601980" y="428625"/>
              <a:ext cx="3162300" cy="293370"/>
            </a:xfrm>
            <a:prstGeom prst="rect">
              <a:avLst/>
            </a:prstGeom>
            <a:noFill/>
            <a:ln>
              <a:noFill/>
            </a:ln>
          </p:spPr>
          <p:txBody>
            <a:bodyPr wrap="none" lIns="0" tIns="0" rIns="0" bIns="0" anchor="t" anchorCtr="0">
              <a:spAutoFit/>
            </a:bodyPr>
            <a:lstStyle/>
            <a:p>
              <a:pPr algn="l"/>
              <a:r>
                <a:rPr lang="ko-KR" sz="1500" spc="150" dirty="0">
                  <a:solidFill>
                    <a:schemeClr val="accent5"/>
                  </a:solidFill>
                  <a:latin typeface="Consolas"/>
                  <a:ea typeface="Microsoft YaHei"/>
                  <a:cs typeface="Consolas"/>
                </a:rPr>
                <a:t>PART 03 · 실습 — 시나리오 B</a:t>
              </a:r>
            </a:p>
          </p:txBody>
        </p:sp>
      </p:grpSp>
      <p:grpSp>
        <p:nvGrpSpPr>
          <p:cNvPr id="6" name="Group 6"/>
          <p:cNvGrpSpPr/>
          <p:nvPr/>
        </p:nvGrpSpPr>
        <p:grpSpPr>
          <a:xfrm>
            <a:off x="593598" y="822008"/>
            <a:ext cx="6662833" cy="1111377"/>
            <a:chOff x="593598" y="822008"/>
            <a:chExt cx="6662833" cy="1111377"/>
          </a:xfrm>
        </p:grpSpPr>
        <p:sp>
          <p:nvSpPr>
            <p:cNvPr id="5" name="TextBox 5"/>
            <p:cNvSpPr txBox="1"/>
            <p:nvPr/>
          </p:nvSpPr>
          <p:spPr>
            <a:xfrm>
              <a:off x="593598" y="822008"/>
              <a:ext cx="6662833" cy="1111377"/>
            </a:xfrm>
            <a:prstGeom prst="rect">
              <a:avLst/>
            </a:prstGeom>
            <a:noFill/>
            <a:ln>
              <a:noFill/>
            </a:ln>
          </p:spPr>
          <p:txBody>
            <a:bodyPr wrap="none" lIns="0" tIns="0" rIns="0" bIns="0" anchor="t" anchorCtr="0">
              <a:spAutoFit/>
            </a:bodyPr>
            <a:lstStyle/>
            <a:p>
              <a:pPr algn="l">
                <a:lnSpc>
                  <a:spcPts val="3900"/>
                </a:lnSpc>
              </a:pPr>
              <a:r>
                <a:rPr lang="ko-KR" sz="3150" b="1" dirty="0">
                  <a:solidFill>
                    <a:schemeClr val="dk1"/>
                  </a:solidFill>
                  <a:latin typeface="+mn-lt"/>
                  <a:ea typeface="+mn-ea"/>
                  <a:cs typeface="+mn-cs"/>
                </a:rPr>
                <a:t>시나리오 B — 계획이 없으면</a:t>
              </a:r>
              <a:br/>
              <a:r>
                <a:rPr lang="ko-KR" sz="3150" b="1" dirty="0">
                  <a:solidFill>
                    <a:schemeClr val="accent1"/>
                  </a:solidFill>
                  <a:latin typeface="+mn-lt"/>
                  <a:ea typeface="+mn-ea"/>
                  <a:cs typeface="+mn-cs"/>
                </a:rPr>
                <a:t>세 고수에게 캐묻게</a:t>
              </a:r>
              <a:r>
                <a:rPr lang="ko-KR" sz="3150" b="1" dirty="0">
                  <a:solidFill>
                    <a:schemeClr val="dk1"/>
                  </a:solidFill>
                  <a:latin typeface="+mn-lt"/>
                  <a:ea typeface="+mn-ea"/>
                  <a:cs typeface="+mn-cs"/>
                </a:rPr>
                <a:t xml:space="preserve"> 하고 </a:t>
              </a:r>
              <a:r>
                <a:rPr lang="ko-KR" sz="3150" b="1" dirty="0">
                  <a:solidFill>
                    <a:schemeClr val="accent2"/>
                  </a:solidFill>
                  <a:latin typeface="+mn-lt"/>
                  <a:ea typeface="+mn-ea"/>
                  <a:cs typeface="+mn-cs"/>
                </a:rPr>
                <a:t>승인만 한다</a:t>
              </a:r>
            </a:p>
          </p:txBody>
        </p:sp>
      </p:grpSp>
      <p:grpSp>
        <p:nvGrpSpPr>
          <p:cNvPr id="55" name="Group 55"/>
          <p:cNvGrpSpPr/>
          <p:nvPr/>
        </p:nvGrpSpPr>
        <p:grpSpPr>
          <a:xfrm>
            <a:off x="609600" y="2057400"/>
            <a:ext cx="10972800" cy="2339911"/>
            <a:chOff x="609600" y="2057400"/>
            <a:chExt cx="10972800" cy="2339911"/>
          </a:xfrm>
        </p:grpSpPr>
        <p:grpSp>
          <p:nvGrpSpPr>
            <p:cNvPr id="11" name="Group 11"/>
            <p:cNvGrpSpPr/>
            <p:nvPr/>
          </p:nvGrpSpPr>
          <p:grpSpPr>
            <a:xfrm>
              <a:off x="609600" y="2057400"/>
              <a:ext cx="1428750" cy="914400"/>
              <a:chOff x="609600" y="2057400"/>
              <a:chExt cx="1428750" cy="914400"/>
            </a:xfrm>
          </p:grpSpPr>
          <p:sp>
            <p:nvSpPr>
              <p:cNvPr id="7" name="Rectangle 7"/>
              <p:cNvSpPr/>
              <p:nvPr/>
            </p:nvSpPr>
            <p:spPr>
              <a:xfrm>
                <a:off x="609600" y="2057400"/>
                <a:ext cx="1428750" cy="914400"/>
              </a:xfrm>
              <a:prstGeom prst="roundRect">
                <a:avLst>
                  <a:gd name="adj" fmla="val 6250"/>
                </a:avLst>
              </a:prstGeom>
              <a:solidFill>
                <a:srgbClr val="182238"/>
              </a:solidFill>
              <a:ln w="19050">
                <a:solidFill>
                  <a:schemeClr val="accent1"/>
                </a:solidFill>
              </a:ln>
            </p:spPr>
          </p:sp>
          <p:sp>
            <p:nvSpPr>
              <p:cNvPr id="8" name="TextBox 8"/>
              <p:cNvSpPr txBox="1"/>
              <p:nvPr/>
            </p:nvSpPr>
            <p:spPr>
              <a:xfrm>
                <a:off x="717042" y="2140268"/>
                <a:ext cx="113671" cy="264033"/>
              </a:xfrm>
              <a:prstGeom prst="rect">
                <a:avLst/>
              </a:prstGeom>
              <a:noFill/>
              <a:ln>
                <a:noFill/>
              </a:ln>
            </p:spPr>
            <p:txBody>
              <a:bodyPr wrap="none" lIns="0" tIns="0" rIns="0" bIns="0" anchor="t" anchorCtr="0">
                <a:spAutoFit/>
              </a:bodyPr>
              <a:lstStyle/>
              <a:p>
                <a:pPr algn="l"/>
                <a:r>
                  <a:rPr lang="ko-KR" sz="1350" dirty="0">
                    <a:solidFill>
                      <a:schemeClr val="accent1"/>
                    </a:solidFill>
                    <a:latin typeface="Consolas"/>
                    <a:ea typeface="Consolas"/>
                    <a:cs typeface="Consolas"/>
                  </a:rPr>
                  <a:t>①</a:t>
                </a:r>
              </a:p>
            </p:txBody>
          </p:sp>
          <p:sp>
            <p:nvSpPr>
              <p:cNvPr id="9" name="TextBox 9"/>
              <p:cNvSpPr txBox="1"/>
              <p:nvPr/>
            </p:nvSpPr>
            <p:spPr>
              <a:xfrm>
                <a:off x="946404" y="2156460"/>
                <a:ext cx="870798"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인터뷰 시작</a:t>
                </a:r>
              </a:p>
            </p:txBody>
          </p:sp>
          <p:sp>
            <p:nvSpPr>
              <p:cNvPr id="10" name="TextBox 10"/>
              <p:cNvSpPr txBox="1"/>
              <p:nvPr/>
            </p:nvSpPr>
            <p:spPr>
              <a:xfrm>
                <a:off x="718566" y="2439352"/>
                <a:ext cx="1297496" cy="395859"/>
              </a:xfrm>
              <a:prstGeom prst="rect">
                <a:avLst/>
              </a:prstGeom>
              <a:noFill/>
              <a:ln>
                <a:noFill/>
              </a:ln>
            </p:spPr>
            <p:txBody>
              <a:bodyPr wrap="none" lIns="0" tIns="0" rIns="0" bIns="0" anchor="t" anchorCtr="0">
                <a:spAutoFit/>
              </a:bodyPr>
              <a:lstStyle/>
              <a:p>
                <a:pPr algn="l">
                  <a:lnSpc>
                    <a:spcPts val="1500"/>
                  </a:lnSpc>
                </a:pPr>
                <a:r>
                  <a:rPr lang="ko-KR" sz="1050" dirty="0">
                    <a:solidFill>
                      <a:schemeClr val="accent5"/>
                    </a:solidFill>
                    <a:latin typeface="Consolas"/>
                    <a:ea typeface="Microsoft YaHei"/>
                    <a:cs typeface="Consolas"/>
                  </a:rPr>
                  <a:t>fw interview &lt;이름&gt;</a:t>
                </a:r>
                <a:br/>
                <a:r>
                  <a:rPr lang="ko-KR" sz="1050" dirty="0">
                    <a:solidFill>
                      <a:schemeClr val="accent5"/>
                    </a:solidFill>
                    <a:latin typeface="Consolas"/>
                    <a:ea typeface="Microsoft YaHei"/>
                    <a:cs typeface="Consolas"/>
                  </a:rPr>
                  <a:t>--goal "목표 문장"</a:t>
                </a:r>
              </a:p>
            </p:txBody>
          </p:sp>
        </p:grpSp>
        <p:grpSp>
          <p:nvGrpSpPr>
            <p:cNvPr id="16" name="Group 16"/>
            <p:cNvGrpSpPr/>
            <p:nvPr/>
          </p:nvGrpSpPr>
          <p:grpSpPr>
            <a:xfrm>
              <a:off x="2200275" y="3162300"/>
              <a:ext cx="1679829" cy="914400"/>
              <a:chOff x="2200275" y="3162300"/>
              <a:chExt cx="1679829" cy="914400"/>
            </a:xfrm>
          </p:grpSpPr>
          <p:sp>
            <p:nvSpPr>
              <p:cNvPr id="12" name="Rectangle 12"/>
              <p:cNvSpPr/>
              <p:nvPr/>
            </p:nvSpPr>
            <p:spPr>
              <a:xfrm>
                <a:off x="2200275" y="3162300"/>
                <a:ext cx="1428750" cy="914400"/>
              </a:xfrm>
              <a:prstGeom prst="roundRect">
                <a:avLst>
                  <a:gd name="adj" fmla="val 6250"/>
                </a:avLst>
              </a:prstGeom>
              <a:solidFill>
                <a:srgbClr val="182238"/>
              </a:solidFill>
              <a:ln w="19050">
                <a:solidFill>
                  <a:schemeClr val="accent2"/>
                </a:solidFill>
              </a:ln>
            </p:spPr>
          </p:sp>
          <p:sp>
            <p:nvSpPr>
              <p:cNvPr id="13" name="TextBox 13"/>
              <p:cNvSpPr txBox="1"/>
              <p:nvPr/>
            </p:nvSpPr>
            <p:spPr>
              <a:xfrm>
                <a:off x="2307717" y="3245168"/>
                <a:ext cx="113671" cy="264033"/>
              </a:xfrm>
              <a:prstGeom prst="rect">
                <a:avLst/>
              </a:prstGeom>
              <a:noFill/>
              <a:ln>
                <a:noFill/>
              </a:ln>
            </p:spPr>
            <p:txBody>
              <a:bodyPr wrap="none" lIns="0" tIns="0" rIns="0" bIns="0" anchor="t" anchorCtr="0">
                <a:spAutoFit/>
              </a:bodyPr>
              <a:lstStyle/>
              <a:p>
                <a:pPr algn="l"/>
                <a:r>
                  <a:rPr lang="ko-KR" sz="1350" dirty="0">
                    <a:solidFill>
                      <a:schemeClr val="accent2"/>
                    </a:solidFill>
                    <a:latin typeface="Consolas"/>
                    <a:ea typeface="Consolas"/>
                    <a:cs typeface="Consolas"/>
                  </a:rPr>
                  <a:t>②</a:t>
                </a:r>
              </a:p>
            </p:txBody>
          </p:sp>
          <p:sp>
            <p:nvSpPr>
              <p:cNvPr id="14" name="TextBox 14"/>
              <p:cNvSpPr txBox="1"/>
              <p:nvPr/>
            </p:nvSpPr>
            <p:spPr>
              <a:xfrm>
                <a:off x="2537079" y="3261360"/>
                <a:ext cx="1269812"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질문에 답 (사람)</a:t>
                </a:r>
              </a:p>
            </p:txBody>
          </p:sp>
          <p:sp>
            <p:nvSpPr>
              <p:cNvPr id="15" name="TextBox 15"/>
              <p:cNvSpPr txBox="1"/>
              <p:nvPr/>
            </p:nvSpPr>
            <p:spPr>
              <a:xfrm>
                <a:off x="2309241" y="3544252"/>
                <a:ext cx="1570863" cy="395859"/>
              </a:xfrm>
              <a:prstGeom prst="rect">
                <a:avLst/>
              </a:prstGeom>
              <a:noFill/>
              <a:ln>
                <a:noFill/>
              </a:ln>
            </p:spPr>
            <p:txBody>
              <a:bodyPr wrap="none" lIns="0" tIns="0" rIns="0" bIns="0" anchor="t" anchorCtr="0">
                <a:spAutoFit/>
              </a:bodyPr>
              <a:lstStyle/>
              <a:p>
                <a:pPr algn="l">
                  <a:lnSpc>
                    <a:spcPts val="1500"/>
                  </a:lnSpc>
                </a:pPr>
                <a:r>
                  <a:rPr lang="ko-KR" sz="1050" dirty="0">
                    <a:solidFill>
                      <a:schemeClr val="accent5"/>
                    </a:solidFill>
                    <a:latin typeface="Consolas"/>
                    <a:ea typeface="Consolas"/>
                    <a:cs typeface="Consolas"/>
                  </a:rPr>
                  <a:t>fw interview-answer</a:t>
                </a:r>
                <a:br/>
                <a:r>
                  <a:rPr lang="ko-KR" sz="1050" dirty="0">
                    <a:solidFill>
                      <a:schemeClr val="accent5"/>
                    </a:solidFill>
                    <a:latin typeface="Consolas"/>
                    <a:ea typeface="Microsoft YaHei"/>
                    <a:cs typeface="Consolas"/>
                  </a:rPr>
                  <a:t>&lt;이름&gt; P1 "..." → 재실행</a:t>
                </a:r>
              </a:p>
            </p:txBody>
          </p:sp>
        </p:grpSp>
        <p:grpSp>
          <p:nvGrpSpPr>
            <p:cNvPr id="21" name="Group 21"/>
            <p:cNvGrpSpPr/>
            <p:nvPr/>
          </p:nvGrpSpPr>
          <p:grpSpPr>
            <a:xfrm>
              <a:off x="3790950" y="2057400"/>
              <a:ext cx="1493139" cy="914400"/>
              <a:chOff x="3790950" y="2057400"/>
              <a:chExt cx="1493139" cy="914400"/>
            </a:xfrm>
          </p:grpSpPr>
          <p:sp>
            <p:nvSpPr>
              <p:cNvPr id="17" name="Rectangle 17"/>
              <p:cNvSpPr/>
              <p:nvPr/>
            </p:nvSpPr>
            <p:spPr>
              <a:xfrm>
                <a:off x="3790950" y="2057400"/>
                <a:ext cx="1428750" cy="914400"/>
              </a:xfrm>
              <a:prstGeom prst="roundRect">
                <a:avLst>
                  <a:gd name="adj" fmla="val 6250"/>
                </a:avLst>
              </a:prstGeom>
              <a:solidFill>
                <a:srgbClr val="182238"/>
              </a:solidFill>
              <a:ln w="19050">
                <a:solidFill>
                  <a:schemeClr val="accent3"/>
                </a:solidFill>
              </a:ln>
            </p:spPr>
          </p:sp>
          <p:sp>
            <p:nvSpPr>
              <p:cNvPr id="18" name="TextBox 18"/>
              <p:cNvSpPr txBox="1"/>
              <p:nvPr/>
            </p:nvSpPr>
            <p:spPr>
              <a:xfrm>
                <a:off x="3898392" y="2140268"/>
                <a:ext cx="113671" cy="264033"/>
              </a:xfrm>
              <a:prstGeom prst="rect">
                <a:avLst/>
              </a:prstGeom>
              <a:noFill/>
              <a:ln>
                <a:noFill/>
              </a:ln>
            </p:spPr>
            <p:txBody>
              <a:bodyPr wrap="none" lIns="0" tIns="0" rIns="0" bIns="0" anchor="t" anchorCtr="0">
                <a:spAutoFit/>
              </a:bodyPr>
              <a:lstStyle/>
              <a:p>
                <a:pPr algn="l"/>
                <a:r>
                  <a:rPr lang="ko-KR" sz="1350" dirty="0">
                    <a:solidFill>
                      <a:schemeClr val="accent3"/>
                    </a:solidFill>
                    <a:latin typeface="Consolas"/>
                    <a:ea typeface="Consolas"/>
                    <a:cs typeface="Consolas"/>
                  </a:rPr>
                  <a:t>③</a:t>
                </a:r>
              </a:p>
            </p:txBody>
          </p:sp>
          <p:sp>
            <p:nvSpPr>
              <p:cNvPr id="19" name="TextBox 19"/>
              <p:cNvSpPr txBox="1"/>
              <p:nvPr/>
            </p:nvSpPr>
            <p:spPr>
              <a:xfrm>
                <a:off x="4127754" y="2156460"/>
                <a:ext cx="870798"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이의 라운드</a:t>
                </a:r>
              </a:p>
            </p:txBody>
          </p:sp>
          <p:sp>
            <p:nvSpPr>
              <p:cNvPr id="20" name="TextBox 20"/>
              <p:cNvSpPr txBox="1"/>
              <p:nvPr/>
            </p:nvSpPr>
            <p:spPr>
              <a:xfrm>
                <a:off x="3899916" y="2439352"/>
                <a:ext cx="1384173" cy="395859"/>
              </a:xfrm>
              <a:prstGeom prst="rect">
                <a:avLst/>
              </a:prstGeom>
              <a:noFill/>
              <a:ln>
                <a:noFill/>
              </a:ln>
            </p:spPr>
            <p:txBody>
              <a:bodyPr wrap="none" lIns="0" tIns="0" rIns="0" bIns="0" anchor="t" anchorCtr="0">
                <a:spAutoFit/>
              </a:bodyPr>
              <a:lstStyle/>
              <a:p>
                <a:pPr algn="l">
                  <a:lnSpc>
                    <a:spcPts val="1500"/>
                  </a:lnSpc>
                </a:pPr>
                <a:r>
                  <a:rPr lang="ko-KR" sz="1050" dirty="0">
                    <a:solidFill>
                      <a:schemeClr val="accent5"/>
                    </a:solidFill>
                    <a:latin typeface="+mn-lt"/>
                    <a:ea typeface="+mn-ea"/>
                    <a:cs typeface="+mn-cs"/>
                  </a:rPr>
                  <a:t>자동 — 초안 3개 모이면</a:t>
                </a:r>
                <a:br/>
                <a:r>
                  <a:rPr lang="ko-KR" sz="1050" dirty="0">
                    <a:solidFill>
                      <a:schemeClr val="accent5"/>
                    </a:solidFill>
                    <a:latin typeface="+mn-lt"/>
                    <a:ea typeface="+mn-ea"/>
                    <a:cs typeface="+mn-cs"/>
                  </a:rPr>
                  <a:t>서로 이의 → 재작성</a:t>
                </a:r>
              </a:p>
            </p:txBody>
          </p:sp>
        </p:grpSp>
        <p:grpSp>
          <p:nvGrpSpPr>
            <p:cNvPr id="26" name="Group 26"/>
            <p:cNvGrpSpPr/>
            <p:nvPr/>
          </p:nvGrpSpPr>
          <p:grpSpPr>
            <a:xfrm>
              <a:off x="5381625" y="3162300"/>
              <a:ext cx="1539812" cy="914400"/>
              <a:chOff x="5381625" y="3162300"/>
              <a:chExt cx="1539812" cy="914400"/>
            </a:xfrm>
          </p:grpSpPr>
          <p:sp>
            <p:nvSpPr>
              <p:cNvPr id="22" name="Rectangle 22"/>
              <p:cNvSpPr/>
              <p:nvPr/>
            </p:nvSpPr>
            <p:spPr>
              <a:xfrm>
                <a:off x="5381625" y="3162300"/>
                <a:ext cx="1428750" cy="914400"/>
              </a:xfrm>
              <a:prstGeom prst="roundRect">
                <a:avLst>
                  <a:gd name="adj" fmla="val 6250"/>
                </a:avLst>
              </a:prstGeom>
              <a:solidFill>
                <a:srgbClr val="182238"/>
              </a:solidFill>
              <a:ln w="19050">
                <a:solidFill>
                  <a:schemeClr val="accent2"/>
                </a:solidFill>
              </a:ln>
            </p:spPr>
          </p:sp>
          <p:sp>
            <p:nvSpPr>
              <p:cNvPr id="23" name="TextBox 23"/>
              <p:cNvSpPr txBox="1"/>
              <p:nvPr/>
            </p:nvSpPr>
            <p:spPr>
              <a:xfrm>
                <a:off x="5489067" y="3245168"/>
                <a:ext cx="113671" cy="264033"/>
              </a:xfrm>
              <a:prstGeom prst="rect">
                <a:avLst/>
              </a:prstGeom>
              <a:noFill/>
              <a:ln>
                <a:noFill/>
              </a:ln>
            </p:spPr>
            <p:txBody>
              <a:bodyPr wrap="none" lIns="0" tIns="0" rIns="0" bIns="0" anchor="t" anchorCtr="0">
                <a:spAutoFit/>
              </a:bodyPr>
              <a:lstStyle/>
              <a:p>
                <a:pPr algn="l"/>
                <a:r>
                  <a:rPr lang="ko-KR" sz="1350" dirty="0">
                    <a:solidFill>
                      <a:schemeClr val="accent2"/>
                    </a:solidFill>
                    <a:latin typeface="Consolas"/>
                    <a:ea typeface="Consolas"/>
                    <a:cs typeface="Consolas"/>
                  </a:rPr>
                  <a:t>④</a:t>
                </a:r>
              </a:p>
            </p:txBody>
          </p:sp>
          <p:sp>
            <p:nvSpPr>
              <p:cNvPr id="24" name="TextBox 24"/>
              <p:cNvSpPr txBox="1"/>
              <p:nvPr/>
            </p:nvSpPr>
            <p:spPr>
              <a:xfrm>
                <a:off x="5718429" y="3261360"/>
                <a:ext cx="1057382"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승인 (사람만)</a:t>
                </a:r>
              </a:p>
            </p:txBody>
          </p:sp>
          <p:sp>
            <p:nvSpPr>
              <p:cNvPr id="25" name="TextBox 25"/>
              <p:cNvSpPr txBox="1"/>
              <p:nvPr/>
            </p:nvSpPr>
            <p:spPr>
              <a:xfrm>
                <a:off x="5490591" y="3544252"/>
                <a:ext cx="1430846" cy="395859"/>
              </a:xfrm>
              <a:prstGeom prst="rect">
                <a:avLst/>
              </a:prstGeom>
              <a:noFill/>
              <a:ln>
                <a:noFill/>
              </a:ln>
            </p:spPr>
            <p:txBody>
              <a:bodyPr wrap="none" lIns="0" tIns="0" rIns="0" bIns="0" anchor="t" anchorCtr="0">
                <a:spAutoFit/>
              </a:bodyPr>
              <a:lstStyle/>
              <a:p>
                <a:pPr algn="l">
                  <a:lnSpc>
                    <a:spcPts val="1500"/>
                  </a:lnSpc>
                </a:pPr>
                <a:r>
                  <a:rPr lang="ko-KR" sz="1050" dirty="0">
                    <a:solidFill>
                      <a:schemeClr val="accent5"/>
                    </a:solidFill>
                    <a:latin typeface="Consolas"/>
                    <a:ea typeface="Consolas"/>
                    <a:cs typeface="Consolas"/>
                  </a:rPr>
                  <a:t>fw interview-approve</a:t>
                </a:r>
                <a:br/>
                <a:r>
                  <a:rPr lang="ko-KR" sz="1050" dirty="0">
                    <a:solidFill>
                      <a:schemeClr val="accent5"/>
                    </a:solidFill>
                    <a:latin typeface="Consolas"/>
                    <a:ea typeface="Microsoft YaHei"/>
                    <a:cs typeface="Consolas"/>
                  </a:rPr>
                  <a:t>&lt;이름&gt; [--force]</a:t>
                </a:r>
              </a:p>
            </p:txBody>
          </p:sp>
        </p:grpSp>
        <p:grpSp>
          <p:nvGrpSpPr>
            <p:cNvPr id="31" name="Group 31"/>
            <p:cNvGrpSpPr/>
            <p:nvPr/>
          </p:nvGrpSpPr>
          <p:grpSpPr>
            <a:xfrm>
              <a:off x="6972300" y="2057400"/>
              <a:ext cx="1773174" cy="914400"/>
              <a:chOff x="6972300" y="2057400"/>
              <a:chExt cx="1773174" cy="914400"/>
            </a:xfrm>
          </p:grpSpPr>
          <p:sp>
            <p:nvSpPr>
              <p:cNvPr id="27" name="Rectangle 27"/>
              <p:cNvSpPr/>
              <p:nvPr/>
            </p:nvSpPr>
            <p:spPr>
              <a:xfrm>
                <a:off x="6972300" y="2057400"/>
                <a:ext cx="1428750" cy="914400"/>
              </a:xfrm>
              <a:prstGeom prst="roundRect">
                <a:avLst>
                  <a:gd name="adj" fmla="val 6250"/>
                </a:avLst>
              </a:prstGeom>
              <a:solidFill>
                <a:srgbClr val="182238"/>
              </a:solidFill>
              <a:ln w="19050">
                <a:solidFill>
                  <a:schemeClr val="accent2"/>
                </a:solidFill>
              </a:ln>
            </p:spPr>
          </p:sp>
          <p:sp>
            <p:nvSpPr>
              <p:cNvPr id="28" name="TextBox 28"/>
              <p:cNvSpPr txBox="1"/>
              <p:nvPr/>
            </p:nvSpPr>
            <p:spPr>
              <a:xfrm>
                <a:off x="7079742" y="2140268"/>
                <a:ext cx="113671" cy="264033"/>
              </a:xfrm>
              <a:prstGeom prst="rect">
                <a:avLst/>
              </a:prstGeom>
              <a:noFill/>
              <a:ln>
                <a:noFill/>
              </a:ln>
            </p:spPr>
            <p:txBody>
              <a:bodyPr wrap="none" lIns="0" tIns="0" rIns="0" bIns="0" anchor="t" anchorCtr="0">
                <a:spAutoFit/>
              </a:bodyPr>
              <a:lstStyle/>
              <a:p>
                <a:pPr algn="l"/>
                <a:r>
                  <a:rPr lang="ko-KR" sz="1350" dirty="0">
                    <a:solidFill>
                      <a:schemeClr val="accent2"/>
                    </a:solidFill>
                    <a:latin typeface="Consolas"/>
                    <a:ea typeface="Consolas"/>
                    <a:cs typeface="Consolas"/>
                  </a:rPr>
                  <a:t>⑤</a:t>
                </a:r>
              </a:p>
            </p:txBody>
          </p:sp>
          <p:sp>
            <p:nvSpPr>
              <p:cNvPr id="29" name="TextBox 29"/>
              <p:cNvSpPr txBox="1"/>
              <p:nvPr/>
            </p:nvSpPr>
            <p:spPr>
              <a:xfrm>
                <a:off x="7309104" y="2156460"/>
                <a:ext cx="1076974"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Phase 표 채움</a:t>
                </a:r>
              </a:p>
            </p:txBody>
          </p:sp>
          <p:sp>
            <p:nvSpPr>
              <p:cNvPr id="30" name="TextBox 30"/>
              <p:cNvSpPr txBox="1"/>
              <p:nvPr/>
            </p:nvSpPr>
            <p:spPr>
              <a:xfrm>
                <a:off x="7081266" y="2439352"/>
                <a:ext cx="1664208" cy="395859"/>
              </a:xfrm>
              <a:prstGeom prst="rect">
                <a:avLst/>
              </a:prstGeom>
              <a:noFill/>
              <a:ln>
                <a:noFill/>
              </a:ln>
            </p:spPr>
            <p:txBody>
              <a:bodyPr wrap="none" lIns="0" tIns="0" rIns="0" bIns="0" anchor="t" anchorCtr="0">
                <a:spAutoFit/>
              </a:bodyPr>
              <a:lstStyle/>
              <a:p>
                <a:pPr algn="l">
                  <a:lnSpc>
                    <a:spcPts val="1500"/>
                  </a:lnSpc>
                </a:pPr>
                <a:r>
                  <a:rPr lang="ko-KR" sz="1050" dirty="0">
                    <a:solidFill>
                      <a:schemeClr val="accent5"/>
                    </a:solidFill>
                    <a:latin typeface="+mn-lt"/>
                    <a:ea typeface="+mn-ea"/>
                    <a:cs typeface="+mn-cs"/>
                  </a:rPr>
                  <a:t>PLAN.md 자리표시자를</a:t>
                </a:r>
                <a:br/>
                <a:r>
                  <a:rPr lang="ko-KR" sz="1050" dirty="0">
                    <a:solidFill>
                      <a:schemeClr val="accent5"/>
                    </a:solidFill>
                    <a:latin typeface="+mn-lt"/>
                    <a:ea typeface="+mn-ea"/>
                    <a:cs typeface="+mn-cs"/>
                  </a:rPr>
                  <a:t>사람이 — 커밋 3~6개/phase</a:t>
                </a:r>
              </a:p>
            </p:txBody>
          </p:sp>
        </p:grpSp>
        <p:grpSp>
          <p:nvGrpSpPr>
            <p:cNvPr id="36" name="Group 36"/>
            <p:cNvGrpSpPr/>
            <p:nvPr/>
          </p:nvGrpSpPr>
          <p:grpSpPr>
            <a:xfrm>
              <a:off x="8562975" y="3162300"/>
              <a:ext cx="1428750" cy="914400"/>
              <a:chOff x="8562975" y="3162300"/>
              <a:chExt cx="1428750" cy="914400"/>
            </a:xfrm>
          </p:grpSpPr>
          <p:sp>
            <p:nvSpPr>
              <p:cNvPr id="32" name="Rectangle 32"/>
              <p:cNvSpPr/>
              <p:nvPr/>
            </p:nvSpPr>
            <p:spPr>
              <a:xfrm>
                <a:off x="8562975" y="3162300"/>
                <a:ext cx="1428750" cy="914400"/>
              </a:xfrm>
              <a:prstGeom prst="roundRect">
                <a:avLst>
                  <a:gd name="adj" fmla="val 6250"/>
                </a:avLst>
              </a:prstGeom>
              <a:solidFill>
                <a:srgbClr val="182238"/>
              </a:solidFill>
              <a:ln w="19050">
                <a:solidFill>
                  <a:schemeClr val="accent2"/>
                </a:solidFill>
              </a:ln>
            </p:spPr>
          </p:sp>
          <p:sp>
            <p:nvSpPr>
              <p:cNvPr id="33" name="TextBox 33"/>
              <p:cNvSpPr txBox="1"/>
              <p:nvPr/>
            </p:nvSpPr>
            <p:spPr>
              <a:xfrm>
                <a:off x="8670417" y="3245168"/>
                <a:ext cx="113671" cy="264033"/>
              </a:xfrm>
              <a:prstGeom prst="rect">
                <a:avLst/>
              </a:prstGeom>
              <a:noFill/>
              <a:ln>
                <a:noFill/>
              </a:ln>
            </p:spPr>
            <p:txBody>
              <a:bodyPr wrap="none" lIns="0" tIns="0" rIns="0" bIns="0" anchor="t" anchorCtr="0">
                <a:spAutoFit/>
              </a:bodyPr>
              <a:lstStyle/>
              <a:p>
                <a:pPr algn="l"/>
                <a:r>
                  <a:rPr lang="ko-KR" sz="1350" dirty="0">
                    <a:solidFill>
                      <a:schemeClr val="accent2"/>
                    </a:solidFill>
                    <a:latin typeface="Consolas"/>
                    <a:ea typeface="Consolas"/>
                    <a:cs typeface="Consolas"/>
                  </a:rPr>
                  <a:t>⑥</a:t>
                </a:r>
              </a:p>
            </p:txBody>
          </p:sp>
          <p:sp>
            <p:nvSpPr>
              <p:cNvPr id="34" name="TextBox 34"/>
              <p:cNvSpPr txBox="1"/>
              <p:nvPr/>
            </p:nvSpPr>
            <p:spPr>
              <a:xfrm>
                <a:off x="8899779" y="3261360"/>
                <a:ext cx="1070884"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STATE 만들기</a:t>
                </a:r>
              </a:p>
            </p:txBody>
          </p:sp>
          <p:sp>
            <p:nvSpPr>
              <p:cNvPr id="35" name="TextBox 35"/>
              <p:cNvSpPr txBox="1"/>
              <p:nvPr/>
            </p:nvSpPr>
            <p:spPr>
              <a:xfrm>
                <a:off x="8671941" y="3544252"/>
                <a:ext cx="1317498" cy="395859"/>
              </a:xfrm>
              <a:prstGeom prst="rect">
                <a:avLst/>
              </a:prstGeom>
              <a:noFill/>
              <a:ln>
                <a:noFill/>
              </a:ln>
            </p:spPr>
            <p:txBody>
              <a:bodyPr wrap="none" lIns="0" tIns="0" rIns="0" bIns="0" anchor="t" anchorCtr="0">
                <a:spAutoFit/>
              </a:bodyPr>
              <a:lstStyle/>
              <a:p>
                <a:pPr algn="l">
                  <a:lnSpc>
                    <a:spcPts val="1500"/>
                  </a:lnSpc>
                </a:pPr>
                <a:r>
                  <a:rPr lang="ko-KR" sz="1050" dirty="0">
                    <a:solidFill>
                      <a:schemeClr val="accent5"/>
                    </a:solidFill>
                    <a:latin typeface="Consolas"/>
                    <a:ea typeface="Microsoft YaHei"/>
                    <a:cs typeface="Consolas"/>
                  </a:rPr>
                  <a:t>fw init &lt;이름&gt;</a:t>
                </a:r>
                <a:br/>
                <a:r>
                  <a:rPr lang="ko-KR" sz="1050" dirty="0">
                    <a:solidFill>
                      <a:schemeClr val="accent5"/>
                    </a:solidFill>
                    <a:latin typeface="Consolas"/>
                    <a:ea typeface="Microsoft YaHei"/>
                    <a:cs typeface="Consolas"/>
                  </a:rPr>
                  <a:t>phases · verify 채움</a:t>
                </a:r>
              </a:p>
            </p:txBody>
          </p:sp>
        </p:grpSp>
        <p:grpSp>
          <p:nvGrpSpPr>
            <p:cNvPr id="41" name="Group 41"/>
            <p:cNvGrpSpPr/>
            <p:nvPr/>
          </p:nvGrpSpPr>
          <p:grpSpPr>
            <a:xfrm>
              <a:off x="10153650" y="2057400"/>
              <a:ext cx="1428750" cy="914400"/>
              <a:chOff x="10153650" y="2057400"/>
              <a:chExt cx="1428750" cy="914400"/>
            </a:xfrm>
          </p:grpSpPr>
          <p:sp>
            <p:nvSpPr>
              <p:cNvPr id="37" name="Rectangle 37"/>
              <p:cNvSpPr/>
              <p:nvPr/>
            </p:nvSpPr>
            <p:spPr>
              <a:xfrm>
                <a:off x="10153650" y="2057400"/>
                <a:ext cx="1428750" cy="914400"/>
              </a:xfrm>
              <a:prstGeom prst="roundRect">
                <a:avLst>
                  <a:gd name="adj" fmla="val 6250"/>
                </a:avLst>
              </a:prstGeom>
              <a:solidFill>
                <a:srgbClr val="182238"/>
              </a:solidFill>
              <a:ln w="19050">
                <a:solidFill>
                  <a:schemeClr val="accent1"/>
                </a:solidFill>
              </a:ln>
            </p:spPr>
          </p:sp>
          <p:sp>
            <p:nvSpPr>
              <p:cNvPr id="38" name="TextBox 38"/>
              <p:cNvSpPr txBox="1"/>
              <p:nvPr/>
            </p:nvSpPr>
            <p:spPr>
              <a:xfrm>
                <a:off x="10261092" y="2140268"/>
                <a:ext cx="113671" cy="264033"/>
              </a:xfrm>
              <a:prstGeom prst="rect">
                <a:avLst/>
              </a:prstGeom>
              <a:noFill/>
              <a:ln>
                <a:noFill/>
              </a:ln>
            </p:spPr>
            <p:txBody>
              <a:bodyPr wrap="none" lIns="0" tIns="0" rIns="0" bIns="0" anchor="t" anchorCtr="0">
                <a:spAutoFit/>
              </a:bodyPr>
              <a:lstStyle/>
              <a:p>
                <a:pPr algn="l"/>
                <a:r>
                  <a:rPr lang="ko-KR" sz="1350" dirty="0">
                    <a:solidFill>
                      <a:schemeClr val="accent1"/>
                    </a:solidFill>
                    <a:latin typeface="Consolas"/>
                    <a:ea typeface="Consolas"/>
                    <a:cs typeface="Consolas"/>
                  </a:rPr>
                  <a:t>⑦</a:t>
                </a:r>
              </a:p>
            </p:txBody>
          </p:sp>
          <p:sp>
            <p:nvSpPr>
              <p:cNvPr id="39" name="TextBox 39"/>
              <p:cNvSpPr txBox="1"/>
              <p:nvPr/>
            </p:nvSpPr>
            <p:spPr>
              <a:xfrm>
                <a:off x="10490454" y="2156460"/>
                <a:ext cx="853432"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점검 → 주행</a:t>
                </a:r>
              </a:p>
            </p:txBody>
          </p:sp>
          <p:sp>
            <p:nvSpPr>
              <p:cNvPr id="40" name="TextBox 40"/>
              <p:cNvSpPr txBox="1"/>
              <p:nvPr/>
            </p:nvSpPr>
            <p:spPr>
              <a:xfrm>
                <a:off x="10262616" y="2439352"/>
                <a:ext cx="1117473" cy="395859"/>
              </a:xfrm>
              <a:prstGeom prst="rect">
                <a:avLst/>
              </a:prstGeom>
              <a:noFill/>
              <a:ln>
                <a:noFill/>
              </a:ln>
            </p:spPr>
            <p:txBody>
              <a:bodyPr wrap="none" lIns="0" tIns="0" rIns="0" bIns="0" anchor="t" anchorCtr="0">
                <a:spAutoFit/>
              </a:bodyPr>
              <a:lstStyle/>
              <a:p>
                <a:pPr algn="l">
                  <a:lnSpc>
                    <a:spcPts val="1500"/>
                  </a:lnSpc>
                </a:pPr>
                <a:r>
                  <a:rPr lang="ko-KR" sz="1050" dirty="0">
                    <a:solidFill>
                      <a:schemeClr val="accent5"/>
                    </a:solidFill>
                    <a:latin typeface="Consolas"/>
                    <a:ea typeface="Microsoft YaHei"/>
                    <a:cs typeface="Consolas"/>
                  </a:rPr>
                  <a:t>fw doctor &lt;이름&gt;</a:t>
                </a:r>
                <a:br/>
                <a:r>
                  <a:rPr lang="ko-KR" sz="1050" dirty="0">
                    <a:solidFill>
                      <a:schemeClr val="accent5"/>
                    </a:solidFill>
                    <a:latin typeface="Consolas"/>
                    <a:ea typeface="Microsoft YaHei"/>
                    <a:cs typeface="Consolas"/>
                  </a:rPr>
                  <a:t>fw run &lt;이름&gt;</a:t>
                </a:r>
              </a:p>
            </p:txBody>
          </p:sp>
        </p:grpSp>
        <p:grpSp>
          <p:nvGrpSpPr>
            <p:cNvPr id="54" name="Group 54"/>
            <p:cNvGrpSpPr/>
            <p:nvPr/>
          </p:nvGrpSpPr>
          <p:grpSpPr>
            <a:xfrm>
              <a:off x="926906" y="2857500"/>
              <a:ext cx="10248891" cy="1539811"/>
              <a:chOff x="926906" y="2857500"/>
              <a:chExt cx="10248891" cy="1539811"/>
            </a:xfrm>
          </p:grpSpPr>
          <p:sp>
            <p:nvSpPr>
              <p:cNvPr id="42" name="Line 42"/>
              <p:cNvSpPr/>
              <p:nvPr/>
            </p:nvSpPr>
            <p:spPr>
              <a:xfrm>
                <a:off x="2038350" y="2857500"/>
                <a:ext cx="152400" cy="381000"/>
              </a:xfrm>
              <a:prstGeom prst="line">
                <a:avLst/>
              </a:prstGeom>
              <a:noFill/>
              <a:ln w="19050">
                <a:solidFill>
                  <a:schemeClr val="accent1"/>
                </a:solidFill>
                <a:tailEnd type="triangle" w="med" len="med"/>
              </a:ln>
            </p:spPr>
          </p:sp>
          <p:sp>
            <p:nvSpPr>
              <p:cNvPr id="43" name="Line 43"/>
              <p:cNvSpPr/>
              <p:nvPr/>
            </p:nvSpPr>
            <p:spPr>
              <a:xfrm flipV="1">
                <a:off x="3629025" y="2876550"/>
                <a:ext cx="161925" cy="381000"/>
              </a:xfrm>
              <a:prstGeom prst="line">
                <a:avLst/>
              </a:prstGeom>
              <a:noFill/>
              <a:ln w="19050">
                <a:solidFill>
                  <a:schemeClr val="accent1"/>
                </a:solidFill>
                <a:tailEnd type="triangle" w="med" len="med"/>
              </a:ln>
            </p:spPr>
          </p:sp>
          <p:sp>
            <p:nvSpPr>
              <p:cNvPr id="44" name="Line 44"/>
              <p:cNvSpPr/>
              <p:nvPr/>
            </p:nvSpPr>
            <p:spPr>
              <a:xfrm>
                <a:off x="5219700" y="2857500"/>
                <a:ext cx="152400" cy="381000"/>
              </a:xfrm>
              <a:prstGeom prst="line">
                <a:avLst/>
              </a:prstGeom>
              <a:noFill/>
              <a:ln w="19050">
                <a:solidFill>
                  <a:schemeClr val="accent1"/>
                </a:solidFill>
                <a:tailEnd type="triangle" w="med" len="med"/>
              </a:ln>
            </p:spPr>
          </p:sp>
          <p:sp>
            <p:nvSpPr>
              <p:cNvPr id="45" name="Line 45"/>
              <p:cNvSpPr/>
              <p:nvPr/>
            </p:nvSpPr>
            <p:spPr>
              <a:xfrm flipV="1">
                <a:off x="6810375" y="2876550"/>
                <a:ext cx="161925" cy="381000"/>
              </a:xfrm>
              <a:prstGeom prst="line">
                <a:avLst/>
              </a:prstGeom>
              <a:noFill/>
              <a:ln w="19050">
                <a:solidFill>
                  <a:schemeClr val="accent2"/>
                </a:solidFill>
                <a:tailEnd type="triangle" w="med" len="med"/>
              </a:ln>
            </p:spPr>
          </p:sp>
          <p:sp>
            <p:nvSpPr>
              <p:cNvPr id="46" name="Line 46"/>
              <p:cNvSpPr/>
              <p:nvPr/>
            </p:nvSpPr>
            <p:spPr>
              <a:xfrm>
                <a:off x="8401050" y="2857500"/>
                <a:ext cx="152400" cy="381000"/>
              </a:xfrm>
              <a:prstGeom prst="line">
                <a:avLst/>
              </a:prstGeom>
              <a:noFill/>
              <a:ln w="19050">
                <a:solidFill>
                  <a:schemeClr val="accent2"/>
                </a:solidFill>
                <a:tailEnd type="triangle" w="med" len="med"/>
              </a:ln>
            </p:spPr>
          </p:sp>
          <p:sp>
            <p:nvSpPr>
              <p:cNvPr id="47" name="Line 47"/>
              <p:cNvSpPr/>
              <p:nvPr/>
            </p:nvSpPr>
            <p:spPr>
              <a:xfrm flipV="1">
                <a:off x="9991725" y="2876550"/>
                <a:ext cx="161925" cy="381000"/>
              </a:xfrm>
              <a:prstGeom prst="line">
                <a:avLst/>
              </a:prstGeom>
              <a:noFill/>
              <a:ln w="19050">
                <a:solidFill>
                  <a:schemeClr val="accent2"/>
                </a:solidFill>
                <a:tailEnd type="triangle" w="med" len="med"/>
              </a:ln>
            </p:spPr>
          </p:sp>
          <p:sp>
            <p:nvSpPr>
              <p:cNvPr id="48" name="Line 48"/>
              <p:cNvSpPr/>
              <p:nvPr/>
            </p:nvSpPr>
            <p:spPr>
              <a:xfrm>
                <a:off x="2914650" y="3048000"/>
                <a:ext cx="9525" cy="114300"/>
              </a:xfrm>
              <a:custGeom>
                <a:avLst/>
                <a:gdLst/>
                <a:ahLst/>
                <a:cxnLst/>
                <a:rect l="l" t="t" r="r" b="b"/>
                <a:pathLst>
                  <a:path w="9525" h="114300">
                    <a:moveTo>
                      <a:pt x="0" y="114300"/>
                    </a:moveTo>
                    <a:lnTo>
                      <a:pt x="0" y="0"/>
                    </a:lnTo>
                  </a:path>
                </a:pathLst>
              </a:custGeom>
              <a:noFill/>
              <a:ln w="14288">
                <a:solidFill>
                  <a:schemeClr val="accent2"/>
                </a:solidFill>
                <a:prstDash val="dash"/>
              </a:ln>
            </p:spPr>
          </p:sp>
          <p:sp>
            <p:nvSpPr>
              <p:cNvPr id="49" name="Line 49"/>
              <p:cNvSpPr/>
              <p:nvPr/>
            </p:nvSpPr>
            <p:spPr>
              <a:xfrm>
                <a:off x="1323975" y="3048000"/>
                <a:ext cx="1590675" cy="9525"/>
              </a:xfrm>
              <a:custGeom>
                <a:avLst/>
                <a:gdLst/>
                <a:ahLst/>
                <a:cxnLst/>
                <a:rect l="l" t="t" r="r" b="b"/>
                <a:pathLst>
                  <a:path w="1590675" h="9525">
                    <a:moveTo>
                      <a:pt x="1590675" y="0"/>
                    </a:moveTo>
                    <a:lnTo>
                      <a:pt x="0" y="0"/>
                    </a:lnTo>
                  </a:path>
                </a:pathLst>
              </a:custGeom>
              <a:noFill/>
              <a:ln w="14288">
                <a:solidFill>
                  <a:schemeClr val="accent2"/>
                </a:solidFill>
                <a:prstDash val="dash"/>
              </a:ln>
            </p:spPr>
          </p:sp>
          <p:sp>
            <p:nvSpPr>
              <p:cNvPr id="50" name="Line 50"/>
              <p:cNvSpPr/>
              <p:nvPr/>
            </p:nvSpPr>
            <p:spPr>
              <a:xfrm flipV="1">
                <a:off x="1323975" y="2990850"/>
                <a:ext cx="1" cy="57150"/>
              </a:xfrm>
              <a:prstGeom prst="line">
                <a:avLst/>
              </a:prstGeom>
              <a:noFill/>
              <a:ln w="14288">
                <a:solidFill>
                  <a:schemeClr val="accent2"/>
                </a:solidFill>
                <a:prstDash val="dash"/>
                <a:tailEnd type="triangle" w="med" len="med"/>
              </a:ln>
            </p:spPr>
          </p:sp>
          <p:sp>
            <p:nvSpPr>
              <p:cNvPr id="51" name="TextBox 51"/>
              <p:cNvSpPr txBox="1"/>
              <p:nvPr/>
            </p:nvSpPr>
            <p:spPr>
              <a:xfrm>
                <a:off x="926906" y="4191952"/>
                <a:ext cx="3099187" cy="205359"/>
              </a:xfrm>
              <a:prstGeom prst="rect">
                <a:avLst/>
              </a:prstGeom>
              <a:noFill/>
              <a:ln>
                <a:noFill/>
              </a:ln>
            </p:spPr>
            <p:txBody>
              <a:bodyPr wrap="none" lIns="0" tIns="0" rIns="0" bIns="0" anchor="t" anchorCtr="0">
                <a:spAutoFit/>
              </a:bodyPr>
              <a:lstStyle/>
              <a:p>
                <a:pPr algn="ctr"/>
                <a:r>
                  <a:rPr lang="ko-KR" sz="1050" dirty="0">
                    <a:solidFill>
                      <a:schemeClr val="accent2"/>
                    </a:solidFill>
                    <a:latin typeface="+mn-lt"/>
                    <a:ea typeface="+mn-ea"/>
                    <a:cs typeface="+mn-cs"/>
                  </a:rPr>
                  <a:t>미답 0 → 재실행 → 기획·개발·평가 순으로 묻는다</a:t>
                </a:r>
              </a:p>
            </p:txBody>
          </p:sp>
          <p:sp>
            <p:nvSpPr>
              <p:cNvPr id="52" name="TextBox 52"/>
              <p:cNvSpPr txBox="1"/>
              <p:nvPr/>
            </p:nvSpPr>
            <p:spPr>
              <a:xfrm>
                <a:off x="3681155" y="4191952"/>
                <a:ext cx="4829689" cy="205359"/>
              </a:xfrm>
              <a:prstGeom prst="rect">
                <a:avLst/>
              </a:prstGeom>
              <a:noFill/>
              <a:ln>
                <a:noFill/>
              </a:ln>
            </p:spPr>
            <p:txBody>
              <a:bodyPr wrap="none" lIns="0" tIns="0" rIns="0" bIns="0" anchor="t" anchorCtr="0">
                <a:spAutoFit/>
              </a:bodyPr>
              <a:lstStyle/>
              <a:p>
                <a:pPr algn="ctr"/>
                <a:r>
                  <a:rPr lang="ko-KR" sz="1050" dirty="0">
                    <a:solidFill>
                      <a:schemeClr val="accent5"/>
                    </a:solidFill>
                    <a:latin typeface="+mn-lt"/>
                    <a:ea typeface="+mn-ea"/>
                    <a:cs typeface="+mn-cs"/>
                  </a:rPr>
                  <a:t>이의 0 → ready · 3라운드 미수렴 → --force (미해소 이의는 PLAN 에 기록)</a:t>
                </a:r>
              </a:p>
            </p:txBody>
          </p:sp>
          <p:sp>
            <p:nvSpPr>
              <p:cNvPr id="53" name="TextBox 53"/>
              <p:cNvSpPr txBox="1"/>
              <p:nvPr/>
            </p:nvSpPr>
            <p:spPr>
              <a:xfrm>
                <a:off x="8960053" y="4191952"/>
                <a:ext cx="2215744" cy="205359"/>
              </a:xfrm>
              <a:prstGeom prst="rect">
                <a:avLst/>
              </a:prstGeom>
              <a:noFill/>
              <a:ln>
                <a:noFill/>
              </a:ln>
            </p:spPr>
            <p:txBody>
              <a:bodyPr wrap="none" lIns="0" tIns="0" rIns="0" bIns="0" anchor="t" anchorCtr="0">
                <a:spAutoFit/>
              </a:bodyPr>
              <a:lstStyle/>
              <a:p>
                <a:pPr algn="ctr"/>
                <a:r>
                  <a:rPr lang="ko-KR" sz="1050" dirty="0">
                    <a:solidFill>
                      <a:schemeClr val="accent5"/>
                    </a:solidFill>
                    <a:latin typeface="+mn-lt"/>
                    <a:ea typeface="+mn-ea"/>
                    <a:cs typeface="+mn-cs"/>
                  </a:rPr>
                  <a:t>사람의 두 지점: 답하기 · 승인하기</a:t>
                </a:r>
              </a:p>
            </p:txBody>
          </p:sp>
        </p:grpSp>
      </p:grpSp>
      <p:grpSp>
        <p:nvGrpSpPr>
          <p:cNvPr id="61" name="Group 61"/>
          <p:cNvGrpSpPr/>
          <p:nvPr/>
        </p:nvGrpSpPr>
        <p:grpSpPr>
          <a:xfrm>
            <a:off x="603504" y="4934902"/>
            <a:ext cx="10040440" cy="1151954"/>
            <a:chOff x="603504" y="4934902"/>
            <a:chExt cx="10040440" cy="1151954"/>
          </a:xfrm>
        </p:grpSpPr>
        <p:sp>
          <p:nvSpPr>
            <p:cNvPr id="56" name="TextBox 56"/>
            <p:cNvSpPr txBox="1"/>
            <p:nvPr/>
          </p:nvSpPr>
          <p:spPr>
            <a:xfrm>
              <a:off x="604266" y="4934902"/>
              <a:ext cx="699249" cy="205359"/>
            </a:xfrm>
            <a:prstGeom prst="rect">
              <a:avLst/>
            </a:prstGeom>
            <a:noFill/>
            <a:ln>
              <a:noFill/>
            </a:ln>
          </p:spPr>
          <p:txBody>
            <a:bodyPr wrap="none" lIns="0" tIns="0" rIns="0" bIns="0" anchor="t" anchorCtr="0">
              <a:spAutoFit/>
            </a:bodyPr>
            <a:lstStyle/>
            <a:p>
              <a:pPr algn="l"/>
              <a:r>
                <a:rPr lang="ko-KR" sz="1050" spc="150" dirty="0">
                  <a:solidFill>
                    <a:schemeClr val="accent5"/>
                  </a:solidFill>
                  <a:latin typeface="Consolas"/>
                  <a:ea typeface="Microsoft YaHei"/>
                  <a:cs typeface="Consolas"/>
                </a:rPr>
                <a:t>알아둘 것</a:t>
              </a:r>
            </a:p>
          </p:txBody>
        </p:sp>
        <p:sp>
          <p:nvSpPr>
            <p:cNvPr id="57" name="TextBox 57"/>
            <p:cNvSpPr txBox="1"/>
            <p:nvPr/>
          </p:nvSpPr>
          <p:spPr>
            <a:xfrm>
              <a:off x="603504" y="5166360"/>
              <a:ext cx="8082847" cy="234696"/>
            </a:xfrm>
            <a:prstGeom prst="rect">
              <a:avLst/>
            </a:prstGeom>
            <a:noFill/>
            <a:ln>
              <a:noFill/>
            </a:ln>
          </p:spPr>
          <p:txBody>
            <a:bodyPr wrap="none" lIns="0" tIns="0" rIns="0" bIns="0" anchor="t" anchorCtr="0">
              <a:spAutoFit/>
            </a:bodyPr>
            <a:lstStyle/>
            <a:p>
              <a:pPr algn="l"/>
              <a:r>
                <a:rPr lang="ko-KR" sz="1200" b="1" dirty="0">
                  <a:solidFill>
                    <a:schemeClr val="accent1"/>
                  </a:solidFill>
                  <a:latin typeface="+mn-lt"/>
                  <a:ea typeface="+mn-ea"/>
                  <a:cs typeface="+mn-cs"/>
                </a:rPr>
                <a:t>①</a:t>
              </a:r>
              <a:r>
                <a:rPr lang="ko-KR" sz="1200" dirty="0">
                  <a:solidFill>
                    <a:schemeClr val="dk1"/>
                  </a:solidFill>
                  <a:latin typeface="+mn-lt"/>
                  <a:ea typeface="+mn-ea"/>
                  <a:cs typeface="+mn-cs"/>
                </a:rPr>
                <a:t xml:space="preserve"> 진입 경로를 알면 </a:t>
              </a:r>
              <a:r>
                <a:rPr lang="ko-KR" sz="1200" dirty="0">
                  <a:solidFill>
                    <a:schemeClr val="dk1"/>
                  </a:solidFill>
                  <a:latin typeface="Consolas"/>
                  <a:ea typeface="Consolas"/>
                  <a:cs typeface="Consolas"/>
                </a:rPr>
                <a:t>--entry src/payment/PaymentService.kt,...</a:t>
              </a:r>
              <a:r>
                <a:rPr lang="ko-KR" sz="1200" dirty="0">
                  <a:solidFill>
                    <a:schemeClr val="dk1"/>
                  </a:solidFill>
                  <a:latin typeface="+mn-lt"/>
                  <a:ea typeface="+mn-ea"/>
                  <a:cs typeface="+mn-cs"/>
                </a:rPr>
                <a:t xml:space="preserve"> — 모르면 개발 고수가 첫 질문으로 묻는다</a:t>
              </a:r>
            </a:p>
          </p:txBody>
        </p:sp>
        <p:sp>
          <p:nvSpPr>
            <p:cNvPr id="58" name="TextBox 58"/>
            <p:cNvSpPr txBox="1"/>
            <p:nvPr/>
          </p:nvSpPr>
          <p:spPr>
            <a:xfrm>
              <a:off x="603504" y="5394960"/>
              <a:ext cx="10040440" cy="234696"/>
            </a:xfrm>
            <a:prstGeom prst="rect">
              <a:avLst/>
            </a:prstGeom>
            <a:noFill/>
            <a:ln>
              <a:noFill/>
            </a:ln>
          </p:spPr>
          <p:txBody>
            <a:bodyPr wrap="none" lIns="0" tIns="0" rIns="0" bIns="0" anchor="t" anchorCtr="0">
              <a:spAutoFit/>
            </a:bodyPr>
            <a:lstStyle/>
            <a:p>
              <a:pPr algn="l"/>
              <a:r>
                <a:rPr lang="ko-KR" sz="1200" b="1" dirty="0">
                  <a:solidFill>
                    <a:schemeClr val="accent2"/>
                  </a:solidFill>
                  <a:latin typeface="+mn-lt"/>
                  <a:ea typeface="+mn-ea"/>
                  <a:cs typeface="+mn-cs"/>
                </a:rPr>
                <a:t>②</a:t>
              </a:r>
              <a:r>
                <a:rPr lang="ko-KR" sz="1200" dirty="0">
                  <a:solidFill>
                    <a:schemeClr val="dk1"/>
                  </a:solidFill>
                  <a:latin typeface="+mn-lt"/>
                  <a:ea typeface="+mn-ea"/>
                  <a:cs typeface="+mn-cs"/>
                </a:rPr>
                <a:t xml:space="preserve"> 각 질문에는 "왜 이 질문이 결정에 필요한가"가 붙어 있다 · 평가 고수는 "잘 됐다"를 exit code 하나로 확인할 수 있는 형태인지 파고든다</a:t>
              </a:r>
            </a:p>
          </p:txBody>
        </p:sp>
        <p:sp>
          <p:nvSpPr>
            <p:cNvPr id="59" name="TextBox 59"/>
            <p:cNvSpPr txBox="1"/>
            <p:nvPr/>
          </p:nvSpPr>
          <p:spPr>
            <a:xfrm>
              <a:off x="603504" y="5623560"/>
              <a:ext cx="7633434" cy="234696"/>
            </a:xfrm>
            <a:prstGeom prst="rect">
              <a:avLst/>
            </a:prstGeom>
            <a:noFill/>
            <a:ln>
              <a:noFill/>
            </a:ln>
          </p:spPr>
          <p:txBody>
            <a:bodyPr wrap="none" lIns="0" tIns="0" rIns="0" bIns="0" anchor="t" anchorCtr="0">
              <a:spAutoFit/>
            </a:bodyPr>
            <a:lstStyle/>
            <a:p>
              <a:pPr algn="l"/>
              <a:r>
                <a:rPr lang="ko-KR" sz="1200" b="1" dirty="0">
                  <a:solidFill>
                    <a:schemeClr val="accent2"/>
                  </a:solidFill>
                  <a:latin typeface="+mn-lt"/>
                  <a:ea typeface="+mn-ea"/>
                  <a:cs typeface="+mn-cs"/>
                </a:rPr>
                <a:t>④</a:t>
              </a:r>
              <a:r>
                <a:rPr lang="ko-KR" sz="1200" dirty="0">
                  <a:solidFill>
                    <a:schemeClr val="dk1"/>
                  </a:solidFill>
                  <a:latin typeface="+mn-lt"/>
                  <a:ea typeface="+mn-ea"/>
                  <a:cs typeface="+mn-cs"/>
                </a:rPr>
                <a:t xml:space="preserve"> 실측에서 </a:t>
              </a:r>
              <a:r>
                <a:rPr lang="ko-KR" sz="1200" dirty="0">
                  <a:solidFill>
                    <a:schemeClr val="dk1"/>
                  </a:solidFill>
                  <a:latin typeface="Consolas"/>
                  <a:ea typeface="Consolas"/>
                  <a:cs typeface="Consolas"/>
                </a:rPr>
                <a:t>--force</a:t>
              </a:r>
              <a:r>
                <a:rPr lang="ko-KR" sz="1200" dirty="0">
                  <a:solidFill>
                    <a:schemeClr val="dk1"/>
                  </a:solidFill>
                  <a:latin typeface="+mn-lt"/>
                  <a:ea typeface="+mn-ea"/>
                  <a:cs typeface="+mn-cs"/>
                </a:rPr>
                <a:t xml:space="preserve"> 종결이 사실상 정상 경로였다 — 뒤 라운드의 이의는 정당하지만 점점 가늘어지기 때문</a:t>
              </a:r>
            </a:p>
          </p:txBody>
        </p:sp>
        <p:sp>
          <p:nvSpPr>
            <p:cNvPr id="60" name="TextBox 60"/>
            <p:cNvSpPr txBox="1"/>
            <p:nvPr/>
          </p:nvSpPr>
          <p:spPr>
            <a:xfrm>
              <a:off x="603504" y="5852160"/>
              <a:ext cx="8922311" cy="234696"/>
            </a:xfrm>
            <a:prstGeom prst="rect">
              <a:avLst/>
            </a:prstGeom>
            <a:noFill/>
            <a:ln>
              <a:noFill/>
            </a:ln>
          </p:spPr>
          <p:txBody>
            <a:bodyPr wrap="none" lIns="0" tIns="0" rIns="0" bIns="0" anchor="t" anchorCtr="0">
              <a:spAutoFit/>
            </a:bodyPr>
            <a:lstStyle/>
            <a:p>
              <a:pPr algn="l"/>
              <a:r>
                <a:rPr lang="ko-KR" sz="1200" b="1" dirty="0">
                  <a:solidFill>
                    <a:schemeClr val="accent2"/>
                  </a:solidFill>
                  <a:latin typeface="+mn-lt"/>
                  <a:ea typeface="+mn-ea"/>
                  <a:cs typeface="+mn-cs"/>
                </a:rPr>
                <a:t>⑥</a:t>
              </a:r>
              <a:r>
                <a:rPr lang="ko-KR" sz="1200" dirty="0">
                  <a:solidFill>
                    <a:schemeClr val="dk1"/>
                  </a:solidFill>
                  <a:latin typeface="+mn-lt"/>
                  <a:ea typeface="+mn-ea"/>
                  <a:cs typeface="+mn-cs"/>
                </a:rPr>
                <a:t xml:space="preserve"> phases 는 PLAN 표와 같은 제목·개수·순서 · </a:t>
              </a:r>
              <a:r>
                <a:rPr lang="ko-KR" sz="1200" dirty="0">
                  <a:solidFill>
                    <a:schemeClr val="dk1"/>
                  </a:solidFill>
                  <a:latin typeface="Consolas"/>
                  <a:ea typeface="Consolas"/>
                  <a:cs typeface="Consolas"/>
                </a:rPr>
                <a:t>next_steps</a:t>
              </a:r>
              <a:r>
                <a:rPr lang="ko-KR" sz="1200" dirty="0">
                  <a:solidFill>
                    <a:schemeClr val="dk1"/>
                  </a:solidFill>
                  <a:latin typeface="+mn-lt"/>
                  <a:ea typeface="+mn-ea"/>
                  <a:cs typeface="+mn-cs"/>
                </a:rPr>
                <a:t>·</a:t>
              </a:r>
              <a:r>
                <a:rPr lang="ko-KR" sz="1200" dirty="0">
                  <a:solidFill>
                    <a:schemeClr val="dk1"/>
                  </a:solidFill>
                  <a:latin typeface="Consolas"/>
                  <a:ea typeface="Consolas"/>
                  <a:cs typeface="Consolas"/>
                </a:rPr>
                <a:t>verify_default</a:t>
              </a:r>
              <a:r>
                <a:rPr lang="ko-KR" sz="1200" dirty="0">
                  <a:solidFill>
                    <a:schemeClr val="dk1"/>
                  </a:solidFill>
                  <a:latin typeface="+mn-lt"/>
                  <a:ea typeface="+mn-ea"/>
                  <a:cs typeface="+mn-cs"/>
                </a:rPr>
                <a:t xml:space="preserve"> 채움 · REPLACE-ME 가 남으면 fw run 거부</a:t>
              </a:r>
            </a:p>
          </p:txBody>
        </p:sp>
      </p:grpSp>
      <p:grpSp>
        <p:nvGrpSpPr>
          <p:cNvPr id="64" name="Group 64"/>
          <p:cNvGrpSpPr/>
          <p:nvPr/>
        </p:nvGrpSpPr>
        <p:grpSpPr>
          <a:xfrm>
            <a:off x="604266" y="6516052"/>
            <a:ext cx="10983468" cy="205359"/>
            <a:chOff x="604266" y="6516052"/>
            <a:chExt cx="10983468" cy="205359"/>
          </a:xfrm>
        </p:grpSpPr>
        <p:sp>
          <p:nvSpPr>
            <p:cNvPr id="62" name="TextBox 62"/>
            <p:cNvSpPr txBox="1"/>
            <p:nvPr/>
          </p:nvSpPr>
          <p:spPr>
            <a:xfrm>
              <a:off x="604266" y="6516052"/>
              <a:ext cx="4475466"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feature-workflow · plugins/feature-workflow/README.md §7.3</a:t>
              </a:r>
            </a:p>
          </p:txBody>
        </p:sp>
        <p:sp>
          <p:nvSpPr>
            <p:cNvPr id="63" name="TextBox 63"/>
            <p:cNvSpPr txBox="1"/>
            <p:nvPr/>
          </p:nvSpPr>
          <p:spPr>
            <a:xfrm>
              <a:off x="11103540" y="65160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15 / 19</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01980" y="428625"/>
            <a:ext cx="3023616" cy="293370"/>
            <a:chOff x="601980" y="428625"/>
            <a:chExt cx="3023616" cy="293370"/>
          </a:xfrm>
        </p:grpSpPr>
        <p:sp>
          <p:nvSpPr>
            <p:cNvPr id="2" name="TextBox 2"/>
            <p:cNvSpPr txBox="1"/>
            <p:nvPr/>
          </p:nvSpPr>
          <p:spPr>
            <a:xfrm>
              <a:off x="601980" y="428625"/>
              <a:ext cx="3023616" cy="293370"/>
            </a:xfrm>
            <a:prstGeom prst="rect">
              <a:avLst/>
            </a:prstGeom>
            <a:noFill/>
            <a:ln>
              <a:noFill/>
            </a:ln>
          </p:spPr>
          <p:txBody>
            <a:bodyPr wrap="none" lIns="0" tIns="0" rIns="0" bIns="0" anchor="t" anchorCtr="0">
              <a:spAutoFit/>
            </a:bodyPr>
            <a:lstStyle/>
            <a:p>
              <a:pPr algn="l"/>
              <a:r>
                <a:rPr lang="ko-KR" sz="1500" spc="150" dirty="0">
                  <a:solidFill>
                    <a:schemeClr val="accent5"/>
                  </a:solidFill>
                  <a:latin typeface="Consolas"/>
                  <a:ea typeface="Microsoft YaHei"/>
                  <a:cs typeface="Consolas"/>
                </a:rPr>
                <a:t>PART 03 · 실습 — 밤과 아침</a:t>
              </a:r>
            </a:p>
          </p:txBody>
        </p:sp>
      </p:grpSp>
      <p:grpSp>
        <p:nvGrpSpPr>
          <p:cNvPr id="5" name="Group 5"/>
          <p:cNvGrpSpPr/>
          <p:nvPr/>
        </p:nvGrpSpPr>
        <p:grpSpPr>
          <a:xfrm>
            <a:off x="593598" y="822008"/>
            <a:ext cx="7997000" cy="1111377"/>
            <a:chOff x="593598" y="822008"/>
            <a:chExt cx="7997000" cy="1111377"/>
          </a:xfrm>
        </p:grpSpPr>
        <p:sp>
          <p:nvSpPr>
            <p:cNvPr id="4" name="TextBox 4"/>
            <p:cNvSpPr txBox="1"/>
            <p:nvPr/>
          </p:nvSpPr>
          <p:spPr>
            <a:xfrm>
              <a:off x="593598" y="822008"/>
              <a:ext cx="7997000" cy="1111377"/>
            </a:xfrm>
            <a:prstGeom prst="rect">
              <a:avLst/>
            </a:prstGeom>
            <a:noFill/>
            <a:ln>
              <a:noFill/>
            </a:ln>
          </p:spPr>
          <p:txBody>
            <a:bodyPr wrap="none" lIns="0" tIns="0" rIns="0" bIns="0" anchor="t" anchorCtr="0">
              <a:spAutoFit/>
            </a:bodyPr>
            <a:lstStyle/>
            <a:p>
              <a:pPr algn="l">
                <a:lnSpc>
                  <a:spcPts val="3900"/>
                </a:lnSpc>
              </a:pPr>
              <a:r>
                <a:rPr lang="ko-KR" sz="3150" b="1" dirty="0">
                  <a:solidFill>
                    <a:schemeClr val="dk1"/>
                  </a:solidFill>
                  <a:latin typeface="+mn-lt"/>
                  <a:ea typeface="+mn-ea"/>
                  <a:cs typeface="+mn-cs"/>
                </a:rPr>
                <a:t xml:space="preserve">밤에는 </a:t>
              </a:r>
              <a:r>
                <a:rPr lang="ko-KR" sz="3150" b="1" dirty="0">
                  <a:solidFill>
                    <a:schemeClr val="accent1"/>
                  </a:solidFill>
                  <a:latin typeface="+mn-lt"/>
                  <a:ea typeface="+mn-ea"/>
                  <a:cs typeface="+mn-cs"/>
                </a:rPr>
                <a:t>상한</a:t>
              </a:r>
              <a:r>
                <a:rPr lang="ko-KR" sz="3150" b="1" dirty="0">
                  <a:solidFill>
                    <a:schemeClr val="dk1"/>
                  </a:solidFill>
                  <a:latin typeface="+mn-lt"/>
                  <a:ea typeface="+mn-ea"/>
                  <a:cs typeface="+mn-cs"/>
                </a:rPr>
                <a:t>을 걸고 맡기고, 아침에는</a:t>
              </a:r>
              <a:br/>
              <a:r>
                <a:rPr lang="ko-KR" sz="3150" b="1" dirty="0">
                  <a:solidFill>
                    <a:schemeClr val="accent2"/>
                  </a:solidFill>
                  <a:latin typeface="Consolas"/>
                  <a:ea typeface="Consolas"/>
                  <a:cs typeface="Consolas"/>
                </a:rPr>
                <a:t>report → VERIFY.md → git log</a:t>
              </a:r>
              <a:r>
                <a:rPr lang="ko-KR" sz="3150" b="1" dirty="0">
                  <a:solidFill>
                    <a:schemeClr val="dk1"/>
                  </a:solidFill>
                  <a:latin typeface="+mn-lt"/>
                  <a:ea typeface="+mn-ea"/>
                  <a:cs typeface="+mn-cs"/>
                </a:rPr>
                <a:t xml:space="preserve"> 순으로 본다</a:t>
              </a:r>
            </a:p>
          </p:txBody>
        </p:sp>
      </p:grpSp>
      <p:grpSp>
        <p:nvGrpSpPr>
          <p:cNvPr id="13" name="Group 13"/>
          <p:cNvGrpSpPr/>
          <p:nvPr/>
        </p:nvGrpSpPr>
        <p:grpSpPr>
          <a:xfrm>
            <a:off x="609600" y="1943100"/>
            <a:ext cx="5334000" cy="1409700"/>
            <a:chOff x="609600" y="1943100"/>
            <a:chExt cx="5334000" cy="1409700"/>
          </a:xfrm>
        </p:grpSpPr>
        <p:sp>
          <p:nvSpPr>
            <p:cNvPr id="6" name="Rectangle 6"/>
            <p:cNvSpPr/>
            <p:nvPr/>
          </p:nvSpPr>
          <p:spPr>
            <a:xfrm>
              <a:off x="609600" y="1943100"/>
              <a:ext cx="5334000" cy="1409700"/>
            </a:xfrm>
            <a:prstGeom prst="roundRect">
              <a:avLst>
                <a:gd name="adj" fmla="val 4054"/>
              </a:avLst>
            </a:prstGeom>
            <a:solidFill>
              <a:schemeClr val="lt2">
                <a:alpha val="60000"/>
              </a:schemeClr>
            </a:solidFill>
            <a:ln w="19050">
              <a:solidFill>
                <a:schemeClr val="accent6"/>
              </a:solidFill>
            </a:ln>
          </p:spPr>
        </p:sp>
        <p:sp>
          <p:nvSpPr>
            <p:cNvPr id="7" name="Freeform 7"/>
            <p:cNvSpPr/>
            <p:nvPr/>
          </p:nvSpPr>
          <p:spPr>
            <a:xfrm>
              <a:off x="785709" y="2085899"/>
              <a:ext cx="169773" cy="179673"/>
            </a:xfrm>
            <a:custGeom>
              <a:avLst/>
              <a:gdLst/>
              <a:ahLst/>
              <a:cxnLst/>
              <a:rect l="l" t="t" r="r" b="b"/>
              <a:pathLst>
                <a:path w="169773" h="179673">
                  <a:moveTo>
                    <a:pt x="90591" y="76"/>
                  </a:moveTo>
                  <a:cubicBezTo>
                    <a:pt x="91849" y="76"/>
                    <a:pt x="93097" y="76"/>
                    <a:pt x="94335" y="76"/>
                  </a:cubicBezTo>
                  <a:cubicBezTo>
                    <a:pt x="69085" y="23538"/>
                    <a:pt x="64188" y="61682"/>
                    <a:pt x="82693" y="90761"/>
                  </a:cubicBezTo>
                  <a:cubicBezTo>
                    <a:pt x="101197" y="119840"/>
                    <a:pt x="137825" y="131560"/>
                    <a:pt x="169773" y="118624"/>
                  </a:cubicBezTo>
                  <a:cubicBezTo>
                    <a:pt x="153269" y="158335"/>
                    <a:pt x="109897" y="179673"/>
                    <a:pt x="68366" y="168513"/>
                  </a:cubicBezTo>
                  <a:cubicBezTo>
                    <a:pt x="26835" y="157354"/>
                    <a:pt x="0" y="117150"/>
                    <a:pt x="5623" y="74516"/>
                  </a:cubicBezTo>
                  <a:cubicBezTo>
                    <a:pt x="11246" y="31881"/>
                    <a:pt x="47587" y="10"/>
                    <a:pt x="90591" y="0"/>
                  </a:cubicBezTo>
                  <a:lnTo>
                    <a:pt x="90591" y="76"/>
                  </a:lnTo>
                </a:path>
              </a:pathLst>
            </a:custGeom>
            <a:noFill/>
            <a:ln w="19050">
              <a:solidFill>
                <a:schemeClr val="accent1"/>
              </a:solidFill>
            </a:ln>
          </p:spPr>
        </p:sp>
        <p:sp>
          <p:nvSpPr>
            <p:cNvPr id="8" name="TextBox 8"/>
            <p:cNvSpPr txBox="1"/>
            <p:nvPr/>
          </p:nvSpPr>
          <p:spPr>
            <a:xfrm>
              <a:off x="1059942" y="2092642"/>
              <a:ext cx="2986025" cy="264033"/>
            </a:xfrm>
            <a:prstGeom prst="rect">
              <a:avLst/>
            </a:prstGeom>
            <a:noFill/>
            <a:ln>
              <a:noFill/>
            </a:ln>
          </p:spPr>
          <p:txBody>
            <a:bodyPr wrap="none" lIns="0" tIns="0" rIns="0" bIns="0" anchor="t" anchorCtr="0">
              <a:spAutoFit/>
            </a:bodyPr>
            <a:lstStyle/>
            <a:p>
              <a:pPr algn="l"/>
              <a:r>
                <a:rPr lang="ko-KR" sz="1350" b="1" dirty="0">
                  <a:solidFill>
                    <a:schemeClr val="dk1"/>
                  </a:solidFill>
                  <a:latin typeface="+mn-lt"/>
                  <a:ea typeface="+mn-ea"/>
                  <a:cs typeface="+mn-cs"/>
                </a:rPr>
                <a:t>밤 — nohup 으로 띄우고 상한을 건다</a:t>
              </a:r>
            </a:p>
          </p:txBody>
        </p:sp>
        <p:sp>
          <p:nvSpPr>
            <p:cNvPr id="9" name="Rectangle 9"/>
            <p:cNvSpPr/>
            <p:nvPr/>
          </p:nvSpPr>
          <p:spPr>
            <a:xfrm>
              <a:off x="762000" y="2381250"/>
              <a:ext cx="5029200" cy="285750"/>
            </a:xfrm>
            <a:prstGeom prst="roundRect">
              <a:avLst>
                <a:gd name="adj" fmla="val 13333"/>
              </a:avLst>
            </a:prstGeom>
            <a:solidFill>
              <a:schemeClr val="lt1"/>
            </a:solidFill>
            <a:ln w="9525">
              <a:solidFill>
                <a:schemeClr val="accent6"/>
              </a:solidFill>
            </a:ln>
          </p:spPr>
        </p:sp>
        <p:sp>
          <p:nvSpPr>
            <p:cNvPr id="10" name="TextBox 10"/>
            <p:cNvSpPr txBox="1"/>
            <p:nvPr/>
          </p:nvSpPr>
          <p:spPr>
            <a:xfrm>
              <a:off x="869442" y="2435542"/>
              <a:ext cx="4384491"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Consolas"/>
                  <a:ea typeface="Consolas"/>
                  <a:cs typeface="Consolas"/>
                </a:rPr>
                <a:t>$</a:t>
              </a:r>
              <a:r>
                <a:rPr lang="ko-KR" sz="1350" dirty="0">
                  <a:solidFill>
                    <a:schemeClr val="dk1"/>
                  </a:solidFill>
                  <a:latin typeface="Consolas"/>
                  <a:ea typeface="Consolas"/>
                  <a:cs typeface="Consolas"/>
                </a:rPr>
                <a:t xml:space="preserve"> nohup fw run order-migration &gt;/dev/null 2&gt;&amp;1 &amp;</a:t>
              </a:r>
            </a:p>
          </p:txBody>
        </p:sp>
        <p:sp>
          <p:nvSpPr>
            <p:cNvPr id="11" name="TextBox 11"/>
            <p:cNvSpPr txBox="1"/>
            <p:nvPr/>
          </p:nvSpPr>
          <p:spPr>
            <a:xfrm>
              <a:off x="756666" y="2763202"/>
              <a:ext cx="4760062"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 xml:space="preserve">콘솔 출력은 </a:t>
              </a:r>
              <a:r>
                <a:rPr lang="ko-KR" sz="1050" dirty="0">
                  <a:solidFill>
                    <a:schemeClr val="dk1"/>
                  </a:solidFill>
                  <a:latin typeface="Consolas"/>
                  <a:ea typeface="Consolas"/>
                  <a:cs typeface="Consolas"/>
                </a:rPr>
                <a:t>docs/order-migration/logs/run-&lt;ts&gt;.log</a:t>
              </a:r>
              <a:r>
                <a:rPr lang="ko-KR" sz="1050" dirty="0">
                  <a:solidFill>
                    <a:schemeClr val="accent5"/>
                  </a:solidFill>
                  <a:latin typeface="+mn-lt"/>
                  <a:ea typeface="+mn-ea"/>
                  <a:cs typeface="+mn-cs"/>
                </a:rPr>
                <a:t xml:space="preserve"> 에 그대로 남는다</a:t>
              </a:r>
            </a:p>
          </p:txBody>
        </p:sp>
        <p:sp>
          <p:nvSpPr>
            <p:cNvPr id="12" name="TextBox 12"/>
            <p:cNvSpPr txBox="1"/>
            <p:nvPr/>
          </p:nvSpPr>
          <p:spPr>
            <a:xfrm>
              <a:off x="755904" y="3032760"/>
              <a:ext cx="4519270" cy="234696"/>
            </a:xfrm>
            <a:prstGeom prst="rect">
              <a:avLst/>
            </a:prstGeom>
            <a:noFill/>
            <a:ln>
              <a:noFill/>
            </a:ln>
          </p:spPr>
          <p:txBody>
            <a:bodyPr wrap="none" lIns="0" tIns="0" rIns="0" bIns="0" anchor="t" anchorCtr="0">
              <a:spAutoFit/>
            </a:bodyPr>
            <a:lstStyle/>
            <a:p>
              <a:pPr algn="l"/>
              <a:r>
                <a:rPr lang="ko-KR" sz="1200" dirty="0">
                  <a:solidFill>
                    <a:schemeClr val="accent1"/>
                  </a:solidFill>
                  <a:latin typeface="Consolas"/>
                  <a:ea typeface="Consolas"/>
                  <a:cs typeface="Consolas"/>
                </a:rPr>
                <a:t xml:space="preserve">"max_cost_usd": 30 · "max_runtime_ms": 28800000 </a:t>
              </a:r>
              <a:r>
                <a:rPr lang="ko-KR" sz="1200" dirty="0">
                  <a:solidFill>
                    <a:schemeClr val="accent5"/>
                  </a:solidFill>
                  <a:latin typeface="Consolas"/>
                  <a:ea typeface="Consolas"/>
                  <a:cs typeface="Consolas"/>
                </a:rPr>
                <a:t>(8h)</a:t>
              </a:r>
            </a:p>
          </p:txBody>
        </p:sp>
      </p:grpSp>
      <p:grpSp>
        <p:nvGrpSpPr>
          <p:cNvPr id="25" name="Group 25"/>
          <p:cNvGrpSpPr/>
          <p:nvPr/>
        </p:nvGrpSpPr>
        <p:grpSpPr>
          <a:xfrm>
            <a:off x="6248400" y="1943100"/>
            <a:ext cx="5334000" cy="1409700"/>
            <a:chOff x="6248400" y="1943100"/>
            <a:chExt cx="5334000" cy="1409700"/>
          </a:xfrm>
        </p:grpSpPr>
        <p:sp>
          <p:nvSpPr>
            <p:cNvPr id="14" name="Rectangle 14"/>
            <p:cNvSpPr/>
            <p:nvPr/>
          </p:nvSpPr>
          <p:spPr>
            <a:xfrm>
              <a:off x="6248400" y="1943100"/>
              <a:ext cx="5334000" cy="1409700"/>
            </a:xfrm>
            <a:prstGeom prst="roundRect">
              <a:avLst>
                <a:gd name="adj" fmla="val 4054"/>
              </a:avLst>
            </a:prstGeom>
            <a:solidFill>
              <a:schemeClr val="lt2">
                <a:alpha val="60000"/>
              </a:schemeClr>
            </a:solidFill>
            <a:ln w="19050">
              <a:solidFill>
                <a:schemeClr val="accent6"/>
              </a:solidFill>
            </a:ln>
          </p:spPr>
        </p:sp>
        <p:grpSp>
          <p:nvGrpSpPr>
            <p:cNvPr id="17" name="Group 17"/>
            <p:cNvGrpSpPr/>
            <p:nvPr/>
          </p:nvGrpSpPr>
          <p:grpSpPr>
            <a:xfrm>
              <a:off x="6429375" y="2114550"/>
              <a:ext cx="171450" cy="114300"/>
              <a:chOff x="6429375" y="2114550"/>
              <a:chExt cx="171450" cy="114300"/>
            </a:xfrm>
          </p:grpSpPr>
          <p:sp>
            <p:nvSpPr>
              <p:cNvPr id="15" name="Freeform 15"/>
              <p:cNvSpPr/>
              <p:nvPr/>
            </p:nvSpPr>
            <p:spPr>
              <a:xfrm>
                <a:off x="6496050" y="2152650"/>
                <a:ext cx="38100" cy="38100"/>
              </a:xfrm>
              <a:custGeom>
                <a:avLst/>
                <a:gdLst/>
                <a:ahLst/>
                <a:cxnLst/>
                <a:rect l="l" t="t" r="r" b="b"/>
                <a:pathLst>
                  <a:path w="38100" h="38100">
                    <a:moveTo>
                      <a:pt x="0" y="19050"/>
                    </a:moveTo>
                    <a:cubicBezTo>
                      <a:pt x="0" y="29571"/>
                      <a:pt x="8529" y="38100"/>
                      <a:pt x="19050" y="38100"/>
                    </a:cubicBezTo>
                    <a:cubicBezTo>
                      <a:pt x="29571" y="38100"/>
                      <a:pt x="38100" y="29571"/>
                      <a:pt x="38100" y="19050"/>
                    </a:cubicBezTo>
                    <a:cubicBezTo>
                      <a:pt x="38100" y="8529"/>
                      <a:pt x="29571" y="0"/>
                      <a:pt x="19050" y="0"/>
                    </a:cubicBezTo>
                    <a:cubicBezTo>
                      <a:pt x="8529" y="0"/>
                      <a:pt x="0" y="8529"/>
                      <a:pt x="0" y="19050"/>
                    </a:cubicBezTo>
                  </a:path>
                </a:pathLst>
              </a:custGeom>
              <a:noFill/>
              <a:ln w="19050">
                <a:solidFill>
                  <a:schemeClr val="accent1"/>
                </a:solidFill>
              </a:ln>
            </p:spPr>
          </p:sp>
          <p:sp>
            <p:nvSpPr>
              <p:cNvPr id="16" name="Freeform 16"/>
              <p:cNvSpPr/>
              <p:nvPr/>
            </p:nvSpPr>
            <p:spPr>
              <a:xfrm>
                <a:off x="6429375" y="2114550"/>
                <a:ext cx="171450" cy="114300"/>
              </a:xfrm>
              <a:custGeom>
                <a:avLst/>
                <a:gdLst/>
                <a:ahLst/>
                <a:cxnLst/>
                <a:rect l="l" t="t" r="r" b="b"/>
                <a:pathLst>
                  <a:path w="171450" h="114300">
                    <a:moveTo>
                      <a:pt x="171450" y="57150"/>
                    </a:moveTo>
                    <a:cubicBezTo>
                      <a:pt x="148590" y="95250"/>
                      <a:pt x="120015" y="114300"/>
                      <a:pt x="85725" y="114300"/>
                    </a:cubicBezTo>
                    <a:cubicBezTo>
                      <a:pt x="51435" y="114300"/>
                      <a:pt x="22860" y="95250"/>
                      <a:pt x="0" y="57150"/>
                    </a:cubicBezTo>
                    <a:cubicBezTo>
                      <a:pt x="22860" y="19050"/>
                      <a:pt x="51435" y="0"/>
                      <a:pt x="85725" y="0"/>
                    </a:cubicBezTo>
                    <a:cubicBezTo>
                      <a:pt x="120015" y="0"/>
                      <a:pt x="148590" y="19050"/>
                      <a:pt x="171450" y="57150"/>
                    </a:cubicBezTo>
                  </a:path>
                </a:pathLst>
              </a:custGeom>
              <a:noFill/>
              <a:ln w="19050">
                <a:solidFill>
                  <a:schemeClr val="accent1"/>
                </a:solidFill>
              </a:ln>
            </p:spPr>
          </p:sp>
        </p:grpSp>
        <p:sp>
          <p:nvSpPr>
            <p:cNvPr id="18" name="TextBox 18"/>
            <p:cNvSpPr txBox="1"/>
            <p:nvPr/>
          </p:nvSpPr>
          <p:spPr>
            <a:xfrm>
              <a:off x="6698742" y="2092642"/>
              <a:ext cx="2929686" cy="264033"/>
            </a:xfrm>
            <a:prstGeom prst="rect">
              <a:avLst/>
            </a:prstGeom>
            <a:noFill/>
            <a:ln>
              <a:noFill/>
            </a:ln>
          </p:spPr>
          <p:txBody>
            <a:bodyPr wrap="none" lIns="0" tIns="0" rIns="0" bIns="0" anchor="t" anchorCtr="0">
              <a:spAutoFit/>
            </a:bodyPr>
            <a:lstStyle/>
            <a:p>
              <a:pPr algn="l"/>
              <a:r>
                <a:rPr lang="ko-KR" sz="1350" b="1" dirty="0">
                  <a:solidFill>
                    <a:schemeClr val="dk1"/>
                  </a:solidFill>
                  <a:latin typeface="+mn-lt"/>
                  <a:ea typeface="+mn-ea"/>
                  <a:cs typeface="+mn-cs"/>
                </a:rPr>
                <a:t>관측 명령 3종 — 묻는 질문이 다르다</a:t>
              </a:r>
            </a:p>
          </p:txBody>
        </p:sp>
        <p:sp>
          <p:nvSpPr>
            <p:cNvPr id="19" name="TextBox 19"/>
            <p:cNvSpPr txBox="1"/>
            <p:nvPr/>
          </p:nvSpPr>
          <p:spPr>
            <a:xfrm>
              <a:off x="6394704" y="2423160"/>
              <a:ext cx="803758" cy="234696"/>
            </a:xfrm>
            <a:prstGeom prst="rect">
              <a:avLst/>
            </a:prstGeom>
            <a:noFill/>
            <a:ln>
              <a:noFill/>
            </a:ln>
          </p:spPr>
          <p:txBody>
            <a:bodyPr wrap="none" lIns="0" tIns="0" rIns="0" bIns="0" anchor="t" anchorCtr="0">
              <a:spAutoFit/>
            </a:bodyPr>
            <a:lstStyle/>
            <a:p>
              <a:pPr algn="l"/>
              <a:r>
                <a:rPr lang="ko-KR" sz="1200" dirty="0">
                  <a:solidFill>
                    <a:schemeClr val="accent1"/>
                  </a:solidFill>
                  <a:latin typeface="Consolas"/>
                  <a:ea typeface="Consolas"/>
                  <a:cs typeface="Consolas"/>
                </a:rPr>
                <a:t>fw status</a:t>
              </a:r>
            </a:p>
          </p:txBody>
        </p:sp>
        <p:sp>
          <p:nvSpPr>
            <p:cNvPr id="20" name="TextBox 20"/>
            <p:cNvSpPr txBox="1"/>
            <p:nvPr/>
          </p:nvSpPr>
          <p:spPr>
            <a:xfrm>
              <a:off x="7805166" y="2439352"/>
              <a:ext cx="2851823"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지금 어디까지 — 상태·체크리스트·비용·질문</a:t>
              </a:r>
            </a:p>
          </p:txBody>
        </p:sp>
        <p:sp>
          <p:nvSpPr>
            <p:cNvPr id="21" name="TextBox 21"/>
            <p:cNvSpPr txBox="1"/>
            <p:nvPr/>
          </p:nvSpPr>
          <p:spPr>
            <a:xfrm>
              <a:off x="6394704" y="2708910"/>
              <a:ext cx="1181892" cy="234696"/>
            </a:xfrm>
            <a:prstGeom prst="rect">
              <a:avLst/>
            </a:prstGeom>
            <a:noFill/>
            <a:ln>
              <a:noFill/>
            </a:ln>
          </p:spPr>
          <p:txBody>
            <a:bodyPr wrap="none" lIns="0" tIns="0" rIns="0" bIns="0" anchor="t" anchorCtr="0">
              <a:spAutoFit/>
            </a:bodyPr>
            <a:lstStyle/>
            <a:p>
              <a:pPr algn="l"/>
              <a:r>
                <a:rPr lang="ko-KR" sz="1200" dirty="0">
                  <a:solidFill>
                    <a:schemeClr val="accent1"/>
                  </a:solidFill>
                  <a:latin typeface="Consolas"/>
                  <a:ea typeface="Consolas"/>
                  <a:cs typeface="Consolas"/>
                </a:rPr>
                <a:t>fw log --last N</a:t>
              </a:r>
            </a:p>
          </p:txBody>
        </p:sp>
        <p:sp>
          <p:nvSpPr>
            <p:cNvPr id="22" name="TextBox 22"/>
            <p:cNvSpPr txBox="1"/>
            <p:nvPr/>
          </p:nvSpPr>
          <p:spPr>
            <a:xfrm>
              <a:off x="7805166" y="2725102"/>
              <a:ext cx="2827520"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왜 멈췼나 — 세션 이력·run 로그·마지막 N줄</a:t>
              </a:r>
            </a:p>
          </p:txBody>
        </p:sp>
        <p:sp>
          <p:nvSpPr>
            <p:cNvPr id="23" name="TextBox 23"/>
            <p:cNvSpPr txBox="1"/>
            <p:nvPr/>
          </p:nvSpPr>
          <p:spPr>
            <a:xfrm>
              <a:off x="6394704" y="2994660"/>
              <a:ext cx="803758" cy="234696"/>
            </a:xfrm>
            <a:prstGeom prst="rect">
              <a:avLst/>
            </a:prstGeom>
            <a:noFill/>
            <a:ln>
              <a:noFill/>
            </a:ln>
          </p:spPr>
          <p:txBody>
            <a:bodyPr wrap="none" lIns="0" tIns="0" rIns="0" bIns="0" anchor="t" anchorCtr="0">
              <a:spAutoFit/>
            </a:bodyPr>
            <a:lstStyle/>
            <a:p>
              <a:pPr algn="l"/>
              <a:r>
                <a:rPr lang="ko-KR" sz="1200" dirty="0">
                  <a:solidFill>
                    <a:schemeClr val="accent1"/>
                  </a:solidFill>
                  <a:latin typeface="Consolas"/>
                  <a:ea typeface="Consolas"/>
                  <a:cs typeface="Consolas"/>
                </a:rPr>
                <a:t>fw report</a:t>
              </a:r>
            </a:p>
          </p:txBody>
        </p:sp>
        <p:sp>
          <p:nvSpPr>
            <p:cNvPr id="24" name="TextBox 24"/>
            <p:cNvSpPr txBox="1"/>
            <p:nvPr/>
          </p:nvSpPr>
          <p:spPr>
            <a:xfrm>
              <a:off x="7805166" y="3010852"/>
              <a:ext cx="2844756"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잘 돌아갔나 — 회송 사유·findings·다음 목표</a:t>
              </a:r>
            </a:p>
          </p:txBody>
        </p:sp>
      </p:grpSp>
      <p:grpSp>
        <p:nvGrpSpPr>
          <p:cNvPr id="63" name="Group 63"/>
          <p:cNvGrpSpPr/>
          <p:nvPr/>
        </p:nvGrpSpPr>
        <p:grpSpPr>
          <a:xfrm>
            <a:off x="609600" y="3511868"/>
            <a:ext cx="10892054" cy="2571369"/>
            <a:chOff x="609600" y="3511868"/>
            <a:chExt cx="10892054" cy="2571369"/>
          </a:xfrm>
        </p:grpSpPr>
        <p:grpSp>
          <p:nvGrpSpPr>
            <p:cNvPr id="29" name="Group 29"/>
            <p:cNvGrpSpPr/>
            <p:nvPr/>
          </p:nvGrpSpPr>
          <p:grpSpPr>
            <a:xfrm>
              <a:off x="638175" y="3514725"/>
              <a:ext cx="171450" cy="180975"/>
              <a:chOff x="638175" y="3514725"/>
              <a:chExt cx="171450" cy="180975"/>
            </a:xfrm>
          </p:grpSpPr>
          <p:sp>
            <p:nvSpPr>
              <p:cNvPr id="26" name="Freeform 26"/>
              <p:cNvSpPr/>
              <p:nvPr/>
            </p:nvSpPr>
            <p:spPr>
              <a:xfrm>
                <a:off x="638175" y="3587115"/>
                <a:ext cx="171450" cy="60960"/>
              </a:xfrm>
              <a:custGeom>
                <a:avLst/>
                <a:gdLst/>
                <a:ahLst/>
                <a:cxnLst/>
                <a:rect l="l" t="t" r="r" b="b"/>
                <a:pathLst>
                  <a:path w="171450" h="60960">
                    <a:moveTo>
                      <a:pt x="0" y="60960"/>
                    </a:moveTo>
                    <a:lnTo>
                      <a:pt x="9525" y="60960"/>
                    </a:lnTo>
                    <a:moveTo>
                      <a:pt x="161925" y="60960"/>
                    </a:moveTo>
                    <a:lnTo>
                      <a:pt x="171450" y="60960"/>
                    </a:lnTo>
                    <a:moveTo>
                      <a:pt x="24765" y="0"/>
                    </a:moveTo>
                    <a:lnTo>
                      <a:pt x="31432" y="6667"/>
                    </a:lnTo>
                    <a:moveTo>
                      <a:pt x="146685" y="0"/>
                    </a:moveTo>
                    <a:lnTo>
                      <a:pt x="140018" y="6667"/>
                    </a:lnTo>
                    <a:moveTo>
                      <a:pt x="47625" y="60960"/>
                    </a:moveTo>
                    <a:cubicBezTo>
                      <a:pt x="47625" y="39918"/>
                      <a:pt x="64683" y="22860"/>
                      <a:pt x="85725" y="22860"/>
                    </a:cubicBezTo>
                    <a:cubicBezTo>
                      <a:pt x="106767" y="22860"/>
                      <a:pt x="123825" y="39918"/>
                      <a:pt x="123825" y="60960"/>
                    </a:cubicBezTo>
                  </a:path>
                </a:pathLst>
              </a:custGeom>
              <a:noFill/>
              <a:ln w="19050">
                <a:solidFill>
                  <a:schemeClr val="accent2"/>
                </a:solidFill>
              </a:ln>
            </p:spPr>
          </p:sp>
          <p:sp>
            <p:nvSpPr>
              <p:cNvPr id="27" name="Freeform 27"/>
              <p:cNvSpPr/>
              <p:nvPr/>
            </p:nvSpPr>
            <p:spPr>
              <a:xfrm>
                <a:off x="638175" y="3686175"/>
                <a:ext cx="171450" cy="9525"/>
              </a:xfrm>
              <a:custGeom>
                <a:avLst/>
                <a:gdLst/>
                <a:ahLst/>
                <a:cxnLst/>
                <a:rect l="l" t="t" r="r" b="b"/>
                <a:pathLst>
                  <a:path w="171450" h="9525">
                    <a:moveTo>
                      <a:pt x="0" y="0"/>
                    </a:moveTo>
                    <a:lnTo>
                      <a:pt x="171450" y="0"/>
                    </a:lnTo>
                  </a:path>
                </a:pathLst>
              </a:custGeom>
              <a:noFill/>
              <a:ln w="19050">
                <a:solidFill>
                  <a:schemeClr val="accent2"/>
                </a:solidFill>
              </a:ln>
            </p:spPr>
          </p:sp>
          <p:sp>
            <p:nvSpPr>
              <p:cNvPr id="28" name="Freeform 28"/>
              <p:cNvSpPr/>
              <p:nvPr/>
            </p:nvSpPr>
            <p:spPr>
              <a:xfrm>
                <a:off x="695325" y="3514725"/>
                <a:ext cx="57150" cy="57150"/>
              </a:xfrm>
              <a:custGeom>
                <a:avLst/>
                <a:gdLst/>
                <a:ahLst/>
                <a:cxnLst/>
                <a:rect l="l" t="t" r="r" b="b"/>
                <a:pathLst>
                  <a:path w="57150" h="57150">
                    <a:moveTo>
                      <a:pt x="28575" y="57150"/>
                    </a:moveTo>
                    <a:lnTo>
                      <a:pt x="28575" y="0"/>
                    </a:lnTo>
                    <a:lnTo>
                      <a:pt x="57150" y="28575"/>
                    </a:lnTo>
                    <a:moveTo>
                      <a:pt x="0" y="28575"/>
                    </a:moveTo>
                    <a:lnTo>
                      <a:pt x="28575" y="0"/>
                    </a:lnTo>
                  </a:path>
                </a:pathLst>
              </a:custGeom>
              <a:noFill/>
              <a:ln w="19050">
                <a:solidFill>
                  <a:schemeClr val="accent2"/>
                </a:solidFill>
              </a:ln>
            </p:spPr>
          </p:sp>
        </p:grpSp>
        <p:sp>
          <p:nvSpPr>
            <p:cNvPr id="30" name="TextBox 30"/>
            <p:cNvSpPr txBox="1"/>
            <p:nvPr/>
          </p:nvSpPr>
          <p:spPr>
            <a:xfrm>
              <a:off x="907542" y="3511868"/>
              <a:ext cx="3006470" cy="264033"/>
            </a:xfrm>
            <a:prstGeom prst="rect">
              <a:avLst/>
            </a:prstGeom>
            <a:noFill/>
            <a:ln>
              <a:noFill/>
            </a:ln>
          </p:spPr>
          <p:txBody>
            <a:bodyPr wrap="none" lIns="0" tIns="0" rIns="0" bIns="0" anchor="t" anchorCtr="0">
              <a:spAutoFit/>
            </a:bodyPr>
            <a:lstStyle/>
            <a:p>
              <a:pPr algn="l"/>
              <a:r>
                <a:rPr lang="ko-KR" sz="1350" b="1" dirty="0">
                  <a:solidFill>
                    <a:schemeClr val="accent2"/>
                  </a:solidFill>
                  <a:latin typeface="+mn-lt"/>
                  <a:ea typeface="+mn-ea"/>
                  <a:cs typeface="+mn-cs"/>
                </a:rPr>
                <a:t>아침 — 알림 종류가 첫 명령을 정한다</a:t>
              </a:r>
            </a:p>
          </p:txBody>
        </p:sp>
        <p:sp>
          <p:nvSpPr>
            <p:cNvPr id="31" name="Freeform 31"/>
            <p:cNvSpPr/>
            <p:nvPr/>
          </p:nvSpPr>
          <p:spPr>
            <a:xfrm>
              <a:off x="609600" y="3810000"/>
              <a:ext cx="1619250" cy="666750"/>
            </a:xfrm>
            <a:prstGeom prst="flowChartDecision">
              <a:avLst/>
            </a:prstGeom>
            <a:solidFill>
              <a:srgbClr val="182238"/>
            </a:solidFill>
            <a:ln w="19050">
              <a:solidFill>
                <a:schemeClr val="accent2"/>
              </a:solidFill>
            </a:ln>
          </p:spPr>
        </p:sp>
        <p:sp>
          <p:nvSpPr>
            <p:cNvPr id="32" name="TextBox 32"/>
            <p:cNvSpPr txBox="1"/>
            <p:nvPr/>
          </p:nvSpPr>
          <p:spPr>
            <a:xfrm>
              <a:off x="1071115" y="4077652"/>
              <a:ext cx="696220" cy="205359"/>
            </a:xfrm>
            <a:prstGeom prst="rect">
              <a:avLst/>
            </a:prstGeom>
            <a:noFill/>
            <a:ln>
              <a:noFill/>
            </a:ln>
          </p:spPr>
          <p:txBody>
            <a:bodyPr wrap="none" lIns="0" tIns="0" rIns="0" bIns="0" anchor="t" anchorCtr="0">
              <a:spAutoFit/>
            </a:bodyPr>
            <a:lstStyle/>
            <a:p>
              <a:pPr algn="ctr"/>
              <a:r>
                <a:rPr lang="ko-KR" sz="1050" dirty="0">
                  <a:solidFill>
                    <a:schemeClr val="dk1"/>
                  </a:solidFill>
                  <a:latin typeface="+mn-lt"/>
                  <a:ea typeface="+mn-ea"/>
                  <a:cs typeface="+mn-cs"/>
                </a:rPr>
                <a:t>어떤 알림?</a:t>
              </a:r>
            </a:p>
          </p:txBody>
        </p:sp>
        <p:grpSp>
          <p:nvGrpSpPr>
            <p:cNvPr id="40" name="Group 40"/>
            <p:cNvGrpSpPr/>
            <p:nvPr/>
          </p:nvGrpSpPr>
          <p:grpSpPr>
            <a:xfrm>
              <a:off x="2228850" y="3924300"/>
              <a:ext cx="419100" cy="2019301"/>
              <a:chOff x="2228850" y="3924300"/>
              <a:chExt cx="419100" cy="2019301"/>
            </a:xfrm>
          </p:grpSpPr>
          <p:sp>
            <p:nvSpPr>
              <p:cNvPr id="33" name="Line 33"/>
              <p:cNvSpPr/>
              <p:nvPr/>
            </p:nvSpPr>
            <p:spPr>
              <a:xfrm>
                <a:off x="2228850" y="4143375"/>
                <a:ext cx="209550" cy="9525"/>
              </a:xfrm>
              <a:custGeom>
                <a:avLst/>
                <a:gdLst/>
                <a:ahLst/>
                <a:cxnLst/>
                <a:rect l="l" t="t" r="r" b="b"/>
                <a:pathLst>
                  <a:path w="209550" h="9525">
                    <a:moveTo>
                      <a:pt x="0" y="0"/>
                    </a:moveTo>
                    <a:lnTo>
                      <a:pt x="209550" y="0"/>
                    </a:lnTo>
                  </a:path>
                </a:pathLst>
              </a:custGeom>
              <a:noFill/>
              <a:ln w="19050">
                <a:solidFill>
                  <a:schemeClr val="accent2"/>
                </a:solidFill>
              </a:ln>
            </p:spPr>
          </p:sp>
          <p:sp>
            <p:nvSpPr>
              <p:cNvPr id="34" name="Line 34"/>
              <p:cNvSpPr/>
              <p:nvPr/>
            </p:nvSpPr>
            <p:spPr>
              <a:xfrm>
                <a:off x="2438400" y="3924300"/>
                <a:ext cx="9525" cy="2019300"/>
              </a:xfrm>
              <a:custGeom>
                <a:avLst/>
                <a:gdLst/>
                <a:ahLst/>
                <a:cxnLst/>
                <a:rect l="l" t="t" r="r" b="b"/>
                <a:pathLst>
                  <a:path w="9525" h="2019300">
                    <a:moveTo>
                      <a:pt x="0" y="0"/>
                    </a:moveTo>
                    <a:lnTo>
                      <a:pt x="0" y="2019300"/>
                    </a:lnTo>
                  </a:path>
                </a:pathLst>
              </a:custGeom>
              <a:noFill/>
              <a:ln w="19050">
                <a:solidFill>
                  <a:schemeClr val="accent2"/>
                </a:solidFill>
              </a:ln>
            </p:spPr>
          </p:sp>
          <p:sp>
            <p:nvSpPr>
              <p:cNvPr id="35" name="Line 35"/>
              <p:cNvSpPr/>
              <p:nvPr/>
            </p:nvSpPr>
            <p:spPr>
              <a:xfrm>
                <a:off x="2438400" y="3924300"/>
                <a:ext cx="209550" cy="1"/>
              </a:xfrm>
              <a:prstGeom prst="line">
                <a:avLst/>
              </a:prstGeom>
              <a:noFill/>
              <a:ln w="19050">
                <a:solidFill>
                  <a:schemeClr val="accent2"/>
                </a:solidFill>
                <a:tailEnd type="triangle" w="med" len="med"/>
              </a:ln>
            </p:spPr>
          </p:sp>
          <p:sp>
            <p:nvSpPr>
              <p:cNvPr id="36" name="Line 36"/>
              <p:cNvSpPr/>
              <p:nvPr/>
            </p:nvSpPr>
            <p:spPr>
              <a:xfrm>
                <a:off x="2438400" y="4429125"/>
                <a:ext cx="209550" cy="1"/>
              </a:xfrm>
              <a:prstGeom prst="line">
                <a:avLst/>
              </a:prstGeom>
              <a:noFill/>
              <a:ln w="19050">
                <a:solidFill>
                  <a:schemeClr val="accent2"/>
                </a:solidFill>
                <a:tailEnd type="triangle" w="med" len="med"/>
              </a:ln>
            </p:spPr>
          </p:sp>
          <p:sp>
            <p:nvSpPr>
              <p:cNvPr id="37" name="Line 37"/>
              <p:cNvSpPr/>
              <p:nvPr/>
            </p:nvSpPr>
            <p:spPr>
              <a:xfrm>
                <a:off x="2438400" y="4933950"/>
                <a:ext cx="209550" cy="1"/>
              </a:xfrm>
              <a:prstGeom prst="line">
                <a:avLst/>
              </a:prstGeom>
              <a:noFill/>
              <a:ln w="19050">
                <a:solidFill>
                  <a:schemeClr val="accent2"/>
                </a:solidFill>
                <a:tailEnd type="triangle" w="med" len="med"/>
              </a:ln>
            </p:spPr>
          </p:sp>
          <p:sp>
            <p:nvSpPr>
              <p:cNvPr id="38" name="Line 38"/>
              <p:cNvSpPr/>
              <p:nvPr/>
            </p:nvSpPr>
            <p:spPr>
              <a:xfrm>
                <a:off x="2438400" y="5438775"/>
                <a:ext cx="209550" cy="1"/>
              </a:xfrm>
              <a:prstGeom prst="line">
                <a:avLst/>
              </a:prstGeom>
              <a:noFill/>
              <a:ln w="19050">
                <a:solidFill>
                  <a:schemeClr val="accent2"/>
                </a:solidFill>
                <a:tailEnd type="triangle" w="med" len="med"/>
              </a:ln>
            </p:spPr>
          </p:sp>
          <p:sp>
            <p:nvSpPr>
              <p:cNvPr id="39" name="Line 39"/>
              <p:cNvSpPr/>
              <p:nvPr/>
            </p:nvSpPr>
            <p:spPr>
              <a:xfrm>
                <a:off x="2438400" y="5943600"/>
                <a:ext cx="209550" cy="1"/>
              </a:xfrm>
              <a:prstGeom prst="line">
                <a:avLst/>
              </a:prstGeom>
              <a:noFill/>
              <a:ln w="19050">
                <a:solidFill>
                  <a:schemeClr val="accent2"/>
                </a:solidFill>
                <a:tailEnd type="triangle" w="med" len="med"/>
              </a:ln>
            </p:spPr>
          </p:sp>
        </p:grpSp>
        <p:grpSp>
          <p:nvGrpSpPr>
            <p:cNvPr id="45" name="Group 45"/>
            <p:cNvGrpSpPr/>
            <p:nvPr/>
          </p:nvGrpSpPr>
          <p:grpSpPr>
            <a:xfrm>
              <a:off x="2667000" y="3772852"/>
              <a:ext cx="8834654" cy="395859"/>
              <a:chOff x="2667000" y="3772852"/>
              <a:chExt cx="8834654" cy="395859"/>
            </a:xfrm>
          </p:grpSpPr>
          <p:sp>
            <p:nvSpPr>
              <p:cNvPr id="41" name="Rectangle 41"/>
              <p:cNvSpPr/>
              <p:nvPr/>
            </p:nvSpPr>
            <p:spPr>
              <a:xfrm>
                <a:off x="2667000" y="3790950"/>
                <a:ext cx="1428750" cy="266700"/>
              </a:xfrm>
              <a:prstGeom prst="roundRect">
                <a:avLst>
                  <a:gd name="adj" fmla="val 50000"/>
                </a:avLst>
              </a:prstGeom>
              <a:solidFill>
                <a:srgbClr val="182238"/>
              </a:solidFill>
              <a:ln w="14288">
                <a:solidFill>
                  <a:srgbClr val="4ADE80"/>
                </a:solidFill>
              </a:ln>
            </p:spPr>
          </p:sp>
          <p:sp>
            <p:nvSpPr>
              <p:cNvPr id="42" name="TextBox 42"/>
              <p:cNvSpPr txBox="1"/>
              <p:nvPr/>
            </p:nvSpPr>
            <p:spPr>
              <a:xfrm>
                <a:off x="3019483" y="3858578"/>
                <a:ext cx="723784" cy="205359"/>
              </a:xfrm>
              <a:prstGeom prst="rect">
                <a:avLst/>
              </a:prstGeom>
              <a:noFill/>
              <a:ln>
                <a:noFill/>
              </a:ln>
            </p:spPr>
            <p:txBody>
              <a:bodyPr wrap="none" lIns="0" tIns="0" rIns="0" bIns="0" anchor="t" anchorCtr="0">
                <a:spAutoFit/>
              </a:bodyPr>
              <a:lstStyle/>
              <a:p>
                <a:pPr algn="ctr"/>
                <a:r>
                  <a:rPr lang="ko-KR" sz="1050" b="1" dirty="0">
                    <a:solidFill>
                      <a:srgbClr val="4ADE80"/>
                    </a:solidFill>
                    <a:latin typeface="+mn-lt"/>
                    <a:ea typeface="+mn-ea"/>
                    <a:cs typeface="+mn-cs"/>
                  </a:rPr>
                  <a:t>fw 완료 ✅</a:t>
                </a:r>
              </a:p>
            </p:txBody>
          </p:sp>
          <p:sp>
            <p:nvSpPr>
              <p:cNvPr id="43" name="TextBox 43"/>
              <p:cNvSpPr txBox="1"/>
              <p:nvPr/>
            </p:nvSpPr>
            <p:spPr>
              <a:xfrm>
                <a:off x="4242816" y="3772852"/>
                <a:ext cx="4860632" cy="205359"/>
              </a:xfrm>
              <a:prstGeom prst="rect">
                <a:avLst/>
              </a:prstGeom>
              <a:noFill/>
              <a:ln>
                <a:noFill/>
              </a:ln>
            </p:spPr>
            <p:txBody>
              <a:bodyPr wrap="none" lIns="0" tIns="0" rIns="0" bIns="0" anchor="t" anchorCtr="0">
                <a:spAutoFit/>
              </a:bodyPr>
              <a:lstStyle/>
              <a:p>
                <a:pPr algn="l"/>
                <a:r>
                  <a:rPr lang="ko-KR" sz="1050" dirty="0">
                    <a:solidFill>
                      <a:schemeClr val="accent1"/>
                    </a:solidFill>
                    <a:latin typeface="Consolas"/>
                    <a:ea typeface="Consolas"/>
                    <a:cs typeface="Consolas"/>
                  </a:rPr>
                  <a:t>fw report</a:t>
                </a:r>
                <a:r>
                  <a:rPr lang="ko-KR" sz="1050" dirty="0">
                    <a:solidFill>
                      <a:schemeClr val="dk1"/>
                    </a:solidFill>
                    <a:latin typeface="+mn-lt"/>
                    <a:ea typeface="+mn-ea"/>
                    <a:cs typeface="+mn-cs"/>
                  </a:rPr>
                  <a:t xml:space="preserve"> → </a:t>
                </a:r>
                <a:r>
                  <a:rPr lang="ko-KR" sz="1050" dirty="0">
                    <a:solidFill>
                      <a:schemeClr val="accent1"/>
                    </a:solidFill>
                    <a:latin typeface="Consolas"/>
                    <a:ea typeface="Consolas"/>
                    <a:cs typeface="Consolas"/>
                  </a:rPr>
                  <a:t>cat VERIFY.md</a:t>
                </a:r>
                <a:r>
                  <a:rPr lang="ko-KR" sz="1050" dirty="0">
                    <a:solidFill>
                      <a:schemeClr val="dk1"/>
                    </a:solidFill>
                    <a:latin typeface="+mn-lt"/>
                    <a:ea typeface="+mn-ea"/>
                    <a:cs typeface="+mn-cs"/>
                  </a:rPr>
                  <a:t xml:space="preserve">(이견 절 특히) → </a:t>
                </a:r>
                <a:r>
                  <a:rPr lang="ko-KR" sz="1050" dirty="0">
                    <a:solidFill>
                      <a:schemeClr val="accent1"/>
                    </a:solidFill>
                    <a:latin typeface="Consolas"/>
                    <a:ea typeface="Consolas"/>
                    <a:cs typeface="Consolas"/>
                  </a:rPr>
                  <a:t>git log feature/&lt;wf&gt;</a:t>
                </a:r>
                <a:r>
                  <a:rPr lang="ko-KR" sz="1050" dirty="0">
                    <a:solidFill>
                      <a:schemeClr val="dk1"/>
                    </a:solidFill>
                    <a:latin typeface="+mn-lt"/>
                    <a:ea typeface="+mn-ea"/>
                    <a:cs typeface="+mn-cs"/>
                  </a:rPr>
                  <a:t xml:space="preserve"> → 판정</a:t>
                </a:r>
              </a:p>
            </p:txBody>
          </p:sp>
          <p:sp>
            <p:nvSpPr>
              <p:cNvPr id="44" name="TextBox 44"/>
              <p:cNvSpPr txBox="1"/>
              <p:nvPr/>
            </p:nvSpPr>
            <p:spPr>
              <a:xfrm>
                <a:off x="4242816" y="3963352"/>
                <a:ext cx="7258838"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됐다 → PR/머지 · 다음 목표 제안을 새 사이클로 / 아니다 → findings 를 새 phase 로(PLAN 표 + STATE) → fw run</a:t>
                </a:r>
              </a:p>
            </p:txBody>
          </p:sp>
        </p:grpSp>
        <p:grpSp>
          <p:nvGrpSpPr>
            <p:cNvPr id="49" name="Group 49"/>
            <p:cNvGrpSpPr/>
            <p:nvPr/>
          </p:nvGrpSpPr>
          <p:grpSpPr>
            <a:xfrm>
              <a:off x="2667000" y="4295775"/>
              <a:ext cx="6573107" cy="272986"/>
              <a:chOff x="2667000" y="4295775"/>
              <a:chExt cx="6573107" cy="272986"/>
            </a:xfrm>
          </p:grpSpPr>
          <p:sp>
            <p:nvSpPr>
              <p:cNvPr id="46" name="Rectangle 46"/>
              <p:cNvSpPr/>
              <p:nvPr/>
            </p:nvSpPr>
            <p:spPr>
              <a:xfrm>
                <a:off x="2667000" y="4295775"/>
                <a:ext cx="1428750" cy="266700"/>
              </a:xfrm>
              <a:prstGeom prst="roundRect">
                <a:avLst>
                  <a:gd name="adj" fmla="val 50000"/>
                </a:avLst>
              </a:prstGeom>
              <a:solidFill>
                <a:srgbClr val="182238"/>
              </a:solidFill>
              <a:ln w="14288">
                <a:solidFill>
                  <a:schemeClr val="accent2"/>
                </a:solidFill>
              </a:ln>
            </p:spPr>
          </p:sp>
          <p:sp>
            <p:nvSpPr>
              <p:cNvPr id="47" name="TextBox 47"/>
              <p:cNvSpPr txBox="1"/>
              <p:nvPr/>
            </p:nvSpPr>
            <p:spPr>
              <a:xfrm>
                <a:off x="2938300" y="4363402"/>
                <a:ext cx="886151" cy="205359"/>
              </a:xfrm>
              <a:prstGeom prst="rect">
                <a:avLst/>
              </a:prstGeom>
              <a:noFill/>
              <a:ln>
                <a:noFill/>
              </a:ln>
            </p:spPr>
            <p:txBody>
              <a:bodyPr wrap="none" lIns="0" tIns="0" rIns="0" bIns="0" anchor="t" anchorCtr="0">
                <a:spAutoFit/>
              </a:bodyPr>
              <a:lstStyle/>
              <a:p>
                <a:pPr algn="ctr"/>
                <a:r>
                  <a:rPr lang="ko-KR" sz="1050" b="1" dirty="0">
                    <a:solidFill>
                      <a:schemeClr val="accent2"/>
                    </a:solidFill>
                    <a:latin typeface="+mn-lt"/>
                    <a:ea typeface="+mn-ea"/>
                    <a:cs typeface="+mn-cs"/>
                  </a:rPr>
                  <a:t>fw BLOCKED</a:t>
                </a:r>
              </a:p>
            </p:txBody>
          </p:sp>
          <p:sp>
            <p:nvSpPr>
              <p:cNvPr id="48" name="TextBox 48"/>
              <p:cNvSpPr txBox="1"/>
              <p:nvPr/>
            </p:nvSpPr>
            <p:spPr>
              <a:xfrm>
                <a:off x="4242816" y="4363402"/>
                <a:ext cx="4997291" cy="205359"/>
              </a:xfrm>
              <a:prstGeom prst="rect">
                <a:avLst/>
              </a:prstGeom>
              <a:noFill/>
              <a:ln>
                <a:noFill/>
              </a:ln>
            </p:spPr>
            <p:txBody>
              <a:bodyPr wrap="none" lIns="0" tIns="0" rIns="0" bIns="0" anchor="t" anchorCtr="0">
                <a:spAutoFit/>
              </a:bodyPr>
              <a:lstStyle/>
              <a:p>
                <a:pPr algn="l"/>
                <a:r>
                  <a:rPr lang="ko-KR" sz="1050" dirty="0">
                    <a:solidFill>
                      <a:schemeClr val="accent1"/>
                    </a:solidFill>
                    <a:latin typeface="Consolas"/>
                    <a:ea typeface="Consolas"/>
                    <a:cs typeface="Consolas"/>
                  </a:rPr>
                  <a:t>fw status</a:t>
                </a:r>
                <a:r>
                  <a:rPr lang="ko-KR" sz="1050" dirty="0">
                    <a:solidFill>
                      <a:schemeClr val="dk1"/>
                    </a:solidFill>
                    <a:latin typeface="+mn-lt"/>
                    <a:ea typeface="+mn-ea"/>
                    <a:cs typeface="+mn-cs"/>
                  </a:rPr>
                  <a:t xml:space="preserve"> → </a:t>
                </a:r>
                <a:r>
                  <a:rPr lang="ko-KR" sz="1050" dirty="0">
                    <a:solidFill>
                      <a:schemeClr val="accent1"/>
                    </a:solidFill>
                    <a:latin typeface="Consolas"/>
                    <a:ea typeface="Microsoft YaHei"/>
                    <a:cs typeface="Consolas"/>
                  </a:rPr>
                  <a:t>fw answer "답"</a:t>
                </a:r>
                <a:r>
                  <a:rPr lang="ko-KR" sz="1050" dirty="0">
                    <a:solidFill>
                      <a:schemeClr val="dk1"/>
                    </a:solidFill>
                    <a:latin typeface="+mn-lt"/>
                    <a:ea typeface="+mn-ea"/>
                    <a:cs typeface="+mn-cs"/>
                  </a:rPr>
                  <a:t xml:space="preserve"> → </a:t>
                </a:r>
                <a:r>
                  <a:rPr lang="ko-KR" sz="1050" dirty="0">
                    <a:solidFill>
                      <a:schemeClr val="accent1"/>
                    </a:solidFill>
                    <a:latin typeface="Consolas"/>
                    <a:ea typeface="Consolas"/>
                    <a:cs typeface="Consolas"/>
                  </a:rPr>
                  <a:t>fw run</a:t>
                </a:r>
                <a:r>
                  <a:rPr lang="ko-KR" sz="1050" dirty="0">
                    <a:solidFill>
                      <a:schemeClr val="dk1"/>
                    </a:solidFill>
                    <a:latin typeface="+mn-lt"/>
                    <a:ea typeface="+mn-ea"/>
                    <a:cs typeface="+mn-cs"/>
                  </a:rPr>
                  <a:t xml:space="preserve"> — 답은 PLAN §핵심 결정에 자동 기록</a:t>
                </a:r>
              </a:p>
            </p:txBody>
          </p:sp>
        </p:grpSp>
        <p:grpSp>
          <p:nvGrpSpPr>
            <p:cNvPr id="54" name="Group 54"/>
            <p:cNvGrpSpPr/>
            <p:nvPr/>
          </p:nvGrpSpPr>
          <p:grpSpPr>
            <a:xfrm>
              <a:off x="2667000" y="4782502"/>
              <a:ext cx="6088513" cy="395859"/>
              <a:chOff x="2667000" y="4782502"/>
              <a:chExt cx="6088513" cy="395859"/>
            </a:xfrm>
          </p:grpSpPr>
          <p:sp>
            <p:nvSpPr>
              <p:cNvPr id="50" name="Rectangle 50"/>
              <p:cNvSpPr/>
              <p:nvPr/>
            </p:nvSpPr>
            <p:spPr>
              <a:xfrm>
                <a:off x="2667000" y="4800600"/>
                <a:ext cx="1428750" cy="266700"/>
              </a:xfrm>
              <a:prstGeom prst="roundRect">
                <a:avLst>
                  <a:gd name="adj" fmla="val 50000"/>
                </a:avLst>
              </a:prstGeom>
              <a:solidFill>
                <a:srgbClr val="182238"/>
              </a:solidFill>
              <a:ln w="14288">
                <a:solidFill>
                  <a:srgbClr val="FF6B6B"/>
                </a:solidFill>
              </a:ln>
            </p:spPr>
          </p:sp>
          <p:sp>
            <p:nvSpPr>
              <p:cNvPr id="51" name="TextBox 51"/>
              <p:cNvSpPr txBox="1"/>
              <p:nvPr/>
            </p:nvSpPr>
            <p:spPr>
              <a:xfrm>
                <a:off x="3016319" y="4868228"/>
                <a:ext cx="730113" cy="205359"/>
              </a:xfrm>
              <a:prstGeom prst="rect">
                <a:avLst/>
              </a:prstGeom>
              <a:noFill/>
              <a:ln>
                <a:noFill/>
              </a:ln>
            </p:spPr>
            <p:txBody>
              <a:bodyPr wrap="none" lIns="0" tIns="0" rIns="0" bIns="0" anchor="t" anchorCtr="0">
                <a:spAutoFit/>
              </a:bodyPr>
              <a:lstStyle/>
              <a:p>
                <a:pPr algn="ctr"/>
                <a:r>
                  <a:rPr lang="ko-KR" sz="1050" b="1" dirty="0">
                    <a:solidFill>
                      <a:srgbClr val="FF6B6B"/>
                    </a:solidFill>
                    <a:latin typeface="+mn-lt"/>
                    <a:ea typeface="+mn-ea"/>
                    <a:cs typeface="+mn-cs"/>
                  </a:rPr>
                  <a:t>fw FAILED</a:t>
                </a:r>
              </a:p>
            </p:txBody>
          </p:sp>
          <p:sp>
            <p:nvSpPr>
              <p:cNvPr id="52" name="TextBox 52"/>
              <p:cNvSpPr txBox="1"/>
              <p:nvPr/>
            </p:nvSpPr>
            <p:spPr>
              <a:xfrm>
                <a:off x="4242816" y="4782502"/>
                <a:ext cx="4039172" cy="205359"/>
              </a:xfrm>
              <a:prstGeom prst="rect">
                <a:avLst/>
              </a:prstGeom>
              <a:noFill/>
              <a:ln>
                <a:noFill/>
              </a:ln>
            </p:spPr>
            <p:txBody>
              <a:bodyPr wrap="none" lIns="0" tIns="0" rIns="0" bIns="0" anchor="t" anchorCtr="0">
                <a:spAutoFit/>
              </a:bodyPr>
              <a:lstStyle/>
              <a:p>
                <a:pPr algn="l"/>
                <a:r>
                  <a:rPr lang="ko-KR" sz="1050" dirty="0">
                    <a:solidFill>
                      <a:schemeClr val="accent1"/>
                    </a:solidFill>
                    <a:latin typeface="Consolas"/>
                    <a:ea typeface="Consolas"/>
                    <a:cs typeface="Consolas"/>
                  </a:rPr>
                  <a:t>fw log --last 80</a:t>
                </a:r>
                <a:r>
                  <a:rPr lang="ko-KR" sz="1050" dirty="0">
                    <a:solidFill>
                      <a:schemeClr val="dk1"/>
                    </a:solidFill>
                    <a:latin typeface="+mn-lt"/>
                    <a:ea typeface="+mn-ea"/>
                    <a:cs typeface="+mn-cs"/>
                  </a:rPr>
                  <a:t xml:space="preserve"> → 세션 이력·회송 사유·게이트 로그 경로 확인</a:t>
                </a:r>
              </a:p>
            </p:txBody>
          </p:sp>
          <p:sp>
            <p:nvSpPr>
              <p:cNvPr id="53" name="TextBox 53"/>
              <p:cNvSpPr txBox="1"/>
              <p:nvPr/>
            </p:nvSpPr>
            <p:spPr>
              <a:xfrm>
                <a:off x="4242816" y="4973002"/>
                <a:ext cx="4512697"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 xml:space="preserve">원인 수정(사람) 또는 next_steps 보강 → </a:t>
                </a:r>
                <a:r>
                  <a:rPr lang="ko-KR" sz="1050" dirty="0">
                    <a:solidFill>
                      <a:schemeClr val="accent1"/>
                    </a:solidFill>
                    <a:latin typeface="Consolas"/>
                    <a:ea typeface="Consolas"/>
                    <a:cs typeface="Consolas"/>
                  </a:rPr>
                  <a:t>fw retry &lt;phase&gt;</a:t>
                </a:r>
                <a:r>
                  <a:rPr lang="ko-KR" sz="1050" dirty="0">
                    <a:solidFill>
                      <a:schemeClr val="accent5"/>
                    </a:solidFill>
                    <a:latin typeface="+mn-lt"/>
                    <a:ea typeface="+mn-ea"/>
                    <a:cs typeface="+mn-cs"/>
                  </a:rPr>
                  <a:t xml:space="preserve"> → </a:t>
                </a:r>
                <a:r>
                  <a:rPr lang="ko-KR" sz="1050" dirty="0">
                    <a:solidFill>
                      <a:schemeClr val="accent1"/>
                    </a:solidFill>
                    <a:latin typeface="Consolas"/>
                    <a:ea typeface="Consolas"/>
                    <a:cs typeface="Consolas"/>
                  </a:rPr>
                  <a:t>fw run</a:t>
                </a:r>
              </a:p>
            </p:txBody>
          </p:sp>
        </p:grpSp>
        <p:grpSp>
          <p:nvGrpSpPr>
            <p:cNvPr id="58" name="Group 58"/>
            <p:cNvGrpSpPr/>
            <p:nvPr/>
          </p:nvGrpSpPr>
          <p:grpSpPr>
            <a:xfrm>
              <a:off x="2667000" y="5305425"/>
              <a:ext cx="5047183" cy="272986"/>
              <a:chOff x="2667000" y="5305425"/>
              <a:chExt cx="5047183" cy="272986"/>
            </a:xfrm>
          </p:grpSpPr>
          <p:sp>
            <p:nvSpPr>
              <p:cNvPr id="55" name="Rectangle 55"/>
              <p:cNvSpPr/>
              <p:nvPr/>
            </p:nvSpPr>
            <p:spPr>
              <a:xfrm>
                <a:off x="2667000" y="5305425"/>
                <a:ext cx="1428750" cy="266700"/>
              </a:xfrm>
              <a:prstGeom prst="roundRect">
                <a:avLst>
                  <a:gd name="adj" fmla="val 50000"/>
                </a:avLst>
              </a:prstGeom>
              <a:solidFill>
                <a:srgbClr val="182238"/>
              </a:solidFill>
              <a:ln w="14288">
                <a:solidFill>
                  <a:schemeClr val="accent3"/>
                </a:solidFill>
              </a:ln>
            </p:spPr>
          </p:sp>
          <p:sp>
            <p:nvSpPr>
              <p:cNvPr id="56" name="TextBox 56"/>
              <p:cNvSpPr txBox="1"/>
              <p:nvPr/>
            </p:nvSpPr>
            <p:spPr>
              <a:xfrm>
                <a:off x="2948808" y="5373052"/>
                <a:ext cx="865135" cy="205359"/>
              </a:xfrm>
              <a:prstGeom prst="rect">
                <a:avLst/>
              </a:prstGeom>
              <a:noFill/>
              <a:ln>
                <a:noFill/>
              </a:ln>
            </p:spPr>
            <p:txBody>
              <a:bodyPr wrap="none" lIns="0" tIns="0" rIns="0" bIns="0" anchor="t" anchorCtr="0">
                <a:spAutoFit/>
              </a:bodyPr>
              <a:lstStyle/>
              <a:p>
                <a:pPr algn="ctr"/>
                <a:r>
                  <a:rPr lang="ko-KR" sz="1050" b="1" dirty="0">
                    <a:solidFill>
                      <a:schemeClr val="accent3"/>
                    </a:solidFill>
                    <a:latin typeface="+mn-lt"/>
                    <a:ea typeface="+mn-ea"/>
                    <a:cs typeface="+mn-cs"/>
                  </a:rPr>
                  <a:t>fw 승인됨 ✅</a:t>
                </a:r>
              </a:p>
            </p:txBody>
          </p:sp>
          <p:sp>
            <p:nvSpPr>
              <p:cNvPr id="57" name="TextBox 57"/>
              <p:cNvSpPr txBox="1"/>
              <p:nvPr/>
            </p:nvSpPr>
            <p:spPr>
              <a:xfrm>
                <a:off x="4242816" y="5373052"/>
                <a:ext cx="3471367"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 xml:space="preserve">PR 머지(사람) → </a:t>
                </a:r>
                <a:r>
                  <a:rPr lang="ko-KR" sz="1050" dirty="0">
                    <a:solidFill>
                      <a:schemeClr val="accent1"/>
                    </a:solidFill>
                    <a:latin typeface="Consolas"/>
                    <a:ea typeface="Consolas"/>
                    <a:cs typeface="Consolas"/>
                  </a:rPr>
                  <a:t>fw run</a:t>
                </a:r>
                <a:r>
                  <a:rPr lang="ko-KR" sz="1050" dirty="0">
                    <a:solidFill>
                      <a:schemeClr val="dk1"/>
                    </a:solidFill>
                    <a:latin typeface="+mn-lt"/>
                    <a:ea typeface="+mn-ea"/>
                    <a:cs typeface="+mn-cs"/>
                  </a:rPr>
                  <a:t xml:space="preserve"> → merged 감지 → 다음 phase</a:t>
                </a:r>
              </a:p>
            </p:txBody>
          </p:sp>
        </p:grpSp>
        <p:grpSp>
          <p:nvGrpSpPr>
            <p:cNvPr id="62" name="Group 62"/>
            <p:cNvGrpSpPr/>
            <p:nvPr/>
          </p:nvGrpSpPr>
          <p:grpSpPr>
            <a:xfrm>
              <a:off x="2667000" y="5810250"/>
              <a:ext cx="7088372" cy="272987"/>
              <a:chOff x="2667000" y="5810250"/>
              <a:chExt cx="7088372" cy="272987"/>
            </a:xfrm>
          </p:grpSpPr>
          <p:sp>
            <p:nvSpPr>
              <p:cNvPr id="59" name="Rectangle 59"/>
              <p:cNvSpPr/>
              <p:nvPr/>
            </p:nvSpPr>
            <p:spPr>
              <a:xfrm>
                <a:off x="2667000" y="5810250"/>
                <a:ext cx="1428750" cy="266700"/>
              </a:xfrm>
              <a:prstGeom prst="roundRect">
                <a:avLst>
                  <a:gd name="adj" fmla="val 50000"/>
                </a:avLst>
              </a:prstGeom>
              <a:solidFill>
                <a:srgbClr val="182238"/>
              </a:solidFill>
              <a:ln w="14288">
                <a:solidFill>
                  <a:schemeClr val="accent2"/>
                </a:solidFill>
              </a:ln>
            </p:spPr>
          </p:sp>
          <p:sp>
            <p:nvSpPr>
              <p:cNvPr id="60" name="TextBox 60"/>
              <p:cNvSpPr txBox="1"/>
              <p:nvPr/>
            </p:nvSpPr>
            <p:spPr>
              <a:xfrm>
                <a:off x="3086625" y="5877878"/>
                <a:ext cx="589500" cy="205359"/>
              </a:xfrm>
              <a:prstGeom prst="rect">
                <a:avLst/>
              </a:prstGeom>
              <a:noFill/>
              <a:ln>
                <a:noFill/>
              </a:ln>
            </p:spPr>
            <p:txBody>
              <a:bodyPr wrap="none" lIns="0" tIns="0" rIns="0" bIns="0" anchor="t" anchorCtr="0">
                <a:spAutoFit/>
              </a:bodyPr>
              <a:lstStyle/>
              <a:p>
                <a:pPr algn="ctr"/>
                <a:r>
                  <a:rPr lang="ko-KR" sz="1050" b="1" dirty="0">
                    <a:solidFill>
                      <a:schemeClr val="accent2"/>
                    </a:solidFill>
                    <a:latin typeface="+mn-lt"/>
                    <a:ea typeface="+mn-ea"/>
                    <a:cs typeface="+mn-cs"/>
                  </a:rPr>
                  <a:t>⏸ halted</a:t>
                </a:r>
              </a:p>
            </p:txBody>
          </p:sp>
          <p:sp>
            <p:nvSpPr>
              <p:cNvPr id="61" name="TextBox 61"/>
              <p:cNvSpPr txBox="1"/>
              <p:nvPr/>
            </p:nvSpPr>
            <p:spPr>
              <a:xfrm>
                <a:off x="4242816" y="5877878"/>
                <a:ext cx="5512556"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 xml:space="preserve">상한을 조정하거나 그대로 </a:t>
                </a:r>
                <a:r>
                  <a:rPr lang="ko-KR" sz="1050" dirty="0">
                    <a:solidFill>
                      <a:schemeClr val="accent1"/>
                    </a:solidFill>
                    <a:latin typeface="Consolas"/>
                    <a:ea typeface="Consolas"/>
                    <a:cs typeface="Consolas"/>
                  </a:rPr>
                  <a:t>fw run</a:t>
                </a:r>
                <a:r>
                  <a:rPr lang="ko-KR" sz="1050" dirty="0">
                    <a:solidFill>
                      <a:schemeClr val="dk1"/>
                    </a:solidFill>
                    <a:latin typeface="+mn-lt"/>
                    <a:ea typeface="+mn-ea"/>
                    <a:cs typeface="+mn-cs"/>
                  </a:rPr>
                  <a:t xml:space="preserve"> — STOP 파일은 시작 시 자동 소비, 답은 필요 없다</a:t>
                </a:r>
              </a:p>
            </p:txBody>
          </p:sp>
        </p:grpSp>
      </p:grpSp>
      <p:grpSp>
        <p:nvGrpSpPr>
          <p:cNvPr id="66" name="Group 66"/>
          <p:cNvGrpSpPr/>
          <p:nvPr/>
        </p:nvGrpSpPr>
        <p:grpSpPr>
          <a:xfrm>
            <a:off x="604266" y="6516052"/>
            <a:ext cx="10983468" cy="205359"/>
            <a:chOff x="604266" y="6516052"/>
            <a:chExt cx="10983468" cy="205359"/>
          </a:xfrm>
        </p:grpSpPr>
        <p:sp>
          <p:nvSpPr>
            <p:cNvPr id="64" name="TextBox 64"/>
            <p:cNvSpPr txBox="1"/>
            <p:nvPr/>
          </p:nvSpPr>
          <p:spPr>
            <a:xfrm>
              <a:off x="604266" y="6516052"/>
              <a:ext cx="4475466"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feature-workflow · plugins/feature-workflow/README.md §7.4</a:t>
              </a:r>
            </a:p>
          </p:txBody>
        </p:sp>
        <p:sp>
          <p:nvSpPr>
            <p:cNvPr id="65" name="TextBox 65"/>
            <p:cNvSpPr txBox="1"/>
            <p:nvPr/>
          </p:nvSpPr>
          <p:spPr>
            <a:xfrm>
              <a:off x="11103540" y="65160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16 / 19</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01980" y="428625"/>
            <a:ext cx="3023616" cy="293370"/>
            <a:chOff x="601980" y="428625"/>
            <a:chExt cx="3023616" cy="293370"/>
          </a:xfrm>
        </p:grpSpPr>
        <p:sp>
          <p:nvSpPr>
            <p:cNvPr id="2" name="TextBox 2"/>
            <p:cNvSpPr txBox="1"/>
            <p:nvPr/>
          </p:nvSpPr>
          <p:spPr>
            <a:xfrm>
              <a:off x="601980" y="428625"/>
              <a:ext cx="3023616" cy="293370"/>
            </a:xfrm>
            <a:prstGeom prst="rect">
              <a:avLst/>
            </a:prstGeom>
            <a:noFill/>
            <a:ln>
              <a:noFill/>
            </a:ln>
          </p:spPr>
          <p:txBody>
            <a:bodyPr wrap="none" lIns="0" tIns="0" rIns="0" bIns="0" anchor="t" anchorCtr="0">
              <a:spAutoFit/>
            </a:bodyPr>
            <a:lstStyle/>
            <a:p>
              <a:pPr algn="l"/>
              <a:r>
                <a:rPr lang="ko-KR" sz="1500" spc="150" dirty="0">
                  <a:solidFill>
                    <a:schemeClr val="accent5"/>
                  </a:solidFill>
                  <a:latin typeface="Consolas"/>
                  <a:ea typeface="Microsoft YaHei"/>
                  <a:cs typeface="Consolas"/>
                </a:rPr>
                <a:t>PART 03 · 실습 — 멈췼을 때</a:t>
              </a:r>
            </a:p>
          </p:txBody>
        </p:sp>
      </p:grpSp>
      <p:grpSp>
        <p:nvGrpSpPr>
          <p:cNvPr id="5" name="Group 5"/>
          <p:cNvGrpSpPr/>
          <p:nvPr/>
        </p:nvGrpSpPr>
        <p:grpSpPr>
          <a:xfrm>
            <a:off x="593598" y="822008"/>
            <a:ext cx="10380937" cy="616077"/>
            <a:chOff x="593598" y="822008"/>
            <a:chExt cx="10380937" cy="616077"/>
          </a:xfrm>
        </p:grpSpPr>
        <p:sp>
          <p:nvSpPr>
            <p:cNvPr id="4" name="TextBox 4"/>
            <p:cNvSpPr txBox="1"/>
            <p:nvPr/>
          </p:nvSpPr>
          <p:spPr>
            <a:xfrm>
              <a:off x="593598" y="822008"/>
              <a:ext cx="10380937" cy="616077"/>
            </a:xfrm>
            <a:prstGeom prst="rect">
              <a:avLst/>
            </a:prstGeom>
            <a:noFill/>
            <a:ln>
              <a:noFill/>
            </a:ln>
          </p:spPr>
          <p:txBody>
            <a:bodyPr wrap="none" lIns="0" tIns="0" rIns="0" bIns="0" anchor="t" anchorCtr="0">
              <a:spAutoFit/>
            </a:bodyPr>
            <a:lstStyle/>
            <a:p>
              <a:pPr algn="l"/>
              <a:r>
                <a:rPr lang="ko-KR" sz="3150" b="1" dirty="0">
                  <a:solidFill>
                    <a:schemeClr val="dk1"/>
                  </a:solidFill>
                  <a:latin typeface="+mn-lt"/>
                  <a:ea typeface="+mn-ea"/>
                  <a:cs typeface="+mn-cs"/>
                </a:rPr>
                <a:t xml:space="preserve">대부분의 멈춤은 </a:t>
              </a:r>
              <a:r>
                <a:rPr lang="ko-KR" sz="3150" b="1" dirty="0">
                  <a:solidFill>
                    <a:schemeClr val="accent1"/>
                  </a:solidFill>
                  <a:latin typeface="+mn-lt"/>
                  <a:ea typeface="+mn-ea"/>
                  <a:cs typeface="+mn-cs"/>
                </a:rPr>
                <a:t>STATE 한 줄</a:t>
              </a:r>
              <a:r>
                <a:rPr lang="ko-KR" sz="3150" b="1" dirty="0">
                  <a:solidFill>
                    <a:schemeClr val="dk1"/>
                  </a:solidFill>
                  <a:latin typeface="+mn-lt"/>
                  <a:ea typeface="+mn-ea"/>
                  <a:cs typeface="+mn-cs"/>
                </a:rPr>
                <a:t xml:space="preserve">이나 </a:t>
              </a:r>
              <a:r>
                <a:rPr lang="ko-KR" sz="3150" b="1" dirty="0">
                  <a:solidFill>
                    <a:schemeClr val="accent1"/>
                  </a:solidFill>
                  <a:latin typeface="+mn-lt"/>
                  <a:ea typeface="+mn-ea"/>
                  <a:cs typeface="+mn-cs"/>
                </a:rPr>
                <a:t>명령 하나</a:t>
              </a:r>
              <a:r>
                <a:rPr lang="ko-KR" sz="3150" b="1" dirty="0">
                  <a:solidFill>
                    <a:schemeClr val="dk1"/>
                  </a:solidFill>
                  <a:latin typeface="+mn-lt"/>
                  <a:ea typeface="+mn-ea"/>
                  <a:cs typeface="+mn-cs"/>
                </a:rPr>
                <a:t>로 풀린다</a:t>
              </a:r>
            </a:p>
          </p:txBody>
        </p:sp>
      </p:grpSp>
      <p:grpSp>
        <p:nvGrpSpPr>
          <p:cNvPr id="61" name="Group 61"/>
          <p:cNvGrpSpPr/>
          <p:nvPr/>
        </p:nvGrpSpPr>
        <p:grpSpPr>
          <a:xfrm>
            <a:off x="609600" y="1524000"/>
            <a:ext cx="10972800" cy="3571875"/>
            <a:chOff x="609600" y="1524000"/>
            <a:chExt cx="10972800" cy="3571875"/>
          </a:xfrm>
        </p:grpSpPr>
        <p:sp>
          <p:nvSpPr>
            <p:cNvPr id="6" name="Rectangle 6"/>
            <p:cNvSpPr/>
            <p:nvPr/>
          </p:nvSpPr>
          <p:spPr>
            <a:xfrm>
              <a:off x="609600" y="1524000"/>
              <a:ext cx="10972800" cy="323850"/>
            </a:xfrm>
            <a:prstGeom prst="rect">
              <a:avLst/>
            </a:prstGeom>
            <a:solidFill>
              <a:schemeClr val="lt2"/>
            </a:solidFill>
            <a:ln>
              <a:noFill/>
            </a:ln>
          </p:spPr>
        </p:sp>
        <p:sp>
          <p:nvSpPr>
            <p:cNvPr id="7" name="TextBox 7"/>
            <p:cNvSpPr txBox="1"/>
            <p:nvPr/>
          </p:nvSpPr>
          <p:spPr>
            <a:xfrm>
              <a:off x="661416" y="1629728"/>
              <a:ext cx="293370" cy="205359"/>
            </a:xfrm>
            <a:prstGeom prst="rect">
              <a:avLst/>
            </a:prstGeom>
            <a:noFill/>
            <a:ln>
              <a:noFill/>
            </a:ln>
          </p:spPr>
          <p:txBody>
            <a:bodyPr wrap="none" lIns="0" tIns="0" rIns="0" bIns="0" anchor="t" anchorCtr="0">
              <a:spAutoFit/>
            </a:bodyPr>
            <a:lstStyle/>
            <a:p>
              <a:pPr algn="l"/>
              <a:r>
                <a:rPr lang="ko-KR" sz="1050" b="1" dirty="0">
                  <a:solidFill>
                    <a:schemeClr val="dk1"/>
                  </a:solidFill>
                  <a:latin typeface="+mn-lt"/>
                  <a:ea typeface="+mn-ea"/>
                  <a:cs typeface="+mn-cs"/>
                </a:rPr>
                <a:t>증상</a:t>
              </a:r>
            </a:p>
          </p:txBody>
        </p:sp>
        <p:sp>
          <p:nvSpPr>
            <p:cNvPr id="8" name="TextBox 8"/>
            <p:cNvSpPr txBox="1"/>
            <p:nvPr/>
          </p:nvSpPr>
          <p:spPr>
            <a:xfrm>
              <a:off x="2566416" y="1629728"/>
              <a:ext cx="293370" cy="205359"/>
            </a:xfrm>
            <a:prstGeom prst="rect">
              <a:avLst/>
            </a:prstGeom>
            <a:noFill/>
            <a:ln>
              <a:noFill/>
            </a:ln>
          </p:spPr>
          <p:txBody>
            <a:bodyPr wrap="none" lIns="0" tIns="0" rIns="0" bIns="0" anchor="t" anchorCtr="0">
              <a:spAutoFit/>
            </a:bodyPr>
            <a:lstStyle/>
            <a:p>
              <a:pPr algn="l"/>
              <a:r>
                <a:rPr lang="ko-KR" sz="1050" b="1" dirty="0">
                  <a:solidFill>
                    <a:schemeClr val="dk1"/>
                  </a:solidFill>
                  <a:latin typeface="+mn-lt"/>
                  <a:ea typeface="+mn-ea"/>
                  <a:cs typeface="+mn-cs"/>
                </a:rPr>
                <a:t>원인</a:t>
              </a:r>
            </a:p>
          </p:txBody>
        </p:sp>
        <p:sp>
          <p:nvSpPr>
            <p:cNvPr id="9" name="TextBox 9"/>
            <p:cNvSpPr txBox="1"/>
            <p:nvPr/>
          </p:nvSpPr>
          <p:spPr>
            <a:xfrm>
              <a:off x="6376416" y="1629728"/>
              <a:ext cx="479247" cy="205359"/>
            </a:xfrm>
            <a:prstGeom prst="rect">
              <a:avLst/>
            </a:prstGeom>
            <a:noFill/>
            <a:ln>
              <a:noFill/>
            </a:ln>
          </p:spPr>
          <p:txBody>
            <a:bodyPr wrap="none" lIns="0" tIns="0" rIns="0" bIns="0" anchor="t" anchorCtr="0">
              <a:spAutoFit/>
            </a:bodyPr>
            <a:lstStyle/>
            <a:p>
              <a:pPr algn="l"/>
              <a:r>
                <a:rPr lang="ko-KR" sz="1050" b="1" dirty="0">
                  <a:solidFill>
                    <a:schemeClr val="dk1"/>
                  </a:solidFill>
                  <a:latin typeface="+mn-lt"/>
                  <a:ea typeface="+mn-ea"/>
                  <a:cs typeface="+mn-cs"/>
                </a:rPr>
                <a:t>첫 조치</a:t>
              </a:r>
            </a:p>
          </p:txBody>
        </p:sp>
        <p:sp>
          <p:nvSpPr>
            <p:cNvPr id="10" name="Line 10"/>
            <p:cNvSpPr/>
            <p:nvPr/>
          </p:nvSpPr>
          <p:spPr>
            <a:xfrm>
              <a:off x="609600" y="18478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nvGrpSpPr>
            <p:cNvPr id="15" name="Group 15"/>
            <p:cNvGrpSpPr/>
            <p:nvPr/>
          </p:nvGrpSpPr>
          <p:grpSpPr>
            <a:xfrm>
              <a:off x="609600" y="1953578"/>
              <a:ext cx="10972800" cy="227647"/>
              <a:chOff x="609600" y="1953578"/>
              <a:chExt cx="10972800" cy="227647"/>
            </a:xfrm>
          </p:grpSpPr>
          <p:sp>
            <p:nvSpPr>
              <p:cNvPr id="11" name="TextBox 11"/>
              <p:cNvSpPr txBox="1"/>
              <p:nvPr/>
            </p:nvSpPr>
            <p:spPr>
              <a:xfrm>
                <a:off x="661416" y="1953578"/>
                <a:ext cx="618477" cy="205359"/>
              </a:xfrm>
              <a:prstGeom prst="rect">
                <a:avLst/>
              </a:prstGeom>
              <a:noFill/>
              <a:ln>
                <a:noFill/>
              </a:ln>
            </p:spPr>
            <p:txBody>
              <a:bodyPr wrap="none" lIns="0" tIns="0" rIns="0" bIns="0" anchor="t" anchorCtr="0">
                <a:spAutoFit/>
              </a:bodyPr>
              <a:lstStyle/>
              <a:p>
                <a:pPr algn="l"/>
                <a:r>
                  <a:rPr lang="ko-KR" sz="1050" dirty="0">
                    <a:solidFill>
                      <a:schemeClr val="accent2"/>
                    </a:solidFill>
                    <a:latin typeface="+mn-lt"/>
                    <a:ea typeface="+mn-ea"/>
                    <a:cs typeface="+mn-cs"/>
                  </a:rPr>
                  <a:t>시작 거부</a:t>
                </a:r>
              </a:p>
            </p:txBody>
          </p:sp>
          <p:sp>
            <p:nvSpPr>
              <p:cNvPr id="12" name="TextBox 12"/>
              <p:cNvSpPr txBox="1"/>
              <p:nvPr/>
            </p:nvSpPr>
            <p:spPr>
              <a:xfrm>
                <a:off x="2566416" y="1953578"/>
                <a:ext cx="3973984"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verify 가 항상 exit 0 · REPLACE-ME 잔존 · 빈 trusted 목록</a:t>
                </a:r>
              </a:p>
            </p:txBody>
          </p:sp>
          <p:sp>
            <p:nvSpPr>
              <p:cNvPr id="13" name="TextBox 13"/>
              <p:cNvSpPr txBox="1"/>
              <p:nvPr/>
            </p:nvSpPr>
            <p:spPr>
              <a:xfrm>
                <a:off x="6376416" y="1953578"/>
                <a:ext cx="3231419"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메시지대로 STATE 수정 · fw doctor 로 미리 점검</a:t>
                </a:r>
              </a:p>
            </p:txBody>
          </p:sp>
          <p:sp>
            <p:nvSpPr>
              <p:cNvPr id="14" name="Line 14"/>
              <p:cNvSpPr/>
              <p:nvPr/>
            </p:nvSpPr>
            <p:spPr>
              <a:xfrm>
                <a:off x="609600" y="21717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0" name="Group 20"/>
            <p:cNvGrpSpPr/>
            <p:nvPr/>
          </p:nvGrpSpPr>
          <p:grpSpPr>
            <a:xfrm>
              <a:off x="609600" y="2277428"/>
              <a:ext cx="10972800" cy="227647"/>
              <a:chOff x="609600" y="2277428"/>
              <a:chExt cx="10972800" cy="227647"/>
            </a:xfrm>
          </p:grpSpPr>
          <p:sp>
            <p:nvSpPr>
              <p:cNvPr id="16" name="TextBox 16"/>
              <p:cNvSpPr txBox="1"/>
              <p:nvPr/>
            </p:nvSpPr>
            <p:spPr>
              <a:xfrm>
                <a:off x="661416" y="2277428"/>
                <a:ext cx="1183881" cy="205359"/>
              </a:xfrm>
              <a:prstGeom prst="rect">
                <a:avLst/>
              </a:prstGeom>
              <a:noFill/>
              <a:ln>
                <a:noFill/>
              </a:ln>
            </p:spPr>
            <p:txBody>
              <a:bodyPr wrap="none" lIns="0" tIns="0" rIns="0" bIns="0" anchor="t" anchorCtr="0">
                <a:spAutoFit/>
              </a:bodyPr>
              <a:lstStyle/>
              <a:p>
                <a:pPr algn="l"/>
                <a:r>
                  <a:rPr lang="ko-KR" sz="1050" dirty="0">
                    <a:solidFill>
                      <a:schemeClr val="accent2"/>
                    </a:solidFill>
                    <a:latin typeface="+mn-lt"/>
                    <a:ea typeface="+mn-ea"/>
                    <a:cs typeface="+mn-cs"/>
                  </a:rPr>
                  <a:t>프리플라이트 실패</a:t>
                </a:r>
              </a:p>
            </p:txBody>
          </p:sp>
          <p:sp>
            <p:nvSpPr>
              <p:cNvPr id="17" name="TextBox 17"/>
              <p:cNvSpPr txBox="1"/>
              <p:nvPr/>
            </p:nvSpPr>
            <p:spPr>
              <a:xfrm>
                <a:off x="2566416" y="2277428"/>
                <a:ext cx="2957836"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커밋 안 된 변경 / repo_root 오타 / gh 미인증</a:t>
                </a:r>
              </a:p>
            </p:txBody>
          </p:sp>
          <p:sp>
            <p:nvSpPr>
              <p:cNvPr id="18" name="TextBox 18"/>
              <p:cNvSpPr txBox="1"/>
              <p:nvPr/>
            </p:nvSpPr>
            <p:spPr>
              <a:xfrm>
                <a:off x="6376416" y="2277428"/>
                <a:ext cx="3169863"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커밋 또는 stash (docs/&lt;wf&gt;/ 자체 변경은 예외)</a:t>
                </a:r>
              </a:p>
            </p:txBody>
          </p:sp>
          <p:sp>
            <p:nvSpPr>
              <p:cNvPr id="19" name="Line 19"/>
              <p:cNvSpPr/>
              <p:nvPr/>
            </p:nvSpPr>
            <p:spPr>
              <a:xfrm>
                <a:off x="609600" y="24955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5" name="Group 25"/>
            <p:cNvGrpSpPr/>
            <p:nvPr/>
          </p:nvGrpSpPr>
          <p:grpSpPr>
            <a:xfrm>
              <a:off x="609600" y="2601278"/>
              <a:ext cx="10972800" cy="227647"/>
              <a:chOff x="609600" y="2601278"/>
              <a:chExt cx="10972800" cy="227647"/>
            </a:xfrm>
          </p:grpSpPr>
          <p:sp>
            <p:nvSpPr>
              <p:cNvPr id="21" name="TextBox 21"/>
              <p:cNvSpPr txBox="1"/>
              <p:nvPr/>
            </p:nvSpPr>
            <p:spPr>
              <a:xfrm>
                <a:off x="661416" y="2601278"/>
                <a:ext cx="615544" cy="205359"/>
              </a:xfrm>
              <a:prstGeom prst="rect">
                <a:avLst/>
              </a:prstGeom>
              <a:noFill/>
              <a:ln>
                <a:noFill/>
              </a:ln>
            </p:spPr>
            <p:txBody>
              <a:bodyPr wrap="none" lIns="0" tIns="0" rIns="0" bIns="0" anchor="t" anchorCtr="0">
                <a:spAutoFit/>
              </a:bodyPr>
              <a:lstStyle/>
              <a:p>
                <a:pPr algn="l"/>
                <a:r>
                  <a:rPr lang="ko-KR" sz="1050" dirty="0">
                    <a:solidFill>
                      <a:schemeClr val="accent2"/>
                    </a:solidFill>
                    <a:latin typeface="+mn-lt"/>
                    <a:ea typeface="+mn-ea"/>
                    <a:cs typeface="+mn-cs"/>
                  </a:rPr>
                  <a:t>BLOCKED</a:t>
                </a:r>
              </a:p>
            </p:txBody>
          </p:sp>
          <p:sp>
            <p:nvSpPr>
              <p:cNvPr id="22" name="TextBox 22"/>
              <p:cNvSpPr txBox="1"/>
              <p:nvPr/>
            </p:nvSpPr>
            <p:spPr>
              <a:xfrm>
                <a:off x="2566416" y="2601278"/>
                <a:ext cx="2803550"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세션이 PLAN 결정과 충돌하는 상황을 만남</a:t>
                </a:r>
              </a:p>
            </p:txBody>
          </p:sp>
          <p:sp>
            <p:nvSpPr>
              <p:cNvPr id="23" name="TextBox 23"/>
              <p:cNvSpPr txBox="1"/>
              <p:nvPr/>
            </p:nvSpPr>
            <p:spPr>
              <a:xfrm>
                <a:off x="6376416" y="2601278"/>
                <a:ext cx="3911630"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fw status → fw answer → fw run (답은 PLAN 에 자동 기록)</a:t>
                </a:r>
              </a:p>
            </p:txBody>
          </p:sp>
          <p:sp>
            <p:nvSpPr>
              <p:cNvPr id="24" name="Line 24"/>
              <p:cNvSpPr/>
              <p:nvPr/>
            </p:nvSpPr>
            <p:spPr>
              <a:xfrm>
                <a:off x="609600" y="28194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30" name="Group 30"/>
            <p:cNvGrpSpPr/>
            <p:nvPr/>
          </p:nvGrpSpPr>
          <p:grpSpPr>
            <a:xfrm>
              <a:off x="609600" y="2925128"/>
              <a:ext cx="10972800" cy="227647"/>
              <a:chOff x="609600" y="2925128"/>
              <a:chExt cx="10972800" cy="227647"/>
            </a:xfrm>
          </p:grpSpPr>
          <p:sp>
            <p:nvSpPr>
              <p:cNvPr id="26" name="TextBox 26"/>
              <p:cNvSpPr txBox="1"/>
              <p:nvPr/>
            </p:nvSpPr>
            <p:spPr>
              <a:xfrm>
                <a:off x="661416" y="2925128"/>
                <a:ext cx="1466850" cy="205359"/>
              </a:xfrm>
              <a:prstGeom prst="rect">
                <a:avLst/>
              </a:prstGeom>
              <a:noFill/>
              <a:ln>
                <a:noFill/>
              </a:ln>
            </p:spPr>
            <p:txBody>
              <a:bodyPr wrap="none" lIns="0" tIns="0" rIns="0" bIns="0" anchor="t" anchorCtr="0">
                <a:spAutoFit/>
              </a:bodyPr>
              <a:lstStyle/>
              <a:p>
                <a:pPr algn="l"/>
                <a:r>
                  <a:rPr lang="ko-KR" sz="1050" dirty="0">
                    <a:solidFill>
                      <a:srgbClr val="FF6B6B"/>
                    </a:solidFill>
                    <a:latin typeface="+mn-lt"/>
                    <a:ea typeface="+mn-ea"/>
                    <a:cs typeface="+mn-cs"/>
                  </a:rPr>
                  <a:t>FAILED (재시도 소진)</a:t>
                </a:r>
              </a:p>
            </p:txBody>
          </p:sp>
          <p:sp>
            <p:nvSpPr>
              <p:cNvPr id="27" name="TextBox 27"/>
              <p:cNvSpPr txBox="1"/>
              <p:nvPr/>
            </p:nvSpPr>
            <p:spPr>
              <a:xfrm>
                <a:off x="2566416" y="2925128"/>
                <a:ext cx="3092120"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검증 계속 실패 / 커밋 없음 / 스크립트 변조 의심</a:t>
                </a:r>
              </a:p>
            </p:txBody>
          </p:sp>
          <p:sp>
            <p:nvSpPr>
              <p:cNvPr id="28" name="TextBox 28"/>
              <p:cNvSpPr txBox="1"/>
              <p:nvPr/>
            </p:nvSpPr>
            <p:spPr>
              <a:xfrm>
                <a:off x="6376416" y="2925128"/>
                <a:ext cx="4675251"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fw log --last 100 → 원인 수정·next_steps 구체화 → fw retry → fw run</a:t>
                </a:r>
              </a:p>
            </p:txBody>
          </p:sp>
          <p:sp>
            <p:nvSpPr>
              <p:cNvPr id="29" name="Line 29"/>
              <p:cNvSpPr/>
              <p:nvPr/>
            </p:nvSpPr>
            <p:spPr>
              <a:xfrm>
                <a:off x="609600" y="31432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35" name="Group 35"/>
            <p:cNvGrpSpPr/>
            <p:nvPr/>
          </p:nvGrpSpPr>
          <p:grpSpPr>
            <a:xfrm>
              <a:off x="609600" y="3248978"/>
              <a:ext cx="10972800" cy="227647"/>
              <a:chOff x="609600" y="3248978"/>
              <a:chExt cx="10972800" cy="227647"/>
            </a:xfrm>
          </p:grpSpPr>
          <p:sp>
            <p:nvSpPr>
              <p:cNvPr id="31" name="TextBox 31"/>
              <p:cNvSpPr txBox="1"/>
              <p:nvPr/>
            </p:nvSpPr>
            <p:spPr>
              <a:xfrm>
                <a:off x="661416" y="3248978"/>
                <a:ext cx="1317498" cy="205359"/>
              </a:xfrm>
              <a:prstGeom prst="rect">
                <a:avLst/>
              </a:prstGeom>
              <a:noFill/>
              <a:ln>
                <a:noFill/>
              </a:ln>
            </p:spPr>
            <p:txBody>
              <a:bodyPr wrap="none" lIns="0" tIns="0" rIns="0" bIns="0" anchor="t" anchorCtr="0">
                <a:spAutoFit/>
              </a:bodyPr>
              <a:lstStyle/>
              <a:p>
                <a:pPr algn="l"/>
                <a:r>
                  <a:rPr lang="ko-KR" sz="1050" dirty="0">
                    <a:solidFill>
                      <a:srgbClr val="FF6B6B"/>
                    </a:solidFill>
                    <a:latin typeface="+mn-lt"/>
                    <a:ea typeface="+mn-ea"/>
                    <a:cs typeface="+mn-cs"/>
                  </a:rPr>
                  <a:t>FAILED (명령 오류)</a:t>
                </a:r>
              </a:p>
            </p:txBody>
          </p:sp>
          <p:sp>
            <p:nvSpPr>
              <p:cNvPr id="32" name="TextBox 32"/>
              <p:cNvSpPr txBox="1"/>
              <p:nvPr/>
            </p:nvSpPr>
            <p:spPr>
              <a:xfrm>
                <a:off x="2566416" y="3248978"/>
                <a:ext cx="2024920"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verify 명령이 없거나 실행 불가</a:t>
                </a:r>
              </a:p>
            </p:txBody>
          </p:sp>
          <p:sp>
            <p:nvSpPr>
              <p:cNvPr id="33" name="TextBox 33"/>
              <p:cNvSpPr txBox="1"/>
              <p:nvPr/>
            </p:nvSpPr>
            <p:spPr>
              <a:xfrm>
                <a:off x="6376416" y="3248978"/>
                <a:ext cx="2194541"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verify 명령 경로 수정 → fw retry</a:t>
                </a:r>
              </a:p>
            </p:txBody>
          </p:sp>
          <p:sp>
            <p:nvSpPr>
              <p:cNvPr id="34" name="Line 34"/>
              <p:cNvSpPr/>
              <p:nvPr/>
            </p:nvSpPr>
            <p:spPr>
              <a:xfrm>
                <a:off x="609600" y="3467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40" name="Group 40"/>
            <p:cNvGrpSpPr/>
            <p:nvPr/>
          </p:nvGrpSpPr>
          <p:grpSpPr>
            <a:xfrm>
              <a:off x="609600" y="3572828"/>
              <a:ext cx="10972800" cy="227647"/>
              <a:chOff x="609600" y="3572828"/>
              <a:chExt cx="10972800" cy="227647"/>
            </a:xfrm>
          </p:grpSpPr>
          <p:sp>
            <p:nvSpPr>
              <p:cNvPr id="36" name="TextBox 36"/>
              <p:cNvSpPr txBox="1"/>
              <p:nvPr/>
            </p:nvSpPr>
            <p:spPr>
              <a:xfrm>
                <a:off x="661416" y="3572828"/>
                <a:ext cx="561937" cy="205359"/>
              </a:xfrm>
              <a:prstGeom prst="rect">
                <a:avLst/>
              </a:prstGeom>
              <a:noFill/>
              <a:ln>
                <a:noFill/>
              </a:ln>
            </p:spPr>
            <p:txBody>
              <a:bodyPr wrap="none" lIns="0" tIns="0" rIns="0" bIns="0" anchor="t" anchorCtr="0">
                <a:spAutoFit/>
              </a:bodyPr>
              <a:lstStyle/>
              <a:p>
                <a:pPr algn="l"/>
                <a:r>
                  <a:rPr lang="ko-KR" sz="1050" dirty="0">
                    <a:solidFill>
                      <a:schemeClr val="accent2"/>
                    </a:solidFill>
                    <a:latin typeface="+mn-lt"/>
                    <a:ea typeface="+mn-ea"/>
                    <a:cs typeface="+mn-cs"/>
                  </a:rPr>
                  <a:t>halted ⏸</a:t>
                </a:r>
              </a:p>
            </p:txBody>
          </p:sp>
          <p:sp>
            <p:nvSpPr>
              <p:cNvPr id="37" name="TextBox 37"/>
              <p:cNvSpPr txBox="1"/>
              <p:nvPr/>
            </p:nvSpPr>
            <p:spPr>
              <a:xfrm>
                <a:off x="2566416" y="3572828"/>
                <a:ext cx="3126083"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STOP 파일 / max_cost_usd / max_runtime_ms</a:t>
                </a:r>
              </a:p>
            </p:txBody>
          </p:sp>
          <p:sp>
            <p:nvSpPr>
              <p:cNvPr id="38" name="TextBox 38"/>
              <p:cNvSpPr txBox="1"/>
              <p:nvPr/>
            </p:nvSpPr>
            <p:spPr>
              <a:xfrm>
                <a:off x="6376416" y="3572828"/>
                <a:ext cx="3300057"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그냥 fw run (STOP 자동 소비) · 상한이면 값 조정</a:t>
                </a:r>
              </a:p>
            </p:txBody>
          </p:sp>
          <p:sp>
            <p:nvSpPr>
              <p:cNvPr id="39" name="Line 39"/>
              <p:cNvSpPr/>
              <p:nvPr/>
            </p:nvSpPr>
            <p:spPr>
              <a:xfrm>
                <a:off x="609600" y="3790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45" name="Group 45"/>
            <p:cNvGrpSpPr/>
            <p:nvPr/>
          </p:nvGrpSpPr>
          <p:grpSpPr>
            <a:xfrm>
              <a:off x="609600" y="3896678"/>
              <a:ext cx="10972800" cy="227647"/>
              <a:chOff x="609600" y="3896678"/>
              <a:chExt cx="10972800" cy="227647"/>
            </a:xfrm>
          </p:grpSpPr>
          <p:sp>
            <p:nvSpPr>
              <p:cNvPr id="41" name="TextBox 41"/>
              <p:cNvSpPr txBox="1"/>
              <p:nvPr/>
            </p:nvSpPr>
            <p:spPr>
              <a:xfrm>
                <a:off x="661416" y="3896678"/>
                <a:ext cx="1084936" cy="205359"/>
              </a:xfrm>
              <a:prstGeom prst="rect">
                <a:avLst/>
              </a:prstGeom>
              <a:noFill/>
              <a:ln>
                <a:noFill/>
              </a:ln>
            </p:spPr>
            <p:txBody>
              <a:bodyPr wrap="none" lIns="0" tIns="0" rIns="0" bIns="0" anchor="t" anchorCtr="0">
                <a:spAutoFit/>
              </a:bodyPr>
              <a:lstStyle/>
              <a:p>
                <a:pPr algn="l"/>
                <a:r>
                  <a:rPr lang="ko-KR" sz="1050" dirty="0">
                    <a:solidFill>
                      <a:schemeClr val="accent3"/>
                    </a:solidFill>
                    <a:latin typeface="+mn-lt"/>
                    <a:ea typeface="+mn-ea"/>
                    <a:cs typeface="+mn-cs"/>
                  </a:rPr>
                  <a:t>awaiting_merge</a:t>
                </a:r>
              </a:p>
            </p:txBody>
          </p:sp>
          <p:sp>
            <p:nvSpPr>
              <p:cNvPr id="42" name="TextBox 42"/>
              <p:cNvSpPr txBox="1"/>
              <p:nvPr/>
            </p:nvSpPr>
            <p:spPr>
              <a:xfrm>
                <a:off x="2566416" y="3896678"/>
                <a:ext cx="948163"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PR approve 됨</a:t>
                </a:r>
              </a:p>
            </p:txBody>
          </p:sp>
          <p:sp>
            <p:nvSpPr>
              <p:cNvPr id="43" name="TextBox 43"/>
              <p:cNvSpPr txBox="1"/>
              <p:nvPr/>
            </p:nvSpPr>
            <p:spPr>
              <a:xfrm>
                <a:off x="6376416" y="3896678"/>
                <a:ext cx="1381773"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사람이 머지 → fw run</a:t>
                </a:r>
              </a:p>
            </p:txBody>
          </p:sp>
          <p:sp>
            <p:nvSpPr>
              <p:cNvPr id="44" name="Line 44"/>
              <p:cNvSpPr/>
              <p:nvPr/>
            </p:nvSpPr>
            <p:spPr>
              <a:xfrm>
                <a:off x="609600" y="41148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50" name="Group 50"/>
            <p:cNvGrpSpPr/>
            <p:nvPr/>
          </p:nvGrpSpPr>
          <p:grpSpPr>
            <a:xfrm>
              <a:off x="609600" y="4220528"/>
              <a:ext cx="10972800" cy="227647"/>
              <a:chOff x="609600" y="4220528"/>
              <a:chExt cx="10972800" cy="227647"/>
            </a:xfrm>
          </p:grpSpPr>
          <p:sp>
            <p:nvSpPr>
              <p:cNvPr id="46" name="TextBox 46"/>
              <p:cNvSpPr txBox="1"/>
              <p:nvPr/>
            </p:nvSpPr>
            <p:spPr>
              <a:xfrm>
                <a:off x="661416" y="4220528"/>
                <a:ext cx="1304030"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다른 fw run 실행 중</a:t>
                </a:r>
              </a:p>
            </p:txBody>
          </p:sp>
          <p:sp>
            <p:nvSpPr>
              <p:cNvPr id="47" name="TextBox 47"/>
              <p:cNvSpPr txBox="1"/>
              <p:nvPr/>
            </p:nvSpPr>
            <p:spPr>
              <a:xfrm>
                <a:off x="2566416" y="4220528"/>
                <a:ext cx="1688478"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.fw.lock 에 살아있는 PID</a:t>
                </a:r>
              </a:p>
            </p:txBody>
          </p:sp>
          <p:sp>
            <p:nvSpPr>
              <p:cNvPr id="48" name="TextBox 48"/>
              <p:cNvSpPr txBox="1"/>
              <p:nvPr/>
            </p:nvSpPr>
            <p:spPr>
              <a:xfrm>
                <a:off x="6376416" y="4220528"/>
                <a:ext cx="2869425"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기다리거나 fw stop · 죽은 PID 면 자동 회수</a:t>
                </a:r>
              </a:p>
            </p:txBody>
          </p:sp>
          <p:sp>
            <p:nvSpPr>
              <p:cNvPr id="49" name="Line 49"/>
              <p:cNvSpPr/>
              <p:nvPr/>
            </p:nvSpPr>
            <p:spPr>
              <a:xfrm>
                <a:off x="609600" y="44386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55" name="Group 55"/>
            <p:cNvGrpSpPr/>
            <p:nvPr/>
          </p:nvGrpSpPr>
          <p:grpSpPr>
            <a:xfrm>
              <a:off x="609600" y="4544378"/>
              <a:ext cx="10972800" cy="227647"/>
              <a:chOff x="609600" y="4544378"/>
              <a:chExt cx="10972800" cy="227647"/>
            </a:xfrm>
          </p:grpSpPr>
          <p:sp>
            <p:nvSpPr>
              <p:cNvPr id="51" name="TextBox 51"/>
              <p:cNvSpPr txBox="1"/>
              <p:nvPr/>
            </p:nvSpPr>
            <p:spPr>
              <a:xfrm>
                <a:off x="661416" y="4544378"/>
                <a:ext cx="1282827"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20분 무응답 후 실패</a:t>
                </a:r>
              </a:p>
            </p:txBody>
          </p:sp>
          <p:sp>
            <p:nvSpPr>
              <p:cNvPr id="52" name="TextBox 52"/>
              <p:cNvSpPr txBox="1"/>
              <p:nvPr/>
            </p:nvSpPr>
            <p:spPr>
              <a:xfrm>
                <a:off x="2566416" y="4544378"/>
                <a:ext cx="1369771"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네트워크 / VPN 단절</a:t>
                </a:r>
              </a:p>
            </p:txBody>
          </p:sp>
          <p:sp>
            <p:nvSpPr>
              <p:cNvPr id="53" name="TextBox 53"/>
              <p:cNvSpPr txBox="1"/>
              <p:nvPr/>
            </p:nvSpPr>
            <p:spPr>
              <a:xfrm>
                <a:off x="6376416" y="4544378"/>
                <a:ext cx="2138001"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자동 재시도 · 반복되면 연결 확인</a:t>
                </a:r>
              </a:p>
            </p:txBody>
          </p:sp>
          <p:sp>
            <p:nvSpPr>
              <p:cNvPr id="54" name="Line 54"/>
              <p:cNvSpPr/>
              <p:nvPr/>
            </p:nvSpPr>
            <p:spPr>
              <a:xfrm>
                <a:off x="609600" y="4762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60" name="Group 60"/>
            <p:cNvGrpSpPr/>
            <p:nvPr/>
          </p:nvGrpSpPr>
          <p:grpSpPr>
            <a:xfrm>
              <a:off x="609600" y="4868228"/>
              <a:ext cx="10972800" cy="227647"/>
              <a:chOff x="609600" y="4868228"/>
              <a:chExt cx="10972800" cy="227647"/>
            </a:xfrm>
          </p:grpSpPr>
          <p:sp>
            <p:nvSpPr>
              <p:cNvPr id="56" name="TextBox 56"/>
              <p:cNvSpPr txBox="1"/>
              <p:nvPr/>
            </p:nvSpPr>
            <p:spPr>
              <a:xfrm>
                <a:off x="661416" y="4868228"/>
                <a:ext cx="1692745"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위조 의심인데 정당한 작업</a:t>
                </a:r>
              </a:p>
            </p:txBody>
          </p:sp>
          <p:sp>
            <p:nvSpPr>
              <p:cNvPr id="57" name="TextBox 57"/>
              <p:cNvSpPr txBox="1"/>
              <p:nvPr/>
            </p:nvSpPr>
            <p:spPr>
              <a:xfrm>
                <a:off x="2566416" y="4868228"/>
                <a:ext cx="1982514"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빌드 설정 자체를 고치는 phase</a:t>
                </a:r>
              </a:p>
            </p:txBody>
          </p:sp>
          <p:sp>
            <p:nvSpPr>
              <p:cNvPr id="58" name="TextBox 58"/>
              <p:cNvSpPr txBox="1"/>
              <p:nvPr/>
            </p:nvSpPr>
            <p:spPr>
              <a:xfrm>
                <a:off x="6376416" y="4868228"/>
                <a:ext cx="3841280" cy="205359"/>
              </a:xfrm>
              <a:prstGeom prst="rect">
                <a:avLst/>
              </a:prstGeom>
              <a:noFill/>
              <a:ln>
                <a:noFill/>
              </a:ln>
            </p:spPr>
            <p:txBody>
              <a:bodyPr wrap="none" lIns="0" tIns="0" rIns="0" bIns="0" anchor="t" anchorCtr="0">
                <a:spAutoFit/>
              </a:bodyPr>
              <a:lstStyle/>
              <a:p>
                <a:pPr algn="l"/>
                <a:r>
                  <a:rPr lang="ko-KR" sz="1050" dirty="0">
                    <a:solidFill>
                      <a:schemeClr val="dk1"/>
                    </a:solidFill>
                    <a:latin typeface="+mn-lt"/>
                    <a:ea typeface="+mn-ea"/>
                    <a:cs typeface="+mn-cs"/>
                  </a:rPr>
                  <a:t>그 phase 에 allow_verify_file_changes: true (시각 기록)</a:t>
                </a:r>
              </a:p>
            </p:txBody>
          </p:sp>
          <p:sp>
            <p:nvSpPr>
              <p:cNvPr id="59" name="Line 59"/>
              <p:cNvSpPr/>
              <p:nvPr/>
            </p:nvSpPr>
            <p:spPr>
              <a:xfrm>
                <a:off x="609600" y="50863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grpSp>
        <p:nvGrpSpPr>
          <p:cNvPr id="68" name="Group 68"/>
          <p:cNvGrpSpPr/>
          <p:nvPr/>
        </p:nvGrpSpPr>
        <p:grpSpPr>
          <a:xfrm>
            <a:off x="609600" y="5257800"/>
            <a:ext cx="10972800" cy="1076706"/>
            <a:chOff x="609600" y="5257800"/>
            <a:chExt cx="10972800" cy="1076706"/>
          </a:xfrm>
        </p:grpSpPr>
        <p:sp>
          <p:nvSpPr>
            <p:cNvPr id="62" name="Rectangle 62"/>
            <p:cNvSpPr/>
            <p:nvPr/>
          </p:nvSpPr>
          <p:spPr>
            <a:xfrm>
              <a:off x="609600" y="5257800"/>
              <a:ext cx="10972800" cy="1066800"/>
            </a:xfrm>
            <a:prstGeom prst="roundRect">
              <a:avLst>
                <a:gd name="adj" fmla="val 5357"/>
              </a:avLst>
            </a:prstGeom>
            <a:solidFill>
              <a:schemeClr val="lt2"/>
            </a:solidFill>
            <a:ln w="14288">
              <a:solidFill>
                <a:schemeClr val="accent2"/>
              </a:solidFill>
            </a:ln>
          </p:spPr>
        </p:sp>
        <p:sp>
          <p:nvSpPr>
            <p:cNvPr id="63" name="Freeform 63"/>
            <p:cNvSpPr/>
            <p:nvPr/>
          </p:nvSpPr>
          <p:spPr>
            <a:xfrm>
              <a:off x="855663" y="5503863"/>
              <a:ext cx="155575" cy="155575"/>
            </a:xfrm>
            <a:custGeom>
              <a:avLst/>
              <a:gdLst/>
              <a:ahLst/>
              <a:cxnLst/>
              <a:rect l="l" t="t" r="r" b="b"/>
              <a:pathLst>
                <a:path w="155575" h="155575">
                  <a:moveTo>
                    <a:pt x="0" y="22225"/>
                  </a:moveTo>
                  <a:cubicBezTo>
                    <a:pt x="0" y="9950"/>
                    <a:pt x="9950" y="0"/>
                    <a:pt x="22225" y="0"/>
                  </a:cubicBezTo>
                  <a:lnTo>
                    <a:pt x="133350" y="0"/>
                  </a:lnTo>
                  <a:cubicBezTo>
                    <a:pt x="145625" y="0"/>
                    <a:pt x="155575" y="9950"/>
                    <a:pt x="155575" y="22225"/>
                  </a:cubicBezTo>
                  <a:lnTo>
                    <a:pt x="155575" y="133350"/>
                  </a:lnTo>
                  <a:cubicBezTo>
                    <a:pt x="155575" y="145625"/>
                    <a:pt x="145625" y="155575"/>
                    <a:pt x="133350" y="155575"/>
                  </a:cubicBezTo>
                  <a:lnTo>
                    <a:pt x="22225" y="155575"/>
                  </a:lnTo>
                  <a:cubicBezTo>
                    <a:pt x="9950" y="155575"/>
                    <a:pt x="0" y="145625"/>
                    <a:pt x="0" y="133350"/>
                  </a:cubicBezTo>
                  <a:lnTo>
                    <a:pt x="0" y="22225"/>
                  </a:lnTo>
                </a:path>
              </a:pathLst>
            </a:custGeom>
            <a:noFill/>
            <a:ln w="22225">
              <a:solidFill>
                <a:schemeClr val="accent2"/>
              </a:solidFill>
            </a:ln>
          </p:spPr>
        </p:sp>
        <p:sp>
          <p:nvSpPr>
            <p:cNvPr id="64" name="TextBox 64"/>
            <p:cNvSpPr txBox="1"/>
            <p:nvPr/>
          </p:nvSpPr>
          <p:spPr>
            <a:xfrm>
              <a:off x="1174242" y="5378768"/>
              <a:ext cx="2642996" cy="264033"/>
            </a:xfrm>
            <a:prstGeom prst="rect">
              <a:avLst/>
            </a:prstGeom>
            <a:noFill/>
            <a:ln>
              <a:noFill/>
            </a:ln>
          </p:spPr>
          <p:txBody>
            <a:bodyPr wrap="none" lIns="0" tIns="0" rIns="0" bIns="0" anchor="t" anchorCtr="0">
              <a:spAutoFit/>
            </a:bodyPr>
            <a:lstStyle/>
            <a:p>
              <a:pPr algn="l"/>
              <a:r>
                <a:rPr lang="ko-KR" sz="1350" b="1" dirty="0">
                  <a:solidFill>
                    <a:schemeClr val="accent2"/>
                  </a:solidFill>
                  <a:latin typeface="+mn-lt"/>
                  <a:ea typeface="+mn-ea"/>
                  <a:cs typeface="+mn-cs"/>
                </a:rPr>
                <a:t>즉시 멈추고 싶을 때 — 킬 스위치</a:t>
              </a:r>
            </a:p>
          </p:txBody>
        </p:sp>
        <p:sp>
          <p:nvSpPr>
            <p:cNvPr id="65" name="TextBox 65"/>
            <p:cNvSpPr txBox="1"/>
            <p:nvPr/>
          </p:nvSpPr>
          <p:spPr>
            <a:xfrm>
              <a:off x="1173480" y="5610225"/>
              <a:ext cx="2620137" cy="293370"/>
            </a:xfrm>
            <a:prstGeom prst="rect">
              <a:avLst/>
            </a:prstGeom>
            <a:noFill/>
            <a:ln>
              <a:noFill/>
            </a:ln>
          </p:spPr>
          <p:txBody>
            <a:bodyPr wrap="none" lIns="0" tIns="0" rIns="0" bIns="0" anchor="t" anchorCtr="0">
              <a:spAutoFit/>
            </a:bodyPr>
            <a:lstStyle/>
            <a:p>
              <a:pPr algn="l"/>
              <a:r>
                <a:rPr lang="ko-KR" sz="1500" dirty="0">
                  <a:solidFill>
                    <a:schemeClr val="accent5"/>
                  </a:solidFill>
                  <a:latin typeface="Consolas"/>
                  <a:ea typeface="Consolas"/>
                  <a:cs typeface="Consolas"/>
                </a:rPr>
                <a:t>$</a:t>
              </a:r>
              <a:r>
                <a:rPr lang="ko-KR" sz="1500" dirty="0">
                  <a:solidFill>
                    <a:schemeClr val="dk1"/>
                  </a:solidFill>
                  <a:latin typeface="Consolas"/>
                  <a:ea typeface="Consolas"/>
                  <a:cs typeface="Consolas"/>
                </a:rPr>
                <a:t xml:space="preserve"> fw stop order-migration</a:t>
              </a:r>
            </a:p>
          </p:txBody>
        </p:sp>
        <p:sp>
          <p:nvSpPr>
            <p:cNvPr id="66" name="TextBox 66"/>
            <p:cNvSpPr txBox="1"/>
            <p:nvPr/>
          </p:nvSpPr>
          <p:spPr>
            <a:xfrm>
              <a:off x="1175004" y="5909310"/>
              <a:ext cx="6600842" cy="234696"/>
            </a:xfrm>
            <a:prstGeom prst="rect">
              <a:avLst/>
            </a:prstGeom>
            <a:noFill/>
            <a:ln>
              <a:noFill/>
            </a:ln>
          </p:spPr>
          <p:txBody>
            <a:bodyPr wrap="none" lIns="0" tIns="0" rIns="0" bIns="0" anchor="t" anchorCtr="0">
              <a:spAutoFit/>
            </a:bodyPr>
            <a:lstStyle/>
            <a:p>
              <a:pPr algn="l"/>
              <a:r>
                <a:rPr lang="ko-KR" sz="1200" dirty="0">
                  <a:solidFill>
                    <a:schemeClr val="dk1"/>
                  </a:solidFill>
                  <a:latin typeface="Consolas"/>
                  <a:ea typeface="Consolas"/>
                  <a:cs typeface="Consolas"/>
                </a:rPr>
                <a:t>docs/order-migration/STOP</a:t>
              </a:r>
              <a:r>
                <a:rPr lang="ko-KR" sz="1200" dirty="0">
                  <a:solidFill>
                    <a:schemeClr val="accent5"/>
                  </a:solidFill>
                  <a:latin typeface="+mn-lt"/>
                  <a:ea typeface="+mn-ea"/>
                  <a:cs typeface="+mn-cs"/>
                </a:rPr>
                <a:t xml:space="preserve"> 파일이 생기고, 하네스는 </a:t>
              </a:r>
              <a:r>
                <a:rPr lang="ko-KR" sz="1200" b="1" dirty="0">
                  <a:solidFill>
                    <a:schemeClr val="dk1"/>
                  </a:solidFill>
                  <a:latin typeface="+mn-lt"/>
                  <a:ea typeface="+mn-ea"/>
                  <a:cs typeface="+mn-cs"/>
                </a:rPr>
                <a:t>다음 세션을 띄우기 직전</a:t>
              </a:r>
              <a:r>
                <a:rPr lang="ko-KR" sz="1200" dirty="0">
                  <a:solidFill>
                    <a:schemeClr val="accent5"/>
                  </a:solidFill>
                  <a:latin typeface="+mn-lt"/>
                  <a:ea typeface="+mn-ea"/>
                  <a:cs typeface="+mn-cs"/>
                </a:rPr>
                <a:t>에 멈춘다</a:t>
              </a:r>
            </a:p>
          </p:txBody>
        </p:sp>
        <p:sp>
          <p:nvSpPr>
            <p:cNvPr id="67" name="TextBox 67"/>
            <p:cNvSpPr txBox="1"/>
            <p:nvPr/>
          </p:nvSpPr>
          <p:spPr>
            <a:xfrm>
              <a:off x="1175004" y="6099810"/>
              <a:ext cx="5900471" cy="234696"/>
            </a:xfrm>
            <a:prstGeom prst="rect">
              <a:avLst/>
            </a:prstGeom>
            <a:noFill/>
            <a:ln>
              <a:noFill/>
            </a:ln>
          </p:spPr>
          <p:txBody>
            <a:bodyPr wrap="none" lIns="0" tIns="0" rIns="0" bIns="0" anchor="t" anchorCtr="0">
              <a:spAutoFit/>
            </a:bodyPr>
            <a:lstStyle/>
            <a:p>
              <a:pPr algn="l"/>
              <a:r>
                <a:rPr lang="ko-KR" sz="1200" dirty="0">
                  <a:solidFill>
                    <a:schemeClr val="accent5"/>
                  </a:solidFill>
                  <a:latin typeface="+mn-lt"/>
                  <a:ea typeface="+mn-ea"/>
                  <a:cs typeface="+mn-cs"/>
                </a:rPr>
                <a:t>돌고 있는 세션은 중간에 죽이지 않는다 — 커밋이 반쯤 된 상태를 남기지 않기 위해</a:t>
              </a:r>
            </a:p>
          </p:txBody>
        </p:sp>
      </p:grpSp>
      <p:grpSp>
        <p:nvGrpSpPr>
          <p:cNvPr id="71" name="Group 71"/>
          <p:cNvGrpSpPr/>
          <p:nvPr/>
        </p:nvGrpSpPr>
        <p:grpSpPr>
          <a:xfrm>
            <a:off x="604266" y="6516052"/>
            <a:ext cx="10983468" cy="205359"/>
            <a:chOff x="604266" y="6516052"/>
            <a:chExt cx="10983468" cy="205359"/>
          </a:xfrm>
        </p:grpSpPr>
        <p:sp>
          <p:nvSpPr>
            <p:cNvPr id="69" name="TextBox 69"/>
            <p:cNvSpPr txBox="1"/>
            <p:nvPr/>
          </p:nvSpPr>
          <p:spPr>
            <a:xfrm>
              <a:off x="604266" y="6516052"/>
              <a:ext cx="6707932"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feature-workflow · plugins/feature-workflow/README.md §7.5 · harness/README.md 멈출 수단</a:t>
              </a:r>
            </a:p>
          </p:txBody>
        </p:sp>
        <p:sp>
          <p:nvSpPr>
            <p:cNvPr id="70" name="TextBox 70"/>
            <p:cNvSpPr txBox="1"/>
            <p:nvPr/>
          </p:nvSpPr>
          <p:spPr>
            <a:xfrm>
              <a:off x="11103540" y="65160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17 / 19</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01980" y="428625"/>
            <a:ext cx="3493008" cy="293370"/>
            <a:chOff x="601980" y="428625"/>
            <a:chExt cx="3493008" cy="293370"/>
          </a:xfrm>
        </p:grpSpPr>
        <p:sp>
          <p:nvSpPr>
            <p:cNvPr id="2" name="TextBox 2"/>
            <p:cNvSpPr txBox="1"/>
            <p:nvPr/>
          </p:nvSpPr>
          <p:spPr>
            <a:xfrm>
              <a:off x="601980" y="428625"/>
              <a:ext cx="3493008" cy="293370"/>
            </a:xfrm>
            <a:prstGeom prst="rect">
              <a:avLst/>
            </a:prstGeom>
            <a:noFill/>
            <a:ln>
              <a:noFill/>
            </a:ln>
          </p:spPr>
          <p:txBody>
            <a:bodyPr wrap="none" lIns="0" tIns="0" rIns="0" bIns="0" anchor="t" anchorCtr="0">
              <a:spAutoFit/>
            </a:bodyPr>
            <a:lstStyle/>
            <a:p>
              <a:pPr algn="l"/>
              <a:r>
                <a:rPr lang="ko-KR" sz="1500" spc="150" dirty="0">
                  <a:solidFill>
                    <a:schemeClr val="accent5"/>
                  </a:solidFill>
                  <a:latin typeface="Consolas"/>
                  <a:ea typeface="Microsoft YaHei"/>
                  <a:cs typeface="Consolas"/>
                </a:rPr>
                <a:t>PART 04 · 판단 근거 — 안전장치</a:t>
              </a:r>
            </a:p>
          </p:txBody>
        </p:sp>
      </p:grpSp>
      <p:grpSp>
        <p:nvGrpSpPr>
          <p:cNvPr id="5" name="Group 5"/>
          <p:cNvGrpSpPr/>
          <p:nvPr/>
        </p:nvGrpSpPr>
        <p:grpSpPr>
          <a:xfrm>
            <a:off x="593598" y="822008"/>
            <a:ext cx="6767846" cy="1111377"/>
            <a:chOff x="593598" y="822008"/>
            <a:chExt cx="6767846" cy="1111377"/>
          </a:xfrm>
        </p:grpSpPr>
        <p:sp>
          <p:nvSpPr>
            <p:cNvPr id="4" name="TextBox 4"/>
            <p:cNvSpPr txBox="1"/>
            <p:nvPr/>
          </p:nvSpPr>
          <p:spPr>
            <a:xfrm>
              <a:off x="593598" y="822008"/>
              <a:ext cx="6767846" cy="1111377"/>
            </a:xfrm>
            <a:prstGeom prst="rect">
              <a:avLst/>
            </a:prstGeom>
            <a:noFill/>
            <a:ln>
              <a:noFill/>
            </a:ln>
          </p:spPr>
          <p:txBody>
            <a:bodyPr wrap="none" lIns="0" tIns="0" rIns="0" bIns="0" anchor="t" anchorCtr="0">
              <a:spAutoFit/>
            </a:bodyPr>
            <a:lstStyle/>
            <a:p>
              <a:pPr algn="l">
                <a:lnSpc>
                  <a:spcPts val="3900"/>
                </a:lnSpc>
              </a:pPr>
              <a:r>
                <a:rPr lang="ko-KR" sz="3150" b="1" dirty="0">
                  <a:solidFill>
                    <a:schemeClr val="dk1"/>
                  </a:solidFill>
                  <a:latin typeface="+mn-lt"/>
                  <a:ea typeface="+mn-ea"/>
                  <a:cs typeface="+mn-cs"/>
                </a:rPr>
                <a:t xml:space="preserve">규칙을 문장이 아니라 </a:t>
              </a:r>
              <a:r>
                <a:rPr lang="ko-KR" sz="3150" b="1" dirty="0">
                  <a:solidFill>
                    <a:schemeClr val="accent1"/>
                  </a:solidFill>
                  <a:latin typeface="+mn-lt"/>
                  <a:ea typeface="+mn-ea"/>
                  <a:cs typeface="+mn-cs"/>
                </a:rPr>
                <a:t>코드</a:t>
              </a:r>
              <a:r>
                <a:rPr lang="ko-KR" sz="3150" b="1" dirty="0">
                  <a:solidFill>
                    <a:schemeClr val="dk1"/>
                  </a:solidFill>
                  <a:latin typeface="+mn-lt"/>
                  <a:ea typeface="+mn-ea"/>
                  <a:cs typeface="+mn-cs"/>
                </a:rPr>
                <a:t>로 지키고,</a:t>
              </a:r>
              <a:br/>
              <a:r>
                <a:rPr lang="ko-KR" sz="3150" b="1" dirty="0">
                  <a:solidFill>
                    <a:schemeClr val="dk1"/>
                  </a:solidFill>
                  <a:latin typeface="+mn-lt"/>
                  <a:ea typeface="+mn-ea"/>
                  <a:cs typeface="+mn-cs"/>
                </a:rPr>
                <a:t xml:space="preserve">한 층이 뚫려도 </a:t>
              </a:r>
              <a:r>
                <a:rPr lang="ko-KR" sz="3150" b="1" dirty="0">
                  <a:solidFill>
                    <a:schemeClr val="accent2"/>
                  </a:solidFill>
                  <a:latin typeface="+mn-lt"/>
                  <a:ea typeface="+mn-ea"/>
                  <a:cs typeface="+mn-cs"/>
                </a:rPr>
                <a:t>다음 층</a:t>
              </a:r>
              <a:r>
                <a:rPr lang="ko-KR" sz="3150" b="1" dirty="0">
                  <a:solidFill>
                    <a:schemeClr val="dk1"/>
                  </a:solidFill>
                  <a:latin typeface="+mn-lt"/>
                  <a:ea typeface="+mn-ea"/>
                  <a:cs typeface="+mn-cs"/>
                </a:rPr>
                <a:t>이 잡는다</a:t>
              </a:r>
            </a:p>
          </p:txBody>
        </p:sp>
      </p:grpSp>
      <p:grpSp>
        <p:nvGrpSpPr>
          <p:cNvPr id="31" name="Group 31"/>
          <p:cNvGrpSpPr/>
          <p:nvPr/>
        </p:nvGrpSpPr>
        <p:grpSpPr>
          <a:xfrm>
            <a:off x="609600" y="1943100"/>
            <a:ext cx="7239000" cy="4381500"/>
            <a:chOff x="609600" y="1943100"/>
            <a:chExt cx="7239000" cy="4381500"/>
          </a:xfrm>
        </p:grpSpPr>
        <p:grpSp>
          <p:nvGrpSpPr>
            <p:cNvPr id="11" name="Group 11"/>
            <p:cNvGrpSpPr/>
            <p:nvPr/>
          </p:nvGrpSpPr>
          <p:grpSpPr>
            <a:xfrm>
              <a:off x="609600" y="1943100"/>
              <a:ext cx="7239000" cy="990600"/>
              <a:chOff x="609600" y="1943100"/>
              <a:chExt cx="7239000" cy="990600"/>
            </a:xfrm>
          </p:grpSpPr>
          <p:sp>
            <p:nvSpPr>
              <p:cNvPr id="6" name="Rectangle 6"/>
              <p:cNvSpPr/>
              <p:nvPr/>
            </p:nvSpPr>
            <p:spPr>
              <a:xfrm>
                <a:off x="609600" y="1943100"/>
                <a:ext cx="7239000" cy="990600"/>
              </a:xfrm>
              <a:prstGeom prst="roundRect">
                <a:avLst>
                  <a:gd name="adj" fmla="val 5769"/>
                </a:avLst>
              </a:prstGeom>
              <a:solidFill>
                <a:schemeClr val="lt2">
                  <a:alpha val="60000"/>
                </a:schemeClr>
              </a:solidFill>
              <a:ln w="14288">
                <a:solidFill>
                  <a:schemeClr val="accent1"/>
                </a:solidFill>
              </a:ln>
            </p:spPr>
          </p:sp>
          <p:sp>
            <p:nvSpPr>
              <p:cNvPr id="7" name="TextBox 7"/>
              <p:cNvSpPr txBox="1"/>
              <p:nvPr/>
            </p:nvSpPr>
            <p:spPr>
              <a:xfrm>
                <a:off x="754380" y="2028825"/>
                <a:ext cx="333785" cy="293370"/>
              </a:xfrm>
              <a:prstGeom prst="rect">
                <a:avLst/>
              </a:prstGeom>
              <a:noFill/>
              <a:ln>
                <a:noFill/>
              </a:ln>
            </p:spPr>
            <p:txBody>
              <a:bodyPr wrap="none" lIns="0" tIns="0" rIns="0" bIns="0" anchor="t" anchorCtr="0">
                <a:spAutoFit/>
              </a:bodyPr>
              <a:lstStyle/>
              <a:p>
                <a:pPr algn="l"/>
                <a:r>
                  <a:rPr lang="ko-KR" sz="1500" b="1" dirty="0">
                    <a:solidFill>
                      <a:schemeClr val="accent1"/>
                    </a:solidFill>
                    <a:latin typeface="Consolas"/>
                    <a:ea typeface="Microsoft YaHei"/>
                    <a:cs typeface="Consolas"/>
                  </a:rPr>
                  <a:t>0층</a:t>
                </a:r>
              </a:p>
            </p:txBody>
          </p:sp>
          <p:sp>
            <p:nvSpPr>
              <p:cNvPr id="8" name="TextBox 8"/>
              <p:cNvSpPr txBox="1"/>
              <p:nvPr/>
            </p:nvSpPr>
            <p:spPr>
              <a:xfrm>
                <a:off x="756666" y="2286952"/>
                <a:ext cx="1042530"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시작 전 · 비용 0</a:t>
                </a:r>
              </a:p>
            </p:txBody>
          </p:sp>
          <p:sp>
            <p:nvSpPr>
              <p:cNvPr id="9" name="TextBox 9"/>
              <p:cNvSpPr txBox="1"/>
              <p:nvPr/>
            </p:nvSpPr>
            <p:spPr>
              <a:xfrm>
                <a:off x="1898904" y="2061210"/>
                <a:ext cx="2086478"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AI 를 띄우기 전에 거부한다</a:t>
                </a:r>
              </a:p>
            </p:txBody>
          </p:sp>
          <p:sp>
            <p:nvSpPr>
              <p:cNvPr id="10" name="TextBox 10"/>
              <p:cNvSpPr txBox="1"/>
              <p:nvPr/>
            </p:nvSpPr>
            <p:spPr>
              <a:xfrm>
                <a:off x="1899666" y="2325052"/>
                <a:ext cx="4117848" cy="586359"/>
              </a:xfrm>
              <a:prstGeom prst="rect">
                <a:avLst/>
              </a:prstGeom>
              <a:noFill/>
              <a:ln>
                <a:noFill/>
              </a:ln>
            </p:spPr>
            <p:txBody>
              <a:bodyPr wrap="none" lIns="0" tIns="0" rIns="0" bIns="0" anchor="t" anchorCtr="0">
                <a:spAutoFit/>
              </a:bodyPr>
              <a:lstStyle/>
              <a:p>
                <a:pPr algn="l">
                  <a:lnSpc>
                    <a:spcPts val="1500"/>
                  </a:lnSpc>
                </a:pPr>
                <a:r>
                  <a:rPr lang="ko-KR" sz="1050" dirty="0">
                    <a:solidFill>
                      <a:schemeClr val="dk1"/>
                    </a:solidFill>
                    <a:latin typeface="+mn-lt"/>
                    <a:ea typeface="+mn-ea"/>
                    <a:cs typeface="+mn-cs"/>
                  </a:rPr>
                  <a:t xml:space="preserve">검증 명령이 항상 성공하는 꼴이면 시작 거부 — </a:t>
                </a:r>
                <a:r>
                  <a:rPr lang="ko-KR" sz="1050" dirty="0">
                    <a:solidFill>
                      <a:srgbClr val="FF6B6B"/>
                    </a:solidFill>
                    <a:latin typeface="Consolas"/>
                    <a:ea typeface="Consolas"/>
                    <a:cs typeface="Consolas"/>
                  </a:rPr>
                  <a:t>|| true · echo · | tee</a:t>
                </a:r>
                <a:br/>
                <a:r>
                  <a:rPr lang="ko-KR" sz="1050" dirty="0">
                    <a:solidFill>
                      <a:schemeClr val="dk1"/>
                    </a:solidFill>
                    <a:latin typeface="+mn-lt"/>
                    <a:ea typeface="+mn-ea"/>
                    <a:cs typeface="+mn-cs"/>
                  </a:rPr>
                  <a:t>리포 경로 · git 저장소 · 커밋 안 된 변경 · gh 로그인을 먼저 확인</a:t>
                </a:r>
                <a:br/>
                <a:r>
                  <a:rPr lang="ko-KR" sz="1050" dirty="0">
                    <a:solidFill>
                      <a:schemeClr val="dk1"/>
                    </a:solidFill>
                    <a:latin typeface="+mn-lt"/>
                    <a:ea typeface="+mn-ea"/>
                    <a:cs typeface="+mn-cs"/>
                  </a:rPr>
                  <a:t>PR 모드에서 신뢰할 리뷰어 목록이 비어 있으면 시작 거부</a:t>
                </a:r>
              </a:p>
            </p:txBody>
          </p:sp>
        </p:grpSp>
        <p:grpSp>
          <p:nvGrpSpPr>
            <p:cNvPr id="18" name="Group 18"/>
            <p:cNvGrpSpPr/>
            <p:nvPr/>
          </p:nvGrpSpPr>
          <p:grpSpPr>
            <a:xfrm>
              <a:off x="609600" y="3009900"/>
              <a:ext cx="7239000" cy="1181100"/>
              <a:chOff x="609600" y="3009900"/>
              <a:chExt cx="7239000" cy="1181100"/>
            </a:xfrm>
          </p:grpSpPr>
          <p:sp>
            <p:nvSpPr>
              <p:cNvPr id="12" name="Rectangle 12"/>
              <p:cNvSpPr/>
              <p:nvPr/>
            </p:nvSpPr>
            <p:spPr>
              <a:xfrm>
                <a:off x="609600" y="3009900"/>
                <a:ext cx="7239000" cy="1181100"/>
              </a:xfrm>
              <a:prstGeom prst="roundRect">
                <a:avLst>
                  <a:gd name="adj" fmla="val 4839"/>
                </a:avLst>
              </a:prstGeom>
              <a:solidFill>
                <a:schemeClr val="lt2">
                  <a:alpha val="60000"/>
                </a:schemeClr>
              </a:solidFill>
              <a:ln w="14288">
                <a:solidFill>
                  <a:schemeClr val="accent1"/>
                </a:solidFill>
              </a:ln>
            </p:spPr>
          </p:sp>
          <p:sp>
            <p:nvSpPr>
              <p:cNvPr id="13" name="TextBox 13"/>
              <p:cNvSpPr txBox="1"/>
              <p:nvPr/>
            </p:nvSpPr>
            <p:spPr>
              <a:xfrm>
                <a:off x="754380" y="3095625"/>
                <a:ext cx="333785" cy="293370"/>
              </a:xfrm>
              <a:prstGeom prst="rect">
                <a:avLst/>
              </a:prstGeom>
              <a:noFill/>
              <a:ln>
                <a:noFill/>
              </a:ln>
            </p:spPr>
            <p:txBody>
              <a:bodyPr wrap="none" lIns="0" tIns="0" rIns="0" bIns="0" anchor="t" anchorCtr="0">
                <a:spAutoFit/>
              </a:bodyPr>
              <a:lstStyle/>
              <a:p>
                <a:pPr algn="l"/>
                <a:r>
                  <a:rPr lang="ko-KR" sz="1500" b="1" dirty="0">
                    <a:solidFill>
                      <a:schemeClr val="accent1"/>
                    </a:solidFill>
                    <a:latin typeface="Consolas"/>
                    <a:ea typeface="Microsoft YaHei"/>
                    <a:cs typeface="Consolas"/>
                  </a:rPr>
                  <a:t>1층</a:t>
                </a:r>
              </a:p>
            </p:txBody>
          </p:sp>
          <p:sp>
            <p:nvSpPr>
              <p:cNvPr id="14" name="TextBox 14"/>
              <p:cNvSpPr txBox="1"/>
              <p:nvPr/>
            </p:nvSpPr>
            <p:spPr>
              <a:xfrm>
                <a:off x="756666" y="3353752"/>
                <a:ext cx="675284"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AI 실행 중</a:t>
                </a:r>
              </a:p>
            </p:txBody>
          </p:sp>
          <p:sp>
            <p:nvSpPr>
              <p:cNvPr id="15" name="TextBox 15"/>
              <p:cNvSpPr txBox="1"/>
              <p:nvPr/>
            </p:nvSpPr>
            <p:spPr>
              <a:xfrm>
                <a:off x="756666" y="3525202"/>
                <a:ext cx="901179"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도구 호출마다</a:t>
                </a:r>
              </a:p>
            </p:txBody>
          </p:sp>
          <p:sp>
            <p:nvSpPr>
              <p:cNvPr id="16" name="TextBox 16"/>
              <p:cNvSpPr txBox="1"/>
              <p:nvPr/>
            </p:nvSpPr>
            <p:spPr>
              <a:xfrm>
                <a:off x="1898904" y="3128010"/>
                <a:ext cx="5337231"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AI 의 도구 호출을 하나씩 검사한다 (리포의 권한 설정은 일부러 무시)</a:t>
                </a:r>
              </a:p>
            </p:txBody>
          </p:sp>
          <p:sp>
            <p:nvSpPr>
              <p:cNvPr id="17" name="TextBox 17"/>
              <p:cNvSpPr txBox="1"/>
              <p:nvPr/>
            </p:nvSpPr>
            <p:spPr>
              <a:xfrm>
                <a:off x="1899666" y="3391852"/>
                <a:ext cx="5438013" cy="776859"/>
              </a:xfrm>
              <a:prstGeom prst="rect">
                <a:avLst/>
              </a:prstGeom>
              <a:noFill/>
              <a:ln>
                <a:noFill/>
              </a:ln>
            </p:spPr>
            <p:txBody>
              <a:bodyPr wrap="none" lIns="0" tIns="0" rIns="0" bIns="0" anchor="t" anchorCtr="0">
                <a:spAutoFit/>
              </a:bodyPr>
              <a:lstStyle/>
              <a:p>
                <a:pPr algn="l">
                  <a:lnSpc>
                    <a:spcPts val="1500"/>
                  </a:lnSpc>
                </a:pPr>
                <a:r>
                  <a:rPr lang="ko-KR" sz="1050" dirty="0">
                    <a:solidFill>
                      <a:schemeClr val="dk1"/>
                    </a:solidFill>
                    <a:latin typeface="+mn-lt"/>
                    <a:ea typeface="+mn-ea"/>
                    <a:cs typeface="+mn-cs"/>
                  </a:rPr>
                  <a:t xml:space="preserve">리포 밖 · .git · STATE/PLAN/CLAUDE.md 쓰기 · rm -rf · 복합 명령 · 미허용 push → </a:t>
                </a:r>
                <a:r>
                  <a:rPr lang="ko-KR" sz="1050" b="1" dirty="0">
                    <a:solidFill>
                      <a:srgbClr val="FF6B6B"/>
                    </a:solidFill>
                    <a:latin typeface="+mn-lt"/>
                    <a:ea typeface="+mn-ea"/>
                    <a:cs typeface="+mn-cs"/>
                  </a:rPr>
                  <a:t>거부</a:t>
                </a:r>
                <a:br/>
                <a:r>
                  <a:rPr lang="ko-KR" sz="1050" dirty="0">
                    <a:solidFill>
                      <a:schemeClr val="dk1"/>
                    </a:solidFill>
                    <a:latin typeface="+mn-lt"/>
                    <a:ea typeface="+mn-ea"/>
                    <a:cs typeface="+mn-cs"/>
                  </a:rPr>
                  <a:t>gh 로 쓰는 동작 · 셸 변수/백틱처럼 나중에 펼쳐지는 문법 → 모르면 거부</a:t>
                </a:r>
                <a:br/>
                <a:r>
                  <a:rPr lang="ko-KR" sz="1050" dirty="0">
                    <a:solidFill>
                      <a:schemeClr val="dk1"/>
                    </a:solidFill>
                    <a:latin typeface="+mn-lt"/>
                    <a:ea typeface="+mn-ea"/>
                    <a:cs typeface="+mn-cs"/>
                  </a:rPr>
                  <a:t>샌드박스(선택) — npm run 이 실행하는 스크립트까지 OS 수준에서 격리</a:t>
                </a:r>
                <a:br/>
                <a:r>
                  <a:rPr lang="ko-KR" sz="1050" dirty="0">
                    <a:solidFill>
                      <a:schemeClr val="dk1"/>
                    </a:solidFill>
                    <a:latin typeface="+mn-lt"/>
                    <a:ea typeface="+mn-ea"/>
                    <a:cs typeface="+mn-cs"/>
                  </a:rPr>
                  <a:t>허용·거부를 기록 — 토큰·API 키는 가려서 남긴다</a:t>
                </a:r>
              </a:p>
            </p:txBody>
          </p:sp>
        </p:grpSp>
        <p:grpSp>
          <p:nvGrpSpPr>
            <p:cNvPr id="24" name="Group 24"/>
            <p:cNvGrpSpPr/>
            <p:nvPr/>
          </p:nvGrpSpPr>
          <p:grpSpPr>
            <a:xfrm>
              <a:off x="609600" y="4267200"/>
              <a:ext cx="7239000" cy="990600"/>
              <a:chOff x="609600" y="4267200"/>
              <a:chExt cx="7239000" cy="990600"/>
            </a:xfrm>
          </p:grpSpPr>
          <p:sp>
            <p:nvSpPr>
              <p:cNvPr id="19" name="Rectangle 19"/>
              <p:cNvSpPr/>
              <p:nvPr/>
            </p:nvSpPr>
            <p:spPr>
              <a:xfrm>
                <a:off x="609600" y="4267200"/>
                <a:ext cx="7239000" cy="990600"/>
              </a:xfrm>
              <a:prstGeom prst="roundRect">
                <a:avLst>
                  <a:gd name="adj" fmla="val 5769"/>
                </a:avLst>
              </a:prstGeom>
              <a:solidFill>
                <a:schemeClr val="lt2">
                  <a:alpha val="60000"/>
                </a:schemeClr>
              </a:solidFill>
              <a:ln w="14288">
                <a:solidFill>
                  <a:schemeClr val="accent1"/>
                </a:solidFill>
              </a:ln>
            </p:spPr>
          </p:sp>
          <p:sp>
            <p:nvSpPr>
              <p:cNvPr id="20" name="TextBox 20"/>
              <p:cNvSpPr txBox="1"/>
              <p:nvPr/>
            </p:nvSpPr>
            <p:spPr>
              <a:xfrm>
                <a:off x="754380" y="4352925"/>
                <a:ext cx="333785" cy="293370"/>
              </a:xfrm>
              <a:prstGeom prst="rect">
                <a:avLst/>
              </a:prstGeom>
              <a:noFill/>
              <a:ln>
                <a:noFill/>
              </a:ln>
            </p:spPr>
            <p:txBody>
              <a:bodyPr wrap="none" lIns="0" tIns="0" rIns="0" bIns="0" anchor="t" anchorCtr="0">
                <a:spAutoFit/>
              </a:bodyPr>
              <a:lstStyle/>
              <a:p>
                <a:pPr algn="l"/>
                <a:r>
                  <a:rPr lang="ko-KR" sz="1500" b="1" dirty="0">
                    <a:solidFill>
                      <a:schemeClr val="accent1"/>
                    </a:solidFill>
                    <a:latin typeface="Consolas"/>
                    <a:ea typeface="Microsoft YaHei"/>
                    <a:cs typeface="Consolas"/>
                  </a:rPr>
                  <a:t>2층</a:t>
                </a:r>
              </a:p>
            </p:txBody>
          </p:sp>
          <p:sp>
            <p:nvSpPr>
              <p:cNvPr id="21" name="TextBox 21"/>
              <p:cNvSpPr txBox="1"/>
              <p:nvPr/>
            </p:nvSpPr>
            <p:spPr>
              <a:xfrm>
                <a:off x="756666" y="4611052"/>
                <a:ext cx="618477"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결과 판정</a:t>
                </a:r>
              </a:p>
            </p:txBody>
          </p:sp>
          <p:sp>
            <p:nvSpPr>
              <p:cNvPr id="22" name="TextBox 22"/>
              <p:cNvSpPr txBox="1"/>
              <p:nvPr/>
            </p:nvSpPr>
            <p:spPr>
              <a:xfrm>
                <a:off x="1898904" y="4385310"/>
                <a:ext cx="2697131"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AI 가 뭐라고 했든 git 으로 확인한다</a:t>
                </a:r>
              </a:p>
            </p:txBody>
          </p:sp>
          <p:sp>
            <p:nvSpPr>
              <p:cNvPr id="23" name="TextBox 23"/>
              <p:cNvSpPr txBox="1"/>
              <p:nvPr/>
            </p:nvSpPr>
            <p:spPr>
              <a:xfrm>
                <a:off x="1899666" y="4649152"/>
                <a:ext cx="4517898" cy="586359"/>
              </a:xfrm>
              <a:prstGeom prst="rect">
                <a:avLst/>
              </a:prstGeom>
              <a:noFill/>
              <a:ln>
                <a:noFill/>
              </a:ln>
            </p:spPr>
            <p:txBody>
              <a:bodyPr wrap="none" lIns="0" tIns="0" rIns="0" bIns="0" anchor="t" anchorCtr="0">
                <a:spAutoFit/>
              </a:bodyPr>
              <a:lstStyle/>
              <a:p>
                <a:pPr algn="l">
                  <a:lnSpc>
                    <a:spcPts val="1500"/>
                  </a:lnSpc>
                </a:pPr>
                <a:r>
                  <a:rPr lang="ko-KR" sz="1050" dirty="0">
                    <a:solidFill>
                      <a:schemeClr val="dk1"/>
                    </a:solidFill>
                    <a:latin typeface="+mn-lt"/>
                    <a:ea typeface="+mn-ea"/>
                    <a:cs typeface="+mn-cs"/>
                  </a:rPr>
                  <a:t>작업 브랜치를 벗어나지 않았나 (브랜치 이동은 허용 명령이라 매번 재확인)</a:t>
                </a:r>
                <a:br/>
                <a:r>
                  <a:rPr lang="ko-KR" sz="1050" dirty="0">
                    <a:solidFill>
                      <a:schemeClr val="dk1"/>
                    </a:solidFill>
                    <a:latin typeface="+mn-lt"/>
                    <a:ea typeface="+mn-ea"/>
                    <a:cs typeface="+mn-cs"/>
                  </a:rPr>
                  <a:t>검증 스크립트·빌드 설정을 몰래 바꾸지 않았나 (phase 시작 시점과 비교)</a:t>
                </a:r>
                <a:br/>
                <a:r>
                  <a:rPr lang="ko-KR" sz="1050" dirty="0">
                    <a:solidFill>
                      <a:schemeClr val="dk1"/>
                    </a:solidFill>
                    <a:latin typeface="+mn-lt"/>
                    <a:ea typeface="+mn-ea"/>
                    <a:cs typeface="+mn-cs"/>
                  </a:rPr>
                  <a:t>검증 명령을 직접 실행해 exit code 로 판정 · 커밋이 정말 새로 생겼나</a:t>
                </a:r>
              </a:p>
            </p:txBody>
          </p:sp>
        </p:grpSp>
        <p:grpSp>
          <p:nvGrpSpPr>
            <p:cNvPr id="30" name="Group 30"/>
            <p:cNvGrpSpPr/>
            <p:nvPr/>
          </p:nvGrpSpPr>
          <p:grpSpPr>
            <a:xfrm>
              <a:off x="609600" y="5334000"/>
              <a:ext cx="7239000" cy="990600"/>
              <a:chOff x="609600" y="5334000"/>
              <a:chExt cx="7239000" cy="990600"/>
            </a:xfrm>
          </p:grpSpPr>
          <p:sp>
            <p:nvSpPr>
              <p:cNvPr id="25" name="Rectangle 25"/>
              <p:cNvSpPr/>
              <p:nvPr/>
            </p:nvSpPr>
            <p:spPr>
              <a:xfrm>
                <a:off x="609600" y="5334000"/>
                <a:ext cx="7239000" cy="990600"/>
              </a:xfrm>
              <a:prstGeom prst="roundRect">
                <a:avLst>
                  <a:gd name="adj" fmla="val 5769"/>
                </a:avLst>
              </a:prstGeom>
              <a:solidFill>
                <a:schemeClr val="lt2">
                  <a:alpha val="60000"/>
                </a:schemeClr>
              </a:solidFill>
              <a:ln w="14288">
                <a:solidFill>
                  <a:schemeClr val="accent2"/>
                </a:solidFill>
              </a:ln>
            </p:spPr>
          </p:sp>
          <p:sp>
            <p:nvSpPr>
              <p:cNvPr id="26" name="TextBox 26"/>
              <p:cNvSpPr txBox="1"/>
              <p:nvPr/>
            </p:nvSpPr>
            <p:spPr>
              <a:xfrm>
                <a:off x="754380" y="5419725"/>
                <a:ext cx="333785" cy="293370"/>
              </a:xfrm>
              <a:prstGeom prst="rect">
                <a:avLst/>
              </a:prstGeom>
              <a:noFill/>
              <a:ln>
                <a:noFill/>
              </a:ln>
            </p:spPr>
            <p:txBody>
              <a:bodyPr wrap="none" lIns="0" tIns="0" rIns="0" bIns="0" anchor="t" anchorCtr="0">
                <a:spAutoFit/>
              </a:bodyPr>
              <a:lstStyle/>
              <a:p>
                <a:pPr algn="l"/>
                <a:r>
                  <a:rPr lang="ko-KR" sz="1500" b="1" dirty="0">
                    <a:solidFill>
                      <a:schemeClr val="accent2"/>
                    </a:solidFill>
                    <a:latin typeface="Consolas"/>
                    <a:ea typeface="Microsoft YaHei"/>
                    <a:cs typeface="Consolas"/>
                  </a:rPr>
                  <a:t>3층</a:t>
                </a:r>
              </a:p>
            </p:txBody>
          </p:sp>
          <p:sp>
            <p:nvSpPr>
              <p:cNvPr id="27" name="TextBox 27"/>
              <p:cNvSpPr txBox="1"/>
              <p:nvPr/>
            </p:nvSpPr>
            <p:spPr>
              <a:xfrm>
                <a:off x="756666" y="5677852"/>
                <a:ext cx="618477"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운영 상한</a:t>
                </a:r>
              </a:p>
            </p:txBody>
          </p:sp>
          <p:sp>
            <p:nvSpPr>
              <p:cNvPr id="28" name="TextBox 28"/>
              <p:cNvSpPr txBox="1"/>
              <p:nvPr/>
            </p:nvSpPr>
            <p:spPr>
              <a:xfrm>
                <a:off x="1898904" y="5452110"/>
                <a:ext cx="2315809"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언제든 멈출 수 있어야 무인이다</a:t>
                </a:r>
              </a:p>
            </p:txBody>
          </p:sp>
          <p:sp>
            <p:nvSpPr>
              <p:cNvPr id="29" name="TextBox 29"/>
              <p:cNvSpPr txBox="1"/>
              <p:nvPr/>
            </p:nvSpPr>
            <p:spPr>
              <a:xfrm>
                <a:off x="1899666" y="5715952"/>
                <a:ext cx="4051173" cy="586359"/>
              </a:xfrm>
              <a:prstGeom prst="rect">
                <a:avLst/>
              </a:prstGeom>
              <a:noFill/>
              <a:ln>
                <a:noFill/>
              </a:ln>
            </p:spPr>
            <p:txBody>
              <a:bodyPr wrap="none" lIns="0" tIns="0" rIns="0" bIns="0" anchor="t" anchorCtr="0">
                <a:spAutoFit/>
              </a:bodyPr>
              <a:lstStyle/>
              <a:p>
                <a:pPr algn="l">
                  <a:lnSpc>
                    <a:spcPts val="1500"/>
                  </a:lnSpc>
                </a:pPr>
                <a:r>
                  <a:rPr lang="ko-KR" sz="1050" dirty="0">
                    <a:solidFill>
                      <a:schemeClr val="dk1"/>
                    </a:solidFill>
                    <a:latin typeface="+mn-lt"/>
                    <a:ea typeface="+mn-ea"/>
                    <a:cs typeface="+mn-cs"/>
                  </a:rPr>
                  <a:t>재시도 횟수 · PR 수정 세션 횟수 · 비용 · 시간 — 넘으면 멈춘다</a:t>
                </a:r>
                <a:br/>
                <a:r>
                  <a:rPr lang="ko-KR" sz="1050" dirty="0">
                    <a:solidFill>
                      <a:schemeClr val="dk1"/>
                    </a:solidFill>
                    <a:latin typeface="+mn-lt"/>
                    <a:ea typeface="+mn-ea"/>
                    <a:cs typeface="+mn-cs"/>
                  </a:rPr>
                  <a:t>fw stop 킬 스위치 · 20분 무응답 타임아웃 · 동시 실행 방지</a:t>
                </a:r>
                <a:br/>
                <a:r>
                  <a:rPr lang="ko-KR" sz="1050" dirty="0">
                    <a:solidFill>
                      <a:schemeClr val="accent5"/>
                    </a:solidFill>
                    <a:latin typeface="+mn-lt"/>
                    <a:ea typeface="+mn-ea"/>
                    <a:cs typeface="+mn-cs"/>
                  </a:rPr>
                  <a:t>각 층은 실제로 재현된 사고(유출·변조·우회) 뒤에 하나씩 추가됐다</a:t>
                </a:r>
              </a:p>
            </p:txBody>
          </p:sp>
        </p:grpSp>
      </p:grpSp>
      <p:grpSp>
        <p:nvGrpSpPr>
          <p:cNvPr id="48" name="Group 48"/>
          <p:cNvGrpSpPr/>
          <p:nvPr/>
        </p:nvGrpSpPr>
        <p:grpSpPr>
          <a:xfrm>
            <a:off x="8077200" y="1905000"/>
            <a:ext cx="3505200" cy="4419600"/>
            <a:chOff x="8077200" y="1905000"/>
            <a:chExt cx="3505200" cy="4419600"/>
          </a:xfrm>
        </p:grpSpPr>
        <p:sp>
          <p:nvSpPr>
            <p:cNvPr id="32" name="Rectangle 32"/>
            <p:cNvSpPr/>
            <p:nvPr/>
          </p:nvSpPr>
          <p:spPr>
            <a:xfrm>
              <a:off x="8077200" y="1905000"/>
              <a:ext cx="3505200" cy="4419600"/>
            </a:xfrm>
            <a:prstGeom prst="roundRect">
              <a:avLst>
                <a:gd name="adj" fmla="val 1630"/>
              </a:avLst>
            </a:prstGeom>
            <a:solidFill>
              <a:schemeClr val="lt2">
                <a:alpha val="60000"/>
              </a:schemeClr>
            </a:solidFill>
            <a:ln w="19050">
              <a:solidFill>
                <a:schemeClr val="accent6"/>
              </a:solidFill>
            </a:ln>
          </p:spPr>
        </p:sp>
        <p:sp>
          <p:nvSpPr>
            <p:cNvPr id="33" name="TextBox 33"/>
            <p:cNvSpPr txBox="1"/>
            <p:nvPr/>
          </p:nvSpPr>
          <p:spPr>
            <a:xfrm>
              <a:off x="8224266" y="2039302"/>
              <a:ext cx="1730102" cy="205359"/>
            </a:xfrm>
            <a:prstGeom prst="rect">
              <a:avLst/>
            </a:prstGeom>
            <a:noFill/>
            <a:ln>
              <a:noFill/>
            </a:ln>
          </p:spPr>
          <p:txBody>
            <a:bodyPr wrap="none" lIns="0" tIns="0" rIns="0" bIns="0" anchor="t" anchorCtr="0">
              <a:spAutoFit/>
            </a:bodyPr>
            <a:lstStyle/>
            <a:p>
              <a:pPr algn="l"/>
              <a:r>
                <a:rPr lang="ko-KR" sz="1050" spc="150" dirty="0">
                  <a:solidFill>
                    <a:schemeClr val="accent5"/>
                  </a:solidFill>
                  <a:latin typeface="Consolas"/>
                  <a:ea typeface="Microsoft YaHei"/>
                  <a:cs typeface="Consolas"/>
                </a:rPr>
                <a:t>만들면서 배운 것 4가지</a:t>
              </a:r>
            </a:p>
          </p:txBody>
        </p:sp>
        <p:sp>
          <p:nvSpPr>
            <p:cNvPr id="34" name="TextBox 34"/>
            <p:cNvSpPr txBox="1"/>
            <p:nvPr/>
          </p:nvSpPr>
          <p:spPr>
            <a:xfrm>
              <a:off x="8223504" y="2289810"/>
              <a:ext cx="2086013" cy="234696"/>
            </a:xfrm>
            <a:prstGeom prst="rect">
              <a:avLst/>
            </a:prstGeom>
            <a:noFill/>
            <a:ln>
              <a:noFill/>
            </a:ln>
          </p:spPr>
          <p:txBody>
            <a:bodyPr wrap="none" lIns="0" tIns="0" rIns="0" bIns="0" anchor="t" anchorCtr="0">
              <a:spAutoFit/>
            </a:bodyPr>
            <a:lstStyle/>
            <a:p>
              <a:pPr algn="l"/>
              <a:r>
                <a:rPr lang="ko-KR" sz="1200" b="1" dirty="0">
                  <a:solidFill>
                    <a:schemeClr val="accent2"/>
                  </a:solidFill>
                  <a:latin typeface="+mn-lt"/>
                  <a:ea typeface="+mn-ea"/>
                  <a:cs typeface="+mn-cs"/>
                </a:rPr>
                <a:t>①</a:t>
              </a:r>
              <a:r>
                <a:rPr lang="ko-KR" sz="1200" b="1" dirty="0">
                  <a:solidFill>
                    <a:schemeClr val="dk1"/>
                  </a:solidFill>
                  <a:latin typeface="+mn-lt"/>
                  <a:ea typeface="+mn-ea"/>
                  <a:cs typeface="+mn-cs"/>
                </a:rPr>
                <a:t xml:space="preserve"> 방어는 모든 경로에 세운다</a:t>
              </a:r>
            </a:p>
          </p:txBody>
        </p:sp>
        <p:sp>
          <p:nvSpPr>
            <p:cNvPr id="35" name="TextBox 35"/>
            <p:cNvSpPr txBox="1"/>
            <p:nvPr/>
          </p:nvSpPr>
          <p:spPr>
            <a:xfrm>
              <a:off x="8224266" y="2496502"/>
              <a:ext cx="1504188" cy="376809"/>
            </a:xfrm>
            <a:prstGeom prst="rect">
              <a:avLst/>
            </a:prstGeom>
            <a:noFill/>
            <a:ln>
              <a:noFill/>
            </a:ln>
          </p:spPr>
          <p:txBody>
            <a:bodyPr wrap="none" lIns="0" tIns="0" rIns="0" bIns="0" anchor="t" anchorCtr="0">
              <a:spAutoFit/>
            </a:bodyPr>
            <a:lstStyle/>
            <a:p>
              <a:pPr algn="l">
                <a:lnSpc>
                  <a:spcPts val="1350"/>
                </a:lnSpc>
              </a:pPr>
              <a:r>
                <a:rPr lang="ko-KR" sz="1050" dirty="0">
                  <a:solidFill>
                    <a:schemeClr val="accent5"/>
                  </a:solidFill>
                  <a:latin typeface="+mn-lt"/>
                  <a:ea typeface="+mn-ea"/>
                  <a:cs typeface="+mn-cs"/>
                </a:rPr>
                <a:t>한 곳만 막으면 다른 곳이</a:t>
              </a:r>
              <a:br/>
              <a:r>
                <a:rPr lang="ko-KR" sz="1050" dirty="0">
                  <a:solidFill>
                    <a:schemeClr val="accent5"/>
                  </a:solidFill>
                  <a:latin typeface="+mn-lt"/>
                  <a:ea typeface="+mn-ea"/>
                  <a:cs typeface="+mn-cs"/>
                </a:rPr>
                <a:t>그대로 뚫린다</a:t>
              </a:r>
            </a:p>
          </p:txBody>
        </p:sp>
        <p:sp>
          <p:nvSpPr>
            <p:cNvPr id="36" name="TextBox 36"/>
            <p:cNvSpPr txBox="1"/>
            <p:nvPr/>
          </p:nvSpPr>
          <p:spPr>
            <a:xfrm>
              <a:off x="8223504" y="2918460"/>
              <a:ext cx="2349330" cy="234696"/>
            </a:xfrm>
            <a:prstGeom prst="rect">
              <a:avLst/>
            </a:prstGeom>
            <a:noFill/>
            <a:ln>
              <a:noFill/>
            </a:ln>
          </p:spPr>
          <p:txBody>
            <a:bodyPr wrap="none" lIns="0" tIns="0" rIns="0" bIns="0" anchor="t" anchorCtr="0">
              <a:spAutoFit/>
            </a:bodyPr>
            <a:lstStyle/>
            <a:p>
              <a:pPr algn="l"/>
              <a:r>
                <a:rPr lang="ko-KR" sz="1200" b="1" dirty="0">
                  <a:solidFill>
                    <a:schemeClr val="accent2"/>
                  </a:solidFill>
                  <a:latin typeface="+mn-lt"/>
                  <a:ea typeface="+mn-ea"/>
                  <a:cs typeface="+mn-cs"/>
                </a:rPr>
                <a:t>②</a:t>
              </a:r>
              <a:r>
                <a:rPr lang="ko-KR" sz="1200" b="1" dirty="0">
                  <a:solidFill>
                    <a:schemeClr val="dk1"/>
                  </a:solidFill>
                  <a:latin typeface="+mn-lt"/>
                  <a:ea typeface="+mn-ea"/>
                  <a:cs typeface="+mn-cs"/>
                </a:rPr>
                <a:t xml:space="preserve"> 방어가 일을 막으면 끌 수 있게</a:t>
              </a:r>
            </a:p>
          </p:txBody>
        </p:sp>
        <p:sp>
          <p:nvSpPr>
            <p:cNvPr id="37" name="TextBox 37"/>
            <p:cNvSpPr txBox="1"/>
            <p:nvPr/>
          </p:nvSpPr>
          <p:spPr>
            <a:xfrm>
              <a:off x="8224266" y="3125152"/>
              <a:ext cx="1710880" cy="376809"/>
            </a:xfrm>
            <a:prstGeom prst="rect">
              <a:avLst/>
            </a:prstGeom>
            <a:noFill/>
            <a:ln>
              <a:noFill/>
            </a:ln>
          </p:spPr>
          <p:txBody>
            <a:bodyPr wrap="none" lIns="0" tIns="0" rIns="0" bIns="0" anchor="t" anchorCtr="0">
              <a:spAutoFit/>
            </a:bodyPr>
            <a:lstStyle/>
            <a:p>
              <a:pPr algn="l">
                <a:lnSpc>
                  <a:spcPts val="1350"/>
                </a:lnSpc>
              </a:pPr>
              <a:r>
                <a:rPr lang="ko-KR" sz="1050" dirty="0">
                  <a:solidFill>
                    <a:schemeClr val="accent5"/>
                  </a:solidFill>
                  <a:latin typeface="+mn-lt"/>
                  <a:ea typeface="+mn-ea"/>
                  <a:cs typeface="+mn-cs"/>
                </a:rPr>
                <a:t>정상 작업까지 막았던 전례 —</a:t>
              </a:r>
              <a:br/>
              <a:r>
                <a:rPr lang="ko-KR" sz="1050" dirty="0">
                  <a:solidFill>
                    <a:schemeClr val="accent5"/>
                  </a:solidFill>
                  <a:latin typeface="+mn-lt"/>
                  <a:ea typeface="+mn-ea"/>
                  <a:cs typeface="+mn-cs"/>
                </a:rPr>
                <a:t>끄는 스위치를 같이 둔다</a:t>
              </a:r>
            </a:p>
          </p:txBody>
        </p:sp>
        <p:sp>
          <p:nvSpPr>
            <p:cNvPr id="38" name="TextBox 38"/>
            <p:cNvSpPr txBox="1"/>
            <p:nvPr/>
          </p:nvSpPr>
          <p:spPr>
            <a:xfrm>
              <a:off x="8223504" y="3547110"/>
              <a:ext cx="2086013" cy="234696"/>
            </a:xfrm>
            <a:prstGeom prst="rect">
              <a:avLst/>
            </a:prstGeom>
            <a:noFill/>
            <a:ln>
              <a:noFill/>
            </a:ln>
          </p:spPr>
          <p:txBody>
            <a:bodyPr wrap="none" lIns="0" tIns="0" rIns="0" bIns="0" anchor="t" anchorCtr="0">
              <a:spAutoFit/>
            </a:bodyPr>
            <a:lstStyle/>
            <a:p>
              <a:pPr algn="l"/>
              <a:r>
                <a:rPr lang="ko-KR" sz="1200" b="1" dirty="0">
                  <a:solidFill>
                    <a:schemeClr val="accent2"/>
                  </a:solidFill>
                  <a:latin typeface="+mn-lt"/>
                  <a:ea typeface="+mn-ea"/>
                  <a:cs typeface="+mn-cs"/>
                </a:rPr>
                <a:t>③</a:t>
              </a:r>
              <a:r>
                <a:rPr lang="ko-KR" sz="1200" b="1" dirty="0">
                  <a:solidFill>
                    <a:schemeClr val="dk1"/>
                  </a:solidFill>
                  <a:latin typeface="+mn-lt"/>
                  <a:ea typeface="+mn-ea"/>
                  <a:cs typeface="+mn-cs"/>
                </a:rPr>
                <a:t xml:space="preserve"> 셸 문법을 흉내내지 않는다</a:t>
              </a:r>
            </a:p>
          </p:txBody>
        </p:sp>
        <p:sp>
          <p:nvSpPr>
            <p:cNvPr id="39" name="TextBox 39"/>
            <p:cNvSpPr txBox="1"/>
            <p:nvPr/>
          </p:nvSpPr>
          <p:spPr>
            <a:xfrm>
              <a:off x="8224266" y="3753802"/>
              <a:ext cx="1750886" cy="376809"/>
            </a:xfrm>
            <a:prstGeom prst="rect">
              <a:avLst/>
            </a:prstGeom>
            <a:noFill/>
            <a:ln>
              <a:noFill/>
            </a:ln>
          </p:spPr>
          <p:txBody>
            <a:bodyPr wrap="none" lIns="0" tIns="0" rIns="0" bIns="0" anchor="t" anchorCtr="0">
              <a:spAutoFit/>
            </a:bodyPr>
            <a:lstStyle/>
            <a:p>
              <a:pPr algn="l">
                <a:lnSpc>
                  <a:spcPts val="1350"/>
                </a:lnSpc>
              </a:pPr>
              <a:r>
                <a:rPr lang="ko-KR" sz="1050" dirty="0">
                  <a:solidFill>
                    <a:schemeClr val="accent5"/>
                  </a:solidFill>
                  <a:latin typeface="+mn-lt"/>
                  <a:ea typeface="+mn-ea"/>
                  <a:cs typeface="+mn-cs"/>
                </a:rPr>
                <a:t>파서 따라잡기에서 두 번 짐 —</a:t>
              </a:r>
              <a:br/>
              <a:r>
                <a:rPr lang="ko-KR" sz="1050" dirty="0">
                  <a:solidFill>
                    <a:schemeClr val="accent5"/>
                  </a:solidFill>
                  <a:latin typeface="+mn-lt"/>
                  <a:ea typeface="+mn-ea"/>
                  <a:cs typeface="+mn-cs"/>
                </a:rPr>
                <a:t>모르는 문법은 그냥 거부</a:t>
              </a:r>
            </a:p>
          </p:txBody>
        </p:sp>
        <p:sp>
          <p:nvSpPr>
            <p:cNvPr id="40" name="TextBox 40"/>
            <p:cNvSpPr txBox="1"/>
            <p:nvPr/>
          </p:nvSpPr>
          <p:spPr>
            <a:xfrm>
              <a:off x="8223504" y="4175760"/>
              <a:ext cx="1873583" cy="234696"/>
            </a:xfrm>
            <a:prstGeom prst="rect">
              <a:avLst/>
            </a:prstGeom>
            <a:noFill/>
            <a:ln>
              <a:noFill/>
            </a:ln>
          </p:spPr>
          <p:txBody>
            <a:bodyPr wrap="none" lIns="0" tIns="0" rIns="0" bIns="0" anchor="t" anchorCtr="0">
              <a:spAutoFit/>
            </a:bodyPr>
            <a:lstStyle/>
            <a:p>
              <a:pPr algn="l"/>
              <a:r>
                <a:rPr lang="ko-KR" sz="1200" b="1" dirty="0">
                  <a:solidFill>
                    <a:schemeClr val="accent2"/>
                  </a:solidFill>
                  <a:latin typeface="+mn-lt"/>
                  <a:ea typeface="+mn-ea"/>
                  <a:cs typeface="+mn-cs"/>
                </a:rPr>
                <a:t>④</a:t>
              </a:r>
              <a:r>
                <a:rPr lang="ko-KR" sz="1200" b="1" dirty="0">
                  <a:solidFill>
                    <a:schemeClr val="dk1"/>
                  </a:solidFill>
                  <a:latin typeface="+mn-lt"/>
                  <a:ea typeface="+mn-ea"/>
                  <a:cs typeface="+mn-cs"/>
                </a:rPr>
                <a:t xml:space="preserve"> 통과했다고 끝이 아니다</a:t>
              </a:r>
            </a:p>
          </p:txBody>
        </p:sp>
        <p:sp>
          <p:nvSpPr>
            <p:cNvPr id="41" name="TextBox 41"/>
            <p:cNvSpPr txBox="1"/>
            <p:nvPr/>
          </p:nvSpPr>
          <p:spPr>
            <a:xfrm>
              <a:off x="8224266" y="4382452"/>
              <a:ext cx="2639797"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판정과 "방어를 끈 사실"을 기록에 남긴다</a:t>
              </a:r>
            </a:p>
          </p:txBody>
        </p:sp>
        <p:sp>
          <p:nvSpPr>
            <p:cNvPr id="42" name="Line 42"/>
            <p:cNvSpPr/>
            <p:nvPr/>
          </p:nvSpPr>
          <p:spPr>
            <a:xfrm>
              <a:off x="8229600" y="4705350"/>
              <a:ext cx="3200400" cy="9525"/>
            </a:xfrm>
            <a:custGeom>
              <a:avLst/>
              <a:gdLst/>
              <a:ahLst/>
              <a:cxnLst/>
              <a:rect l="l" t="t" r="r" b="b"/>
              <a:pathLst>
                <a:path w="3200400" h="9525">
                  <a:moveTo>
                    <a:pt x="0" y="0"/>
                  </a:moveTo>
                  <a:lnTo>
                    <a:pt x="3200400" y="0"/>
                  </a:lnTo>
                </a:path>
              </a:pathLst>
            </a:custGeom>
            <a:noFill/>
            <a:ln w="9525">
              <a:solidFill>
                <a:schemeClr val="accent6"/>
              </a:solidFill>
            </a:ln>
          </p:spPr>
        </p:sp>
        <p:grpSp>
          <p:nvGrpSpPr>
            <p:cNvPr id="45" name="Group 45"/>
            <p:cNvGrpSpPr/>
            <p:nvPr/>
          </p:nvGrpSpPr>
          <p:grpSpPr>
            <a:xfrm>
              <a:off x="8290719" y="4845844"/>
              <a:ext cx="87313" cy="157163"/>
              <a:chOff x="8290719" y="4845844"/>
              <a:chExt cx="87313" cy="157163"/>
            </a:xfrm>
          </p:grpSpPr>
          <p:sp>
            <p:nvSpPr>
              <p:cNvPr id="43" name="Freeform 43"/>
              <p:cNvSpPr/>
              <p:nvPr/>
            </p:nvSpPr>
            <p:spPr>
              <a:xfrm>
                <a:off x="8290719" y="4872038"/>
                <a:ext cx="87313" cy="104775"/>
              </a:xfrm>
              <a:custGeom>
                <a:avLst/>
                <a:gdLst/>
                <a:ahLst/>
                <a:cxnLst/>
                <a:rect l="l" t="t" r="r" b="b"/>
                <a:pathLst>
                  <a:path w="87313" h="104775">
                    <a:moveTo>
                      <a:pt x="84693" y="17463"/>
                    </a:moveTo>
                    <a:cubicBezTo>
                      <a:pt x="81138" y="7374"/>
                      <a:pt x="71805" y="461"/>
                      <a:pt x="61119" y="0"/>
                    </a:cubicBezTo>
                    <a:lnTo>
                      <a:pt x="26194" y="0"/>
                    </a:lnTo>
                    <a:cubicBezTo>
                      <a:pt x="11727" y="0"/>
                      <a:pt x="0" y="11727"/>
                      <a:pt x="0" y="26194"/>
                    </a:cubicBezTo>
                    <a:cubicBezTo>
                      <a:pt x="0" y="40660"/>
                      <a:pt x="11727" y="52388"/>
                      <a:pt x="26194" y="52388"/>
                    </a:cubicBezTo>
                    <a:lnTo>
                      <a:pt x="61119" y="52388"/>
                    </a:lnTo>
                    <a:cubicBezTo>
                      <a:pt x="75585" y="52388"/>
                      <a:pt x="87313" y="64115"/>
                      <a:pt x="87313" y="78581"/>
                    </a:cubicBezTo>
                    <a:cubicBezTo>
                      <a:pt x="87313" y="93048"/>
                      <a:pt x="75585" y="104775"/>
                      <a:pt x="61119" y="104775"/>
                    </a:cubicBezTo>
                    <a:lnTo>
                      <a:pt x="26194" y="104775"/>
                    </a:lnTo>
                    <a:cubicBezTo>
                      <a:pt x="15507" y="104314"/>
                      <a:pt x="6175" y="97401"/>
                      <a:pt x="2619" y="87313"/>
                    </a:cubicBezTo>
                  </a:path>
                </a:pathLst>
              </a:custGeom>
              <a:noFill/>
              <a:ln w="17463">
                <a:solidFill>
                  <a:schemeClr val="accent1"/>
                </a:solidFill>
              </a:ln>
            </p:spPr>
          </p:sp>
          <p:sp>
            <p:nvSpPr>
              <p:cNvPr id="44" name="Freeform 44"/>
              <p:cNvSpPr/>
              <p:nvPr/>
            </p:nvSpPr>
            <p:spPr>
              <a:xfrm>
                <a:off x="8334375" y="4845844"/>
                <a:ext cx="9525" cy="157163"/>
              </a:xfrm>
              <a:custGeom>
                <a:avLst/>
                <a:gdLst/>
                <a:ahLst/>
                <a:cxnLst/>
                <a:rect l="l" t="t" r="r" b="b"/>
                <a:pathLst>
                  <a:path w="9525" h="157163">
                    <a:moveTo>
                      <a:pt x="0" y="0"/>
                    </a:moveTo>
                    <a:lnTo>
                      <a:pt x="0" y="26194"/>
                    </a:lnTo>
                    <a:moveTo>
                      <a:pt x="0" y="130969"/>
                    </a:moveTo>
                    <a:lnTo>
                      <a:pt x="0" y="157163"/>
                    </a:lnTo>
                  </a:path>
                </a:pathLst>
              </a:custGeom>
              <a:noFill/>
              <a:ln w="17463">
                <a:solidFill>
                  <a:schemeClr val="accent1"/>
                </a:solidFill>
              </a:ln>
            </p:spPr>
          </p:sp>
        </p:grpSp>
        <p:sp>
          <p:nvSpPr>
            <p:cNvPr id="46" name="TextBox 46"/>
            <p:cNvSpPr txBox="1"/>
            <p:nvPr/>
          </p:nvSpPr>
          <p:spPr>
            <a:xfrm>
              <a:off x="8509254" y="4852035"/>
              <a:ext cx="1873583"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비용은 재고, 상한을 건다</a:t>
              </a:r>
            </a:p>
          </p:txBody>
        </p:sp>
        <p:sp>
          <p:nvSpPr>
            <p:cNvPr id="47" name="TextBox 47"/>
            <p:cNvSpPr txBox="1"/>
            <p:nvPr/>
          </p:nvSpPr>
          <p:spPr>
            <a:xfrm>
              <a:off x="8224266" y="5144452"/>
              <a:ext cx="2470976" cy="1005459"/>
            </a:xfrm>
            <a:prstGeom prst="rect">
              <a:avLst/>
            </a:prstGeom>
            <a:noFill/>
            <a:ln>
              <a:noFill/>
            </a:ln>
          </p:spPr>
          <p:txBody>
            <a:bodyPr wrap="none" lIns="0" tIns="0" rIns="0" bIns="0" anchor="t" anchorCtr="0">
              <a:spAutoFit/>
            </a:bodyPr>
            <a:lstStyle/>
            <a:p>
              <a:pPr algn="l">
                <a:lnSpc>
                  <a:spcPts val="1350"/>
                </a:lnSpc>
              </a:pPr>
              <a:r>
                <a:rPr lang="ko-KR" sz="1050" dirty="0">
                  <a:solidFill>
                    <a:schemeClr val="dk1"/>
                  </a:solidFill>
                  <a:latin typeface="+mn-lt"/>
                  <a:ea typeface="+mn-ea"/>
                  <a:cs typeface="+mn-cs"/>
                </a:rPr>
                <a:t>세션마다 비용이 STATE.json 에 기록된다</a:t>
              </a:r>
            </a:p>
            <a:p>
              <a:pPr algn="l">
                <a:lnSpc>
                  <a:spcPts val="1350"/>
                </a:lnSpc>
                <a:spcBef>
                  <a:spcPts val="300"/>
                </a:spcBef>
              </a:pPr>
              <a:r>
                <a:rPr lang="ko-KR" sz="1050" dirty="0">
                  <a:solidFill>
                    <a:schemeClr val="accent1"/>
                  </a:solidFill>
                  <a:latin typeface="Consolas"/>
                  <a:ea typeface="Consolas"/>
                  <a:cs typeface="Consolas"/>
                </a:rPr>
                <a:t>fw report</a:t>
              </a:r>
              <a:r>
                <a:rPr lang="ko-KR" sz="1050" dirty="0">
                  <a:solidFill>
                    <a:schemeClr val="dk1"/>
                  </a:solidFill>
                  <a:latin typeface="+mn-lt"/>
                  <a:ea typeface="+mn-ea"/>
                  <a:cs typeface="+mn-cs"/>
                </a:rPr>
                <a:t xml:space="preserve"> — 인터뷰·실행·검증별 집계</a:t>
              </a:r>
            </a:p>
            <a:p>
              <a:pPr algn="l">
                <a:lnSpc>
                  <a:spcPts val="1350"/>
                </a:lnSpc>
                <a:spcBef>
                  <a:spcPts val="300"/>
                </a:spcBef>
              </a:pPr>
              <a:r>
                <a:rPr lang="ko-KR" sz="1050" dirty="0">
                  <a:solidFill>
                    <a:schemeClr val="accent1"/>
                  </a:solidFill>
                  <a:latin typeface="Consolas"/>
                  <a:ea typeface="Consolas"/>
                  <a:cs typeface="Consolas"/>
                </a:rPr>
                <a:t>max_cost_usd</a:t>
              </a:r>
              <a:r>
                <a:rPr lang="ko-KR" sz="1050" dirty="0">
                  <a:solidFill>
                    <a:schemeClr val="dk1"/>
                  </a:solidFill>
                  <a:latin typeface="+mn-lt"/>
                  <a:ea typeface="+mn-ea"/>
                  <a:cs typeface="+mn-cs"/>
                </a:rPr>
                <a:t xml:space="preserve"> — 넘으면 멈춤(halted)</a:t>
              </a:r>
            </a:p>
            <a:p>
              <a:pPr algn="l">
                <a:lnSpc>
                  <a:spcPts val="1350"/>
                </a:lnSpc>
                <a:spcBef>
                  <a:spcPts val="300"/>
                </a:spcBef>
              </a:pPr>
              <a:r>
                <a:rPr lang="ko-KR" sz="1050" dirty="0">
                  <a:solidFill>
                    <a:schemeClr val="accent5"/>
                  </a:solidFill>
                  <a:latin typeface="+mn-lt"/>
                  <a:ea typeface="+mn-ea"/>
                  <a:cs typeface="+mn-cs"/>
                </a:rPr>
                <a:t>금액은 모델·리포·재시도 횟수에 따라</a:t>
              </a:r>
              <a:br/>
              <a:r>
                <a:rPr lang="ko-KR" sz="1050" dirty="0">
                  <a:solidFill>
                    <a:schemeClr val="accent5"/>
                  </a:solidFill>
                  <a:latin typeface="+mn-lt"/>
                  <a:ea typeface="+mn-ea"/>
                  <a:cs typeface="+mn-cs"/>
                </a:rPr>
                <a:t>크게 달라진다 — 한 번 돌려 직접 재자</a:t>
              </a:r>
            </a:p>
          </p:txBody>
        </p:sp>
      </p:grpSp>
      <p:grpSp>
        <p:nvGrpSpPr>
          <p:cNvPr id="51" name="Group 51"/>
          <p:cNvGrpSpPr/>
          <p:nvPr/>
        </p:nvGrpSpPr>
        <p:grpSpPr>
          <a:xfrm>
            <a:off x="604266" y="6516052"/>
            <a:ext cx="10983468" cy="205359"/>
            <a:chOff x="604266" y="6516052"/>
            <a:chExt cx="10983468" cy="205359"/>
          </a:xfrm>
        </p:grpSpPr>
        <p:sp>
          <p:nvSpPr>
            <p:cNvPr id="49" name="TextBox 49"/>
            <p:cNvSpPr txBox="1"/>
            <p:nvPr/>
          </p:nvSpPr>
          <p:spPr>
            <a:xfrm>
              <a:off x="604266" y="6516052"/>
              <a:ext cx="8740659"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feature-workflow · plugins/feature-workflow/README.md §6, §9 · specs/2026-08-26-feature-workflow-harness-design.md</a:t>
              </a:r>
            </a:p>
          </p:txBody>
        </p:sp>
        <p:sp>
          <p:nvSpPr>
            <p:cNvPr id="50" name="TextBox 50"/>
            <p:cNvSpPr txBox="1"/>
            <p:nvPr/>
          </p:nvSpPr>
          <p:spPr>
            <a:xfrm>
              <a:off x="11103540" y="65160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18 / 19</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100000">
              <a:srgbClr val="101A2F"/>
            </a:gs>
          </a:gsLst>
          <a:lin ang="13500000" scaled="1"/>
        </a:gradFill>
        <a:effectLst/>
      </p:bgPr>
    </p:bg>
    <p:spTree>
      <p:nvGrpSpPr>
        <p:cNvPr id="1" name=""/>
        <p:cNvGrpSpPr/>
        <p:nvPr/>
      </p:nvGrpSpPr>
      <p:grpSpPr>
        <a:xfrm>
          <a:off x="0" y="0"/>
          <a:ext cx="0" cy="0"/>
          <a:chOff x="0" y="0"/>
          <a:chExt cx="0" cy="0"/>
        </a:xfrm>
      </p:grpSpPr>
      <p:sp>
        <p:nvSpPr>
          <p:cNvPr id="2" name="Freeform 2"/>
          <p:cNvSpPr/>
          <p:nvPr/>
        </p:nvSpPr>
        <p:spPr>
          <a:xfrm>
            <a:off x="0" y="0"/>
            <a:ext cx="3238500" cy="6858000"/>
          </a:xfrm>
          <a:custGeom>
            <a:avLst/>
            <a:gdLst/>
            <a:ahLst/>
            <a:cxnLst/>
            <a:rect l="l" t="t" r="r" b="b"/>
            <a:pathLst>
              <a:path w="3238500" h="6858000">
                <a:moveTo>
                  <a:pt x="571500" y="0"/>
                </a:moveTo>
                <a:lnTo>
                  <a:pt x="571500" y="6858000"/>
                </a:lnTo>
                <a:moveTo>
                  <a:pt x="1238250" y="0"/>
                </a:moveTo>
                <a:lnTo>
                  <a:pt x="1238250" y="6858000"/>
                </a:lnTo>
                <a:moveTo>
                  <a:pt x="1905000" y="0"/>
                </a:moveTo>
                <a:lnTo>
                  <a:pt x="1905000" y="6858000"/>
                </a:lnTo>
                <a:moveTo>
                  <a:pt x="2571750" y="0"/>
                </a:moveTo>
                <a:lnTo>
                  <a:pt x="2571750" y="6858000"/>
                </a:lnTo>
                <a:moveTo>
                  <a:pt x="0" y="952500"/>
                </a:moveTo>
                <a:lnTo>
                  <a:pt x="3238500" y="952500"/>
                </a:lnTo>
                <a:moveTo>
                  <a:pt x="0" y="1714500"/>
                </a:moveTo>
                <a:lnTo>
                  <a:pt x="3238500" y="1714500"/>
                </a:lnTo>
                <a:moveTo>
                  <a:pt x="0" y="2476500"/>
                </a:moveTo>
                <a:lnTo>
                  <a:pt x="3238500" y="2476500"/>
                </a:lnTo>
                <a:moveTo>
                  <a:pt x="0" y="3238500"/>
                </a:moveTo>
                <a:lnTo>
                  <a:pt x="3238500" y="3238500"/>
                </a:lnTo>
                <a:moveTo>
                  <a:pt x="0" y="4000500"/>
                </a:moveTo>
                <a:lnTo>
                  <a:pt x="3238500" y="4000500"/>
                </a:lnTo>
                <a:moveTo>
                  <a:pt x="0" y="4762500"/>
                </a:moveTo>
                <a:lnTo>
                  <a:pt x="3238500" y="4762500"/>
                </a:lnTo>
                <a:moveTo>
                  <a:pt x="0" y="5524500"/>
                </a:moveTo>
                <a:lnTo>
                  <a:pt x="3238500" y="5524500"/>
                </a:lnTo>
                <a:moveTo>
                  <a:pt x="0" y="6286500"/>
                </a:moveTo>
                <a:lnTo>
                  <a:pt x="3238500" y="6286500"/>
                </a:lnTo>
              </a:path>
            </a:pathLst>
          </a:custGeom>
          <a:noFill/>
          <a:ln w="9525">
            <a:solidFill>
              <a:srgbClr val="1B2740"/>
            </a:solidFill>
          </a:ln>
        </p:spPr>
      </p:sp>
      <p:grpSp>
        <p:nvGrpSpPr>
          <p:cNvPr id="4" name="Group 4"/>
          <p:cNvGrpSpPr/>
          <p:nvPr/>
        </p:nvGrpSpPr>
        <p:grpSpPr>
          <a:xfrm>
            <a:off x="601980" y="581025"/>
            <a:ext cx="661416" cy="293370"/>
            <a:chOff x="601980" y="581025"/>
            <a:chExt cx="661416" cy="293370"/>
          </a:xfrm>
        </p:grpSpPr>
        <p:sp>
          <p:nvSpPr>
            <p:cNvPr id="3" name="TextBox 3"/>
            <p:cNvSpPr txBox="1"/>
            <p:nvPr/>
          </p:nvSpPr>
          <p:spPr>
            <a:xfrm>
              <a:off x="601980" y="581025"/>
              <a:ext cx="661416" cy="293370"/>
            </a:xfrm>
            <a:prstGeom prst="rect">
              <a:avLst/>
            </a:prstGeom>
            <a:noFill/>
            <a:ln>
              <a:noFill/>
            </a:ln>
          </p:spPr>
          <p:txBody>
            <a:bodyPr wrap="none" lIns="0" tIns="0" rIns="0" bIns="0" anchor="t" anchorCtr="0">
              <a:spAutoFit/>
            </a:bodyPr>
            <a:lstStyle/>
            <a:p>
              <a:pPr algn="l"/>
              <a:r>
                <a:rPr lang="ko-KR" sz="1500" spc="150" dirty="0">
                  <a:solidFill>
                    <a:schemeClr val="accent5"/>
                  </a:solidFill>
                  <a:latin typeface="Consolas"/>
                  <a:ea typeface="Microsoft YaHei"/>
                  <a:cs typeface="Consolas"/>
                </a:rPr>
                <a:t>마무리</a:t>
              </a:r>
            </a:p>
          </p:txBody>
        </p:sp>
      </p:grpSp>
      <p:grpSp>
        <p:nvGrpSpPr>
          <p:cNvPr id="7" name="Group 7"/>
          <p:cNvGrpSpPr/>
          <p:nvPr/>
        </p:nvGrpSpPr>
        <p:grpSpPr>
          <a:xfrm>
            <a:off x="590550" y="1245870"/>
            <a:ext cx="6004526" cy="1885950"/>
            <a:chOff x="590550" y="1245870"/>
            <a:chExt cx="6004526" cy="1885950"/>
          </a:xfrm>
        </p:grpSpPr>
        <p:sp>
          <p:nvSpPr>
            <p:cNvPr id="5" name="TextBox 5"/>
            <p:cNvSpPr txBox="1"/>
            <p:nvPr/>
          </p:nvSpPr>
          <p:spPr>
            <a:xfrm>
              <a:off x="590550" y="1245870"/>
              <a:ext cx="6004526" cy="1047750"/>
            </a:xfrm>
            <a:prstGeom prst="rect">
              <a:avLst/>
            </a:prstGeom>
            <a:noFill/>
            <a:ln>
              <a:noFill/>
            </a:ln>
          </p:spPr>
          <p:txBody>
            <a:bodyPr wrap="none" lIns="0" tIns="0" rIns="0" bIns="0" anchor="t" anchorCtr="0">
              <a:spAutoFit/>
            </a:bodyPr>
            <a:lstStyle/>
            <a:p>
              <a:pPr algn="l"/>
              <a:r>
                <a:rPr lang="ko-KR" sz="5400" b="1" dirty="0">
                  <a:solidFill>
                    <a:schemeClr val="accent2"/>
                  </a:solidFill>
                  <a:effectLst>
                    <a:glow rad="57150">
                      <a:srgbClr val="FFB74D">
                        <a:alpha val="40000"/>
                      </a:srgbClr>
                    </a:glow>
                  </a:effectLst>
                  <a:latin typeface="+mn-lt"/>
                  <a:ea typeface="+mn-ea"/>
                  <a:cs typeface="+mn-cs"/>
                </a:rPr>
                <a:t>시작과 끝은 사람</a:t>
              </a:r>
              <a:r>
                <a:rPr lang="ko-KR" sz="5400" b="1" dirty="0">
                  <a:solidFill>
                    <a:schemeClr val="dk1"/>
                  </a:solidFill>
                  <a:effectLst>
                    <a:glow rad="57150">
                      <a:srgbClr val="FFB74D">
                        <a:alpha val="40000"/>
                      </a:srgbClr>
                    </a:glow>
                  </a:effectLst>
                  <a:latin typeface="+mn-lt"/>
                  <a:ea typeface="+mn-ea"/>
                  <a:cs typeface="+mn-cs"/>
                </a:rPr>
                <a:t>,</a:t>
              </a:r>
            </a:p>
          </p:txBody>
        </p:sp>
        <p:sp>
          <p:nvSpPr>
            <p:cNvPr id="6" name="TextBox 6"/>
            <p:cNvSpPr txBox="1"/>
            <p:nvPr/>
          </p:nvSpPr>
          <p:spPr>
            <a:xfrm>
              <a:off x="590550" y="2084070"/>
              <a:ext cx="5048589" cy="1047750"/>
            </a:xfrm>
            <a:prstGeom prst="rect">
              <a:avLst/>
            </a:prstGeom>
            <a:noFill/>
            <a:ln>
              <a:noFill/>
            </a:ln>
          </p:spPr>
          <p:txBody>
            <a:bodyPr wrap="none" lIns="0" tIns="0" rIns="0" bIns="0" anchor="t" anchorCtr="0">
              <a:spAutoFit/>
            </a:bodyPr>
            <a:lstStyle/>
            <a:p>
              <a:pPr algn="l"/>
              <a:r>
                <a:rPr lang="ko-KR" sz="5400" b="1" dirty="0">
                  <a:solidFill>
                    <a:schemeClr val="accent1"/>
                  </a:solidFill>
                  <a:effectLst>
                    <a:glow rad="57150">
                      <a:srgbClr val="FFB74D">
                        <a:alpha val="40000"/>
                      </a:srgbClr>
                    </a:glow>
                  </a:effectLst>
                  <a:latin typeface="+mn-lt"/>
                  <a:ea typeface="+mn-ea"/>
                  <a:cs typeface="+mn-cs"/>
                </a:rPr>
                <a:t>가운데는 기계</a:t>
              </a:r>
              <a:r>
                <a:rPr lang="ko-KR" sz="5400" b="1" dirty="0">
                  <a:solidFill>
                    <a:schemeClr val="dk1"/>
                  </a:solidFill>
                  <a:effectLst>
                    <a:glow rad="57150">
                      <a:srgbClr val="FFB74D">
                        <a:alpha val="40000"/>
                      </a:srgbClr>
                    </a:glow>
                  </a:effectLst>
                  <a:latin typeface="+mn-lt"/>
                  <a:ea typeface="+mn-ea"/>
                  <a:cs typeface="+mn-cs"/>
                </a:rPr>
                <a:t>.</a:t>
              </a:r>
            </a:p>
          </p:txBody>
        </p:sp>
      </p:grpSp>
      <p:grpSp>
        <p:nvGrpSpPr>
          <p:cNvPr id="13" name="Group 13"/>
          <p:cNvGrpSpPr/>
          <p:nvPr/>
        </p:nvGrpSpPr>
        <p:grpSpPr>
          <a:xfrm>
            <a:off x="600456" y="3158490"/>
            <a:ext cx="7438644" cy="2085594"/>
            <a:chOff x="600456" y="3158490"/>
            <a:chExt cx="7438644" cy="2085594"/>
          </a:xfrm>
        </p:grpSpPr>
        <p:sp>
          <p:nvSpPr>
            <p:cNvPr id="8" name="TextBox 8"/>
            <p:cNvSpPr txBox="1"/>
            <p:nvPr/>
          </p:nvSpPr>
          <p:spPr>
            <a:xfrm>
              <a:off x="600456" y="3158490"/>
              <a:ext cx="4890897" cy="999744"/>
            </a:xfrm>
            <a:prstGeom prst="rect">
              <a:avLst/>
            </a:prstGeom>
            <a:noFill/>
            <a:ln>
              <a:noFill/>
            </a:ln>
          </p:spPr>
          <p:txBody>
            <a:bodyPr wrap="none" lIns="0" tIns="0" rIns="0" bIns="0" anchor="t" anchorCtr="0">
              <a:spAutoFit/>
            </a:bodyPr>
            <a:lstStyle/>
            <a:p>
              <a:pPr algn="l">
                <a:lnSpc>
                  <a:spcPts val="2550"/>
                </a:lnSpc>
              </a:pPr>
              <a:r>
                <a:rPr lang="ko-KR" sz="1800" dirty="0">
                  <a:solidFill>
                    <a:schemeClr val="dk1"/>
                  </a:solidFill>
                  <a:latin typeface="+mn-lt"/>
                  <a:ea typeface="+mn-ea"/>
                  <a:cs typeface="+mn-cs"/>
                </a:rPr>
                <a:t xml:space="preserve">AI 가 목표·기준·판정을 모두 하면 </a:t>
              </a:r>
              <a:r>
                <a:rPr lang="ko-KR" sz="1800" b="1" dirty="0">
                  <a:solidFill>
                    <a:schemeClr val="dk1"/>
                  </a:solidFill>
                  <a:latin typeface="+mn-lt"/>
                  <a:ea typeface="+mn-ea"/>
                  <a:cs typeface="+mn-cs"/>
                </a:rPr>
                <a:t>닫힌 루프</a:t>
              </a:r>
              <a:r>
                <a:rPr lang="ko-KR" sz="1800" dirty="0">
                  <a:solidFill>
                    <a:schemeClr val="dk1"/>
                  </a:solidFill>
                  <a:latin typeface="+mn-lt"/>
                  <a:ea typeface="+mn-ea"/>
                  <a:cs typeface="+mn-cs"/>
                </a:rPr>
                <a:t>다.</a:t>
              </a:r>
              <a:br/>
              <a:r>
                <a:rPr lang="ko-KR" sz="1800" dirty="0">
                  <a:solidFill>
                    <a:schemeClr val="dk1"/>
                  </a:solidFill>
                  <a:latin typeface="+mn-lt"/>
                  <a:ea typeface="+mn-ea"/>
                  <a:cs typeface="+mn-cs"/>
                </a:rPr>
                <a:t>목표·답·승인·머지·판정은 사람,</a:t>
              </a:r>
              <a:br/>
              <a:r>
                <a:rPr lang="ko-KR" sz="1800" dirty="0">
                  <a:solidFill>
                    <a:schemeClr val="dk1"/>
                  </a:solidFill>
                  <a:latin typeface="+mn-lt"/>
                  <a:ea typeface="+mn-ea"/>
                  <a:cs typeface="+mn-cs"/>
                </a:rPr>
                <a:t>인터뷰·코드·검증·재시도는 하네스.</a:t>
              </a:r>
            </a:p>
          </p:txBody>
        </p:sp>
        <p:sp>
          <p:nvSpPr>
            <p:cNvPr id="9" name="Line 9"/>
            <p:cNvSpPr/>
            <p:nvPr/>
          </p:nvSpPr>
          <p:spPr>
            <a:xfrm>
              <a:off x="609600" y="4171950"/>
              <a:ext cx="7429500" cy="9525"/>
            </a:xfrm>
            <a:custGeom>
              <a:avLst/>
              <a:gdLst/>
              <a:ahLst/>
              <a:cxnLst/>
              <a:rect l="l" t="t" r="r" b="b"/>
              <a:pathLst>
                <a:path w="7429500" h="9525">
                  <a:moveTo>
                    <a:pt x="0" y="0"/>
                  </a:moveTo>
                  <a:lnTo>
                    <a:pt x="7429500" y="0"/>
                  </a:lnTo>
                </a:path>
              </a:pathLst>
            </a:custGeom>
            <a:noFill/>
            <a:ln w="9525">
              <a:solidFill>
                <a:schemeClr val="accent6"/>
              </a:solidFill>
            </a:ln>
          </p:spPr>
        </p:sp>
        <p:sp>
          <p:nvSpPr>
            <p:cNvPr id="10" name="TextBox 10"/>
            <p:cNvSpPr txBox="1"/>
            <p:nvPr/>
          </p:nvSpPr>
          <p:spPr>
            <a:xfrm>
              <a:off x="600456" y="4282440"/>
              <a:ext cx="5907778" cy="352044"/>
            </a:xfrm>
            <a:prstGeom prst="rect">
              <a:avLst/>
            </a:prstGeom>
            <a:noFill/>
            <a:ln>
              <a:noFill/>
            </a:ln>
          </p:spPr>
          <p:txBody>
            <a:bodyPr wrap="none" lIns="0" tIns="0" rIns="0" bIns="0" anchor="t" anchorCtr="0">
              <a:spAutoFit/>
            </a:bodyPr>
            <a:lstStyle/>
            <a:p>
              <a:pPr algn="l"/>
              <a:r>
                <a:rPr lang="ko-KR" sz="1800" b="1" dirty="0">
                  <a:solidFill>
                    <a:schemeClr val="accent1"/>
                  </a:solidFill>
                  <a:latin typeface="+mn-lt"/>
                  <a:ea typeface="+mn-ea"/>
                  <a:cs typeface="+mn-cs"/>
                </a:rPr>
                <a:t>01</a:t>
              </a:r>
              <a:r>
                <a:rPr lang="ko-KR" sz="1800" dirty="0">
                  <a:solidFill>
                    <a:schemeClr val="dk1"/>
                  </a:solidFill>
                  <a:latin typeface="+mn-lt"/>
                  <a:ea typeface="+mn-ea"/>
                  <a:cs typeface="+mn-cs"/>
                </a:rPr>
                <a:t xml:space="preserve"> "끝났다"를 믿지 않는다 — exit code·git 으로 판정</a:t>
              </a:r>
            </a:p>
          </p:txBody>
        </p:sp>
        <p:sp>
          <p:nvSpPr>
            <p:cNvPr id="11" name="TextBox 11"/>
            <p:cNvSpPr txBox="1"/>
            <p:nvPr/>
          </p:nvSpPr>
          <p:spPr>
            <a:xfrm>
              <a:off x="600456" y="4587240"/>
              <a:ext cx="4369072" cy="352044"/>
            </a:xfrm>
            <a:prstGeom prst="rect">
              <a:avLst/>
            </a:prstGeom>
            <a:noFill/>
            <a:ln>
              <a:noFill/>
            </a:ln>
          </p:spPr>
          <p:txBody>
            <a:bodyPr wrap="none" lIns="0" tIns="0" rIns="0" bIns="0" anchor="t" anchorCtr="0">
              <a:spAutoFit/>
            </a:bodyPr>
            <a:lstStyle/>
            <a:p>
              <a:pPr algn="l"/>
              <a:r>
                <a:rPr lang="ko-KR" sz="1800" b="1" dirty="0">
                  <a:solidFill>
                    <a:schemeClr val="accent1"/>
                  </a:solidFill>
                  <a:latin typeface="+mn-lt"/>
                  <a:ea typeface="+mn-ea"/>
                  <a:cs typeface="+mn-cs"/>
                </a:rPr>
                <a:t>02</a:t>
              </a:r>
              <a:r>
                <a:rPr lang="ko-KR" sz="1800" dirty="0">
                  <a:solidFill>
                    <a:schemeClr val="dk1"/>
                  </a:solidFill>
                  <a:latin typeface="+mn-lt"/>
                  <a:ea typeface="+mn-ea"/>
                  <a:cs typeface="+mn-cs"/>
                </a:rPr>
                <a:t xml:space="preserve"> 같은 세 역할이 계획과 검증을 맡는다</a:t>
              </a:r>
            </a:p>
          </p:txBody>
        </p:sp>
        <p:sp>
          <p:nvSpPr>
            <p:cNvPr id="12" name="TextBox 12"/>
            <p:cNvSpPr txBox="1"/>
            <p:nvPr/>
          </p:nvSpPr>
          <p:spPr>
            <a:xfrm>
              <a:off x="600456" y="4892040"/>
              <a:ext cx="4584565" cy="352044"/>
            </a:xfrm>
            <a:prstGeom prst="rect">
              <a:avLst/>
            </a:prstGeom>
            <a:noFill/>
            <a:ln>
              <a:noFill/>
            </a:ln>
          </p:spPr>
          <p:txBody>
            <a:bodyPr wrap="none" lIns="0" tIns="0" rIns="0" bIns="0" anchor="t" anchorCtr="0">
              <a:spAutoFit/>
            </a:bodyPr>
            <a:lstStyle/>
            <a:p>
              <a:pPr algn="l"/>
              <a:r>
                <a:rPr lang="ko-KR" sz="1800" b="1" dirty="0">
                  <a:solidFill>
                    <a:schemeClr val="accent1"/>
                  </a:solidFill>
                  <a:latin typeface="+mn-lt"/>
                  <a:ea typeface="+mn-ea"/>
                  <a:cs typeface="+mn-cs"/>
                </a:rPr>
                <a:t>03</a:t>
              </a:r>
              <a:r>
                <a:rPr lang="ko-KR" sz="1800" dirty="0">
                  <a:solidFill>
                    <a:schemeClr val="dk1"/>
                  </a:solidFill>
                  <a:latin typeface="+mn-lt"/>
                  <a:ea typeface="+mn-ea"/>
                  <a:cs typeface="+mn-cs"/>
                </a:rPr>
                <a:t xml:space="preserve"> 문서는 3종, 진실은 STATE.json 한 곳</a:t>
              </a:r>
            </a:p>
          </p:txBody>
        </p:sp>
      </p:grpSp>
      <p:grpSp>
        <p:nvGrpSpPr>
          <p:cNvPr id="27" name="Group 27"/>
          <p:cNvGrpSpPr/>
          <p:nvPr/>
        </p:nvGrpSpPr>
        <p:grpSpPr>
          <a:xfrm>
            <a:off x="8382000" y="1143000"/>
            <a:ext cx="3217697" cy="2381250"/>
            <a:chOff x="8382000" y="1143000"/>
            <a:chExt cx="3217697" cy="2381250"/>
          </a:xfrm>
        </p:grpSpPr>
        <p:sp>
          <p:nvSpPr>
            <p:cNvPr id="14" name="Rectangle 14"/>
            <p:cNvSpPr/>
            <p:nvPr/>
          </p:nvSpPr>
          <p:spPr>
            <a:xfrm>
              <a:off x="8382000" y="1143000"/>
              <a:ext cx="3200400" cy="2381250"/>
            </a:xfrm>
            <a:prstGeom prst="roundRect">
              <a:avLst>
                <a:gd name="adj" fmla="val 2400"/>
              </a:avLst>
            </a:prstGeom>
            <a:solidFill>
              <a:schemeClr val="lt2"/>
            </a:solidFill>
            <a:ln w="19050">
              <a:solidFill>
                <a:schemeClr val="accent2"/>
              </a:solidFill>
            </a:ln>
          </p:spPr>
        </p:sp>
        <p:grpSp>
          <p:nvGrpSpPr>
            <p:cNvPr id="18" name="Group 18"/>
            <p:cNvGrpSpPr/>
            <p:nvPr/>
          </p:nvGrpSpPr>
          <p:grpSpPr>
            <a:xfrm>
              <a:off x="8569491" y="1333500"/>
              <a:ext cx="155409" cy="155409"/>
              <a:chOff x="8569491" y="1333500"/>
              <a:chExt cx="155409" cy="155409"/>
            </a:xfrm>
          </p:grpSpPr>
          <p:sp>
            <p:nvSpPr>
              <p:cNvPr id="15" name="Freeform 15"/>
              <p:cNvSpPr/>
              <p:nvPr/>
            </p:nvSpPr>
            <p:spPr>
              <a:xfrm>
                <a:off x="8572500" y="1333500"/>
                <a:ext cx="152400" cy="152400"/>
              </a:xfrm>
              <a:custGeom>
                <a:avLst/>
                <a:gdLst/>
                <a:ahLst/>
                <a:cxnLst/>
                <a:rect l="l" t="t" r="r" b="b"/>
                <a:pathLst>
                  <a:path w="152400" h="152400">
                    <a:moveTo>
                      <a:pt x="0" y="85725"/>
                    </a:moveTo>
                    <a:cubicBezTo>
                      <a:pt x="34959" y="89880"/>
                      <a:pt x="62520" y="117441"/>
                      <a:pt x="66675" y="152400"/>
                    </a:cubicBezTo>
                    <a:cubicBezTo>
                      <a:pt x="83792" y="142532"/>
                      <a:pt x="94598" y="124522"/>
                      <a:pt x="95250" y="104775"/>
                    </a:cubicBezTo>
                    <a:cubicBezTo>
                      <a:pt x="127957" y="93269"/>
                      <a:pt x="150512" y="63195"/>
                      <a:pt x="152400" y="28575"/>
                    </a:cubicBezTo>
                    <a:cubicBezTo>
                      <a:pt x="152400" y="12793"/>
                      <a:pt x="139607" y="0"/>
                      <a:pt x="123825" y="0"/>
                    </a:cubicBezTo>
                    <a:cubicBezTo>
                      <a:pt x="89205" y="1888"/>
                      <a:pt x="59131" y="24443"/>
                      <a:pt x="47625" y="57150"/>
                    </a:cubicBezTo>
                    <a:cubicBezTo>
                      <a:pt x="27878" y="57802"/>
                      <a:pt x="9868" y="68608"/>
                      <a:pt x="0" y="85725"/>
                    </a:cubicBezTo>
                  </a:path>
                </a:pathLst>
              </a:custGeom>
              <a:noFill/>
              <a:ln w="19050">
                <a:solidFill>
                  <a:schemeClr val="accent2"/>
                </a:solidFill>
              </a:ln>
            </p:spPr>
          </p:sp>
          <p:sp>
            <p:nvSpPr>
              <p:cNvPr id="16" name="Freeform 16"/>
              <p:cNvSpPr/>
              <p:nvPr/>
            </p:nvSpPr>
            <p:spPr>
              <a:xfrm>
                <a:off x="8569491" y="1428750"/>
                <a:ext cx="60159" cy="60159"/>
              </a:xfrm>
              <a:custGeom>
                <a:avLst/>
                <a:gdLst/>
                <a:ahLst/>
                <a:cxnLst/>
                <a:rect l="l" t="t" r="r" b="b"/>
                <a:pathLst>
                  <a:path w="60159" h="60159">
                    <a:moveTo>
                      <a:pt x="31584" y="0"/>
                    </a:moveTo>
                    <a:cubicBezTo>
                      <a:pt x="11304" y="11449"/>
                      <a:pt x="0" y="34057"/>
                      <a:pt x="3009" y="57150"/>
                    </a:cubicBezTo>
                    <a:cubicBezTo>
                      <a:pt x="26101" y="60159"/>
                      <a:pt x="48710" y="48854"/>
                      <a:pt x="60159" y="28575"/>
                    </a:cubicBezTo>
                  </a:path>
                </a:pathLst>
              </a:custGeom>
              <a:noFill/>
              <a:ln w="19050">
                <a:solidFill>
                  <a:schemeClr val="accent2"/>
                </a:solidFill>
              </a:ln>
            </p:spPr>
          </p:sp>
          <p:sp>
            <p:nvSpPr>
              <p:cNvPr id="17" name="Freeform 17"/>
              <p:cNvSpPr/>
              <p:nvPr/>
            </p:nvSpPr>
            <p:spPr>
              <a:xfrm>
                <a:off x="8667750" y="1371600"/>
                <a:ext cx="19050" cy="19050"/>
              </a:xfrm>
              <a:custGeom>
                <a:avLst/>
                <a:gdLst/>
                <a:ahLst/>
                <a:cxnLst/>
                <a:rect l="l" t="t" r="r" b="b"/>
                <a:pathLst>
                  <a:path w="19050" h="19050">
                    <a:moveTo>
                      <a:pt x="0" y="9525"/>
                    </a:moveTo>
                    <a:cubicBezTo>
                      <a:pt x="0" y="14786"/>
                      <a:pt x="4264" y="19050"/>
                      <a:pt x="9525" y="19050"/>
                    </a:cubicBezTo>
                    <a:cubicBezTo>
                      <a:pt x="14786" y="19050"/>
                      <a:pt x="19050" y="14786"/>
                      <a:pt x="19050" y="9525"/>
                    </a:cubicBezTo>
                    <a:cubicBezTo>
                      <a:pt x="19050" y="4264"/>
                      <a:pt x="14786" y="0"/>
                      <a:pt x="9525" y="0"/>
                    </a:cubicBezTo>
                    <a:cubicBezTo>
                      <a:pt x="4264" y="0"/>
                      <a:pt x="0" y="4264"/>
                      <a:pt x="0" y="9525"/>
                    </a:cubicBezTo>
                  </a:path>
                </a:pathLst>
              </a:custGeom>
              <a:noFill/>
              <a:ln w="19050">
                <a:solidFill>
                  <a:schemeClr val="accent2"/>
                </a:solidFill>
              </a:ln>
            </p:spPr>
          </p:sp>
        </p:grpSp>
        <p:sp>
          <p:nvSpPr>
            <p:cNvPr id="19" name="TextBox 19"/>
            <p:cNvSpPr txBox="1"/>
            <p:nvPr/>
          </p:nvSpPr>
          <p:spPr>
            <a:xfrm>
              <a:off x="8832342" y="1330642"/>
              <a:ext cx="2222275" cy="264033"/>
            </a:xfrm>
            <a:prstGeom prst="rect">
              <a:avLst/>
            </a:prstGeom>
            <a:noFill/>
            <a:ln>
              <a:noFill/>
            </a:ln>
          </p:spPr>
          <p:txBody>
            <a:bodyPr wrap="none" lIns="0" tIns="0" rIns="0" bIns="0" anchor="t" anchorCtr="0">
              <a:spAutoFit/>
            </a:bodyPr>
            <a:lstStyle/>
            <a:p>
              <a:pPr algn="l"/>
              <a:r>
                <a:rPr lang="ko-KR" sz="1350" b="1" dirty="0">
                  <a:solidFill>
                    <a:schemeClr val="accent2"/>
                  </a:solidFill>
                  <a:latin typeface="+mn-lt"/>
                  <a:ea typeface="+mn-ea"/>
                  <a:cs typeface="+mn-cs"/>
                </a:rPr>
                <a:t>오늘 할 일 — 첫 워크플로우</a:t>
              </a:r>
            </a:p>
          </p:txBody>
        </p:sp>
        <p:sp>
          <p:nvSpPr>
            <p:cNvPr id="20" name="Rectangle 20"/>
            <p:cNvSpPr/>
            <p:nvPr/>
          </p:nvSpPr>
          <p:spPr>
            <a:xfrm>
              <a:off x="8534400" y="1676400"/>
              <a:ext cx="2895600" cy="1676400"/>
            </a:xfrm>
            <a:prstGeom prst="roundRect">
              <a:avLst>
                <a:gd name="adj" fmla="val 2273"/>
              </a:avLst>
            </a:prstGeom>
            <a:solidFill>
              <a:schemeClr val="lt1"/>
            </a:solidFill>
            <a:ln w="9525">
              <a:solidFill>
                <a:schemeClr val="accent6"/>
              </a:solidFill>
            </a:ln>
          </p:spPr>
        </p:sp>
        <p:sp>
          <p:nvSpPr>
            <p:cNvPr id="21" name="TextBox 21"/>
            <p:cNvSpPr txBox="1"/>
            <p:nvPr/>
          </p:nvSpPr>
          <p:spPr>
            <a:xfrm>
              <a:off x="8641842" y="1778318"/>
              <a:ext cx="1812912"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Consolas"/>
                  <a:ea typeface="Consolas"/>
                  <a:cs typeface="Consolas"/>
                </a:rPr>
                <a:t>$</a:t>
              </a:r>
              <a:r>
                <a:rPr lang="ko-KR" sz="1350" dirty="0">
                  <a:solidFill>
                    <a:schemeClr val="dk1"/>
                  </a:solidFill>
                  <a:latin typeface="Consolas"/>
                  <a:ea typeface="Consolas"/>
                  <a:cs typeface="Consolas"/>
                </a:rPr>
                <a:t xml:space="preserve"> npm run fw:install</a:t>
              </a:r>
            </a:p>
          </p:txBody>
        </p:sp>
        <p:sp>
          <p:nvSpPr>
            <p:cNvPr id="22" name="TextBox 22"/>
            <p:cNvSpPr txBox="1"/>
            <p:nvPr/>
          </p:nvSpPr>
          <p:spPr>
            <a:xfrm>
              <a:off x="8641842" y="2102168"/>
              <a:ext cx="1494873"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Consolas"/>
                  <a:ea typeface="Microsoft YaHei"/>
                  <a:cs typeface="Consolas"/>
                </a:rPr>
                <a:t># 목표가 선명하면</a:t>
              </a:r>
            </a:p>
          </p:txBody>
        </p:sp>
        <p:sp>
          <p:nvSpPr>
            <p:cNvPr id="23" name="TextBox 23"/>
            <p:cNvSpPr txBox="1"/>
            <p:nvPr/>
          </p:nvSpPr>
          <p:spPr>
            <a:xfrm>
              <a:off x="8641842" y="2330768"/>
              <a:ext cx="2957855" cy="264033"/>
            </a:xfrm>
            <a:prstGeom prst="rect">
              <a:avLst/>
            </a:prstGeom>
            <a:noFill/>
            <a:ln>
              <a:noFill/>
            </a:ln>
          </p:spPr>
          <p:txBody>
            <a:bodyPr wrap="none" lIns="0" tIns="0" rIns="0" bIns="0" anchor="t" anchorCtr="0">
              <a:spAutoFit/>
            </a:bodyPr>
            <a:lstStyle/>
            <a:p>
              <a:pPr algn="l"/>
              <a:r>
                <a:rPr lang="ko-KR" sz="1350" dirty="0">
                  <a:solidFill>
                    <a:schemeClr val="dk1"/>
                  </a:solidFill>
                  <a:latin typeface="Consolas"/>
                  <a:ea typeface="Microsoft YaHei"/>
                  <a:cs typeface="Consolas"/>
                </a:rPr>
                <a:t>/feature-workflow:start &lt;이름&gt;</a:t>
              </a:r>
            </a:p>
          </p:txBody>
        </p:sp>
        <p:sp>
          <p:nvSpPr>
            <p:cNvPr id="24" name="TextBox 24"/>
            <p:cNvSpPr txBox="1"/>
            <p:nvPr/>
          </p:nvSpPr>
          <p:spPr>
            <a:xfrm>
              <a:off x="8641842" y="2654618"/>
              <a:ext cx="1313136"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Consolas"/>
                  <a:ea typeface="Microsoft YaHei"/>
                  <a:cs typeface="Consolas"/>
                </a:rPr>
                <a:t># 계획이 없으면</a:t>
              </a:r>
            </a:p>
          </p:txBody>
        </p:sp>
        <p:sp>
          <p:nvSpPr>
            <p:cNvPr id="25" name="TextBox 25"/>
            <p:cNvSpPr txBox="1"/>
            <p:nvPr/>
          </p:nvSpPr>
          <p:spPr>
            <a:xfrm>
              <a:off x="8641842" y="2883218"/>
              <a:ext cx="1921954" cy="264033"/>
            </a:xfrm>
            <a:prstGeom prst="rect">
              <a:avLst/>
            </a:prstGeom>
            <a:noFill/>
            <a:ln>
              <a:noFill/>
            </a:ln>
          </p:spPr>
          <p:txBody>
            <a:bodyPr wrap="none" lIns="0" tIns="0" rIns="0" bIns="0" anchor="t" anchorCtr="0">
              <a:spAutoFit/>
            </a:bodyPr>
            <a:lstStyle/>
            <a:p>
              <a:pPr algn="l"/>
              <a:r>
                <a:rPr lang="ko-KR" sz="1350" dirty="0">
                  <a:solidFill>
                    <a:schemeClr val="dk1"/>
                  </a:solidFill>
                  <a:latin typeface="Consolas"/>
                  <a:ea typeface="Microsoft YaHei"/>
                  <a:cs typeface="Consolas"/>
                </a:rPr>
                <a:t>fw interview &lt;이름&gt; \</a:t>
              </a:r>
            </a:p>
          </p:txBody>
        </p:sp>
        <p:sp>
          <p:nvSpPr>
            <p:cNvPr id="26" name="TextBox 26"/>
            <p:cNvSpPr txBox="1"/>
            <p:nvPr/>
          </p:nvSpPr>
          <p:spPr>
            <a:xfrm>
              <a:off x="8641842" y="3111818"/>
              <a:ext cx="2621642" cy="264033"/>
            </a:xfrm>
            <a:prstGeom prst="rect">
              <a:avLst/>
            </a:prstGeom>
            <a:noFill/>
            <a:ln>
              <a:noFill/>
            </a:ln>
          </p:spPr>
          <p:txBody>
            <a:bodyPr wrap="none" lIns="0" tIns="0" rIns="0" bIns="0" anchor="t" anchorCtr="0">
              <a:spAutoFit/>
            </a:bodyPr>
            <a:lstStyle/>
            <a:p>
              <a:pPr algn="l"/>
              <a:r>
                <a:rPr lang="ko-KR" sz="1350" dirty="0">
                  <a:solidFill>
                    <a:schemeClr val="accent1"/>
                  </a:solidFill>
                  <a:latin typeface="Consolas"/>
                  <a:ea typeface="Microsoft YaHei"/>
                  <a:cs typeface="Consolas"/>
                </a:rPr>
                <a:t>--goal "이루려는 것 한두 문장"</a:t>
              </a:r>
            </a:p>
          </p:txBody>
        </p:sp>
      </p:grpSp>
      <p:grpSp>
        <p:nvGrpSpPr>
          <p:cNvPr id="41" name="Group 41"/>
          <p:cNvGrpSpPr/>
          <p:nvPr/>
        </p:nvGrpSpPr>
        <p:grpSpPr>
          <a:xfrm>
            <a:off x="8376666" y="3740944"/>
            <a:ext cx="2915564" cy="1513617"/>
            <a:chOff x="8376666" y="3740944"/>
            <a:chExt cx="2915564" cy="1513617"/>
          </a:xfrm>
        </p:grpSpPr>
        <p:grpSp>
          <p:nvGrpSpPr>
            <p:cNvPr id="33" name="Group 33"/>
            <p:cNvGrpSpPr/>
            <p:nvPr/>
          </p:nvGrpSpPr>
          <p:grpSpPr>
            <a:xfrm>
              <a:off x="8425656" y="3740944"/>
              <a:ext cx="122238" cy="157163"/>
              <a:chOff x="8425656" y="3740944"/>
              <a:chExt cx="122238" cy="157163"/>
            </a:xfrm>
          </p:grpSpPr>
          <p:sp>
            <p:nvSpPr>
              <p:cNvPr id="28" name="Freeform 28"/>
              <p:cNvSpPr/>
              <p:nvPr/>
            </p:nvSpPr>
            <p:spPr>
              <a:xfrm>
                <a:off x="8504238" y="3740944"/>
                <a:ext cx="43656" cy="43656"/>
              </a:xfrm>
              <a:custGeom>
                <a:avLst/>
                <a:gdLst/>
                <a:ahLst/>
                <a:cxnLst/>
                <a:rect l="l" t="t" r="r" b="b"/>
                <a:pathLst>
                  <a:path w="43656" h="43656">
                    <a:moveTo>
                      <a:pt x="0" y="0"/>
                    </a:moveTo>
                    <a:lnTo>
                      <a:pt x="0" y="34925"/>
                    </a:lnTo>
                    <a:cubicBezTo>
                      <a:pt x="0" y="39747"/>
                      <a:pt x="3909" y="43656"/>
                      <a:pt x="8731" y="43656"/>
                    </a:cubicBezTo>
                    <a:lnTo>
                      <a:pt x="43656" y="43656"/>
                    </a:lnTo>
                  </a:path>
                </a:pathLst>
              </a:custGeom>
              <a:noFill/>
              <a:ln w="17463">
                <a:solidFill>
                  <a:srgbClr val="9AA8BD"/>
                </a:solidFill>
              </a:ln>
            </p:spPr>
          </p:sp>
          <p:sp>
            <p:nvSpPr>
              <p:cNvPr id="29" name="Freeform 29"/>
              <p:cNvSpPr/>
              <p:nvPr/>
            </p:nvSpPr>
            <p:spPr>
              <a:xfrm>
                <a:off x="8425656" y="3740944"/>
                <a:ext cx="122238" cy="157163"/>
              </a:xfrm>
              <a:custGeom>
                <a:avLst/>
                <a:gdLst/>
                <a:ahLst/>
                <a:cxnLst/>
                <a:rect l="l" t="t" r="r" b="b"/>
                <a:pathLst>
                  <a:path w="122238" h="157163">
                    <a:moveTo>
                      <a:pt x="104775" y="157163"/>
                    </a:moveTo>
                    <a:lnTo>
                      <a:pt x="17463" y="157163"/>
                    </a:lnTo>
                    <a:cubicBezTo>
                      <a:pt x="7818" y="157163"/>
                      <a:pt x="0" y="149344"/>
                      <a:pt x="0" y="139700"/>
                    </a:cubicBezTo>
                    <a:lnTo>
                      <a:pt x="0" y="17463"/>
                    </a:lnTo>
                    <a:cubicBezTo>
                      <a:pt x="0" y="7818"/>
                      <a:pt x="7818" y="0"/>
                      <a:pt x="17463" y="0"/>
                    </a:cubicBezTo>
                    <a:lnTo>
                      <a:pt x="78581" y="0"/>
                    </a:lnTo>
                    <a:lnTo>
                      <a:pt x="122238" y="43656"/>
                    </a:lnTo>
                    <a:lnTo>
                      <a:pt x="122238" y="139700"/>
                    </a:lnTo>
                    <a:cubicBezTo>
                      <a:pt x="122238" y="149344"/>
                      <a:pt x="114419" y="157163"/>
                      <a:pt x="104775" y="157163"/>
                    </a:cubicBezTo>
                  </a:path>
                </a:pathLst>
              </a:custGeom>
              <a:noFill/>
              <a:ln w="17463">
                <a:solidFill>
                  <a:srgbClr val="9AA8BD"/>
                </a:solidFill>
              </a:ln>
            </p:spPr>
          </p:sp>
          <p:sp>
            <p:nvSpPr>
              <p:cNvPr id="30" name="Freeform 30"/>
              <p:cNvSpPr/>
              <p:nvPr/>
            </p:nvSpPr>
            <p:spPr>
              <a:xfrm>
                <a:off x="8460581" y="3793331"/>
                <a:ext cx="9525" cy="9525"/>
              </a:xfrm>
              <a:custGeom>
                <a:avLst/>
                <a:gdLst/>
                <a:ahLst/>
                <a:cxnLst/>
                <a:rect l="l" t="t" r="r" b="b"/>
                <a:pathLst>
                  <a:path w="9525" h="9525">
                    <a:moveTo>
                      <a:pt x="0" y="0"/>
                    </a:moveTo>
                    <a:lnTo>
                      <a:pt x="8731" y="0"/>
                    </a:lnTo>
                  </a:path>
                </a:pathLst>
              </a:custGeom>
              <a:noFill/>
              <a:ln w="17463">
                <a:solidFill>
                  <a:srgbClr val="9AA8BD"/>
                </a:solidFill>
              </a:ln>
            </p:spPr>
          </p:sp>
          <p:sp>
            <p:nvSpPr>
              <p:cNvPr id="31" name="Freeform 31"/>
              <p:cNvSpPr/>
              <p:nvPr/>
            </p:nvSpPr>
            <p:spPr>
              <a:xfrm>
                <a:off x="8460581" y="3828256"/>
                <a:ext cx="52388" cy="9525"/>
              </a:xfrm>
              <a:custGeom>
                <a:avLst/>
                <a:gdLst/>
                <a:ahLst/>
                <a:cxnLst/>
                <a:rect l="l" t="t" r="r" b="b"/>
                <a:pathLst>
                  <a:path w="52388" h="9525">
                    <a:moveTo>
                      <a:pt x="0" y="0"/>
                    </a:moveTo>
                    <a:lnTo>
                      <a:pt x="52388" y="0"/>
                    </a:lnTo>
                  </a:path>
                </a:pathLst>
              </a:custGeom>
              <a:noFill/>
              <a:ln w="17463">
                <a:solidFill>
                  <a:srgbClr val="9AA8BD"/>
                </a:solidFill>
              </a:ln>
            </p:spPr>
          </p:sp>
          <p:sp>
            <p:nvSpPr>
              <p:cNvPr id="32" name="Freeform 32"/>
              <p:cNvSpPr/>
              <p:nvPr/>
            </p:nvSpPr>
            <p:spPr>
              <a:xfrm>
                <a:off x="8460581" y="3863181"/>
                <a:ext cx="52388" cy="9525"/>
              </a:xfrm>
              <a:custGeom>
                <a:avLst/>
                <a:gdLst/>
                <a:ahLst/>
                <a:cxnLst/>
                <a:rect l="l" t="t" r="r" b="b"/>
                <a:pathLst>
                  <a:path w="52388" h="9525">
                    <a:moveTo>
                      <a:pt x="0" y="0"/>
                    </a:moveTo>
                    <a:lnTo>
                      <a:pt x="52388" y="0"/>
                    </a:lnTo>
                  </a:path>
                </a:pathLst>
              </a:custGeom>
              <a:noFill/>
              <a:ln w="17463">
                <a:solidFill>
                  <a:srgbClr val="9AA8BD"/>
                </a:solidFill>
              </a:ln>
            </p:spPr>
          </p:sp>
        </p:grpSp>
        <p:sp>
          <p:nvSpPr>
            <p:cNvPr id="34" name="TextBox 34"/>
            <p:cNvSpPr txBox="1"/>
            <p:nvPr/>
          </p:nvSpPr>
          <p:spPr>
            <a:xfrm>
              <a:off x="8661654" y="3747135"/>
              <a:ext cx="760141"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더 읽을 것</a:t>
              </a:r>
            </a:p>
          </p:txBody>
        </p:sp>
        <p:sp>
          <p:nvSpPr>
            <p:cNvPr id="35" name="TextBox 35"/>
            <p:cNvSpPr txBox="1"/>
            <p:nvPr/>
          </p:nvSpPr>
          <p:spPr>
            <a:xfrm>
              <a:off x="8376666" y="4039552"/>
              <a:ext cx="2691003" cy="205359"/>
            </a:xfrm>
            <a:prstGeom prst="rect">
              <a:avLst/>
            </a:prstGeom>
            <a:noFill/>
            <a:ln>
              <a:noFill/>
            </a:ln>
          </p:spPr>
          <p:txBody>
            <a:bodyPr wrap="none" lIns="0" tIns="0" rIns="0" bIns="0" anchor="t" anchorCtr="0">
              <a:spAutoFit/>
            </a:bodyPr>
            <a:lstStyle/>
            <a:p>
              <a:pPr algn="l"/>
              <a:r>
                <a:rPr lang="ko-KR" sz="1050" dirty="0">
                  <a:solidFill>
                    <a:schemeClr val="dk1"/>
                  </a:solidFill>
                  <a:latin typeface="Consolas"/>
                  <a:ea typeface="Consolas"/>
                  <a:cs typeface="Consolas"/>
                </a:rPr>
                <a:t>plugins/feature-workflow/README.md</a:t>
              </a:r>
            </a:p>
          </p:txBody>
        </p:sp>
        <p:sp>
          <p:nvSpPr>
            <p:cNvPr id="36" name="TextBox 36"/>
            <p:cNvSpPr txBox="1"/>
            <p:nvPr/>
          </p:nvSpPr>
          <p:spPr>
            <a:xfrm>
              <a:off x="8376666" y="4211002"/>
              <a:ext cx="2399500"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전체 소개 · 다이어그램 · 사용 설명서</a:t>
              </a:r>
            </a:p>
          </p:txBody>
        </p:sp>
        <p:sp>
          <p:nvSpPr>
            <p:cNvPr id="37" name="TextBox 37"/>
            <p:cNvSpPr txBox="1"/>
            <p:nvPr/>
          </p:nvSpPr>
          <p:spPr>
            <a:xfrm>
              <a:off x="8376666" y="4458652"/>
              <a:ext cx="1420044" cy="205359"/>
            </a:xfrm>
            <a:prstGeom prst="rect">
              <a:avLst/>
            </a:prstGeom>
            <a:noFill/>
            <a:ln>
              <a:noFill/>
            </a:ln>
          </p:spPr>
          <p:txBody>
            <a:bodyPr wrap="none" lIns="0" tIns="0" rIns="0" bIns="0" anchor="t" anchorCtr="0">
              <a:spAutoFit/>
            </a:bodyPr>
            <a:lstStyle/>
            <a:p>
              <a:pPr algn="l"/>
              <a:r>
                <a:rPr lang="ko-KR" sz="1050" dirty="0">
                  <a:solidFill>
                    <a:schemeClr val="dk1"/>
                  </a:solidFill>
                  <a:latin typeface="Consolas"/>
                  <a:ea typeface="Consolas"/>
                  <a:cs typeface="Consolas"/>
                </a:rPr>
                <a:t>harness/README.md</a:t>
              </a:r>
            </a:p>
          </p:txBody>
        </p:sp>
        <p:sp>
          <p:nvSpPr>
            <p:cNvPr id="38" name="TextBox 38"/>
            <p:cNvSpPr txBox="1"/>
            <p:nvPr/>
          </p:nvSpPr>
          <p:spPr>
            <a:xfrm>
              <a:off x="8376666" y="4630102"/>
              <a:ext cx="2915564"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운영 상세 · PR 모드 · 샌드박스 · 킬 스위치</a:t>
              </a:r>
            </a:p>
          </p:txBody>
        </p:sp>
        <p:sp>
          <p:nvSpPr>
            <p:cNvPr id="39" name="TextBox 39"/>
            <p:cNvSpPr txBox="1"/>
            <p:nvPr/>
          </p:nvSpPr>
          <p:spPr>
            <a:xfrm>
              <a:off x="8376666" y="4877752"/>
              <a:ext cx="1947177" cy="205359"/>
            </a:xfrm>
            <a:prstGeom prst="rect">
              <a:avLst/>
            </a:prstGeom>
            <a:noFill/>
            <a:ln>
              <a:noFill/>
            </a:ln>
          </p:spPr>
          <p:txBody>
            <a:bodyPr wrap="none" lIns="0" tIns="0" rIns="0" bIns="0" anchor="t" anchorCtr="0">
              <a:spAutoFit/>
            </a:bodyPr>
            <a:lstStyle/>
            <a:p>
              <a:pPr algn="l"/>
              <a:r>
                <a:rPr lang="ko-KR" sz="1050" dirty="0">
                  <a:solidFill>
                    <a:schemeClr val="dk1"/>
                  </a:solidFill>
                  <a:latin typeface="Consolas"/>
                  <a:ea typeface="Consolas"/>
                  <a:cs typeface="Consolas"/>
                </a:rPr>
                <a:t>specs/…-harness-design.md</a:t>
              </a:r>
            </a:p>
          </p:txBody>
        </p:sp>
        <p:sp>
          <p:nvSpPr>
            <p:cNvPr id="40" name="TextBox 40"/>
            <p:cNvSpPr txBox="1"/>
            <p:nvPr/>
          </p:nvSpPr>
          <p:spPr>
            <a:xfrm>
              <a:off x="8376666" y="5049202"/>
              <a:ext cx="2300554"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설계 · 감사 라운드 · 실전 통주 기록</a:t>
              </a:r>
            </a:p>
          </p:txBody>
        </p:sp>
      </p:grpSp>
      <p:grpSp>
        <p:nvGrpSpPr>
          <p:cNvPr id="54" name="Group 54"/>
          <p:cNvGrpSpPr/>
          <p:nvPr/>
        </p:nvGrpSpPr>
        <p:grpSpPr>
          <a:xfrm>
            <a:off x="8439150" y="5715000"/>
            <a:ext cx="3086100" cy="492061"/>
            <a:chOff x="8439150" y="5715000"/>
            <a:chExt cx="3086100" cy="492061"/>
          </a:xfrm>
        </p:grpSpPr>
        <p:sp>
          <p:nvSpPr>
            <p:cNvPr id="42" name="Line 42"/>
            <p:cNvSpPr/>
            <p:nvPr/>
          </p:nvSpPr>
          <p:spPr>
            <a:xfrm>
              <a:off x="8534400" y="5810250"/>
              <a:ext cx="2895600" cy="9525"/>
            </a:xfrm>
            <a:custGeom>
              <a:avLst/>
              <a:gdLst/>
              <a:ahLst/>
              <a:cxnLst/>
              <a:rect l="l" t="t" r="r" b="b"/>
              <a:pathLst>
                <a:path w="2895600" h="9525">
                  <a:moveTo>
                    <a:pt x="0" y="0"/>
                  </a:moveTo>
                  <a:lnTo>
                    <a:pt x="2895600" y="0"/>
                  </a:lnTo>
                </a:path>
              </a:pathLst>
            </a:custGeom>
            <a:noFill/>
            <a:ln w="19050">
              <a:solidFill>
                <a:schemeClr val="accent6"/>
              </a:solidFill>
            </a:ln>
          </p:spPr>
        </p:sp>
        <p:sp>
          <p:nvSpPr>
            <p:cNvPr id="43" name="Line 43"/>
            <p:cNvSpPr/>
            <p:nvPr/>
          </p:nvSpPr>
          <p:spPr>
            <a:xfrm>
              <a:off x="8534400" y="5810250"/>
              <a:ext cx="609600" cy="9525"/>
            </a:xfrm>
            <a:custGeom>
              <a:avLst/>
              <a:gdLst/>
              <a:ahLst/>
              <a:cxnLst/>
              <a:rect l="l" t="t" r="r" b="b"/>
              <a:pathLst>
                <a:path w="609600" h="9525">
                  <a:moveTo>
                    <a:pt x="0" y="0"/>
                  </a:moveTo>
                  <a:lnTo>
                    <a:pt x="609600" y="0"/>
                  </a:lnTo>
                </a:path>
              </a:pathLst>
            </a:custGeom>
            <a:noFill/>
            <a:ln w="19050">
              <a:solidFill>
                <a:schemeClr val="accent2"/>
              </a:solidFill>
            </a:ln>
          </p:spPr>
        </p:sp>
        <p:sp>
          <p:nvSpPr>
            <p:cNvPr id="44" name="Line 44"/>
            <p:cNvSpPr/>
            <p:nvPr/>
          </p:nvSpPr>
          <p:spPr>
            <a:xfrm>
              <a:off x="9144000" y="5810250"/>
              <a:ext cx="1676400" cy="9525"/>
            </a:xfrm>
            <a:custGeom>
              <a:avLst/>
              <a:gdLst/>
              <a:ahLst/>
              <a:cxnLst/>
              <a:rect l="l" t="t" r="r" b="b"/>
              <a:pathLst>
                <a:path w="1676400" h="9525">
                  <a:moveTo>
                    <a:pt x="0" y="0"/>
                  </a:moveTo>
                  <a:lnTo>
                    <a:pt x="1676400" y="0"/>
                  </a:lnTo>
                </a:path>
              </a:pathLst>
            </a:custGeom>
            <a:noFill/>
            <a:ln w="19050">
              <a:solidFill>
                <a:schemeClr val="accent1"/>
              </a:solidFill>
            </a:ln>
          </p:spPr>
        </p:sp>
        <p:sp>
          <p:nvSpPr>
            <p:cNvPr id="45" name="Line 45"/>
            <p:cNvSpPr/>
            <p:nvPr/>
          </p:nvSpPr>
          <p:spPr>
            <a:xfrm>
              <a:off x="10820400" y="5810250"/>
              <a:ext cx="609600" cy="9525"/>
            </a:xfrm>
            <a:custGeom>
              <a:avLst/>
              <a:gdLst/>
              <a:ahLst/>
              <a:cxnLst/>
              <a:rect l="l" t="t" r="r" b="b"/>
              <a:pathLst>
                <a:path w="609600" h="9525">
                  <a:moveTo>
                    <a:pt x="0" y="0"/>
                  </a:moveTo>
                  <a:lnTo>
                    <a:pt x="609600" y="0"/>
                  </a:lnTo>
                </a:path>
              </a:pathLst>
            </a:custGeom>
            <a:noFill/>
            <a:ln w="19050">
              <a:solidFill>
                <a:schemeClr val="accent2"/>
              </a:solidFill>
            </a:ln>
          </p:spPr>
        </p:sp>
        <p:sp>
          <p:nvSpPr>
            <p:cNvPr id="46" name="Ellipse 46"/>
            <p:cNvSpPr/>
            <p:nvPr/>
          </p:nvSpPr>
          <p:spPr>
            <a:xfrm>
              <a:off x="8439150" y="5715000"/>
              <a:ext cx="190500" cy="190500"/>
            </a:xfrm>
            <a:prstGeom prst="ellipse">
              <a:avLst/>
            </a:prstGeom>
            <a:solidFill>
              <a:schemeClr val="lt1"/>
            </a:solidFill>
            <a:ln w="19050">
              <a:solidFill>
                <a:schemeClr val="accent2"/>
              </a:solidFill>
            </a:ln>
          </p:spPr>
        </p:sp>
        <p:sp>
          <p:nvSpPr>
            <p:cNvPr id="47" name="Ellipse 47"/>
            <p:cNvSpPr/>
            <p:nvPr/>
          </p:nvSpPr>
          <p:spPr>
            <a:xfrm>
              <a:off x="9486900" y="5734050"/>
              <a:ext cx="152400" cy="152400"/>
            </a:xfrm>
            <a:prstGeom prst="ellipse">
              <a:avLst/>
            </a:prstGeom>
            <a:solidFill>
              <a:srgbClr val="182238"/>
            </a:solidFill>
            <a:ln w="19050">
              <a:solidFill>
                <a:schemeClr val="accent1"/>
              </a:solidFill>
            </a:ln>
          </p:spPr>
        </p:sp>
        <p:sp>
          <p:nvSpPr>
            <p:cNvPr id="48" name="Ellipse 48"/>
            <p:cNvSpPr/>
            <p:nvPr/>
          </p:nvSpPr>
          <p:spPr>
            <a:xfrm>
              <a:off x="9906000" y="5734050"/>
              <a:ext cx="152400" cy="152400"/>
            </a:xfrm>
            <a:prstGeom prst="ellipse">
              <a:avLst/>
            </a:prstGeom>
            <a:solidFill>
              <a:srgbClr val="182238"/>
            </a:solidFill>
            <a:ln w="19050">
              <a:solidFill>
                <a:schemeClr val="accent1"/>
              </a:solidFill>
            </a:ln>
          </p:spPr>
        </p:sp>
        <p:sp>
          <p:nvSpPr>
            <p:cNvPr id="49" name="Ellipse 49"/>
            <p:cNvSpPr/>
            <p:nvPr/>
          </p:nvSpPr>
          <p:spPr>
            <a:xfrm>
              <a:off x="10325100" y="5734050"/>
              <a:ext cx="152400" cy="152400"/>
            </a:xfrm>
            <a:prstGeom prst="ellipse">
              <a:avLst/>
            </a:prstGeom>
            <a:solidFill>
              <a:srgbClr val="182238"/>
            </a:solidFill>
            <a:ln w="19050">
              <a:solidFill>
                <a:schemeClr val="accent1"/>
              </a:solidFill>
            </a:ln>
          </p:spPr>
        </p:sp>
        <p:sp>
          <p:nvSpPr>
            <p:cNvPr id="50" name="Ellipse 50"/>
            <p:cNvSpPr/>
            <p:nvPr/>
          </p:nvSpPr>
          <p:spPr>
            <a:xfrm>
              <a:off x="11334750" y="5715000"/>
              <a:ext cx="190500" cy="190500"/>
            </a:xfrm>
            <a:prstGeom prst="ellipse">
              <a:avLst/>
            </a:prstGeom>
            <a:solidFill>
              <a:schemeClr val="lt1"/>
            </a:solidFill>
            <a:ln w="19050">
              <a:solidFill>
                <a:schemeClr val="accent2"/>
              </a:solidFill>
            </a:ln>
          </p:spPr>
        </p:sp>
        <p:sp>
          <p:nvSpPr>
            <p:cNvPr id="51" name="TextBox 51"/>
            <p:cNvSpPr txBox="1"/>
            <p:nvPr/>
          </p:nvSpPr>
          <p:spPr>
            <a:xfrm>
              <a:off x="8529066" y="6001702"/>
              <a:ext cx="293370" cy="205359"/>
            </a:xfrm>
            <a:prstGeom prst="rect">
              <a:avLst/>
            </a:prstGeom>
            <a:noFill/>
            <a:ln>
              <a:noFill/>
            </a:ln>
          </p:spPr>
          <p:txBody>
            <a:bodyPr wrap="none" lIns="0" tIns="0" rIns="0" bIns="0" anchor="t" anchorCtr="0">
              <a:spAutoFit/>
            </a:bodyPr>
            <a:lstStyle/>
            <a:p>
              <a:pPr algn="l"/>
              <a:r>
                <a:rPr lang="ko-KR" sz="1050" dirty="0">
                  <a:solidFill>
                    <a:schemeClr val="accent2"/>
                  </a:solidFill>
                  <a:latin typeface="+mn-lt"/>
                  <a:ea typeface="+mn-ea"/>
                  <a:cs typeface="+mn-cs"/>
                </a:rPr>
                <a:t>사람</a:t>
              </a:r>
            </a:p>
          </p:txBody>
        </p:sp>
        <p:sp>
          <p:nvSpPr>
            <p:cNvPr id="52" name="TextBox 52"/>
            <p:cNvSpPr txBox="1"/>
            <p:nvPr/>
          </p:nvSpPr>
          <p:spPr>
            <a:xfrm>
              <a:off x="9319584" y="6001702"/>
              <a:ext cx="1325232" cy="205359"/>
            </a:xfrm>
            <a:prstGeom prst="rect">
              <a:avLst/>
            </a:prstGeom>
            <a:noFill/>
            <a:ln>
              <a:noFill/>
            </a:ln>
          </p:spPr>
          <p:txBody>
            <a:bodyPr wrap="none" lIns="0" tIns="0" rIns="0" bIns="0" anchor="t" anchorCtr="0">
              <a:spAutoFit/>
            </a:bodyPr>
            <a:lstStyle/>
            <a:p>
              <a:pPr algn="ctr"/>
              <a:r>
                <a:rPr lang="ko-KR" sz="1050" dirty="0">
                  <a:solidFill>
                    <a:schemeClr val="accent5"/>
                  </a:solidFill>
                  <a:latin typeface="+mn-lt"/>
                  <a:ea typeface="+mn-ea"/>
                  <a:cs typeface="+mn-cs"/>
                </a:rPr>
                <a:t>인터뷰 · 실행 · 검증</a:t>
              </a:r>
            </a:p>
          </p:txBody>
        </p:sp>
        <p:sp>
          <p:nvSpPr>
            <p:cNvPr id="53" name="TextBox 53"/>
            <p:cNvSpPr txBox="1"/>
            <p:nvPr/>
          </p:nvSpPr>
          <p:spPr>
            <a:xfrm>
              <a:off x="11141964" y="6001702"/>
              <a:ext cx="293370" cy="205359"/>
            </a:xfrm>
            <a:prstGeom prst="rect">
              <a:avLst/>
            </a:prstGeom>
            <a:noFill/>
            <a:ln>
              <a:noFill/>
            </a:ln>
          </p:spPr>
          <p:txBody>
            <a:bodyPr wrap="none" lIns="0" tIns="0" rIns="0" bIns="0" anchor="t" anchorCtr="0">
              <a:spAutoFit/>
            </a:bodyPr>
            <a:lstStyle/>
            <a:p>
              <a:pPr algn="r"/>
              <a:r>
                <a:rPr lang="ko-KR" sz="1050" dirty="0">
                  <a:solidFill>
                    <a:schemeClr val="accent2"/>
                  </a:solidFill>
                  <a:latin typeface="+mn-lt"/>
                  <a:ea typeface="+mn-ea"/>
                  <a:cs typeface="+mn-cs"/>
                </a:rPr>
                <a:t>사람</a:t>
              </a:r>
            </a:p>
          </p:txBody>
        </p:sp>
      </p:grpSp>
      <p:grpSp>
        <p:nvGrpSpPr>
          <p:cNvPr id="57" name="Group 57"/>
          <p:cNvGrpSpPr/>
          <p:nvPr/>
        </p:nvGrpSpPr>
        <p:grpSpPr>
          <a:xfrm>
            <a:off x="604266" y="6516052"/>
            <a:ext cx="10983468" cy="205359"/>
            <a:chOff x="604266" y="6516052"/>
            <a:chExt cx="10983468" cy="205359"/>
          </a:xfrm>
        </p:grpSpPr>
        <p:sp>
          <p:nvSpPr>
            <p:cNvPr id="55" name="TextBox 55"/>
            <p:cNvSpPr txBox="1"/>
            <p:nvPr/>
          </p:nvSpPr>
          <p:spPr>
            <a:xfrm>
              <a:off x="604266" y="6516052"/>
              <a:ext cx="4950885"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feature-workflow · claude-helper 마켓플레이스 · 사내 기술 세션 2026-09</a:t>
              </a:r>
            </a:p>
          </p:txBody>
        </p:sp>
        <p:sp>
          <p:nvSpPr>
            <p:cNvPr id="56" name="TextBox 56"/>
            <p:cNvSpPr txBox="1"/>
            <p:nvPr/>
          </p:nvSpPr>
          <p:spPr>
            <a:xfrm>
              <a:off x="11103540" y="65160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19 / 19</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feature-workflow-intro">
  <a:themeElements>
    <a:clrScheme name="feature-workflow-intro">
      <a:dk1>
        <a:srgbClr val="E6EDF3"/>
      </a:dk1>
      <a:lt1>
        <a:srgbClr val="0B1220"/>
      </a:lt1>
      <a:dk2>
        <a:srgbClr val="1F497D"/>
      </a:dk2>
      <a:lt2>
        <a:srgbClr val="131C2E"/>
      </a:lt2>
      <a:accent1>
        <a:srgbClr val="4FC3F7"/>
      </a:accent1>
      <a:accent2>
        <a:srgbClr val="FFB74D"/>
      </a:accent2>
      <a:accent3>
        <a:srgbClr val="7C4DFF"/>
      </a:accent3>
      <a:accent4>
        <a:srgbClr val="4FC3F7"/>
      </a:accent4>
      <a:accent5>
        <a:srgbClr val="9AA8BD"/>
      </a:accent5>
      <a:accent6>
        <a:srgbClr val="24324A"/>
      </a:accent6>
      <a:hlink>
        <a:srgbClr val="FFB74D"/>
      </a:hlink>
      <a:folHlink>
        <a:srgbClr val="7C4DFF"/>
      </a:folHlink>
    </a:clrScheme>
    <a:fontScheme name="feature-workflow-intro">
      <a:majorFont>
        <a:latin typeface="Segoe UI"/>
        <a:ea typeface="Malgun Gothic"/>
        <a:cs typeface="Segoe UI"/>
        <a:font script="Jpan" typeface="Malgun Gothic"/>
        <a:font script="Hang" typeface="Malgun Gothic"/>
        <a:font script="Hans" typeface="Malgun Gothic"/>
        <a:font script="Hant" typeface="Malgun Gothi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algun Gothic"/>
        <a:cs typeface="Segoe UI"/>
        <a:font script="Jpan" typeface="Malgun Gothic"/>
        <a:font script="Hang" typeface="Malgun Gothic"/>
        <a:font script="Hans" typeface="Malgun Gothic"/>
        <a:font script="Hant" typeface="Malgun Gothi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eature-workflow-intr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feature-workflow-intro">
  <a:themeElements>
    <a:clrScheme name="feature-workflow-intro">
      <a:dk1>
        <a:srgbClr val="E6EDF3"/>
      </a:dk1>
      <a:lt1>
        <a:srgbClr val="0B1220"/>
      </a:lt1>
      <a:dk2>
        <a:srgbClr val="1F497D"/>
      </a:dk2>
      <a:lt2>
        <a:srgbClr val="131C2E"/>
      </a:lt2>
      <a:accent1>
        <a:srgbClr val="4FC3F7"/>
      </a:accent1>
      <a:accent2>
        <a:srgbClr val="FFB74D"/>
      </a:accent2>
      <a:accent3>
        <a:srgbClr val="7C4DFF"/>
      </a:accent3>
      <a:accent4>
        <a:srgbClr val="4FC3F7"/>
      </a:accent4>
      <a:accent5>
        <a:srgbClr val="9AA8BD"/>
      </a:accent5>
      <a:accent6>
        <a:srgbClr val="24324A"/>
      </a:accent6>
      <a:hlink>
        <a:srgbClr val="FFB74D"/>
      </a:hlink>
      <a:folHlink>
        <a:srgbClr val="7C4DFF"/>
      </a:folHlink>
    </a:clrScheme>
    <a:fontScheme name="feature-workflow-intro">
      <a:majorFont>
        <a:latin typeface="Segoe UI"/>
        <a:ea typeface="Malgun Gothic"/>
        <a:cs typeface="Segoe UI"/>
        <a:font script="Jpan" typeface="Malgun Gothic"/>
        <a:font script="Hang" typeface="Malgun Gothic"/>
        <a:font script="Hans" typeface="Malgun Gothic"/>
        <a:font script="Hant" typeface="Malgun Gothi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algun Gothic"/>
        <a:cs typeface="Segoe UI"/>
        <a:font script="Jpan" typeface="Malgun Gothic"/>
        <a:font script="Hang" typeface="Malgun Gothic"/>
        <a:font script="Hans" typeface="Malgun Gothic"/>
        <a:font script="Hant" typeface="Malgun Gothi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eature-workflow-intr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19</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ko-KR</dc:language>
  <cp:lastModifiedBy/>
  <cp:revision>1</cp:revision>
  <dcterms:created xsi:type="dcterms:W3CDTF">2026-09-04T09:43:13Z</dcterms:created>
  <dcterms:modified xsi:type="dcterms:W3CDTF">2026-09-04T09:43:13Z</dcterms:modified>
  <cp:category/>
  <cp:contentStatus/>
</cp:coreProperties>
</file>